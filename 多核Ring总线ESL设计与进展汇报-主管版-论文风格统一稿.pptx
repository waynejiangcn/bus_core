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72" r:id="rId3"/>
    <p:sldId id="274" r:id="rId4"/>
    <p:sldId id="258" r:id="rId5"/>
    <p:sldId id="259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6A25"/>
    <a:srgbClr val="FFF3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0273" autoAdjust="0"/>
  </p:normalViewPr>
  <p:slideViewPr>
    <p:cSldViewPr snapToGrid="0" snapToObjects="1">
      <p:cViewPr varScale="1">
        <p:scale>
          <a:sx n="79" d="100"/>
          <a:sy n="79" d="100"/>
        </p:scale>
        <p:origin x="107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>
                <a:latin typeface="Microsoft YaHei"/>
                <a:ea typeface="Microsoft YaHei"/>
                <a:cs typeface="Microsoft YaHei"/>
              </a:rPr>
              <a:t>【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本页重点</a:t>
            </a:r>
            <a:r>
              <a:rPr dirty="0">
                <a:latin typeface="Microsoft YaHei"/>
                <a:ea typeface="Microsoft YaHei"/>
                <a:cs typeface="Microsoft YaHei"/>
              </a:rPr>
              <a:t>】</a:t>
            </a:r>
          </a:p>
          <a:p>
            <a:r>
              <a:rPr dirty="0" err="1">
                <a:latin typeface="Microsoft YaHei"/>
                <a:ea typeface="Microsoft YaHei"/>
                <a:cs typeface="Microsoft YaHei"/>
              </a:rPr>
              <a:t>固定汇报拓扑为双侧两条</a:t>
            </a:r>
            <a:r>
              <a:rPr dirty="0">
                <a:latin typeface="Microsoft YaHei"/>
                <a:ea typeface="Microsoft YaHei"/>
                <a:cs typeface="Microsoft YaHei"/>
              </a:rPr>
              <a:t>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V-Ring、中央</a:t>
            </a:r>
            <a:r>
              <a:rPr dirty="0">
                <a:latin typeface="Microsoft YaHei"/>
                <a:ea typeface="Microsoft YaHei"/>
                <a:cs typeface="Microsoft YaHei"/>
              </a:rPr>
              <a:t> 4 个 L2 Cache 与 4 个 HA/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MemPort</a:t>
            </a:r>
            <a:r>
              <a:rPr dirty="0">
                <a:latin typeface="Microsoft YaHei"/>
                <a:ea typeface="Microsoft YaHei"/>
                <a:cs typeface="Microsoft YaHei"/>
              </a:rPr>
              <a:t>。</a:t>
            </a:r>
          </a:p>
          <a:p>
            <a:endParaRPr dirty="0">
              <a:latin typeface="Microsoft YaHei"/>
              <a:ea typeface="Microsoft YaHei"/>
              <a:cs typeface="Microsoft YaHei"/>
            </a:endParaRPr>
          </a:p>
          <a:p>
            <a:r>
              <a:rPr dirty="0">
                <a:latin typeface="Microsoft YaHei"/>
                <a:ea typeface="Microsoft YaHei"/>
                <a:cs typeface="Microsoft YaHei"/>
              </a:rPr>
              <a:t>【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讲解建议</a:t>
            </a:r>
            <a:r>
              <a:rPr dirty="0">
                <a:latin typeface="Microsoft YaHei"/>
                <a:ea typeface="Microsoft YaHei"/>
                <a:cs typeface="Microsoft YaHei"/>
              </a:rPr>
              <a:t>】</a:t>
            </a:r>
          </a:p>
          <a:p>
            <a:r>
              <a:rPr dirty="0">
                <a:latin typeface="Microsoft YaHei"/>
                <a:ea typeface="Microsoft YaHei"/>
                <a:cs typeface="Microsoft YaHei"/>
              </a:rPr>
              <a:t>本页先给主管固定配置结论：8 个 Master 按 C=4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分成两条</a:t>
            </a:r>
            <a:r>
              <a:rPr dirty="0">
                <a:latin typeface="Microsoft YaHei"/>
                <a:ea typeface="Microsoft YaHei"/>
                <a:cs typeface="Microsoft YaHei"/>
              </a:rPr>
              <a:t>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V-Ring，V-Ring</a:t>
            </a:r>
            <a:r>
              <a:rPr dirty="0">
                <a:latin typeface="Microsoft YaHei"/>
                <a:ea typeface="Microsoft YaHei"/>
                <a:cs typeface="Microsoft YaHei"/>
              </a:rPr>
              <a:t> 0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位于左侧、V-Ring</a:t>
            </a:r>
            <a:r>
              <a:rPr dirty="0">
                <a:latin typeface="Microsoft YaHei"/>
                <a:ea typeface="Microsoft YaHei"/>
                <a:cs typeface="Microsoft YaHei"/>
              </a:rPr>
              <a:t> 1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位于右侧；中间先展示</a:t>
            </a:r>
            <a:r>
              <a:rPr dirty="0">
                <a:latin typeface="Microsoft YaHei"/>
                <a:ea typeface="Microsoft YaHei"/>
                <a:cs typeface="Microsoft YaHei"/>
              </a:rPr>
              <a:t> 4 个 L2 Cache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target，再在其下方展示对应的</a:t>
            </a:r>
            <a:r>
              <a:rPr dirty="0">
                <a:latin typeface="Microsoft YaHei"/>
                <a:ea typeface="Microsoft YaHei"/>
                <a:cs typeface="Microsoft YaHei"/>
              </a:rPr>
              <a:t> 4 个 HA/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MemPort。每条</a:t>
            </a:r>
            <a:r>
              <a:rPr dirty="0">
                <a:latin typeface="Microsoft YaHei"/>
                <a:ea typeface="Microsoft YaHei"/>
                <a:cs typeface="Microsoft YaHei"/>
              </a:rPr>
              <a:t> V-Ring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通过唯一</a:t>
            </a:r>
            <a:r>
              <a:rPr dirty="0">
                <a:latin typeface="Microsoft YaHei"/>
                <a:ea typeface="Microsoft YaHei"/>
                <a:cs typeface="Microsoft YaHei"/>
              </a:rPr>
              <a:t> RBRG-L1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接入共享</a:t>
            </a:r>
            <a:r>
              <a:rPr dirty="0">
                <a:latin typeface="Microsoft YaHei"/>
                <a:ea typeface="Microsoft YaHei"/>
                <a:cs typeface="Microsoft YaHei"/>
              </a:rPr>
              <a:t>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H-Ring，红线只示意</a:t>
            </a:r>
            <a:r>
              <a:rPr dirty="0">
                <a:latin typeface="Microsoft YaHei"/>
                <a:ea typeface="Microsoft YaHei"/>
                <a:cs typeface="Microsoft YaHei"/>
              </a:rPr>
              <a:t> M0 到 HA0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的请求路径</a:t>
            </a:r>
            <a:r>
              <a:rPr dirty="0">
                <a:latin typeface="Microsoft YaHei"/>
                <a:ea typeface="Microsoft YaHei"/>
                <a:cs typeface="Microsoft YaHei"/>
              </a:rPr>
              <a:t>。</a:t>
            </a:r>
          </a:p>
          <a:p>
            <a:endParaRPr dirty="0">
              <a:latin typeface="Microsoft YaHei"/>
              <a:ea typeface="Microsoft YaHei"/>
              <a:cs typeface="Microsoft YaHei"/>
            </a:endParaRPr>
          </a:p>
          <a:p>
            <a:r>
              <a:rPr dirty="0">
                <a:latin typeface="Microsoft YaHei"/>
                <a:ea typeface="Microsoft YaHei"/>
                <a:cs typeface="Microsoft YaHei"/>
              </a:rPr>
              <a:t>【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过渡提示</a:t>
            </a:r>
            <a:r>
              <a:rPr dirty="0">
                <a:latin typeface="Microsoft YaHei"/>
                <a:ea typeface="Microsoft YaHei"/>
                <a:cs typeface="Microsoft YaHei"/>
              </a:rPr>
              <a:t>】</a:t>
            </a:r>
          </a:p>
          <a:p>
            <a:r>
              <a:rPr dirty="0" err="1">
                <a:latin typeface="Microsoft YaHei"/>
                <a:ea typeface="Microsoft YaHei"/>
                <a:cs typeface="Microsoft YaHei"/>
              </a:rPr>
              <a:t>先说明模型范围，再回到固定拓扑展开事务路径</a:t>
            </a:r>
            <a:r>
              <a:rPr dirty="0"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19539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>
                <a:latin typeface="Microsoft YaHei"/>
                <a:ea typeface="Microsoft YaHei"/>
                <a:cs typeface="Microsoft YaHei"/>
              </a:rPr>
              <a:t>【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本页重点</a:t>
            </a:r>
            <a:r>
              <a:rPr dirty="0">
                <a:latin typeface="Microsoft YaHei"/>
                <a:ea typeface="Microsoft YaHei"/>
                <a:cs typeface="Microsoft YaHei"/>
              </a:rPr>
              <a:t>】</a:t>
            </a:r>
          </a:p>
          <a:p>
            <a:r>
              <a:rPr dirty="0" err="1">
                <a:latin typeface="Microsoft YaHei"/>
                <a:ea typeface="Microsoft YaHei"/>
                <a:cs typeface="Microsoft YaHei"/>
              </a:rPr>
              <a:t>双侧两条</a:t>
            </a:r>
            <a:r>
              <a:rPr dirty="0">
                <a:latin typeface="Microsoft YaHei"/>
                <a:ea typeface="Microsoft YaHei"/>
                <a:cs typeface="Microsoft YaHei"/>
              </a:rPr>
              <a:t> V-Ring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各承载</a:t>
            </a:r>
            <a:r>
              <a:rPr dirty="0">
                <a:latin typeface="Microsoft YaHei"/>
                <a:ea typeface="Microsoft YaHei"/>
                <a:cs typeface="Microsoft YaHei"/>
              </a:rPr>
              <a:t> 4 个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Master，中央</a:t>
            </a:r>
            <a:r>
              <a:rPr dirty="0">
                <a:latin typeface="Microsoft YaHei"/>
                <a:ea typeface="Microsoft YaHei"/>
                <a:cs typeface="Microsoft YaHei"/>
              </a:rPr>
              <a:t> 4 组 L2/HA target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共享</a:t>
            </a:r>
            <a:r>
              <a:rPr dirty="0">
                <a:latin typeface="Microsoft YaHei"/>
                <a:ea typeface="Microsoft YaHei"/>
                <a:cs typeface="Microsoft YaHei"/>
              </a:rPr>
              <a:t>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H-Ring；每个单向</a:t>
            </a:r>
            <a:r>
              <a:rPr dirty="0">
                <a:latin typeface="Microsoft YaHei"/>
                <a:ea typeface="Microsoft YaHei"/>
                <a:cs typeface="Microsoft YaHei"/>
              </a:rPr>
              <a:t> packet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最多换环一次</a:t>
            </a:r>
            <a:r>
              <a:rPr dirty="0">
                <a:latin typeface="Microsoft YaHei"/>
                <a:ea typeface="Microsoft YaHei"/>
                <a:cs typeface="Microsoft YaHei"/>
              </a:rPr>
              <a:t>。</a:t>
            </a:r>
          </a:p>
          <a:p>
            <a:endParaRPr dirty="0">
              <a:latin typeface="Microsoft YaHei"/>
              <a:ea typeface="Microsoft YaHei"/>
              <a:cs typeface="Microsoft YaHei"/>
            </a:endParaRPr>
          </a:p>
          <a:p>
            <a:r>
              <a:rPr dirty="0">
                <a:latin typeface="Microsoft YaHei"/>
                <a:ea typeface="Microsoft YaHei"/>
                <a:cs typeface="Microsoft YaHei"/>
              </a:rPr>
              <a:t>【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讲解建议</a:t>
            </a:r>
            <a:r>
              <a:rPr dirty="0">
                <a:latin typeface="Microsoft YaHei"/>
                <a:ea typeface="Microsoft YaHei"/>
                <a:cs typeface="Microsoft YaHei"/>
              </a:rPr>
              <a:t>】</a:t>
            </a:r>
          </a:p>
          <a:p>
            <a:r>
              <a:rPr dirty="0" err="1">
                <a:latin typeface="Microsoft YaHei"/>
                <a:ea typeface="Microsoft YaHei"/>
                <a:cs typeface="Microsoft YaHei"/>
              </a:rPr>
              <a:t>这里按</a:t>
            </a:r>
            <a:r>
              <a:rPr dirty="0">
                <a:latin typeface="Microsoft YaHei"/>
                <a:ea typeface="Microsoft YaHei"/>
                <a:cs typeface="Microsoft YaHei"/>
              </a:rPr>
              <a:t> M=8、C=4、T=4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展开，所以有两条</a:t>
            </a:r>
            <a:r>
              <a:rPr dirty="0">
                <a:latin typeface="Microsoft YaHei"/>
                <a:ea typeface="Microsoft YaHei"/>
                <a:cs typeface="Microsoft YaHei"/>
              </a:rPr>
              <a:t>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V-Ring，每条四个</a:t>
            </a:r>
            <a:r>
              <a:rPr dirty="0">
                <a:latin typeface="Microsoft YaHei"/>
                <a:ea typeface="Microsoft YaHei"/>
                <a:cs typeface="Microsoft YaHei"/>
              </a:rPr>
              <a:t>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Master。空间上</a:t>
            </a:r>
            <a:r>
              <a:rPr dirty="0">
                <a:latin typeface="Microsoft YaHei"/>
                <a:ea typeface="Microsoft YaHei"/>
                <a:cs typeface="Microsoft YaHei"/>
              </a:rPr>
              <a:t> V-Ring 0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位于左侧、V-Ring</a:t>
            </a:r>
            <a:r>
              <a:rPr dirty="0">
                <a:latin typeface="Microsoft YaHei"/>
                <a:ea typeface="Microsoft YaHei"/>
                <a:cs typeface="Microsoft YaHei"/>
              </a:rPr>
              <a:t> 1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位于右侧；中央上排是</a:t>
            </a:r>
            <a:r>
              <a:rPr dirty="0">
                <a:latin typeface="Microsoft YaHei"/>
                <a:ea typeface="Microsoft YaHei"/>
                <a:cs typeface="Microsoft YaHei"/>
              </a:rPr>
              <a:t> 4 个 L2 Cache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target，中央下排是对应的</a:t>
            </a:r>
            <a:r>
              <a:rPr dirty="0">
                <a:latin typeface="Microsoft YaHei"/>
                <a:ea typeface="Microsoft YaHei"/>
                <a:cs typeface="Microsoft YaHei"/>
              </a:rPr>
              <a:t> 4 个 HA/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MemPort。每条</a:t>
            </a:r>
            <a:r>
              <a:rPr dirty="0">
                <a:latin typeface="Microsoft YaHei"/>
                <a:ea typeface="Microsoft YaHei"/>
                <a:cs typeface="Microsoft YaHei"/>
              </a:rPr>
              <a:t> V-Ring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通过唯一</a:t>
            </a:r>
            <a:r>
              <a:rPr dirty="0">
                <a:latin typeface="Microsoft YaHei"/>
                <a:ea typeface="Microsoft YaHei"/>
                <a:cs typeface="Microsoft YaHei"/>
              </a:rPr>
              <a:t> RBRG-L1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进入共享</a:t>
            </a:r>
            <a:r>
              <a:rPr dirty="0">
                <a:latin typeface="Microsoft YaHei"/>
                <a:ea typeface="Microsoft YaHei"/>
                <a:cs typeface="Microsoft YaHei"/>
              </a:rPr>
              <a:t>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H-Ring。图中</a:t>
            </a:r>
            <a:r>
              <a:rPr dirty="0">
                <a:latin typeface="Microsoft YaHei"/>
                <a:ea typeface="Microsoft YaHei"/>
                <a:cs typeface="Microsoft YaHei"/>
              </a:rPr>
              <a:t> L2 Cache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是方案层名称，当前</a:t>
            </a:r>
            <a:r>
              <a:rPr dirty="0">
                <a:latin typeface="Microsoft YaHei"/>
                <a:ea typeface="Microsoft YaHei"/>
                <a:cs typeface="Microsoft YaHei"/>
              </a:rPr>
              <a:t> ESL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实体仍是</a:t>
            </a:r>
            <a:r>
              <a:rPr dirty="0">
                <a:latin typeface="Microsoft YaHei"/>
                <a:ea typeface="Microsoft YaHei"/>
                <a:cs typeface="Microsoft YaHei"/>
              </a:rPr>
              <a:t> TmRingL2BufferNode，并不是完整持久化 L2 Cache。</a:t>
            </a:r>
          </a:p>
          <a:p>
            <a:endParaRPr dirty="0">
              <a:latin typeface="Microsoft YaHei"/>
              <a:ea typeface="Microsoft YaHei"/>
              <a:cs typeface="Microsoft YaHei"/>
            </a:endParaRPr>
          </a:p>
          <a:p>
            <a:r>
              <a:rPr dirty="0">
                <a:latin typeface="Microsoft YaHei"/>
                <a:ea typeface="Microsoft YaHei"/>
                <a:cs typeface="Microsoft YaHei"/>
              </a:rPr>
              <a:t>【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过渡提示</a:t>
            </a:r>
            <a:r>
              <a:rPr dirty="0">
                <a:latin typeface="Microsoft YaHei"/>
                <a:ea typeface="Microsoft YaHei"/>
                <a:cs typeface="Microsoft YaHei"/>
              </a:rPr>
              <a:t>】</a:t>
            </a:r>
          </a:p>
          <a:p>
            <a:r>
              <a:rPr dirty="0" err="1">
                <a:latin typeface="Microsoft YaHei"/>
                <a:ea typeface="Microsoft YaHei"/>
                <a:cs typeface="Microsoft YaHei"/>
              </a:rPr>
              <a:t>接下来用</a:t>
            </a:r>
            <a:r>
              <a:rPr dirty="0">
                <a:latin typeface="Microsoft YaHei"/>
                <a:ea typeface="Microsoft YaHei"/>
                <a:cs typeface="Microsoft YaHei"/>
              </a:rPr>
              <a:t> M、C、T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三个量推导</a:t>
            </a:r>
            <a:r>
              <a:rPr dirty="0">
                <a:latin typeface="Microsoft YaHei"/>
                <a:ea typeface="Microsoft YaHei"/>
                <a:cs typeface="Microsoft YaHei"/>
              </a:rPr>
              <a:t> V-Ring 与 H-Ring station 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Microsoft YaHei"/>
                <a:ea typeface="Microsoft YaHei"/>
                <a:cs typeface="Microsoft YaHei"/>
              </a:rPr>
              <a:t>【本页重点】
读写都按 segment 路由，跨模块状态只在下游明确成功后提交。
读请求从 PemBiu 进入 V-Ring REQ，经 V_TO_H_REQ 到 H-Ring，再由 HA/MemPort 处理；命中走功能读取，未命中只发一次 TmMem timing read，完成数据经 L2 Buffer 和 H_TO_V_DAT 返回 Master。写事务拆成 WR 请求和 WR_DAT 数据两条正向路径，WR_RSP 通过 H_TO_V_RSP 反向返回。每个 Ring segment 注入前只计算一次 CW/CCW 最短方向，中间 station 不重新路由、不 U-turn。底部这条 commit 规则是实现不变量：front/peek 后先尝试 accept/send，只有 success 才能 pop FIFO、推进 waiter、清 tag 或累计完成统计。
【过渡提示】
接下来下钻到单个 Ring domain 的调度和 Conn 的逐跳时序。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结构说明</a:t>
            </a:r>
            <a:endParaRPr dirty="0"/>
          </a:p>
          <a:p>
            <a:r>
              <a:rPr dirty="0" err="1"/>
              <a:t>每个</a:t>
            </a:r>
            <a:r>
              <a:rPr dirty="0"/>
              <a:t> station </a:t>
            </a:r>
            <a:r>
              <a:rPr dirty="0" err="1"/>
              <a:t>只有一个</a:t>
            </a:r>
            <a:r>
              <a:rPr dirty="0"/>
              <a:t> Node </a:t>
            </a:r>
            <a:r>
              <a:rPr dirty="0" err="1"/>
              <a:t>Interface，内部有方向化</a:t>
            </a:r>
            <a:r>
              <a:rPr dirty="0"/>
              <a:t> Inject Bank CW/CCW </a:t>
            </a:r>
            <a:r>
              <a:rPr dirty="0" err="1"/>
              <a:t>与共享</a:t>
            </a:r>
            <a:r>
              <a:rPr dirty="0"/>
              <a:t> Eject </a:t>
            </a:r>
            <a:r>
              <a:rPr dirty="0" err="1"/>
              <a:t>Queue；Cross</a:t>
            </a:r>
            <a:r>
              <a:rPr dirty="0"/>
              <a:t> Station </a:t>
            </a:r>
            <a:r>
              <a:rPr dirty="0" err="1"/>
              <a:t>控制区不承载</a:t>
            </a:r>
            <a:r>
              <a:rPr dirty="0"/>
              <a:t> payload buffer。</a:t>
            </a:r>
          </a:p>
          <a:p>
            <a:endParaRPr dirty="0"/>
          </a:p>
          <a:p>
            <a:r>
              <a:rPr dirty="0" err="1"/>
              <a:t>数据流说明</a:t>
            </a:r>
            <a:endParaRPr dirty="0"/>
          </a:p>
          <a:p>
            <a:r>
              <a:rPr dirty="0"/>
              <a:t>RR_CW 与 RR_CCW </a:t>
            </a:r>
            <a:r>
              <a:rPr dirty="0" err="1"/>
              <a:t>各只比较对侧</a:t>
            </a:r>
            <a:r>
              <a:rPr dirty="0"/>
              <a:t> Transit FIFO head </a:t>
            </a:r>
            <a:r>
              <a:rPr dirty="0" err="1"/>
              <a:t>和同向</a:t>
            </a:r>
            <a:r>
              <a:rPr dirty="0"/>
              <a:t> Local </a:t>
            </a:r>
            <a:r>
              <a:rPr dirty="0" err="1"/>
              <a:t>head；Eject</a:t>
            </a:r>
            <a:r>
              <a:rPr dirty="0"/>
              <a:t> </a:t>
            </a:r>
            <a:r>
              <a:rPr dirty="0" err="1"/>
              <a:t>走独立侧路。Ring-domain</a:t>
            </a:r>
            <a:r>
              <a:rPr dirty="0"/>
              <a:t> </a:t>
            </a:r>
            <a:r>
              <a:rPr dirty="0" err="1"/>
              <a:t>共享</a:t>
            </a:r>
            <a:r>
              <a:rPr dirty="0"/>
              <a:t> Slot Pool </a:t>
            </a:r>
            <a:r>
              <a:rPr dirty="0" err="1"/>
              <a:t>只门控本地注入，成功提交后才更新状态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主管结论</a:t>
            </a:r>
            <a:endParaRPr dirty="0"/>
          </a:p>
          <a:p>
            <a:r>
              <a:rPr dirty="0" err="1"/>
              <a:t>仲裁是</a:t>
            </a:r>
            <a:r>
              <a:rPr dirty="0"/>
              <a:t> Transit 与 Local </a:t>
            </a:r>
            <a:r>
              <a:rPr dirty="0" err="1"/>
              <a:t>的两候选轮询；失败时保留队首和</a:t>
            </a:r>
            <a:r>
              <a:rPr dirty="0"/>
              <a:t> RR </a:t>
            </a:r>
            <a:r>
              <a:rPr dirty="0" err="1"/>
              <a:t>状态，不是固定</a:t>
            </a:r>
            <a:r>
              <a:rPr dirty="0"/>
              <a:t> transit-first。</a:t>
            </a:r>
          </a:p>
          <a:p>
            <a:endParaRPr dirty="0"/>
          </a:p>
          <a:p>
            <a:r>
              <a:rPr dirty="0" err="1"/>
              <a:t>实现边界</a:t>
            </a:r>
            <a:endParaRPr dirty="0"/>
          </a:p>
          <a:p>
            <a:r>
              <a:rPr dirty="0" err="1"/>
              <a:t>本页只展开一个</a:t>
            </a:r>
            <a:r>
              <a:rPr dirty="0"/>
              <a:t> subnet </a:t>
            </a:r>
            <a:r>
              <a:rPr dirty="0" err="1"/>
              <a:t>的一个</a:t>
            </a:r>
            <a:r>
              <a:rPr dirty="0"/>
              <a:t> </a:t>
            </a:r>
            <a:r>
              <a:rPr dirty="0" err="1"/>
              <a:t>station；REQ、RSP、DAT</a:t>
            </a:r>
            <a:r>
              <a:rPr dirty="0"/>
              <a:t> </a:t>
            </a:r>
            <a:r>
              <a:rPr dirty="0" err="1"/>
              <a:t>及两个</a:t>
            </a:r>
            <a:r>
              <a:rPr dirty="0"/>
              <a:t> direction </a:t>
            </a:r>
            <a:r>
              <a:rPr dirty="0" err="1"/>
              <a:t>的其余实例按同一逻辑展开，Slot</a:t>
            </a:r>
            <a:r>
              <a:rPr dirty="0"/>
              <a:t> Pool </a:t>
            </a:r>
            <a:r>
              <a:rPr dirty="0" err="1"/>
              <a:t>不承载</a:t>
            </a:r>
            <a:r>
              <a:rPr dirty="0"/>
              <a:t> flit。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>
                <a:latin typeface="Microsoft YaHei"/>
                <a:ea typeface="Microsoft YaHei"/>
                <a:cs typeface="Microsoft YaHei"/>
              </a:rPr>
              <a:t>【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本页重点</a:t>
            </a:r>
            <a:r>
              <a:rPr dirty="0">
                <a:latin typeface="Microsoft YaHei"/>
                <a:ea typeface="Microsoft YaHei"/>
                <a:cs typeface="Microsoft YaHei"/>
              </a:rPr>
              <a:t>】
RBRG-L1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只有四条合法路径，而且每条路径的队列、带宽、延迟和统计彼此独立</a:t>
            </a:r>
            <a:r>
              <a:rPr dirty="0">
                <a:latin typeface="Microsoft YaHei"/>
                <a:ea typeface="Microsoft YaHei"/>
                <a:cs typeface="Microsoft YaHei"/>
              </a:rPr>
              <a:t>。</a:t>
            </a:r>
            <a:r>
              <a:rPr lang="zh-CN" altLang="en-US" dirty="0">
                <a:latin typeface="Microsoft YaHei"/>
                <a:ea typeface="Microsoft YaHei"/>
                <a:cs typeface="Microsoft YaHei"/>
              </a:rPr>
              <a:t>（</a:t>
            </a:r>
            <a:r>
              <a:rPr lang="en-US" altLang="zh-CN" dirty="0">
                <a:latin typeface="Microsoft YaHei"/>
                <a:ea typeface="Microsoft YaHei"/>
                <a:cs typeface="Microsoft YaHei"/>
              </a:rPr>
              <a:t>V_TO_H</a:t>
            </a:r>
            <a:r>
              <a:rPr lang="zh-CN" altLang="en-US" dirty="0">
                <a:latin typeface="Microsoft YaHei"/>
                <a:ea typeface="Microsoft YaHei"/>
                <a:cs typeface="Microsoft YaHei"/>
              </a:rPr>
              <a:t>这个结构需要选择去哪个</a:t>
            </a:r>
            <a:r>
              <a:rPr lang="en-US" altLang="zh-CN" dirty="0">
                <a:latin typeface="Microsoft YaHei"/>
                <a:ea typeface="Microsoft YaHei"/>
                <a:cs typeface="Microsoft YaHei"/>
              </a:rPr>
              <a:t>Queue</a:t>
            </a:r>
            <a:r>
              <a:rPr lang="zh-CN" altLang="en-US" dirty="0">
                <a:latin typeface="Microsoft YaHei"/>
                <a:ea typeface="Microsoft YaHei"/>
                <a:cs typeface="Microsoft YaHei"/>
              </a:rPr>
              <a:t>，通过到哪个点近就选择哪个，满的话就选择另外一个</a:t>
            </a:r>
            <a:r>
              <a:rPr dirty="0">
                <a:latin typeface="Microsoft YaHei"/>
                <a:ea typeface="Microsoft YaHei"/>
                <a:cs typeface="Microsoft YaHei"/>
              </a:rPr>
              <a:t>
【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讲解建议</a:t>
            </a:r>
            <a:r>
              <a:rPr dirty="0">
                <a:latin typeface="Microsoft YaHei"/>
                <a:ea typeface="Microsoft YaHei"/>
                <a:cs typeface="Microsoft YaHei"/>
              </a:rPr>
              <a:t>】
V_TO_H_REQ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承载</a:t>
            </a:r>
            <a:r>
              <a:rPr dirty="0">
                <a:latin typeface="Microsoft YaHei"/>
                <a:ea typeface="Microsoft YaHei"/>
                <a:cs typeface="Microsoft YaHei"/>
              </a:rPr>
              <a:t> Master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请求，V_TO_H_DAT</a:t>
            </a:r>
            <a:r>
              <a:rPr dirty="0">
                <a:latin typeface="Microsoft YaHei"/>
                <a:ea typeface="Microsoft YaHei"/>
                <a:cs typeface="Microsoft YaHei"/>
              </a:rPr>
              <a:t>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承载写数据；H_TO_V_RSP</a:t>
            </a:r>
            <a:r>
              <a:rPr dirty="0">
                <a:latin typeface="Microsoft YaHei"/>
                <a:ea typeface="Microsoft YaHei"/>
                <a:cs typeface="Microsoft YaHei"/>
              </a:rPr>
              <a:t>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返回写或控制响应，H_TO_V_DAT</a:t>
            </a:r>
            <a:r>
              <a:rPr dirty="0">
                <a:latin typeface="Microsoft YaHei"/>
                <a:ea typeface="Microsoft YaHei"/>
                <a:cs typeface="Microsoft YaHei"/>
              </a:rPr>
              <a:t>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返回读数据。每条</a:t>
            </a:r>
            <a:r>
              <a:rPr dirty="0">
                <a:latin typeface="Microsoft YaHei"/>
                <a:ea typeface="Microsoft YaHei"/>
                <a:cs typeface="Microsoft YaHei"/>
              </a:rPr>
              <a:t> path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都有</a:t>
            </a:r>
            <a:r>
              <a:rPr dirty="0">
                <a:latin typeface="Microsoft YaHei"/>
                <a:ea typeface="Microsoft YaHei"/>
                <a:cs typeface="Microsoft YaHei"/>
              </a:rPr>
              <a:t> transfer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queue、按</a:t>
            </a:r>
            <a:r>
              <a:rPr dirty="0">
                <a:latin typeface="Microsoft YaHei"/>
                <a:ea typeface="Microsoft YaHei"/>
                <a:cs typeface="Microsoft YaHei"/>
              </a:rPr>
              <a:t>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rbrg_width_bytes</a:t>
            </a:r>
            <a:r>
              <a:rPr dirty="0">
                <a:latin typeface="Microsoft YaHei"/>
                <a:ea typeface="Microsoft YaHei"/>
                <a:cs typeface="Microsoft YaHei"/>
              </a:rPr>
              <a:t>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计算的</a:t>
            </a:r>
            <a:r>
              <a:rPr dirty="0">
                <a:latin typeface="Microsoft YaHei"/>
                <a:ea typeface="Microsoft YaHei"/>
                <a:cs typeface="Microsoft YaHei"/>
              </a:rPr>
              <a:t> serializer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token，以及</a:t>
            </a:r>
            <a:r>
              <a:rPr dirty="0">
                <a:latin typeface="Microsoft YaHei"/>
                <a:ea typeface="Microsoft YaHei"/>
                <a:cs typeface="Microsoft YaHei"/>
              </a:rPr>
              <a:t> queue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full、目标</a:t>
            </a:r>
            <a:r>
              <a:rPr dirty="0">
                <a:latin typeface="Microsoft YaHei"/>
                <a:ea typeface="Microsoft YaHei"/>
                <a:cs typeface="Microsoft YaHei"/>
              </a:rPr>
              <a:t> Inject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stall、packet</a:t>
            </a:r>
            <a:r>
              <a:rPr dirty="0">
                <a:latin typeface="Microsoft YaHei"/>
                <a:ea typeface="Microsoft YaHei"/>
                <a:cs typeface="Microsoft YaHei"/>
              </a:rPr>
              <a:t>/byte 和 occupancy peak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统计。所有权转移分两次提交：source</a:t>
            </a:r>
            <a:r>
              <a:rPr dirty="0">
                <a:latin typeface="Microsoft YaHei"/>
                <a:ea typeface="Microsoft YaHei"/>
                <a:cs typeface="Microsoft YaHei"/>
              </a:rPr>
              <a:t> Eject Queue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成功压入</a:t>
            </a:r>
            <a:r>
              <a:rPr dirty="0">
                <a:latin typeface="Microsoft YaHei"/>
                <a:ea typeface="Microsoft YaHei"/>
                <a:cs typeface="Microsoft YaHei"/>
              </a:rPr>
              <a:t> transfer queue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后才</a:t>
            </a:r>
            <a:r>
              <a:rPr dirty="0">
                <a:latin typeface="Microsoft YaHei"/>
                <a:ea typeface="Microsoft YaHei"/>
                <a:cs typeface="Microsoft YaHei"/>
              </a:rPr>
              <a:t> pop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source；transfer</a:t>
            </a:r>
            <a:r>
              <a:rPr dirty="0">
                <a:latin typeface="Microsoft YaHei"/>
                <a:ea typeface="Microsoft YaHei"/>
                <a:cs typeface="Microsoft YaHei"/>
              </a:rPr>
              <a:t> queue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成功压入</a:t>
            </a:r>
            <a:r>
              <a:rPr dirty="0">
                <a:latin typeface="Microsoft YaHei"/>
                <a:ea typeface="Microsoft YaHei"/>
                <a:cs typeface="Microsoft YaHei"/>
              </a:rPr>
              <a:t> destination Inject Bank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后才</a:t>
            </a:r>
            <a:r>
              <a:rPr dirty="0">
                <a:latin typeface="Microsoft YaHei"/>
                <a:ea typeface="Microsoft YaHei"/>
                <a:cs typeface="Microsoft YaHei"/>
              </a:rPr>
              <a:t> pop transfer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queue。换环时还要重写下一</a:t>
            </a:r>
            <a:r>
              <a:rPr dirty="0">
                <a:latin typeface="Microsoft YaHei"/>
                <a:ea typeface="Microsoft YaHei"/>
                <a:cs typeface="Microsoft YaHei"/>
              </a:rPr>
              <a:t> segment 的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source、destination</a:t>
            </a:r>
            <a:r>
              <a:rPr dirty="0">
                <a:latin typeface="Microsoft YaHei"/>
                <a:ea typeface="Microsoft YaHei"/>
                <a:cs typeface="Microsoft YaHei"/>
              </a:rPr>
              <a:t> 和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direction，并清除上一段的</a:t>
            </a:r>
            <a:r>
              <a:rPr dirty="0">
                <a:latin typeface="Microsoft YaHei"/>
                <a:ea typeface="Microsoft YaHei"/>
                <a:cs typeface="Microsoft YaHei"/>
              </a:rPr>
              <a:t> I/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E-tag、empty-slot</a:t>
            </a:r>
            <a:r>
              <a:rPr dirty="0">
                <a:latin typeface="Microsoft YaHei"/>
                <a:ea typeface="Microsoft YaHei"/>
                <a:cs typeface="Microsoft YaHei"/>
              </a:rPr>
              <a:t> 和 deflection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局部状态</a:t>
            </a:r>
            <a:r>
              <a:rPr dirty="0">
                <a:latin typeface="Microsoft YaHei"/>
                <a:ea typeface="Microsoft YaHei"/>
                <a:cs typeface="Microsoft YaHei"/>
              </a:rPr>
              <a:t>。
【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过渡提示</a:t>
            </a:r>
            <a:r>
              <a:rPr dirty="0">
                <a:latin typeface="Microsoft YaHei"/>
                <a:ea typeface="Microsoft YaHei"/>
                <a:cs typeface="Microsoft YaHei"/>
              </a:rPr>
              <a:t>】
RBRG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把数据送到目标环后，还需要解释</a:t>
            </a:r>
            <a:r>
              <a:rPr dirty="0">
                <a:latin typeface="Microsoft YaHei"/>
                <a:ea typeface="Microsoft YaHei"/>
                <a:cs typeface="Microsoft YaHei"/>
              </a:rPr>
              <a:t> HA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合并和</a:t>
            </a:r>
            <a:r>
              <a:rPr dirty="0">
                <a:latin typeface="Microsoft YaHei"/>
                <a:ea typeface="Microsoft YaHei"/>
                <a:cs typeface="Microsoft YaHei"/>
              </a:rPr>
              <a:t> L2 fanout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的两级关系</a:t>
            </a:r>
            <a:r>
              <a:rPr dirty="0">
                <a:latin typeface="Microsoft YaHei"/>
                <a:ea typeface="Microsoft YaHei"/>
                <a:cs typeface="Microsoft YaHei"/>
              </a:rPr>
              <a:t>。</a:t>
            </a:r>
          </a:p>
          <a:p>
            <a:r>
              <a:rPr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真实</a:t>
            </a:r>
            <a:r>
              <a:rPr lang="en-US" altLang="zh-CN" dirty="0" err="1"/>
              <a:t>NoC</a:t>
            </a:r>
            <a:r>
              <a:rPr lang="zh-CN" altLang="en-US" dirty="0"/>
              <a:t>链路中，一个</a:t>
            </a:r>
            <a:r>
              <a:rPr lang="en-US" altLang="zh-CN" dirty="0"/>
              <a:t>Packet</a:t>
            </a:r>
            <a:r>
              <a:rPr lang="zh-CN" altLang="en-US" dirty="0"/>
              <a:t>通常会拆分成多个</a:t>
            </a:r>
            <a:r>
              <a:rPr lang="en-US" altLang="zh-CN" dirty="0"/>
              <a:t>Flit</a:t>
            </a:r>
            <a:r>
              <a:rPr lang="zh-CN" altLang="en-US" dirty="0"/>
              <a:t>或链路</a:t>
            </a:r>
            <a:r>
              <a:rPr lang="en-US" altLang="zh-CN" dirty="0"/>
              <a:t>Beat</a:t>
            </a:r>
            <a:r>
              <a:rPr lang="zh-CN" altLang="en-US" dirty="0"/>
              <a:t>进行流水传输。采用</a:t>
            </a:r>
            <a:r>
              <a:rPr lang="en-US" altLang="zh-CN" dirty="0"/>
              <a:t>Cut-Through</a:t>
            </a:r>
            <a:r>
              <a:rPr lang="zh-CN" altLang="en-US" dirty="0"/>
              <a:t>时，包头到达下一个</a:t>
            </a:r>
            <a:r>
              <a:rPr lang="en-US" altLang="zh-CN" dirty="0"/>
              <a:t>Cross Station</a:t>
            </a:r>
            <a:r>
              <a:rPr lang="zh-CN" altLang="en-US" dirty="0"/>
              <a:t>后就可以继续向前，不需要每一跳都等整个</a:t>
            </a:r>
            <a:r>
              <a:rPr lang="en-US" altLang="zh-CN" dirty="0"/>
              <a:t>Packet</a:t>
            </a:r>
            <a:r>
              <a:rPr lang="zh-CN" altLang="en-US" dirty="0"/>
              <a:t>接收完成</a:t>
            </a:r>
          </a:p>
          <a:p>
            <a:r>
              <a:rPr lang="zh-CN" altLang="en-US" dirty="0"/>
              <a:t>但如果</a:t>
            </a:r>
            <a:r>
              <a:rPr lang="en-US" altLang="zh-CN" dirty="0"/>
              <a:t>ESL</a:t>
            </a:r>
            <a:r>
              <a:rPr lang="zh-CN" altLang="en-US" dirty="0"/>
              <a:t>模型也按照</a:t>
            </a:r>
            <a:r>
              <a:rPr lang="en-US" altLang="zh-CN" dirty="0"/>
              <a:t>Flit</a:t>
            </a:r>
            <a:r>
              <a:rPr lang="zh-CN" altLang="en-US" dirty="0"/>
              <a:t>级实现，就需要维护每个</a:t>
            </a:r>
            <a:r>
              <a:rPr lang="en-US" altLang="zh-CN" dirty="0"/>
              <a:t>Flit</a:t>
            </a:r>
            <a:r>
              <a:rPr lang="zh-CN" altLang="en-US" dirty="0"/>
              <a:t>的位置、头包和尾包状态、逐跳</a:t>
            </a:r>
            <a:r>
              <a:rPr lang="en-US" altLang="zh-CN" dirty="0"/>
              <a:t>Buffer</a:t>
            </a:r>
            <a:r>
              <a:rPr lang="zh-CN" altLang="en-US" dirty="0"/>
              <a:t>、</a:t>
            </a:r>
            <a:r>
              <a:rPr lang="en-US" altLang="zh-CN" dirty="0"/>
              <a:t>Credit</a:t>
            </a:r>
            <a:r>
              <a:rPr lang="zh-CN" altLang="en-US" dirty="0"/>
              <a:t>、仲裁以及半包阻塞等大量状态，仿真复杂度和事件数量都会明显增加。</a:t>
            </a:r>
          </a:p>
          <a:p>
            <a:r>
              <a:rPr lang="zh-CN" altLang="en-US" dirty="0"/>
              <a:t>因此，我们采用了一个折中方案，叫做：</a:t>
            </a:r>
          </a:p>
          <a:p>
            <a:r>
              <a:rPr lang="en-US" altLang="zh-CN" b="1" dirty="0"/>
              <a:t>Packet-level Cut-Through Approximation</a:t>
            </a:r>
            <a:r>
              <a:rPr lang="zh-CN" altLang="en-US" b="1" dirty="0"/>
              <a:t>，包级</a:t>
            </a:r>
            <a:r>
              <a:rPr lang="en-US" altLang="zh-CN" b="1" dirty="0"/>
              <a:t>Cut-Through</a:t>
            </a:r>
            <a:r>
              <a:rPr lang="zh-CN" altLang="en-US" b="1" dirty="0"/>
              <a:t>近似。</a:t>
            </a:r>
            <a:endParaRPr lang="zh-CN" altLang="en-US" dirty="0"/>
          </a:p>
          <a:p>
            <a:r>
              <a:rPr lang="zh-CN" altLang="en-US" dirty="0"/>
              <a:t>模型中仍然把整个</a:t>
            </a:r>
            <a:r>
              <a:rPr lang="en-US" altLang="zh-CN" dirty="0"/>
              <a:t>Packet</a:t>
            </a:r>
            <a:r>
              <a:rPr lang="zh-CN" altLang="en-US" dirty="0"/>
              <a:t>作为一个对象传递，但将“包的端到端延迟”和“物理链路带宽占用”分开建模。</a:t>
            </a:r>
          </a:p>
          <a:p>
            <a:r>
              <a:rPr lang="en-US" dirty="0"/>
              <a:t>credit，</a:t>
            </a:r>
            <a:r>
              <a:rPr lang="zh-CN" altLang="en-US" dirty="0"/>
              <a:t>汇报时需明确这一抽象边界。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讲解建议（约</a:t>
            </a:r>
            <a:r>
              <a:rPr dirty="0"/>
              <a:t> 80 秒）：
1. </a:t>
            </a:r>
            <a:r>
              <a:rPr dirty="0" err="1"/>
              <a:t>这一页先讲目标存储层次：请求从</a:t>
            </a:r>
            <a:r>
              <a:rPr dirty="0"/>
              <a:t> H-Ring </a:t>
            </a:r>
            <a:r>
              <a:rPr dirty="0" err="1"/>
              <a:t>进入</a:t>
            </a:r>
            <a:r>
              <a:rPr dirty="0"/>
              <a:t> Home </a:t>
            </a:r>
            <a:r>
              <a:rPr dirty="0" err="1"/>
              <a:t>Agent，目标架构中再访问</a:t>
            </a:r>
            <a:r>
              <a:rPr dirty="0"/>
              <a:t> L2 Cache；L2 </a:t>
            </a:r>
            <a:r>
              <a:rPr dirty="0" err="1"/>
              <a:t>命中直接返回，未命中则经</a:t>
            </a:r>
            <a:r>
              <a:rPr dirty="0"/>
              <a:t> HBM Controller </a:t>
            </a:r>
            <a:r>
              <a:rPr dirty="0" err="1"/>
              <a:t>访问</a:t>
            </a:r>
            <a:r>
              <a:rPr dirty="0"/>
              <a:t> HBM/</a:t>
            </a:r>
            <a:r>
              <a:rPr dirty="0" err="1"/>
              <a:t>DRAM，并把数据回填到</a:t>
            </a:r>
            <a:r>
              <a:rPr dirty="0"/>
              <a:t> L2。
2. Home Agent </a:t>
            </a:r>
            <a:r>
              <a:rPr dirty="0" err="1"/>
              <a:t>当前已经实现。它以</a:t>
            </a:r>
            <a:r>
              <a:rPr dirty="0"/>
              <a:t> line transaction </a:t>
            </a:r>
            <a:r>
              <a:rPr dirty="0" err="1"/>
              <a:t>维护请求合并、等待者和写冲突，避免同一数据被重复访问后端</a:t>
            </a:r>
            <a:r>
              <a:rPr dirty="0"/>
              <a:t>。
3. </a:t>
            </a:r>
            <a:r>
              <a:rPr dirty="0" err="1"/>
              <a:t>必须强调实现边界：当前的</a:t>
            </a:r>
            <a:r>
              <a:rPr dirty="0"/>
              <a:t> L2 Buffer </a:t>
            </a:r>
            <a:r>
              <a:rPr dirty="0" err="1"/>
              <a:t>不等于完整</a:t>
            </a:r>
            <a:r>
              <a:rPr dirty="0"/>
              <a:t> L2 </a:t>
            </a:r>
            <a:r>
              <a:rPr dirty="0" err="1"/>
              <a:t>Cache。它只负责读数据响应的暂存、fanout</a:t>
            </a:r>
            <a:r>
              <a:rPr dirty="0"/>
              <a:t> carrier </a:t>
            </a:r>
            <a:r>
              <a:rPr dirty="0" err="1"/>
              <a:t>组装与发送节奏，还没有持久</a:t>
            </a:r>
            <a:r>
              <a:rPr dirty="0"/>
              <a:t> tag/</a:t>
            </a:r>
            <a:r>
              <a:rPr dirty="0" err="1"/>
              <a:t>data、替换和回填状态机</a:t>
            </a:r>
            <a:r>
              <a:rPr dirty="0"/>
              <a:t>。
4. HBM/DRAM </a:t>
            </a:r>
            <a:r>
              <a:rPr dirty="0" err="1"/>
              <a:t>当前由</a:t>
            </a:r>
            <a:r>
              <a:rPr dirty="0"/>
              <a:t> </a:t>
            </a:r>
            <a:r>
              <a:rPr dirty="0" err="1"/>
              <a:t>TmMem</a:t>
            </a:r>
            <a:r>
              <a:rPr dirty="0"/>
              <a:t> </a:t>
            </a:r>
            <a:r>
              <a:rPr dirty="0" err="1"/>
              <a:t>参数化抽象，覆盖容量、延迟、带宽和</a:t>
            </a:r>
            <a:r>
              <a:rPr dirty="0"/>
              <a:t> </a:t>
            </a:r>
            <a:r>
              <a:rPr dirty="0" err="1"/>
              <a:t>credit；因此目前能验证系统级事务与拥塞行为，但不能宣称已经实现</a:t>
            </a:r>
            <a:r>
              <a:rPr dirty="0"/>
              <a:t> HBM Controller </a:t>
            </a:r>
            <a:r>
              <a:rPr dirty="0" err="1"/>
              <a:t>微结构</a:t>
            </a:r>
            <a:r>
              <a:rPr dirty="0"/>
              <a:t>。
5. </a:t>
            </a:r>
            <a:r>
              <a:rPr dirty="0" err="1"/>
              <a:t>收束句：目标层次已经明确，当前完成</a:t>
            </a:r>
            <a:r>
              <a:rPr dirty="0"/>
              <a:t> HA </a:t>
            </a:r>
            <a:r>
              <a:rPr dirty="0" err="1"/>
              <a:t>与后端抽象，下一步是补齐完整</a:t>
            </a:r>
            <a:r>
              <a:rPr dirty="0"/>
              <a:t> L2 Cache </a:t>
            </a:r>
            <a:r>
              <a:rPr dirty="0" err="1"/>
              <a:t>与控制器细节</a:t>
            </a:r>
            <a:r>
              <a:rPr dirty="0"/>
              <a:t>。</a:t>
            </a:r>
          </a:p>
          <a:p>
            <a:r>
              <a:rPr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第一阶段是在归属代理完成后端读取合并。</a:t>
            </a:r>
          </a:p>
          <a:p>
            <a:r>
              <a:rPr lang="zh-CN" altLang="en-US" dirty="0"/>
              <a:t>多个读请求到达以后，</a:t>
            </a:r>
            <a:r>
              <a:rPr lang="en-US" altLang="zh-CN" dirty="0"/>
              <a:t>HA</a:t>
            </a:r>
            <a:r>
              <a:rPr lang="zh-CN" altLang="en-US" dirty="0"/>
              <a:t>首先根据请求地址计算缓存行基地址，并在活跃事务表中查找是否已经存在相同缓存行的读取事务。（这里需要注意，事务表的匹配依据是缓存行基地址，扇区位置作为每个请求的行内偏移单独保存，并不是查找表键的一部分。）</a:t>
            </a:r>
          </a:p>
          <a:p>
            <a:r>
              <a:rPr lang="zh-CN" altLang="en-US" dirty="0"/>
              <a:t>如果没有找到相同缓存行，</a:t>
            </a:r>
            <a:r>
              <a:rPr lang="en-US" altLang="zh-CN" dirty="0"/>
              <a:t>HA</a:t>
            </a:r>
            <a:r>
              <a:rPr lang="zh-CN" altLang="en-US" dirty="0"/>
              <a:t>就创建一个新表项，并立即发起读取。当前实现没有为了合并而故意等待固定时间。命中时执行功能性读取；未命中时只向后端发送一次完整缓存行读取。</a:t>
            </a:r>
          </a:p>
          <a:p>
            <a:r>
              <a:rPr lang="zh-CN" altLang="en-US" dirty="0"/>
              <a:t>如果后续请求访问同一个缓存行，只要该表项仍允许合并，并且等待请求数量没有达到上限，就把请求加入合并等待列表，不再重复访问后端。请求在等待后端、后端访问中，甚至数据已经返回但响应组尚未关闭时，都有机会继续合并。</a:t>
            </a:r>
          </a:p>
          <a:p>
            <a:r>
              <a:rPr lang="zh-CN" altLang="en-US" dirty="0"/>
              <a:t>因此，这里的合并窗口不是一个单独的归属代理定时器，而主要由后端响应时间和二级响应等待时间共同形成。数据返回以后，</a:t>
            </a:r>
            <a:r>
              <a:rPr lang="en-US" altLang="zh-CN" dirty="0"/>
              <a:t>L2 Cache</a:t>
            </a:r>
            <a:r>
              <a:rPr lang="zh-CN" altLang="en-US" dirty="0"/>
              <a:t>还会等待设定的响应延迟；响应组冻结时，才关闭新的请求加入。等待时间越长，可能合并到的请求越多，但也会增加响应延迟和缓冲占用。</a:t>
            </a:r>
          </a:p>
          <a:p>
            <a:r>
              <a:rPr lang="zh-CN" altLang="en-US" dirty="0"/>
              <a:t>后端数据返回后，</a:t>
            </a:r>
            <a:r>
              <a:rPr lang="en-US" altLang="zh-CN" dirty="0"/>
              <a:t>HA</a:t>
            </a:r>
            <a:r>
              <a:rPr lang="zh-CN" altLang="en-US" dirty="0"/>
              <a:t>只保存一份完整缓存行数据。每个合并等待请求分别记录自己的原始地址、数据长度和行内偏移，后续从这份共享数据中取出自己需要的部分。</a:t>
            </a:r>
          </a:p>
          <a:p>
            <a:r>
              <a:rPr lang="zh-CN" altLang="en-US" dirty="0"/>
              <a:t>第二阶段是在二级响应缓冲完成网络传输聚合。</a:t>
            </a:r>
          </a:p>
          <a:p>
            <a:r>
              <a:rPr lang="en-US" altLang="zh-CN" dirty="0"/>
              <a:t>L2 Cache</a:t>
            </a:r>
            <a:r>
              <a:rPr lang="zh-CN" altLang="en-US" dirty="0"/>
              <a:t>首先检查这些响应是否满足扇出条件，包括共享同一份缓存行数据、来自不同接收端，以及请求大小和偏移满足扇区对齐要求。如果不满足，就分别发送单播响应；如果满足，就建立一个响应扇出组。</a:t>
            </a:r>
          </a:p>
          <a:p>
            <a:r>
              <a:rPr lang="zh-CN" altLang="en-US" dirty="0"/>
              <a:t>接下来按照目标垂直环进行分组。假设</a:t>
            </a:r>
            <a:r>
              <a:rPr lang="en-US" altLang="zh-CN" dirty="0"/>
              <a:t>N</a:t>
            </a:r>
            <a:r>
              <a:rPr lang="zh-CN" altLang="en-US" dirty="0"/>
              <a:t>个接收端分布在</a:t>
            </a:r>
            <a:r>
              <a:rPr lang="en-US" altLang="zh-CN" dirty="0"/>
              <a:t>K</a:t>
            </a:r>
            <a:r>
              <a:rPr lang="zh-CN" altLang="en-US" dirty="0"/>
              <a:t>个垂直环上，那么水平环只需要产生</a:t>
            </a:r>
            <a:r>
              <a:rPr lang="en-US" altLang="zh-CN" dirty="0"/>
              <a:t>K</a:t>
            </a:r>
            <a:r>
              <a:rPr lang="zh-CN" altLang="en-US" dirty="0"/>
              <a:t>个物理承载包，而不是</a:t>
            </a:r>
            <a:r>
              <a:rPr lang="en-US" altLang="zh-CN" dirty="0"/>
              <a:t>N</a:t>
            </a:r>
            <a:r>
              <a:rPr lang="zh-CN" altLang="en-US" dirty="0"/>
              <a:t>个包。因为发往不同垂直环的数据必须经过不同的环桥，所以一个目标垂直环对应一个水平环承载包。</a:t>
            </a:r>
          </a:p>
          <a:p>
            <a:r>
              <a:rPr lang="zh-CN" altLang="en-US" dirty="0"/>
              <a:t>同一个垂直环内部，如果只有一个接收端，就按单播统计；如果多个接收端请求的地址和长度完全相同，就采用多播，让同一个</a:t>
            </a:r>
            <a:r>
              <a:rPr lang="en-US" altLang="zh-CN" dirty="0" err="1"/>
              <a:t>Packtage</a:t>
            </a:r>
            <a:r>
              <a:rPr lang="zh-CN" altLang="en-US" dirty="0"/>
              <a:t>沿环网依次被多个节点取出；如果它们读取同一缓存行中的不同扇区或不同长度，就采用分段分发，每个节点只取承载包中属于自己的数据片段。</a:t>
            </a:r>
          </a:p>
          <a:p>
            <a:r>
              <a:rPr lang="zh-CN" altLang="en-US" dirty="0"/>
              <a:t>最后一个接收端取出数据以后，物理承载包被回收，释放环网槽位。这样，</a:t>
            </a:r>
            <a:r>
              <a:rPr lang="en-US" altLang="zh-CN" dirty="0"/>
              <a:t>N</a:t>
            </a:r>
            <a:r>
              <a:rPr lang="zh-CN" altLang="en-US" dirty="0"/>
              <a:t>个原始请求可以只产生一次后端缓存行读取，并将网络传输数量压缩到目标垂直环数量，从而同时减少后端访问和环网数据流量。”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>
                <a:latin typeface="Microsoft YaHei"/>
                <a:ea typeface="Microsoft YaHei"/>
                <a:cs typeface="Microsoft YaHei"/>
              </a:rPr>
              <a:t>这一页先把四种地址模式的定义说清楚，再进入后面的性能曲线。它们不是四套不同协议，而是用不同地址关系控制系统是否产生同</a:t>
            </a:r>
            <a:r>
              <a:rPr dirty="0">
                <a:latin typeface="Microsoft YaHei"/>
                <a:ea typeface="Microsoft YaHei"/>
                <a:cs typeface="Microsoft YaHei"/>
              </a:rPr>
              <a:t> Line </a:t>
            </a:r>
            <a:r>
              <a:rPr dirty="0" err="1">
                <a:latin typeface="Microsoft YaHei"/>
                <a:ea typeface="Microsoft YaHei"/>
                <a:cs typeface="Microsoft YaHei"/>
              </a:rPr>
              <a:t>合并、Scatter</a:t>
            </a:r>
            <a:r>
              <a:rPr dirty="0">
                <a:latin typeface="Microsoft YaHei"/>
                <a:ea typeface="Microsoft YaHei"/>
                <a:cs typeface="Microsoft YaHei"/>
              </a:rPr>
              <a:t> 或 Multicast。</a:t>
            </a:r>
          </a:p>
          <a:p>
            <a:endParaRPr dirty="0">
              <a:latin typeface="Microsoft YaHei"/>
              <a:ea typeface="Microsoft YaHei"/>
              <a:cs typeface="Microsoft YaHei"/>
            </a:endParaRPr>
          </a:p>
          <a:p>
            <a:r>
              <a:rPr dirty="0" err="1"/>
              <a:t>统一定义：Cache</a:t>
            </a:r>
            <a:r>
              <a:rPr dirty="0"/>
              <a:t> Line </a:t>
            </a:r>
            <a:r>
              <a:rPr dirty="0" err="1"/>
              <a:t>固定为</a:t>
            </a:r>
            <a:r>
              <a:rPr dirty="0"/>
              <a:t> 512B，B </a:t>
            </a:r>
            <a:r>
              <a:rPr dirty="0" err="1"/>
              <a:t>是单笔请求大小，Q</a:t>
            </a:r>
            <a:r>
              <a:rPr dirty="0"/>
              <a:t> = 512 / B </a:t>
            </a:r>
            <a:r>
              <a:rPr dirty="0" err="1"/>
              <a:t>表示一条</a:t>
            </a:r>
            <a:r>
              <a:rPr dirty="0"/>
              <a:t> Line </a:t>
            </a:r>
            <a:r>
              <a:rPr dirty="0" err="1"/>
              <a:t>中最多能容纳多少个互不重叠的</a:t>
            </a:r>
            <a:r>
              <a:rPr dirty="0"/>
              <a:t> B </a:t>
            </a:r>
            <a:r>
              <a:rPr dirty="0" err="1"/>
              <a:t>字节请求。当前系统配置为</a:t>
            </a:r>
            <a:r>
              <a:rPr dirty="0"/>
              <a:t> 8 个 </a:t>
            </a:r>
            <a:r>
              <a:rPr dirty="0" err="1"/>
              <a:t>Master；图中的</a:t>
            </a:r>
            <a:r>
              <a:rPr dirty="0"/>
              <a:t> Scatter 以 128B </a:t>
            </a:r>
            <a:r>
              <a:rPr dirty="0" err="1"/>
              <a:t>请求为例，因此</a:t>
            </a:r>
            <a:r>
              <a:rPr dirty="0"/>
              <a:t> Q=4，8 个 Master </a:t>
            </a:r>
            <a:r>
              <a:rPr dirty="0" err="1"/>
              <a:t>分到两条</a:t>
            </a:r>
            <a:r>
              <a:rPr dirty="0"/>
              <a:t> </a:t>
            </a:r>
            <a:r>
              <a:rPr dirty="0" err="1"/>
              <a:t>Line。对于</a:t>
            </a:r>
            <a:r>
              <a:rPr dirty="0"/>
              <a:t> 256B </a:t>
            </a:r>
            <a:r>
              <a:rPr dirty="0" err="1"/>
              <a:t>请求，Q</a:t>
            </a:r>
            <a:r>
              <a:rPr dirty="0"/>
              <a:t>=2；对于 512B </a:t>
            </a:r>
            <a:r>
              <a:rPr dirty="0" err="1"/>
              <a:t>请求，Q</a:t>
            </a:r>
            <a:r>
              <a:rPr dirty="0"/>
              <a:t>=1，已经没有同 Line </a:t>
            </a:r>
            <a:r>
              <a:rPr dirty="0" err="1"/>
              <a:t>不同</a:t>
            </a:r>
            <a:r>
              <a:rPr dirty="0"/>
              <a:t> Offset 的 Scatter </a:t>
            </a:r>
            <a:r>
              <a:rPr dirty="0" err="1"/>
              <a:t>空间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NoMerge</a:t>
            </a:r>
            <a:r>
              <a:rPr dirty="0"/>
              <a:t> </a:t>
            </a:r>
            <a:r>
              <a:rPr dirty="0" err="1"/>
              <a:t>为无合并基线。每笔请求都前进到新</a:t>
            </a:r>
            <a:r>
              <a:rPr dirty="0"/>
              <a:t> </a:t>
            </a:r>
            <a:r>
              <a:rPr dirty="0" err="1"/>
              <a:t>Line，所以</a:t>
            </a:r>
            <a:r>
              <a:rPr dirty="0"/>
              <a:t> 128B、256B、512B </a:t>
            </a:r>
            <a:r>
              <a:rPr dirty="0" err="1"/>
              <a:t>请求分别会产生约</a:t>
            </a:r>
            <a:r>
              <a:rPr dirty="0"/>
              <a:t> 4 倍、2 倍、1 </a:t>
            </a:r>
            <a:r>
              <a:rPr dirty="0" err="1"/>
              <a:t>倍的</a:t>
            </a:r>
            <a:r>
              <a:rPr dirty="0"/>
              <a:t> HBM Line </a:t>
            </a:r>
            <a:r>
              <a:rPr dirty="0" err="1"/>
              <a:t>放大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Private </a:t>
            </a:r>
            <a:r>
              <a:rPr dirty="0" err="1"/>
              <a:t>为每个</a:t>
            </a:r>
            <a:r>
              <a:rPr dirty="0"/>
              <a:t> Master </a:t>
            </a:r>
            <a:r>
              <a:rPr dirty="0" err="1"/>
              <a:t>分配独立连续窗口。它没有跨</a:t>
            </a:r>
            <a:r>
              <a:rPr dirty="0"/>
              <a:t> Master </a:t>
            </a:r>
            <a:r>
              <a:rPr dirty="0" err="1"/>
              <a:t>共享，但同一</a:t>
            </a:r>
            <a:r>
              <a:rPr dirty="0"/>
              <a:t> Master </a:t>
            </a:r>
            <a:r>
              <a:rPr dirty="0" err="1"/>
              <a:t>的连续小请求仍可能落在同一条</a:t>
            </a:r>
            <a:r>
              <a:rPr dirty="0"/>
              <a:t> 512B </a:t>
            </a:r>
            <a:r>
              <a:rPr dirty="0" err="1"/>
              <a:t>Line，因此</a:t>
            </a:r>
            <a:r>
              <a:rPr dirty="0"/>
              <a:t> 128B 和 256B </a:t>
            </a:r>
            <a:r>
              <a:rPr dirty="0" err="1"/>
              <a:t>场景仍有同</a:t>
            </a:r>
            <a:r>
              <a:rPr dirty="0"/>
              <a:t> Line </a:t>
            </a:r>
            <a:r>
              <a:rPr dirty="0" err="1"/>
              <a:t>合并空间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Scatter </a:t>
            </a:r>
            <a:r>
              <a:rPr dirty="0" err="1"/>
              <a:t>让不同</a:t>
            </a:r>
            <a:r>
              <a:rPr dirty="0"/>
              <a:t> Master </a:t>
            </a:r>
            <a:r>
              <a:rPr dirty="0" err="1"/>
              <a:t>访问同一条</a:t>
            </a:r>
            <a:r>
              <a:rPr dirty="0"/>
              <a:t> Line </a:t>
            </a:r>
            <a:r>
              <a:rPr dirty="0" err="1"/>
              <a:t>的不同</a:t>
            </a:r>
            <a:r>
              <a:rPr dirty="0"/>
              <a:t> </a:t>
            </a:r>
            <a:r>
              <a:rPr dirty="0" err="1"/>
              <a:t>Offset。后端读取一次完整</a:t>
            </a:r>
            <a:r>
              <a:rPr dirty="0"/>
              <a:t> </a:t>
            </a:r>
            <a:r>
              <a:rPr dirty="0" err="1"/>
              <a:t>Line，再把不同</a:t>
            </a:r>
            <a:r>
              <a:rPr dirty="0"/>
              <a:t> Sector </a:t>
            </a:r>
            <a:r>
              <a:rPr dirty="0" err="1"/>
              <a:t>交付给对应</a:t>
            </a:r>
            <a:r>
              <a:rPr dirty="0"/>
              <a:t> </a:t>
            </a:r>
            <a:r>
              <a:rPr dirty="0" err="1"/>
              <a:t>Master；它利用的是</a:t>
            </a:r>
            <a:r>
              <a:rPr dirty="0"/>
              <a:t> Line </a:t>
            </a:r>
            <a:r>
              <a:rPr dirty="0" err="1"/>
              <a:t>聚合和</a:t>
            </a:r>
            <a:r>
              <a:rPr dirty="0"/>
              <a:t> Scatter </a:t>
            </a:r>
            <a:r>
              <a:rPr dirty="0" err="1"/>
              <a:t>分发，不是同地址</a:t>
            </a:r>
            <a:r>
              <a:rPr dirty="0"/>
              <a:t> Multicast。</a:t>
            </a:r>
          </a:p>
          <a:p>
            <a:endParaRPr dirty="0"/>
          </a:p>
          <a:p>
            <a:r>
              <a:rPr dirty="0"/>
              <a:t>Shared </a:t>
            </a:r>
            <a:r>
              <a:rPr dirty="0" err="1"/>
              <a:t>让所有</a:t>
            </a:r>
            <a:r>
              <a:rPr dirty="0"/>
              <a:t> Master </a:t>
            </a:r>
            <a:r>
              <a:rPr dirty="0" err="1"/>
              <a:t>在同一</a:t>
            </a:r>
            <a:r>
              <a:rPr dirty="0"/>
              <a:t> Wave </a:t>
            </a:r>
            <a:r>
              <a:rPr dirty="0" err="1"/>
              <a:t>访问完全相同的地址。HA</a:t>
            </a:r>
            <a:r>
              <a:rPr dirty="0"/>
              <a:t> </a:t>
            </a:r>
            <a:r>
              <a:rPr dirty="0" err="1"/>
              <a:t>合并</a:t>
            </a:r>
            <a:r>
              <a:rPr dirty="0"/>
              <a:t> </a:t>
            </a:r>
            <a:r>
              <a:rPr dirty="0" err="1"/>
              <a:t>Waiter，返回侧使用</a:t>
            </a:r>
            <a:r>
              <a:rPr dirty="0"/>
              <a:t> Multicast </a:t>
            </a:r>
            <a:r>
              <a:rPr dirty="0" err="1"/>
              <a:t>carrier，使一份物理</a:t>
            </a:r>
            <a:r>
              <a:rPr dirty="0"/>
              <a:t> DAT </a:t>
            </a:r>
            <a:r>
              <a:rPr dirty="0" err="1"/>
              <a:t>同时服务多个</a:t>
            </a:r>
            <a:r>
              <a:rPr dirty="0"/>
              <a:t> </a:t>
            </a:r>
            <a:r>
              <a:rPr dirty="0" err="1"/>
              <a:t>Master。逻辑有效吞吐可以因此高于物理</a:t>
            </a:r>
            <a:r>
              <a:rPr dirty="0"/>
              <a:t> DAT </a:t>
            </a:r>
            <a:r>
              <a:rPr dirty="0" err="1"/>
              <a:t>带宽，但不代表单条</a:t>
            </a:r>
            <a:r>
              <a:rPr dirty="0"/>
              <a:t> Ring </a:t>
            </a:r>
            <a:r>
              <a:rPr dirty="0" err="1"/>
              <a:t>链路超过配置位宽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汇报时强调：不同模式的性能曲线不能简单横向等同。必须同时固定请求大小、L2 </a:t>
            </a:r>
            <a:r>
              <a:rPr dirty="0" err="1"/>
              <a:t>命中率和</a:t>
            </a:r>
            <a:r>
              <a:rPr dirty="0"/>
              <a:t> </a:t>
            </a:r>
            <a:r>
              <a:rPr dirty="0" err="1"/>
              <a:t>Outstanding，才能把差异解释为地址关系带来的合并与物理流量变化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>
                <a:latin typeface="Microsoft YaHei"/>
                <a:ea typeface="Microsoft YaHei"/>
                <a:cs typeface="Microsoft YaHei"/>
              </a:rPr>
              <a:t>[Sources]</a:t>
            </a:r>
          </a:p>
          <a:p>
            <a:r>
              <a:rPr>
                <a:latin typeface="Microsoft YaHei"/>
                <a:ea typeface="Microsoft YaHei"/>
                <a:cs typeface="Microsoft YaHei"/>
              </a:rPr>
              <a:t>- C:\Users\wayne\Downloads\gem5-stable\BUS\aicore\code\logs\burst_sweep_l2miss_scatter_2026-08-19\burst_sweep_summary.csv</a:t>
            </a:r>
          </a:p>
          <a:p>
            <a:r>
              <a:rPr>
                <a:latin typeface="Microsoft YaHei"/>
                <a:ea typeface="Microsoft YaHei"/>
                <a:cs typeface="Microsoft YaHei"/>
              </a:rPr>
              <a:t>- C:\Users\wayne\Downloads\gem5-stable\BUS\aicore\code\logs\burst_sweep_l2miss_scatter_2026-08-19\request_bytes_vs_packet_counts.png</a:t>
            </a:r>
          </a:p>
          <a:p>
            <a:r>
              <a:rPr>
                <a:latin typeface="Microsoft YaHei"/>
                <a:ea typeface="Microsoft YaHei"/>
                <a:cs typeface="Microsoft YaHei"/>
              </a:rPr>
              <a:t>[/Sources]</a:t>
            </a:r>
            <a:endParaRPr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83A53-C2D1-4C83-B3EE-F6C2B706BF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921B26-2970-45B4-BBB4-CE3CC6B1A8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EED526-C63C-45A9-AAD8-4C1C3A8A2F0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2026/8/25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B44155-D3E6-444C-8DBF-05DD12BDF34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558AAE-B987-4239-8BA9-A682319B19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43AE2-E4C9-4E60-9C43-6C69D0680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C1563-8708-4A47-A2D7-5E054FEAEB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7E54B-0E50-4ABF-BBB1-4CF0FCC4438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2026/8/25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AB8D54-C914-4B58-B5CC-8A01B12603C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89ECB-5D01-4567-BCAC-6FEB43133E0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DC559-7D10-417A-BC71-CF3CAADFE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A22528-C1BE-406E-B016-DD4737AE82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4BDFE-7F0F-46B5-87A6-AA8735CF3EA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2026/8/25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A1E905-6D29-4871-AA5C-BF92E1EFD39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4FCC67-0F40-4F35-B1D3-BA4F4E8E5F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31054-D183-4239-B2A1-2DDEEA75C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34125-69D4-462F-8DB0-4480F880E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2DEBC5-82B1-47D3-8B76-BEB1418265A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4074AB-F580-4510-B2A1-FBC5A11B700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2026/8/25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81B943-FA7E-4889-94A8-62D548E1B40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AFADB2-83AA-4103-976E-7C4F2D94D21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7EAEB-E0BD-4791-BB54-EBC110937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3A7A10-7FBF-461E-A515-396E27657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FEB73A-13A3-4D93-8936-94A90946E96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64335D-79AC-4FAD-A2F2-9F680F61A186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853425-F87C-420C-BDAB-3D68BB2A8FA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C155D7-4CA3-4EAA-8207-0B2ADFDBE71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2026/8/25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28D8D7-86D9-4631-965B-3AF0CB5FD8F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44A4D0-E648-46C6-89C1-6B98A02465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312AF-7418-4064-AC5E-5D932B119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6EC5DD-7E3C-4243-9D88-26BF9002757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2026/8/25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7E4189-CC5C-4B7C-85F6-ECC0DE9691C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962D5D-E49C-4234-9BB5-BFB722A37E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00DAAB-BE2A-411D-9688-46534F1B983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2026/8/25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BC8FD6-572E-4799-8BB0-84D086AD84F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93F140-8884-4B9B-816D-70F55EC7DA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F1FC4-97DA-4690-9AF3-0443EFF7D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CB60D-FF95-436E-86AB-AD1012EB0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13C92D-2D5D-4307-9472-2570A08315F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406AFE-1BC7-485A-ADCA-386D6762561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2026/8/25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3D12A7-FD34-45DD-867F-9942ABC074E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B5BF9D-EE19-4E5D-B743-81139F4F17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0C051-A0FA-483D-A8DA-F7C11F2E7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DD96B2-8D1B-40C8-90C0-35F137421F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D22104-B987-41F1-9270-6CBF6837193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B04C40-2C25-4FE0-A1D6-237BCA645B4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2026/8/25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F66775-5583-41A0-AE63-0CA6ACC5A29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D0603-AA7C-4692-9A1B-E614E9C312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C53EE-A883-485A-BA0D-996A9E244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319FAD-D28B-475C-9C09-B6BF9D959F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0A8A5-8F60-4FC5-B516-8A1F3654063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2026/8/25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466C02-2A8F-4ED8-B6F7-6851CCA59DF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BD7E41-FE3D-4B4E-9805-B0FF07B720F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CE51D4-17CF-4BAB-A705-EE1A0B278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CE1583-AE15-462C-90D6-5CA588FF89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D890B-3AED-4EA2-9953-2095168B749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2026/8/25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11568-CEBD-4D25-9A25-18FD6670CBC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73460-46FA-4652-B499-FAA27A6A12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3F6C50-5CE9-40CB-B492-B09A4EC9C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DCE8F9-B4C1-4D7B-B240-1B612085B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1A8C0-0769-43BF-B88A-36474BC15B49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2026/8/25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762CE1-1201-40AD-BB48-A1F8DA18D0AA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E2A22-7B35-417A-8242-6F2E91E3C12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DAA269-32D5-4ACF-B1F2-DA70D1D70BD3}"/>
              </a:ext>
            </a:extLst>
          </p:cNvPr>
          <p:cNvSpPr>
            <a:spLocks noGrp="1"/>
          </p:cNvSpPr>
          <p:nvPr/>
        </p:nvSpPr>
        <p:spPr>
          <a:xfrm>
            <a:off x="457200" y="1492100"/>
            <a:ext cx="6962775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dirty="0" err="1">
                <a:solidFill>
                  <a:srgbClr val="1F4A7D"/>
                </a:solidFill>
                <a:latin typeface="Microsoft YaHei"/>
                <a:ea typeface="Microsoft YaHei"/>
                <a:cs typeface="Microsoft YaHei"/>
              </a:rPr>
              <a:t>多核</a:t>
            </a:r>
            <a:r>
              <a:rPr sz="2800" b="1" i="0" dirty="0">
                <a:solidFill>
                  <a:srgbClr val="1F4A7D"/>
                </a:solidFill>
                <a:latin typeface="Microsoft YaHei"/>
                <a:ea typeface="Microsoft YaHei"/>
                <a:cs typeface="Microsoft YaHei"/>
              </a:rPr>
              <a:t> Ring </a:t>
            </a:r>
            <a:r>
              <a:rPr sz="2800" b="1" i="0" dirty="0" err="1">
                <a:solidFill>
                  <a:srgbClr val="1F4A7D"/>
                </a:solidFill>
                <a:latin typeface="Microsoft YaHei"/>
                <a:ea typeface="Microsoft YaHei"/>
                <a:cs typeface="Microsoft YaHei"/>
              </a:rPr>
              <a:t>总线</a:t>
            </a:r>
            <a:r>
              <a:rPr sz="2800" b="1" i="0" dirty="0">
                <a:solidFill>
                  <a:srgbClr val="1F4A7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zh-CN" altLang="en-US" sz="2800" b="1" i="0" dirty="0">
                <a:solidFill>
                  <a:srgbClr val="1F4A7D"/>
                </a:solidFill>
                <a:latin typeface="Microsoft YaHei"/>
                <a:ea typeface="Microsoft YaHei"/>
                <a:cs typeface="Microsoft YaHei"/>
              </a:rPr>
              <a:t>建模</a:t>
            </a:r>
            <a:r>
              <a:rPr sz="2800" b="1" i="0" dirty="0" err="1">
                <a:solidFill>
                  <a:srgbClr val="1F4A7D"/>
                </a:solidFill>
                <a:latin typeface="Microsoft YaHei"/>
                <a:ea typeface="Microsoft YaHei"/>
                <a:cs typeface="Microsoft YaHei"/>
              </a:rPr>
              <a:t>设计与进展汇报</a:t>
            </a:r>
            <a:endParaRPr sz="2800" b="1" i="0" dirty="0">
              <a:solidFill>
                <a:srgbClr val="1F4A7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8CCEB8-A0AB-40A6-BB11-FCC2A64F5EDB}"/>
              </a:ext>
            </a:extLst>
          </p:cNvPr>
          <p:cNvSpPr>
            <a:spLocks noGrp="1"/>
          </p:cNvSpPr>
          <p:nvPr/>
        </p:nvSpPr>
        <p:spPr>
          <a:xfrm>
            <a:off x="45956" y="2939214"/>
            <a:ext cx="6035040" cy="32918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63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endParaRPr sz="1163" b="0" i="0">
              <a:solidFill>
                <a:srgbClr val="5D657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Connector 4">
            <a:extLst>
              <a:ext uri="{FF2B5EF4-FFF2-40B4-BE49-F238E27FC236}">
                <a16:creationId xmlns:a16="http://schemas.microsoft.com/office/drawing/2014/main" id="{202A4F46-2111-4FAB-8CEE-D6AA544F2D76}"/>
              </a:ext>
            </a:extLst>
          </p:cNvPr>
          <p:cNvSpPr>
            <a:spLocks noGrp="1"/>
          </p:cNvSpPr>
          <p:nvPr/>
        </p:nvSpPr>
        <p:spPr>
          <a:xfrm>
            <a:off x="694944" y="3456432"/>
            <a:ext cx="4745736" cy="0"/>
          </a:xfrm>
          <a:prstGeom prst="line">
            <a:avLst/>
          </a:prstGeom>
          <a:ln w="15240">
            <a:solidFill>
              <a:srgbClr val="1F4A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A34D5F1-02A3-47F6-9662-BC36BB09ED99}"/>
              </a:ext>
            </a:extLst>
          </p:cNvPr>
          <p:cNvSpPr>
            <a:spLocks noGrp="1"/>
          </p:cNvSpPr>
          <p:nvPr/>
        </p:nvSpPr>
        <p:spPr>
          <a:xfrm>
            <a:off x="694944" y="3785615"/>
            <a:ext cx="1188720" cy="384048"/>
          </a:xfrm>
          <a:prstGeom prst="roundRect">
            <a:avLst/>
          </a:prstGeom>
          <a:solidFill>
            <a:srgbClr val="DAEBF3"/>
          </a:solidFill>
          <a:ln w="11430">
            <a:solidFill>
              <a:srgbClr val="707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19" b="1">
                <a:solidFill>
                  <a:srgbClr val="202730"/>
                </a:solidFill>
                <a:latin typeface="Microsoft YaHei"/>
                <a:ea typeface="Microsoft YaHei"/>
                <a:cs typeface="Microsoft YaHei"/>
              </a:rPr>
              <a:t>总体架构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2DB55BE-A884-4DBE-AF37-0778FD6FB438}"/>
              </a:ext>
            </a:extLst>
          </p:cNvPr>
          <p:cNvSpPr>
            <a:spLocks noGrp="1"/>
          </p:cNvSpPr>
          <p:nvPr/>
        </p:nvSpPr>
        <p:spPr>
          <a:xfrm>
            <a:off x="2112264" y="3785615"/>
            <a:ext cx="1188720" cy="384048"/>
          </a:xfrm>
          <a:prstGeom prst="roundRect">
            <a:avLst/>
          </a:prstGeom>
          <a:solidFill>
            <a:srgbClr val="D8EACA"/>
          </a:solidFill>
          <a:ln w="11430">
            <a:solidFill>
              <a:srgbClr val="707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19" b="1">
                <a:solidFill>
                  <a:srgbClr val="202730"/>
                </a:solidFill>
                <a:latin typeface="Microsoft YaHei"/>
                <a:ea typeface="Microsoft YaHei"/>
                <a:cs typeface="Microsoft YaHei"/>
              </a:rPr>
              <a:t>事务路径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DC72805-88CB-4934-9CB4-B64B8470C42A}"/>
              </a:ext>
            </a:extLst>
          </p:cNvPr>
          <p:cNvSpPr>
            <a:spLocks noGrp="1"/>
          </p:cNvSpPr>
          <p:nvPr/>
        </p:nvSpPr>
        <p:spPr>
          <a:xfrm>
            <a:off x="3529584" y="3785615"/>
            <a:ext cx="1188720" cy="384048"/>
          </a:xfrm>
          <a:prstGeom prst="roundRect">
            <a:avLst/>
          </a:prstGeom>
          <a:solidFill>
            <a:srgbClr val="F6DAB2"/>
          </a:solidFill>
          <a:ln w="11430">
            <a:solidFill>
              <a:srgbClr val="707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019" b="1">
                <a:solidFill>
                  <a:srgbClr val="202730"/>
                </a:solidFill>
                <a:latin typeface="Microsoft YaHei"/>
                <a:ea typeface="Microsoft YaHei"/>
                <a:cs typeface="Microsoft YaHei"/>
              </a:rPr>
              <a:t>验证进度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D9C6FD-D520-457D-B9EF-4E4FAEAD9A18}"/>
              </a:ext>
            </a:extLst>
          </p:cNvPr>
          <p:cNvSpPr>
            <a:spLocks noGrp="1"/>
          </p:cNvSpPr>
          <p:nvPr/>
        </p:nvSpPr>
        <p:spPr>
          <a:xfrm>
            <a:off x="6611112" y="713232"/>
            <a:ext cx="4937760" cy="5340096"/>
          </a:xfrm>
          <a:prstGeom prst="rect">
            <a:avLst/>
          </a:prstGeom>
          <a:noFill/>
          <a:ln w="10160">
            <a:solidFill>
              <a:srgbClr val="70777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19723C-7CE1-431D-B085-FC9415468006}"/>
              </a:ext>
            </a:extLst>
          </p:cNvPr>
          <p:cNvSpPr>
            <a:spLocks noGrp="1"/>
          </p:cNvSpPr>
          <p:nvPr/>
        </p:nvSpPr>
        <p:spPr>
          <a:xfrm>
            <a:off x="6775704" y="786384"/>
            <a:ext cx="3200400" cy="219456"/>
          </a:xfrm>
          <a:prstGeom prst="rect">
            <a:avLst/>
          </a:prstGeom>
          <a:noFill/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63" b="1">
                <a:solidFill>
                  <a:srgbClr val="5D6570"/>
                </a:solidFill>
                <a:latin typeface="Arial"/>
                <a:ea typeface="Arial"/>
                <a:cs typeface="Arial"/>
              </a:defRPr>
            </a:pPr>
            <a:r>
              <a:rPr sz="863" b="1" i="0">
                <a:solidFill>
                  <a:srgbClr val="5D6570"/>
                </a:solidFill>
                <a:latin typeface="Arial"/>
                <a:ea typeface="Arial"/>
                <a:cs typeface="Arial"/>
              </a:rPr>
              <a:t>Dual-Side V-Ring · Central 4L2 / 4HA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12766EB-CCDF-47D4-BFC0-AB0515130C9E}"/>
              </a:ext>
            </a:extLst>
          </p:cNvPr>
          <p:cNvSpPr>
            <a:spLocks noGrp="1"/>
          </p:cNvSpPr>
          <p:nvPr/>
        </p:nvSpPr>
        <p:spPr>
          <a:xfrm>
            <a:off x="7000875" y="2943225"/>
            <a:ext cx="4333875" cy="666750"/>
          </a:xfrm>
          <a:prstGeom prst="roundRect">
            <a:avLst/>
          </a:prstGeom>
          <a:noFill/>
          <a:ln w="15240">
            <a:solidFill>
              <a:srgbClr val="707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125DE7-5DEC-4749-B1F6-B81CD6E88C28}"/>
              </a:ext>
            </a:extLst>
          </p:cNvPr>
          <p:cNvSpPr>
            <a:spLocks noGrp="1"/>
          </p:cNvSpPr>
          <p:nvPr/>
        </p:nvSpPr>
        <p:spPr>
          <a:xfrm>
            <a:off x="8667750" y="3219450"/>
            <a:ext cx="952500" cy="190500"/>
          </a:xfrm>
          <a:prstGeom prst="rect">
            <a:avLst/>
          </a:prstGeom>
          <a:noFill/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88" b="1">
                <a:solidFill>
                  <a:srgbClr val="1F4A7D"/>
                </a:solidFill>
                <a:latin typeface="Arial"/>
                <a:ea typeface="Arial"/>
                <a:cs typeface="Arial"/>
              </a:defRPr>
            </a:pPr>
            <a:r>
              <a:rPr sz="788" b="1" i="0">
                <a:solidFill>
                  <a:srgbClr val="1F4A7D"/>
                </a:solidFill>
                <a:latin typeface="Arial"/>
                <a:ea typeface="Arial"/>
                <a:cs typeface="Arial"/>
              </a:rPr>
              <a:t>共享 H-Ring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A19CDF1-3C66-4E04-AEA5-A442B209C5CB}"/>
              </a:ext>
            </a:extLst>
          </p:cNvPr>
          <p:cNvSpPr>
            <a:spLocks noGrp="1"/>
          </p:cNvSpPr>
          <p:nvPr/>
        </p:nvSpPr>
        <p:spPr>
          <a:xfrm>
            <a:off x="7124700" y="1495425"/>
            <a:ext cx="590550" cy="3333750"/>
          </a:xfrm>
          <a:prstGeom prst="roundRect">
            <a:avLst/>
          </a:prstGeom>
          <a:noFill/>
          <a:ln w="13335">
            <a:solidFill>
              <a:srgbClr val="BEC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DD2F1D-97A3-4139-820F-6E9A08E20AA8}"/>
              </a:ext>
            </a:extLst>
          </p:cNvPr>
          <p:cNvSpPr>
            <a:spLocks noGrp="1"/>
          </p:cNvSpPr>
          <p:nvPr/>
        </p:nvSpPr>
        <p:spPr>
          <a:xfrm>
            <a:off x="7086600" y="1238250"/>
            <a:ext cx="666750" cy="190500"/>
          </a:xfrm>
          <a:prstGeom prst="rect">
            <a:avLst/>
          </a:prstGeom>
          <a:noFill/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88" b="1">
                <a:solidFill>
                  <a:srgbClr val="5D6570"/>
                </a:solidFill>
                <a:latin typeface="Arial"/>
                <a:ea typeface="Arial"/>
                <a:cs typeface="Arial"/>
              </a:defRPr>
            </a:pPr>
            <a:r>
              <a:rPr sz="788" b="1" i="0">
                <a:solidFill>
                  <a:srgbClr val="5D6570"/>
                </a:solidFill>
                <a:latin typeface="Arial"/>
                <a:ea typeface="Arial"/>
                <a:cs typeface="Arial"/>
              </a:rPr>
              <a:t>V-Ring 0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86283C3-6A76-4581-B7F8-17C1BA39D3FD}"/>
              </a:ext>
            </a:extLst>
          </p:cNvPr>
          <p:cNvSpPr>
            <a:spLocks noGrp="1"/>
          </p:cNvSpPr>
          <p:nvPr/>
        </p:nvSpPr>
        <p:spPr>
          <a:xfrm>
            <a:off x="7038975" y="2781300"/>
            <a:ext cx="762000" cy="457200"/>
          </a:xfrm>
          <a:prstGeom prst="roundRect">
            <a:avLst/>
          </a:prstGeom>
          <a:solidFill>
            <a:srgbClr val="DAEBF3"/>
          </a:solidFill>
          <a:ln w="11430">
            <a:solidFill>
              <a:srgbClr val="1F4A7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765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765" b="1">
                <a:solidFill>
                  <a:srgbClr val="202730"/>
                </a:solidFill>
                <a:latin typeface="Arial"/>
                <a:ea typeface="Arial"/>
                <a:cs typeface="Arial"/>
              </a:rPr>
              <a:t>RBRG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 sz="765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765" b="1">
                <a:solidFill>
                  <a:srgbClr val="202730"/>
                </a:solidFill>
                <a:latin typeface="Arial"/>
                <a:ea typeface="Arial"/>
                <a:cs typeface="Arial"/>
              </a:rPr>
              <a:t>-L1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AB37D08-05DD-4792-A068-5C49194B2797}"/>
              </a:ext>
            </a:extLst>
          </p:cNvPr>
          <p:cNvSpPr>
            <a:spLocks noGrp="1"/>
          </p:cNvSpPr>
          <p:nvPr/>
        </p:nvSpPr>
        <p:spPr>
          <a:xfrm>
            <a:off x="6657975" y="1809750"/>
            <a:ext cx="400050" cy="257175"/>
          </a:xfrm>
          <a:prstGeom prst="roundRect">
            <a:avLst/>
          </a:prstGeom>
          <a:solidFill>
            <a:srgbClr val="D8EACA"/>
          </a:solidFill>
          <a:ln w="11430">
            <a:solidFill>
              <a:srgbClr val="70777E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660" b="0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660" b="0">
                <a:solidFill>
                  <a:srgbClr val="202730"/>
                </a:solidFill>
                <a:latin typeface="Arial"/>
                <a:ea typeface="Arial"/>
                <a:cs typeface="Arial"/>
              </a:rPr>
              <a:t>M0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6D28247-4E4F-4495-B4C8-E64AA3EC4119}"/>
              </a:ext>
            </a:extLst>
          </p:cNvPr>
          <p:cNvSpPr>
            <a:spLocks noGrp="1"/>
          </p:cNvSpPr>
          <p:nvPr/>
        </p:nvSpPr>
        <p:spPr>
          <a:xfrm>
            <a:off x="6657975" y="4238625"/>
            <a:ext cx="400050" cy="257175"/>
          </a:xfrm>
          <a:prstGeom prst="roundRect">
            <a:avLst/>
          </a:prstGeom>
          <a:solidFill>
            <a:srgbClr val="D8EACA"/>
          </a:solidFill>
          <a:ln w="11430">
            <a:solidFill>
              <a:srgbClr val="70777E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660" b="0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660" b="0">
                <a:solidFill>
                  <a:srgbClr val="202730"/>
                </a:solidFill>
                <a:latin typeface="Arial"/>
                <a:ea typeface="Arial"/>
                <a:cs typeface="Arial"/>
              </a:rPr>
              <a:t>M2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55FF273-E8C1-4528-8362-C21F2D475FC7}"/>
              </a:ext>
            </a:extLst>
          </p:cNvPr>
          <p:cNvSpPr>
            <a:spLocks noGrp="1"/>
          </p:cNvSpPr>
          <p:nvPr/>
        </p:nvSpPr>
        <p:spPr>
          <a:xfrm>
            <a:off x="10496550" y="1495425"/>
            <a:ext cx="590550" cy="3333750"/>
          </a:xfrm>
          <a:prstGeom prst="roundRect">
            <a:avLst/>
          </a:prstGeom>
          <a:noFill/>
          <a:ln w="13335">
            <a:solidFill>
              <a:srgbClr val="BEC4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3AFD4B-06E1-4AAA-A23B-259B2D0769B9}"/>
              </a:ext>
            </a:extLst>
          </p:cNvPr>
          <p:cNvSpPr>
            <a:spLocks noGrp="1"/>
          </p:cNvSpPr>
          <p:nvPr/>
        </p:nvSpPr>
        <p:spPr>
          <a:xfrm>
            <a:off x="10458450" y="1238250"/>
            <a:ext cx="666750" cy="190500"/>
          </a:xfrm>
          <a:prstGeom prst="rect">
            <a:avLst/>
          </a:prstGeom>
          <a:noFill/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88" b="1">
                <a:solidFill>
                  <a:srgbClr val="5D6570"/>
                </a:solidFill>
                <a:latin typeface="Arial"/>
                <a:ea typeface="Arial"/>
                <a:cs typeface="Arial"/>
              </a:defRPr>
            </a:pPr>
            <a:r>
              <a:rPr sz="788" b="1" i="0">
                <a:solidFill>
                  <a:srgbClr val="5D6570"/>
                </a:solidFill>
                <a:latin typeface="Arial"/>
                <a:ea typeface="Arial"/>
                <a:cs typeface="Arial"/>
              </a:rPr>
              <a:t>V-Ring 1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764132DB-1EFA-4BE3-882A-A32293DA5D74}"/>
              </a:ext>
            </a:extLst>
          </p:cNvPr>
          <p:cNvSpPr>
            <a:spLocks noGrp="1"/>
          </p:cNvSpPr>
          <p:nvPr/>
        </p:nvSpPr>
        <p:spPr>
          <a:xfrm>
            <a:off x="10410825" y="2781300"/>
            <a:ext cx="762000" cy="457200"/>
          </a:xfrm>
          <a:prstGeom prst="roundRect">
            <a:avLst/>
          </a:prstGeom>
          <a:solidFill>
            <a:srgbClr val="DAEBF3"/>
          </a:solidFill>
          <a:ln w="11430">
            <a:solidFill>
              <a:srgbClr val="1F4A7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765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765" b="1">
                <a:solidFill>
                  <a:srgbClr val="202730"/>
                </a:solidFill>
                <a:latin typeface="Arial"/>
                <a:ea typeface="Arial"/>
                <a:cs typeface="Arial"/>
              </a:rPr>
              <a:t>RBRG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 sz="765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765" b="1">
                <a:solidFill>
                  <a:srgbClr val="202730"/>
                </a:solidFill>
                <a:latin typeface="Arial"/>
                <a:ea typeface="Arial"/>
                <a:cs typeface="Arial"/>
              </a:rPr>
              <a:t>-L1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9A307D98-11CD-4221-BCD1-6AFE941D99B0}"/>
              </a:ext>
            </a:extLst>
          </p:cNvPr>
          <p:cNvSpPr>
            <a:spLocks noGrp="1"/>
          </p:cNvSpPr>
          <p:nvPr/>
        </p:nvSpPr>
        <p:spPr>
          <a:xfrm>
            <a:off x="7781925" y="1809750"/>
            <a:ext cx="400050" cy="257175"/>
          </a:xfrm>
          <a:prstGeom prst="roundRect">
            <a:avLst/>
          </a:prstGeom>
          <a:solidFill>
            <a:srgbClr val="D8EACA"/>
          </a:solidFill>
          <a:ln w="11430">
            <a:solidFill>
              <a:srgbClr val="70777E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660" b="0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660" b="0">
                <a:solidFill>
                  <a:srgbClr val="202730"/>
                </a:solidFill>
                <a:latin typeface="Arial"/>
                <a:ea typeface="Arial"/>
                <a:cs typeface="Arial"/>
              </a:rPr>
              <a:t>M1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6B8F2A2-3A91-417F-9272-0B9E02F2ECCF}"/>
              </a:ext>
            </a:extLst>
          </p:cNvPr>
          <p:cNvSpPr>
            <a:spLocks noGrp="1"/>
          </p:cNvSpPr>
          <p:nvPr/>
        </p:nvSpPr>
        <p:spPr>
          <a:xfrm>
            <a:off x="7781925" y="4238625"/>
            <a:ext cx="400050" cy="257175"/>
          </a:xfrm>
          <a:prstGeom prst="roundRect">
            <a:avLst/>
          </a:prstGeom>
          <a:solidFill>
            <a:srgbClr val="D8EACA"/>
          </a:solidFill>
          <a:ln w="11430">
            <a:solidFill>
              <a:srgbClr val="70777E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660" b="0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660" b="0">
                <a:solidFill>
                  <a:srgbClr val="202730"/>
                </a:solidFill>
                <a:latin typeface="Arial"/>
                <a:ea typeface="Arial"/>
                <a:cs typeface="Arial"/>
              </a:rPr>
              <a:t>M3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787F8B5B-914B-4872-A274-E56ED84135B8}"/>
              </a:ext>
            </a:extLst>
          </p:cNvPr>
          <p:cNvSpPr>
            <a:spLocks noGrp="1"/>
          </p:cNvSpPr>
          <p:nvPr/>
        </p:nvSpPr>
        <p:spPr>
          <a:xfrm>
            <a:off x="10001250" y="1809750"/>
            <a:ext cx="400050" cy="257175"/>
          </a:xfrm>
          <a:prstGeom prst="roundRect">
            <a:avLst/>
          </a:prstGeom>
          <a:solidFill>
            <a:srgbClr val="D8EACA"/>
          </a:solidFill>
          <a:ln w="11430">
            <a:solidFill>
              <a:srgbClr val="70777E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660" b="0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660" b="0">
                <a:solidFill>
                  <a:srgbClr val="202730"/>
                </a:solidFill>
                <a:latin typeface="Arial"/>
                <a:ea typeface="Arial"/>
                <a:cs typeface="Arial"/>
              </a:rPr>
              <a:t>M4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D3D2C1A4-96FD-4258-B771-9B889692CBAE}"/>
              </a:ext>
            </a:extLst>
          </p:cNvPr>
          <p:cNvSpPr>
            <a:spLocks noGrp="1"/>
          </p:cNvSpPr>
          <p:nvPr/>
        </p:nvSpPr>
        <p:spPr>
          <a:xfrm>
            <a:off x="8239125" y="4105275"/>
            <a:ext cx="381000" cy="266700"/>
          </a:xfrm>
          <a:prstGeom prst="roundRect">
            <a:avLst/>
          </a:prstGeom>
          <a:solidFill>
            <a:srgbClr val="F6DAB2"/>
          </a:solidFill>
          <a:ln w="11430">
            <a:solidFill>
              <a:srgbClr val="70777E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578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578" b="1">
                <a:solidFill>
                  <a:srgbClr val="202730"/>
                </a:solidFill>
                <a:latin typeface="Arial"/>
                <a:ea typeface="Arial"/>
                <a:cs typeface="Arial"/>
              </a:rPr>
              <a:t>HA0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65C7849-4C80-4EFC-B31D-4146F56696D8}"/>
              </a:ext>
            </a:extLst>
          </p:cNvPr>
          <p:cNvSpPr>
            <a:spLocks noGrp="1"/>
          </p:cNvSpPr>
          <p:nvPr/>
        </p:nvSpPr>
        <p:spPr>
          <a:xfrm>
            <a:off x="8239125" y="2171700"/>
            <a:ext cx="381000" cy="266700"/>
          </a:xfrm>
          <a:prstGeom prst="roundRect">
            <a:avLst/>
          </a:prstGeom>
          <a:solidFill>
            <a:srgbClr val="F6DAB2"/>
          </a:solidFill>
          <a:ln w="11430">
            <a:solidFill>
              <a:srgbClr val="70777E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563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563" b="1">
                <a:solidFill>
                  <a:srgbClr val="202730"/>
                </a:solidFill>
                <a:latin typeface="Arial"/>
                <a:ea typeface="Arial"/>
                <a:cs typeface="Arial"/>
              </a:rPr>
              <a:t>L2-0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7926B0A-EBE9-4FD2-8717-D06C33E55C51}"/>
              </a:ext>
            </a:extLst>
          </p:cNvPr>
          <p:cNvSpPr>
            <a:spLocks noGrp="1"/>
          </p:cNvSpPr>
          <p:nvPr/>
        </p:nvSpPr>
        <p:spPr>
          <a:xfrm>
            <a:off x="8572500" y="5219700"/>
            <a:ext cx="2000250" cy="266700"/>
          </a:xfrm>
          <a:prstGeom prst="rect">
            <a:avLst/>
          </a:prstGeom>
          <a:noFill/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63" b="1">
                <a:solidFill>
                  <a:srgbClr val="D73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 i="0">
                <a:solidFill>
                  <a:srgbClr val="D73A32"/>
                </a:solidFill>
                <a:latin typeface="Microsoft YaHei"/>
                <a:ea typeface="Microsoft YaHei"/>
                <a:cs typeface="Microsoft YaHei"/>
              </a:rPr>
              <a:t>单向 packet ≤ 1 次换环</a:t>
            </a:r>
          </a:p>
        </p:txBody>
      </p:sp>
      <p:sp>
        <p:nvSpPr>
          <p:cNvPr id="33" name="Master 5">
            <a:extLst>
              <a:ext uri="{FF2B5EF4-FFF2-40B4-BE49-F238E27FC236}">
                <a16:creationId xmlns:a16="http://schemas.microsoft.com/office/drawing/2014/main" id="{DDD07EEB-4358-448A-B75E-AE11A965ED0E}"/>
              </a:ext>
            </a:extLst>
          </p:cNvPr>
          <p:cNvSpPr>
            <a:spLocks noGrp="1"/>
          </p:cNvSpPr>
          <p:nvPr/>
        </p:nvSpPr>
        <p:spPr>
          <a:xfrm>
            <a:off x="11134725" y="1809750"/>
            <a:ext cx="342900" cy="257175"/>
          </a:xfrm>
          <a:prstGeom prst="roundRect">
            <a:avLst>
              <a:gd name="adj" fmla="val 29630"/>
            </a:avLst>
          </a:prstGeom>
          <a:solidFill>
            <a:srgbClr val="D8EACA"/>
          </a:solidFill>
          <a:ln w="11430">
            <a:solidFill>
              <a:srgbClr val="70777E"/>
            </a:solidFill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buNone/>
              <a:defRPr sz="660" b="0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660" b="0">
                <a:solidFill>
                  <a:srgbClr val="202730"/>
                </a:solidFill>
                <a:latin typeface="Arial"/>
                <a:ea typeface="Arial"/>
                <a:cs typeface="Arial"/>
              </a:rPr>
              <a:t>M5</a:t>
            </a:r>
          </a:p>
        </p:txBody>
      </p:sp>
      <p:sp>
        <p:nvSpPr>
          <p:cNvPr id="34" name="Master 6">
            <a:extLst>
              <a:ext uri="{FF2B5EF4-FFF2-40B4-BE49-F238E27FC236}">
                <a16:creationId xmlns:a16="http://schemas.microsoft.com/office/drawing/2014/main" id="{48021A6F-8C8B-4CE2-BD05-65554AD63CEC}"/>
              </a:ext>
            </a:extLst>
          </p:cNvPr>
          <p:cNvSpPr>
            <a:spLocks noGrp="1"/>
          </p:cNvSpPr>
          <p:nvPr/>
        </p:nvSpPr>
        <p:spPr>
          <a:xfrm>
            <a:off x="10001250" y="4238625"/>
            <a:ext cx="400050" cy="257175"/>
          </a:xfrm>
          <a:prstGeom prst="roundRect">
            <a:avLst>
              <a:gd name="adj" fmla="val 29630"/>
            </a:avLst>
          </a:prstGeom>
          <a:solidFill>
            <a:srgbClr val="D8EACA"/>
          </a:solidFill>
          <a:ln w="11430">
            <a:solidFill>
              <a:srgbClr val="70777E"/>
            </a:solidFill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buNone/>
              <a:defRPr sz="660" b="0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660" b="0">
                <a:solidFill>
                  <a:srgbClr val="202730"/>
                </a:solidFill>
                <a:latin typeface="Arial"/>
                <a:ea typeface="Arial"/>
                <a:cs typeface="Arial"/>
              </a:rPr>
              <a:t>M6</a:t>
            </a:r>
          </a:p>
        </p:txBody>
      </p:sp>
      <p:sp>
        <p:nvSpPr>
          <p:cNvPr id="35" name="Master 7">
            <a:extLst>
              <a:ext uri="{FF2B5EF4-FFF2-40B4-BE49-F238E27FC236}">
                <a16:creationId xmlns:a16="http://schemas.microsoft.com/office/drawing/2014/main" id="{4A41FE05-8A07-4928-B15E-4933A73BC409}"/>
              </a:ext>
            </a:extLst>
          </p:cNvPr>
          <p:cNvSpPr>
            <a:spLocks noGrp="1"/>
          </p:cNvSpPr>
          <p:nvPr/>
        </p:nvSpPr>
        <p:spPr>
          <a:xfrm>
            <a:off x="11134725" y="4238625"/>
            <a:ext cx="342900" cy="257175"/>
          </a:xfrm>
          <a:prstGeom prst="roundRect">
            <a:avLst>
              <a:gd name="adj" fmla="val 29630"/>
            </a:avLst>
          </a:prstGeom>
          <a:solidFill>
            <a:srgbClr val="D8EACA"/>
          </a:solidFill>
          <a:ln w="11430">
            <a:solidFill>
              <a:srgbClr val="70777E"/>
            </a:solidFill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buNone/>
              <a:defRPr sz="660" b="0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660" b="0">
                <a:solidFill>
                  <a:srgbClr val="202730"/>
                </a:solidFill>
                <a:latin typeface="Arial"/>
                <a:ea typeface="Arial"/>
                <a:cs typeface="Arial"/>
              </a:rPr>
              <a:t>M7</a:t>
            </a:r>
          </a:p>
        </p:txBody>
      </p:sp>
      <p:sp>
        <p:nvSpPr>
          <p:cNvPr id="36" name="Station anchor">
            <a:extLst>
              <a:ext uri="{FF2B5EF4-FFF2-40B4-BE49-F238E27FC236}">
                <a16:creationId xmlns:a16="http://schemas.microsoft.com/office/drawing/2014/main" id="{42D07698-F311-4038-9199-5692AFAAA69D}"/>
              </a:ext>
            </a:extLst>
          </p:cNvPr>
          <p:cNvSpPr>
            <a:spLocks noGrp="1"/>
          </p:cNvSpPr>
          <p:nvPr/>
        </p:nvSpPr>
        <p:spPr>
          <a:xfrm>
            <a:off x="7086600" y="1900238"/>
            <a:ext cx="76200" cy="76200"/>
          </a:xfrm>
          <a:prstGeom prst="roundRect">
            <a:avLst>
              <a:gd name="adj" fmla="val 50000"/>
            </a:avLst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</p:sp>
      <p:sp>
        <p:nvSpPr>
          <p:cNvPr id="37" name="Station anchor">
            <a:extLst>
              <a:ext uri="{FF2B5EF4-FFF2-40B4-BE49-F238E27FC236}">
                <a16:creationId xmlns:a16="http://schemas.microsoft.com/office/drawing/2014/main" id="{6503F653-C427-47BD-B0B5-41F0A3C32170}"/>
              </a:ext>
            </a:extLst>
          </p:cNvPr>
          <p:cNvSpPr>
            <a:spLocks noGrp="1"/>
          </p:cNvSpPr>
          <p:nvPr/>
        </p:nvSpPr>
        <p:spPr>
          <a:xfrm>
            <a:off x="7677150" y="1900238"/>
            <a:ext cx="76200" cy="76200"/>
          </a:xfrm>
          <a:prstGeom prst="roundRect">
            <a:avLst>
              <a:gd name="adj" fmla="val 50000"/>
            </a:avLst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</p:sp>
      <p:sp>
        <p:nvSpPr>
          <p:cNvPr id="38" name="Station anchor">
            <a:extLst>
              <a:ext uri="{FF2B5EF4-FFF2-40B4-BE49-F238E27FC236}">
                <a16:creationId xmlns:a16="http://schemas.microsoft.com/office/drawing/2014/main" id="{CED08285-53E0-44D4-9985-602AD4CDCFF7}"/>
              </a:ext>
            </a:extLst>
          </p:cNvPr>
          <p:cNvSpPr>
            <a:spLocks noGrp="1"/>
          </p:cNvSpPr>
          <p:nvPr/>
        </p:nvSpPr>
        <p:spPr>
          <a:xfrm>
            <a:off x="7086600" y="4329113"/>
            <a:ext cx="76200" cy="76200"/>
          </a:xfrm>
          <a:prstGeom prst="roundRect">
            <a:avLst>
              <a:gd name="adj" fmla="val 50000"/>
            </a:avLst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</p:sp>
      <p:sp>
        <p:nvSpPr>
          <p:cNvPr id="39" name="Station anchor">
            <a:extLst>
              <a:ext uri="{FF2B5EF4-FFF2-40B4-BE49-F238E27FC236}">
                <a16:creationId xmlns:a16="http://schemas.microsoft.com/office/drawing/2014/main" id="{DCC66D44-72F2-4F52-A545-D0BB91C86F7D}"/>
              </a:ext>
            </a:extLst>
          </p:cNvPr>
          <p:cNvSpPr>
            <a:spLocks noGrp="1"/>
          </p:cNvSpPr>
          <p:nvPr/>
        </p:nvSpPr>
        <p:spPr>
          <a:xfrm>
            <a:off x="7677150" y="4329113"/>
            <a:ext cx="76200" cy="76200"/>
          </a:xfrm>
          <a:prstGeom prst="roundRect">
            <a:avLst>
              <a:gd name="adj" fmla="val 50000"/>
            </a:avLst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</p:sp>
      <p:sp>
        <p:nvSpPr>
          <p:cNvPr id="40" name="Station anchor">
            <a:extLst>
              <a:ext uri="{FF2B5EF4-FFF2-40B4-BE49-F238E27FC236}">
                <a16:creationId xmlns:a16="http://schemas.microsoft.com/office/drawing/2014/main" id="{896E96F0-7018-45F1-8455-92A44CD8A6C8}"/>
              </a:ext>
            </a:extLst>
          </p:cNvPr>
          <p:cNvSpPr>
            <a:spLocks noGrp="1"/>
          </p:cNvSpPr>
          <p:nvPr/>
        </p:nvSpPr>
        <p:spPr>
          <a:xfrm>
            <a:off x="10458450" y="1900238"/>
            <a:ext cx="76200" cy="76200"/>
          </a:xfrm>
          <a:prstGeom prst="roundRect">
            <a:avLst>
              <a:gd name="adj" fmla="val 50000"/>
            </a:avLst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</p:sp>
      <p:sp>
        <p:nvSpPr>
          <p:cNvPr id="41" name="Station anchor">
            <a:extLst>
              <a:ext uri="{FF2B5EF4-FFF2-40B4-BE49-F238E27FC236}">
                <a16:creationId xmlns:a16="http://schemas.microsoft.com/office/drawing/2014/main" id="{92AC9FA7-98F0-4C0C-B14A-DC4C8A90A8AF}"/>
              </a:ext>
            </a:extLst>
          </p:cNvPr>
          <p:cNvSpPr>
            <a:spLocks noGrp="1"/>
          </p:cNvSpPr>
          <p:nvPr/>
        </p:nvSpPr>
        <p:spPr>
          <a:xfrm>
            <a:off x="11049000" y="1900238"/>
            <a:ext cx="76200" cy="76200"/>
          </a:xfrm>
          <a:prstGeom prst="roundRect">
            <a:avLst>
              <a:gd name="adj" fmla="val 50000"/>
            </a:avLst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</p:sp>
      <p:sp>
        <p:nvSpPr>
          <p:cNvPr id="42" name="Station anchor">
            <a:extLst>
              <a:ext uri="{FF2B5EF4-FFF2-40B4-BE49-F238E27FC236}">
                <a16:creationId xmlns:a16="http://schemas.microsoft.com/office/drawing/2014/main" id="{07A93AE0-24A0-476D-A268-D1155A7134A1}"/>
              </a:ext>
            </a:extLst>
          </p:cNvPr>
          <p:cNvSpPr>
            <a:spLocks noGrp="1"/>
          </p:cNvSpPr>
          <p:nvPr/>
        </p:nvSpPr>
        <p:spPr>
          <a:xfrm>
            <a:off x="10458450" y="4329113"/>
            <a:ext cx="76200" cy="76200"/>
          </a:xfrm>
          <a:prstGeom prst="roundRect">
            <a:avLst>
              <a:gd name="adj" fmla="val 50000"/>
            </a:avLst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</p:sp>
      <p:sp>
        <p:nvSpPr>
          <p:cNvPr id="43" name="Station anchor">
            <a:extLst>
              <a:ext uri="{FF2B5EF4-FFF2-40B4-BE49-F238E27FC236}">
                <a16:creationId xmlns:a16="http://schemas.microsoft.com/office/drawing/2014/main" id="{EC0952E6-7CBA-40AB-8655-720BCBE54993}"/>
              </a:ext>
            </a:extLst>
          </p:cNvPr>
          <p:cNvSpPr>
            <a:spLocks noGrp="1"/>
          </p:cNvSpPr>
          <p:nvPr/>
        </p:nvSpPr>
        <p:spPr>
          <a:xfrm>
            <a:off x="11049000" y="4329113"/>
            <a:ext cx="76200" cy="76200"/>
          </a:xfrm>
          <a:prstGeom prst="roundRect">
            <a:avLst>
              <a:gd name="adj" fmla="val 50000"/>
            </a:avLst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</p:sp>
      <p:cxnSp>
        <p:nvCxnSpPr>
          <p:cNvPr id="664" name="直接箭头连接符 183"/>
          <p:cNvCxnSpPr>
            <a:stCxn id="16" idx="3"/>
            <a:endCxn id="36" idx="1"/>
          </p:cNvCxnSpPr>
          <p:nvPr/>
        </p:nvCxnSpPr>
        <p:spPr>
          <a:xfrm>
            <a:off x="7058025" y="1938338"/>
            <a:ext cx="28575" cy="0"/>
          </a:xfrm>
          <a:prstGeom prst="straightConnector1">
            <a:avLst/>
          </a:prstGeom>
          <a:ln w="8573" cap="rnd">
            <a:solidFill>
              <a:srgbClr val="BEC4C9"/>
            </a:solidFill>
            <a:prstDash val="solid"/>
          </a:ln>
        </p:spPr>
      </p:cxnSp>
      <p:cxnSp>
        <p:nvCxnSpPr>
          <p:cNvPr id="665" name="直接箭头连接符 184"/>
          <p:cNvCxnSpPr>
            <a:stCxn id="21" idx="1"/>
            <a:endCxn id="37" idx="3"/>
          </p:cNvCxnSpPr>
          <p:nvPr/>
        </p:nvCxnSpPr>
        <p:spPr>
          <a:xfrm flipH="1">
            <a:off x="7753350" y="1938338"/>
            <a:ext cx="28575" cy="0"/>
          </a:xfrm>
          <a:prstGeom prst="straightConnector1">
            <a:avLst/>
          </a:prstGeom>
          <a:ln w="8573" cap="rnd">
            <a:solidFill>
              <a:srgbClr val="BEC4C9"/>
            </a:solidFill>
            <a:prstDash val="solid"/>
          </a:ln>
        </p:spPr>
      </p:cxnSp>
      <p:cxnSp>
        <p:nvCxnSpPr>
          <p:cNvPr id="666" name="直接箭头连接符 185"/>
          <p:cNvCxnSpPr>
            <a:stCxn id="17" idx="3"/>
            <a:endCxn id="38" idx="1"/>
          </p:cNvCxnSpPr>
          <p:nvPr/>
        </p:nvCxnSpPr>
        <p:spPr>
          <a:xfrm>
            <a:off x="7058025" y="4367213"/>
            <a:ext cx="28575" cy="0"/>
          </a:xfrm>
          <a:prstGeom prst="straightConnector1">
            <a:avLst/>
          </a:prstGeom>
          <a:ln w="8573" cap="rnd">
            <a:solidFill>
              <a:srgbClr val="BEC4C9"/>
            </a:solidFill>
            <a:prstDash val="solid"/>
          </a:ln>
        </p:spPr>
      </p:cxnSp>
      <p:cxnSp>
        <p:nvCxnSpPr>
          <p:cNvPr id="667" name="直接箭头连接符 186"/>
          <p:cNvCxnSpPr>
            <a:stCxn id="22" idx="1"/>
            <a:endCxn id="39" idx="3"/>
          </p:cNvCxnSpPr>
          <p:nvPr/>
        </p:nvCxnSpPr>
        <p:spPr>
          <a:xfrm flipH="1">
            <a:off x="7753350" y="4367213"/>
            <a:ext cx="28575" cy="0"/>
          </a:xfrm>
          <a:prstGeom prst="straightConnector1">
            <a:avLst/>
          </a:prstGeom>
          <a:ln w="8573" cap="rnd">
            <a:solidFill>
              <a:srgbClr val="BEC4C9"/>
            </a:solidFill>
            <a:prstDash val="solid"/>
          </a:ln>
        </p:spPr>
      </p:cxnSp>
      <p:cxnSp>
        <p:nvCxnSpPr>
          <p:cNvPr id="668" name="直接箭头连接符 187"/>
          <p:cNvCxnSpPr>
            <a:stCxn id="26" idx="3"/>
            <a:endCxn id="40" idx="1"/>
          </p:cNvCxnSpPr>
          <p:nvPr/>
        </p:nvCxnSpPr>
        <p:spPr>
          <a:xfrm>
            <a:off x="10401300" y="1938338"/>
            <a:ext cx="57150" cy="0"/>
          </a:xfrm>
          <a:prstGeom prst="straightConnector1">
            <a:avLst/>
          </a:prstGeom>
          <a:ln w="8573" cap="rnd">
            <a:solidFill>
              <a:srgbClr val="BEC4C9"/>
            </a:solidFill>
            <a:prstDash val="solid"/>
          </a:ln>
        </p:spPr>
      </p:cxnSp>
      <p:cxnSp>
        <p:nvCxnSpPr>
          <p:cNvPr id="669" name="直接箭头连接符 188"/>
          <p:cNvCxnSpPr>
            <a:stCxn id="33" idx="1"/>
            <a:endCxn id="41" idx="3"/>
          </p:cNvCxnSpPr>
          <p:nvPr/>
        </p:nvCxnSpPr>
        <p:spPr>
          <a:xfrm flipH="1">
            <a:off x="11125200" y="1938338"/>
            <a:ext cx="9525" cy="0"/>
          </a:xfrm>
          <a:prstGeom prst="straightConnector1">
            <a:avLst/>
          </a:prstGeom>
          <a:ln w="8573" cap="rnd">
            <a:solidFill>
              <a:srgbClr val="BEC4C9"/>
            </a:solidFill>
            <a:prstDash val="solid"/>
          </a:ln>
        </p:spPr>
      </p:cxnSp>
      <p:cxnSp>
        <p:nvCxnSpPr>
          <p:cNvPr id="670" name="直接箭头连接符 189"/>
          <p:cNvCxnSpPr>
            <a:stCxn id="34" idx="3"/>
            <a:endCxn id="42" idx="1"/>
          </p:cNvCxnSpPr>
          <p:nvPr/>
        </p:nvCxnSpPr>
        <p:spPr>
          <a:xfrm>
            <a:off x="10401300" y="4367213"/>
            <a:ext cx="57150" cy="0"/>
          </a:xfrm>
          <a:prstGeom prst="straightConnector1">
            <a:avLst/>
          </a:prstGeom>
          <a:ln w="8573" cap="rnd">
            <a:solidFill>
              <a:srgbClr val="BEC4C9"/>
            </a:solidFill>
            <a:prstDash val="solid"/>
          </a:ln>
        </p:spPr>
      </p:cxnSp>
      <p:cxnSp>
        <p:nvCxnSpPr>
          <p:cNvPr id="671" name="直接箭头连接符 190"/>
          <p:cNvCxnSpPr>
            <a:stCxn id="35" idx="1"/>
            <a:endCxn id="43" idx="3"/>
          </p:cNvCxnSpPr>
          <p:nvPr/>
        </p:nvCxnSpPr>
        <p:spPr>
          <a:xfrm flipH="1">
            <a:off x="11125200" y="4367213"/>
            <a:ext cx="9525" cy="0"/>
          </a:xfrm>
          <a:prstGeom prst="straightConnector1">
            <a:avLst/>
          </a:prstGeom>
          <a:ln w="8573" cap="rnd">
            <a:solidFill>
              <a:srgbClr val="BEC4C9"/>
            </a:solidFill>
            <a:prstDash val="solid"/>
          </a:ln>
        </p:spPr>
      </p:cxnSp>
      <p:sp>
        <p:nvSpPr>
          <p:cNvPr id="52" name="Station anchor">
            <a:extLst>
              <a:ext uri="{FF2B5EF4-FFF2-40B4-BE49-F238E27FC236}">
                <a16:creationId xmlns:a16="http://schemas.microsoft.com/office/drawing/2014/main" id="{62106484-3082-4240-B1DF-5942A531880C}"/>
              </a:ext>
            </a:extLst>
          </p:cNvPr>
          <p:cNvSpPr>
            <a:spLocks noGrp="1"/>
          </p:cNvSpPr>
          <p:nvPr/>
        </p:nvSpPr>
        <p:spPr>
          <a:xfrm>
            <a:off x="8396288" y="2909888"/>
            <a:ext cx="66675" cy="66675"/>
          </a:xfrm>
          <a:prstGeom prst="roundRect">
            <a:avLst>
              <a:gd name="adj" fmla="val 50000"/>
            </a:avLst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</p:sp>
      <p:sp>
        <p:nvSpPr>
          <p:cNvPr id="53" name="Station anchor">
            <a:extLst>
              <a:ext uri="{FF2B5EF4-FFF2-40B4-BE49-F238E27FC236}">
                <a16:creationId xmlns:a16="http://schemas.microsoft.com/office/drawing/2014/main" id="{BB61EA11-25E6-43E7-A1D1-A1BCA57B5B87}"/>
              </a:ext>
            </a:extLst>
          </p:cNvPr>
          <p:cNvSpPr>
            <a:spLocks noGrp="1"/>
          </p:cNvSpPr>
          <p:nvPr/>
        </p:nvSpPr>
        <p:spPr>
          <a:xfrm>
            <a:off x="8396288" y="3576638"/>
            <a:ext cx="66675" cy="66675"/>
          </a:xfrm>
          <a:prstGeom prst="roundRect">
            <a:avLst>
              <a:gd name="adj" fmla="val 50000"/>
            </a:avLst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</p:sp>
      <p:cxnSp>
        <p:nvCxnSpPr>
          <p:cNvPr id="674" name="直接箭头连接符 193"/>
          <p:cNvCxnSpPr>
            <a:stCxn id="28" idx="2"/>
            <a:endCxn id="52" idx="0"/>
          </p:cNvCxnSpPr>
          <p:nvPr/>
        </p:nvCxnSpPr>
        <p:spPr>
          <a:xfrm>
            <a:off x="8429625" y="2438400"/>
            <a:ext cx="1" cy="471488"/>
          </a:xfrm>
          <a:prstGeom prst="straightConnector1">
            <a:avLst/>
          </a:prstGeom>
          <a:ln w="8573" cap="rnd">
            <a:solidFill>
              <a:srgbClr val="BEC4C9"/>
            </a:solidFill>
            <a:prstDash val="solid"/>
          </a:ln>
        </p:spPr>
      </p:cxnSp>
      <p:cxnSp>
        <p:nvCxnSpPr>
          <p:cNvPr id="675" name="直接箭头连接符 194"/>
          <p:cNvCxnSpPr>
            <a:stCxn id="53" idx="2"/>
            <a:endCxn id="27" idx="0"/>
          </p:cNvCxnSpPr>
          <p:nvPr/>
        </p:nvCxnSpPr>
        <p:spPr>
          <a:xfrm flipH="1">
            <a:off x="8429625" y="3643313"/>
            <a:ext cx="1" cy="461962"/>
          </a:xfrm>
          <a:prstGeom prst="straightConnector1">
            <a:avLst/>
          </a:prstGeom>
          <a:ln w="8573" cap="rnd">
            <a:solidFill>
              <a:srgbClr val="BEC4C9"/>
            </a:solidFill>
            <a:prstDash val="solid"/>
          </a:ln>
        </p:spPr>
      </p:cxnSp>
      <p:sp>
        <p:nvSpPr>
          <p:cNvPr id="56" name="L2 Cache 1">
            <a:extLst>
              <a:ext uri="{FF2B5EF4-FFF2-40B4-BE49-F238E27FC236}">
                <a16:creationId xmlns:a16="http://schemas.microsoft.com/office/drawing/2014/main" id="{6BA79516-CC9C-49B8-83AD-816C874F3D1A}"/>
              </a:ext>
            </a:extLst>
          </p:cNvPr>
          <p:cNvSpPr>
            <a:spLocks noGrp="1"/>
          </p:cNvSpPr>
          <p:nvPr/>
        </p:nvSpPr>
        <p:spPr>
          <a:xfrm>
            <a:off x="8667750" y="2171700"/>
            <a:ext cx="381000" cy="266700"/>
          </a:xfrm>
          <a:prstGeom prst="roundRect">
            <a:avLst>
              <a:gd name="adj" fmla="val 28571"/>
            </a:avLst>
          </a:prstGeom>
          <a:solidFill>
            <a:srgbClr val="F6DAB2"/>
          </a:solidFill>
          <a:ln w="11430">
            <a:solidFill>
              <a:srgbClr val="70777E"/>
            </a:solidFill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buNone/>
              <a:defRPr sz="563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563" b="1">
                <a:solidFill>
                  <a:srgbClr val="202730"/>
                </a:solidFill>
                <a:latin typeface="Arial"/>
                <a:ea typeface="Arial"/>
                <a:cs typeface="Arial"/>
              </a:rPr>
              <a:t>L2-1</a:t>
            </a:r>
          </a:p>
        </p:txBody>
      </p:sp>
      <p:sp>
        <p:nvSpPr>
          <p:cNvPr id="57" name="HA 1">
            <a:extLst>
              <a:ext uri="{FF2B5EF4-FFF2-40B4-BE49-F238E27FC236}">
                <a16:creationId xmlns:a16="http://schemas.microsoft.com/office/drawing/2014/main" id="{06A066A6-A477-416F-8026-16A7ED04BF6E}"/>
              </a:ext>
            </a:extLst>
          </p:cNvPr>
          <p:cNvSpPr>
            <a:spLocks noGrp="1"/>
          </p:cNvSpPr>
          <p:nvPr/>
        </p:nvSpPr>
        <p:spPr>
          <a:xfrm>
            <a:off x="8667750" y="4105275"/>
            <a:ext cx="381000" cy="266700"/>
          </a:xfrm>
          <a:prstGeom prst="roundRect">
            <a:avLst>
              <a:gd name="adj" fmla="val 28571"/>
            </a:avLst>
          </a:prstGeom>
          <a:solidFill>
            <a:srgbClr val="F6DAB2"/>
          </a:solidFill>
          <a:ln w="11430">
            <a:solidFill>
              <a:srgbClr val="70777E"/>
            </a:solidFill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buNone/>
              <a:defRPr sz="578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578" b="1">
                <a:solidFill>
                  <a:srgbClr val="202730"/>
                </a:solidFill>
                <a:latin typeface="Arial"/>
                <a:ea typeface="Arial"/>
                <a:cs typeface="Arial"/>
              </a:rPr>
              <a:t>HA1</a:t>
            </a:r>
          </a:p>
        </p:txBody>
      </p:sp>
      <p:sp>
        <p:nvSpPr>
          <p:cNvPr id="58" name="Station anchor">
            <a:extLst>
              <a:ext uri="{FF2B5EF4-FFF2-40B4-BE49-F238E27FC236}">
                <a16:creationId xmlns:a16="http://schemas.microsoft.com/office/drawing/2014/main" id="{92C16258-FA39-4411-A087-134479A2C520}"/>
              </a:ext>
            </a:extLst>
          </p:cNvPr>
          <p:cNvSpPr>
            <a:spLocks noGrp="1"/>
          </p:cNvSpPr>
          <p:nvPr/>
        </p:nvSpPr>
        <p:spPr>
          <a:xfrm>
            <a:off x="8824913" y="2909888"/>
            <a:ext cx="66675" cy="66675"/>
          </a:xfrm>
          <a:prstGeom prst="roundRect">
            <a:avLst>
              <a:gd name="adj" fmla="val 50000"/>
            </a:avLst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</p:sp>
      <p:sp>
        <p:nvSpPr>
          <p:cNvPr id="59" name="Station anchor">
            <a:extLst>
              <a:ext uri="{FF2B5EF4-FFF2-40B4-BE49-F238E27FC236}">
                <a16:creationId xmlns:a16="http://schemas.microsoft.com/office/drawing/2014/main" id="{1587EC85-D2A3-40EF-88D4-EC1412045E5A}"/>
              </a:ext>
            </a:extLst>
          </p:cNvPr>
          <p:cNvSpPr>
            <a:spLocks noGrp="1"/>
          </p:cNvSpPr>
          <p:nvPr/>
        </p:nvSpPr>
        <p:spPr>
          <a:xfrm>
            <a:off x="8824913" y="3576638"/>
            <a:ext cx="66675" cy="66675"/>
          </a:xfrm>
          <a:prstGeom prst="roundRect">
            <a:avLst>
              <a:gd name="adj" fmla="val 50000"/>
            </a:avLst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</p:sp>
      <p:cxnSp>
        <p:nvCxnSpPr>
          <p:cNvPr id="680" name="直接箭头连接符 199"/>
          <p:cNvCxnSpPr>
            <a:stCxn id="56" idx="2"/>
            <a:endCxn id="58" idx="0"/>
          </p:cNvCxnSpPr>
          <p:nvPr/>
        </p:nvCxnSpPr>
        <p:spPr>
          <a:xfrm>
            <a:off x="8858250" y="2438400"/>
            <a:ext cx="1" cy="471488"/>
          </a:xfrm>
          <a:prstGeom prst="straightConnector1">
            <a:avLst/>
          </a:prstGeom>
          <a:ln w="8573" cap="rnd">
            <a:solidFill>
              <a:srgbClr val="BEC4C9"/>
            </a:solidFill>
            <a:prstDash val="solid"/>
          </a:ln>
        </p:spPr>
      </p:cxnSp>
      <p:cxnSp>
        <p:nvCxnSpPr>
          <p:cNvPr id="681" name="直接箭头连接符 200"/>
          <p:cNvCxnSpPr>
            <a:stCxn id="59" idx="2"/>
            <a:endCxn id="57" idx="0"/>
          </p:cNvCxnSpPr>
          <p:nvPr/>
        </p:nvCxnSpPr>
        <p:spPr>
          <a:xfrm flipH="1">
            <a:off x="8858250" y="3643313"/>
            <a:ext cx="1" cy="461962"/>
          </a:xfrm>
          <a:prstGeom prst="straightConnector1">
            <a:avLst/>
          </a:prstGeom>
          <a:ln w="8573" cap="rnd">
            <a:solidFill>
              <a:srgbClr val="BEC4C9"/>
            </a:solidFill>
            <a:prstDash val="solid"/>
          </a:ln>
        </p:spPr>
      </p:cxnSp>
      <p:sp>
        <p:nvSpPr>
          <p:cNvPr id="62" name="L2 Cache 2">
            <a:extLst>
              <a:ext uri="{FF2B5EF4-FFF2-40B4-BE49-F238E27FC236}">
                <a16:creationId xmlns:a16="http://schemas.microsoft.com/office/drawing/2014/main" id="{900EEDC1-E038-4433-93D7-A983F52FD228}"/>
              </a:ext>
            </a:extLst>
          </p:cNvPr>
          <p:cNvSpPr>
            <a:spLocks noGrp="1"/>
          </p:cNvSpPr>
          <p:nvPr/>
        </p:nvSpPr>
        <p:spPr>
          <a:xfrm>
            <a:off x="9096375" y="2171700"/>
            <a:ext cx="381000" cy="266700"/>
          </a:xfrm>
          <a:prstGeom prst="roundRect">
            <a:avLst>
              <a:gd name="adj" fmla="val 28571"/>
            </a:avLst>
          </a:prstGeom>
          <a:solidFill>
            <a:srgbClr val="F6DAB2"/>
          </a:solidFill>
          <a:ln w="11430">
            <a:solidFill>
              <a:srgbClr val="70777E"/>
            </a:solidFill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buNone/>
              <a:defRPr sz="563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563" b="1">
                <a:solidFill>
                  <a:srgbClr val="202730"/>
                </a:solidFill>
                <a:latin typeface="Arial"/>
                <a:ea typeface="Arial"/>
                <a:cs typeface="Arial"/>
              </a:rPr>
              <a:t>L2-2</a:t>
            </a:r>
          </a:p>
        </p:txBody>
      </p:sp>
      <p:sp>
        <p:nvSpPr>
          <p:cNvPr id="63" name="HA 2">
            <a:extLst>
              <a:ext uri="{FF2B5EF4-FFF2-40B4-BE49-F238E27FC236}">
                <a16:creationId xmlns:a16="http://schemas.microsoft.com/office/drawing/2014/main" id="{881779D9-F242-4158-A2F5-7D1B74A46E51}"/>
              </a:ext>
            </a:extLst>
          </p:cNvPr>
          <p:cNvSpPr>
            <a:spLocks noGrp="1"/>
          </p:cNvSpPr>
          <p:nvPr/>
        </p:nvSpPr>
        <p:spPr>
          <a:xfrm>
            <a:off x="9096375" y="4105275"/>
            <a:ext cx="381000" cy="266700"/>
          </a:xfrm>
          <a:prstGeom prst="roundRect">
            <a:avLst>
              <a:gd name="adj" fmla="val 28571"/>
            </a:avLst>
          </a:prstGeom>
          <a:solidFill>
            <a:srgbClr val="F6DAB2"/>
          </a:solidFill>
          <a:ln w="11430">
            <a:solidFill>
              <a:srgbClr val="70777E"/>
            </a:solidFill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buNone/>
              <a:defRPr sz="578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578" b="1">
                <a:solidFill>
                  <a:srgbClr val="202730"/>
                </a:solidFill>
                <a:latin typeface="Arial"/>
                <a:ea typeface="Arial"/>
                <a:cs typeface="Arial"/>
              </a:rPr>
              <a:t>HA2</a:t>
            </a:r>
          </a:p>
        </p:txBody>
      </p:sp>
      <p:sp>
        <p:nvSpPr>
          <p:cNvPr id="64" name="Station anchor">
            <a:extLst>
              <a:ext uri="{FF2B5EF4-FFF2-40B4-BE49-F238E27FC236}">
                <a16:creationId xmlns:a16="http://schemas.microsoft.com/office/drawing/2014/main" id="{8D42EF5E-0E46-407D-86B4-D18CABA97DBC}"/>
              </a:ext>
            </a:extLst>
          </p:cNvPr>
          <p:cNvSpPr>
            <a:spLocks noGrp="1"/>
          </p:cNvSpPr>
          <p:nvPr/>
        </p:nvSpPr>
        <p:spPr>
          <a:xfrm>
            <a:off x="9253538" y="2909888"/>
            <a:ext cx="66675" cy="66675"/>
          </a:xfrm>
          <a:prstGeom prst="roundRect">
            <a:avLst>
              <a:gd name="adj" fmla="val 50000"/>
            </a:avLst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</p:sp>
      <p:sp>
        <p:nvSpPr>
          <p:cNvPr id="65" name="Station anchor">
            <a:extLst>
              <a:ext uri="{FF2B5EF4-FFF2-40B4-BE49-F238E27FC236}">
                <a16:creationId xmlns:a16="http://schemas.microsoft.com/office/drawing/2014/main" id="{01DFBDE7-4215-4D61-B977-4A6B17D029DC}"/>
              </a:ext>
            </a:extLst>
          </p:cNvPr>
          <p:cNvSpPr>
            <a:spLocks noGrp="1"/>
          </p:cNvSpPr>
          <p:nvPr/>
        </p:nvSpPr>
        <p:spPr>
          <a:xfrm>
            <a:off x="9253538" y="3576638"/>
            <a:ext cx="66675" cy="66675"/>
          </a:xfrm>
          <a:prstGeom prst="roundRect">
            <a:avLst>
              <a:gd name="adj" fmla="val 50000"/>
            </a:avLst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</p:sp>
      <p:cxnSp>
        <p:nvCxnSpPr>
          <p:cNvPr id="686" name="直接箭头连接符 205"/>
          <p:cNvCxnSpPr>
            <a:stCxn id="62" idx="2"/>
            <a:endCxn id="64" idx="0"/>
          </p:cNvCxnSpPr>
          <p:nvPr/>
        </p:nvCxnSpPr>
        <p:spPr>
          <a:xfrm>
            <a:off x="9286875" y="2438400"/>
            <a:ext cx="1" cy="471488"/>
          </a:xfrm>
          <a:prstGeom prst="straightConnector1">
            <a:avLst/>
          </a:prstGeom>
          <a:ln w="8573" cap="rnd">
            <a:solidFill>
              <a:srgbClr val="BEC4C9"/>
            </a:solidFill>
            <a:prstDash val="solid"/>
          </a:ln>
        </p:spPr>
      </p:cxnSp>
      <p:cxnSp>
        <p:nvCxnSpPr>
          <p:cNvPr id="687" name="直接箭头连接符 206"/>
          <p:cNvCxnSpPr>
            <a:stCxn id="65" idx="2"/>
            <a:endCxn id="63" idx="0"/>
          </p:cNvCxnSpPr>
          <p:nvPr/>
        </p:nvCxnSpPr>
        <p:spPr>
          <a:xfrm flipH="1">
            <a:off x="9286875" y="3643313"/>
            <a:ext cx="1" cy="461962"/>
          </a:xfrm>
          <a:prstGeom prst="straightConnector1">
            <a:avLst/>
          </a:prstGeom>
          <a:ln w="8573" cap="rnd">
            <a:solidFill>
              <a:srgbClr val="BEC4C9"/>
            </a:solidFill>
            <a:prstDash val="solid"/>
          </a:ln>
        </p:spPr>
      </p:cxnSp>
      <p:sp>
        <p:nvSpPr>
          <p:cNvPr id="68" name="L2 Cache 3">
            <a:extLst>
              <a:ext uri="{FF2B5EF4-FFF2-40B4-BE49-F238E27FC236}">
                <a16:creationId xmlns:a16="http://schemas.microsoft.com/office/drawing/2014/main" id="{A74DDF81-000B-4267-8F2B-2ED11232779F}"/>
              </a:ext>
            </a:extLst>
          </p:cNvPr>
          <p:cNvSpPr>
            <a:spLocks noGrp="1"/>
          </p:cNvSpPr>
          <p:nvPr/>
        </p:nvSpPr>
        <p:spPr>
          <a:xfrm>
            <a:off x="9525000" y="2171700"/>
            <a:ext cx="381000" cy="266700"/>
          </a:xfrm>
          <a:prstGeom prst="roundRect">
            <a:avLst>
              <a:gd name="adj" fmla="val 28571"/>
            </a:avLst>
          </a:prstGeom>
          <a:solidFill>
            <a:srgbClr val="F6DAB2"/>
          </a:solidFill>
          <a:ln w="11430">
            <a:solidFill>
              <a:srgbClr val="70777E"/>
            </a:solidFill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buNone/>
              <a:defRPr sz="563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563" b="1">
                <a:solidFill>
                  <a:srgbClr val="202730"/>
                </a:solidFill>
                <a:latin typeface="Arial"/>
                <a:ea typeface="Arial"/>
                <a:cs typeface="Arial"/>
              </a:rPr>
              <a:t>L2-3</a:t>
            </a:r>
          </a:p>
        </p:txBody>
      </p:sp>
      <p:sp>
        <p:nvSpPr>
          <p:cNvPr id="69" name="HA 3">
            <a:extLst>
              <a:ext uri="{FF2B5EF4-FFF2-40B4-BE49-F238E27FC236}">
                <a16:creationId xmlns:a16="http://schemas.microsoft.com/office/drawing/2014/main" id="{A49FB24B-FC7E-4445-927B-9935C9CC8A03}"/>
              </a:ext>
            </a:extLst>
          </p:cNvPr>
          <p:cNvSpPr>
            <a:spLocks noGrp="1"/>
          </p:cNvSpPr>
          <p:nvPr/>
        </p:nvSpPr>
        <p:spPr>
          <a:xfrm>
            <a:off x="9525000" y="4105275"/>
            <a:ext cx="381000" cy="266700"/>
          </a:xfrm>
          <a:prstGeom prst="roundRect">
            <a:avLst>
              <a:gd name="adj" fmla="val 28571"/>
            </a:avLst>
          </a:prstGeom>
          <a:solidFill>
            <a:srgbClr val="F6DAB2"/>
          </a:solidFill>
          <a:ln w="11430">
            <a:solidFill>
              <a:srgbClr val="70777E"/>
            </a:solidFill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buNone/>
              <a:defRPr sz="578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578" b="1">
                <a:solidFill>
                  <a:srgbClr val="202730"/>
                </a:solidFill>
                <a:latin typeface="Arial"/>
                <a:ea typeface="Arial"/>
                <a:cs typeface="Arial"/>
              </a:rPr>
              <a:t>HA3</a:t>
            </a:r>
          </a:p>
        </p:txBody>
      </p:sp>
      <p:sp>
        <p:nvSpPr>
          <p:cNvPr id="70" name="Station anchor">
            <a:extLst>
              <a:ext uri="{FF2B5EF4-FFF2-40B4-BE49-F238E27FC236}">
                <a16:creationId xmlns:a16="http://schemas.microsoft.com/office/drawing/2014/main" id="{6D49EAEC-D79B-4AD4-B20C-FB79B3AF4F63}"/>
              </a:ext>
            </a:extLst>
          </p:cNvPr>
          <p:cNvSpPr>
            <a:spLocks noGrp="1"/>
          </p:cNvSpPr>
          <p:nvPr/>
        </p:nvSpPr>
        <p:spPr>
          <a:xfrm>
            <a:off x="9682163" y="2909888"/>
            <a:ext cx="66675" cy="66675"/>
          </a:xfrm>
          <a:prstGeom prst="roundRect">
            <a:avLst>
              <a:gd name="adj" fmla="val 50000"/>
            </a:avLst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</p:sp>
      <p:sp>
        <p:nvSpPr>
          <p:cNvPr id="71" name="Station anchor">
            <a:extLst>
              <a:ext uri="{FF2B5EF4-FFF2-40B4-BE49-F238E27FC236}">
                <a16:creationId xmlns:a16="http://schemas.microsoft.com/office/drawing/2014/main" id="{86815FFF-520B-484F-A61A-B20AFE8AD436}"/>
              </a:ext>
            </a:extLst>
          </p:cNvPr>
          <p:cNvSpPr>
            <a:spLocks noGrp="1"/>
          </p:cNvSpPr>
          <p:nvPr/>
        </p:nvSpPr>
        <p:spPr>
          <a:xfrm>
            <a:off x="9682163" y="3576638"/>
            <a:ext cx="66675" cy="66675"/>
          </a:xfrm>
          <a:prstGeom prst="roundRect">
            <a:avLst>
              <a:gd name="adj" fmla="val 50000"/>
            </a:avLst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</p:sp>
      <p:cxnSp>
        <p:nvCxnSpPr>
          <p:cNvPr id="692" name="直接箭头连接符 211"/>
          <p:cNvCxnSpPr>
            <a:stCxn id="68" idx="2"/>
            <a:endCxn id="70" idx="0"/>
          </p:cNvCxnSpPr>
          <p:nvPr/>
        </p:nvCxnSpPr>
        <p:spPr>
          <a:xfrm>
            <a:off x="9715500" y="2438400"/>
            <a:ext cx="1" cy="471488"/>
          </a:xfrm>
          <a:prstGeom prst="straightConnector1">
            <a:avLst/>
          </a:prstGeom>
          <a:ln w="8573" cap="rnd">
            <a:solidFill>
              <a:srgbClr val="BEC4C9"/>
            </a:solidFill>
            <a:prstDash val="solid"/>
          </a:ln>
        </p:spPr>
      </p:cxnSp>
      <p:cxnSp>
        <p:nvCxnSpPr>
          <p:cNvPr id="693" name="直接箭头连接符 212"/>
          <p:cNvCxnSpPr>
            <a:stCxn id="71" idx="2"/>
            <a:endCxn id="69" idx="0"/>
          </p:cNvCxnSpPr>
          <p:nvPr/>
        </p:nvCxnSpPr>
        <p:spPr>
          <a:xfrm flipH="1">
            <a:off x="9715500" y="3643313"/>
            <a:ext cx="1" cy="461962"/>
          </a:xfrm>
          <a:prstGeom prst="straightConnector1">
            <a:avLst/>
          </a:prstGeom>
          <a:ln w="8573" cap="rnd">
            <a:solidFill>
              <a:srgbClr val="BEC4C9"/>
            </a:solidFill>
            <a:prstDash val="solid"/>
          </a:ln>
        </p:spPr>
      </p:cxnSp>
      <p:cxnSp>
        <p:nvCxnSpPr>
          <p:cNvPr id="694" name="连接符: 肘形 213"/>
          <p:cNvCxnSpPr>
            <a:stCxn id="16" idx="3"/>
            <a:endCxn id="15" idx="0"/>
          </p:cNvCxnSpPr>
          <p:nvPr/>
        </p:nvCxnSpPr>
        <p:spPr>
          <a:xfrm>
            <a:off x="7058025" y="1938338"/>
            <a:ext cx="361950" cy="842963"/>
          </a:xfrm>
          <a:prstGeom prst="bentConnector2">
            <a:avLst/>
          </a:prstGeom>
          <a:ln w="22860" cap="rnd">
            <a:solidFill>
              <a:srgbClr val="D73A32"/>
            </a:solidFill>
            <a:prstDash val="solid"/>
            <a:round/>
            <a:tailEnd type="arrow" w="med" len="med"/>
          </a:ln>
        </p:spPr>
      </p:cxnSp>
      <p:cxnSp>
        <p:nvCxnSpPr>
          <p:cNvPr id="695" name="连接符: 肘形 214"/>
          <p:cNvCxnSpPr>
            <a:stCxn id="15" idx="3"/>
            <a:endCxn id="53" idx="1"/>
          </p:cNvCxnSpPr>
          <p:nvPr/>
        </p:nvCxnSpPr>
        <p:spPr>
          <a:xfrm>
            <a:off x="7800975" y="3009900"/>
            <a:ext cx="595313" cy="600076"/>
          </a:xfrm>
          <a:prstGeom prst="bentConnector3">
            <a:avLst>
              <a:gd name="adj1" fmla="val 50000"/>
            </a:avLst>
          </a:prstGeom>
          <a:ln w="22860" cap="rnd">
            <a:solidFill>
              <a:srgbClr val="D73A32"/>
            </a:solidFill>
            <a:prstDash val="solid"/>
            <a:round/>
          </a:ln>
        </p:spPr>
      </p:cxnSp>
      <p:cxnSp>
        <p:nvCxnSpPr>
          <p:cNvPr id="696" name="直接箭头连接符 215"/>
          <p:cNvCxnSpPr>
            <a:stCxn id="53" idx="2"/>
            <a:endCxn id="27" idx="0"/>
          </p:cNvCxnSpPr>
          <p:nvPr/>
        </p:nvCxnSpPr>
        <p:spPr>
          <a:xfrm flipH="1">
            <a:off x="8429625" y="3643313"/>
            <a:ext cx="1" cy="461962"/>
          </a:xfrm>
          <a:prstGeom prst="straightConnector1">
            <a:avLst/>
          </a:prstGeom>
          <a:ln w="22860" cap="rnd">
            <a:solidFill>
              <a:srgbClr val="D73A32"/>
            </a:solidFill>
            <a:prstDash val="solid"/>
            <a:round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1284357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TextBox 2">
            <a:extLst>
              <a:ext uri="{FF2B5EF4-FFF2-40B4-BE49-F238E27FC236}">
                <a16:creationId xmlns:a16="http://schemas.microsoft.com/office/drawing/2014/main" id="{38D3AAE9-392E-4579-B59F-A11574D56D8D}"/>
              </a:ext>
            </a:extLst>
          </p:cNvPr>
          <p:cNvSpPr>
            <a:spLocks noGrp="1"/>
          </p:cNvSpPr>
          <p:nvPr/>
        </p:nvSpPr>
        <p:spPr>
          <a:xfrm>
            <a:off x="203180" y="91628"/>
            <a:ext cx="8138160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500" b="1" dirty="0">
                <a:latin typeface="Microsoft YaHei"/>
                <a:ea typeface="Microsoft YaHei"/>
              </a:rPr>
              <a:t>H/V </a:t>
            </a:r>
            <a:r>
              <a:rPr lang="zh-CN" altLang="en-US" sz="2500" b="1" dirty="0">
                <a:latin typeface="Microsoft YaHei"/>
                <a:ea typeface="Microsoft YaHei"/>
              </a:rPr>
              <a:t>多</a:t>
            </a:r>
            <a:r>
              <a:rPr lang="en-US" altLang="zh-CN" sz="2500" b="1" dirty="0">
                <a:latin typeface="Microsoft YaHei"/>
                <a:ea typeface="Microsoft YaHei"/>
              </a:rPr>
              <a:t>Ring</a:t>
            </a:r>
            <a:r>
              <a:rPr lang="zh-CN" altLang="en-US" sz="2500" b="1" dirty="0">
                <a:latin typeface="Microsoft YaHei"/>
                <a:ea typeface="Microsoft YaHei"/>
              </a:rPr>
              <a:t>总体架构与典型数据流</a:t>
            </a:r>
            <a:endParaRPr lang="zh-CN" altLang="en-US" sz="2500" b="1" i="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57" name="图片 356">
            <a:extLst>
              <a:ext uri="{FF2B5EF4-FFF2-40B4-BE49-F238E27FC236}">
                <a16:creationId xmlns:a16="http://schemas.microsoft.com/office/drawing/2014/main" id="{24EB94C4-3CDB-4525-950B-920FD22244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221" y="1066800"/>
            <a:ext cx="6512764" cy="4057650"/>
          </a:xfrm>
          <a:prstGeom prst="rect">
            <a:avLst/>
          </a:prstGeom>
        </p:spPr>
      </p:pic>
      <p:sp>
        <p:nvSpPr>
          <p:cNvPr id="358" name="文本框 357">
            <a:extLst>
              <a:ext uri="{FF2B5EF4-FFF2-40B4-BE49-F238E27FC236}">
                <a16:creationId xmlns:a16="http://schemas.microsoft.com/office/drawing/2014/main" id="{C4C5F39C-E75B-4F90-8A30-77EE96D407B7}"/>
              </a:ext>
            </a:extLst>
          </p:cNvPr>
          <p:cNvSpPr txBox="1"/>
          <p:nvPr/>
        </p:nvSpPr>
        <p:spPr>
          <a:xfrm>
            <a:off x="6693535" y="917232"/>
            <a:ext cx="6060440" cy="4918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架构分工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FF"/>
              </a:highligh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>
              <a:lnSpc>
                <a:spcPts val="2500"/>
              </a:lnSpc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1600" dirty="0">
                <a:solidFill>
                  <a:srgbClr val="000000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异构与灵活的顶层设计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500"/>
              </a:lnSpc>
              <a:buSzPct val="70000"/>
              <a:buFont typeface="Wingdings" panose="05000000000000000000" pitchFamily="2" charset="2"/>
              <a:buChar char="l"/>
              <a:defRPr/>
            </a:pPr>
            <a:r>
              <a:rPr lang="en-US" altLang="zh-CN" sz="1600" b="1" dirty="0">
                <a:solidFill>
                  <a:srgbClr val="000000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V-Ring</a:t>
            </a:r>
            <a:r>
              <a:rPr lang="zh-CN" alt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｜计算侧接入</a:t>
            </a:r>
            <a:br>
              <a:rPr lang="zh-CN" altLang="en-US" sz="1600" dirty="0">
                <a:solidFill>
                  <a:srgbClr val="000000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600" dirty="0">
                <a:solidFill>
                  <a:srgbClr val="000000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连接多个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AI Core</a:t>
            </a:r>
            <a:r>
              <a:rPr lang="zh-CN" altLang="en-US" sz="1600" dirty="0">
                <a:solidFill>
                  <a:srgbClr val="000000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，承载计算请求与返回数据。</a:t>
            </a:r>
          </a:p>
          <a:p>
            <a:pPr marL="285750" indent="-285750">
              <a:lnSpc>
                <a:spcPts val="2500"/>
              </a:lnSpc>
              <a:buSzPct val="70000"/>
              <a:buFont typeface="Wingdings" panose="05000000000000000000" pitchFamily="2" charset="2"/>
              <a:buChar char="l"/>
              <a:defRPr/>
            </a:pPr>
            <a:r>
              <a:rPr lang="en-US" altLang="zh-CN" sz="1600" b="1" dirty="0">
                <a:solidFill>
                  <a:srgbClr val="000000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H-Ring</a:t>
            </a:r>
            <a:r>
              <a:rPr lang="zh-CN" alt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｜存储侧骨干</a:t>
            </a:r>
            <a:br>
              <a:rPr lang="zh-CN" altLang="en-US" sz="1600" dirty="0">
                <a:solidFill>
                  <a:srgbClr val="000000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600" dirty="0">
                <a:solidFill>
                  <a:srgbClr val="000000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连接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HA</a:t>
            </a:r>
            <a:r>
              <a:rPr lang="zh-CN" altLang="en-US" sz="1600" dirty="0">
                <a:solidFill>
                  <a:srgbClr val="000000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HBM</a:t>
            </a:r>
            <a:r>
              <a:rPr lang="zh-CN" altLang="en-US" sz="1600" dirty="0">
                <a:solidFill>
                  <a:srgbClr val="000000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及分布式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L2</a:t>
            </a:r>
            <a:r>
              <a:rPr lang="zh-CN" altLang="en-US" sz="1600" dirty="0">
                <a:solidFill>
                  <a:srgbClr val="000000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，承担目录与存储访问。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500"/>
              </a:lnSpc>
              <a:buSzPct val="70000"/>
              <a:buFont typeface="Wingdings" panose="05000000000000000000" pitchFamily="2" charset="2"/>
              <a:buChar char="l"/>
              <a:defRPr/>
            </a:pPr>
            <a:r>
              <a:rPr lang="en-US" altLang="zh-CN" sz="1600" b="1" dirty="0">
                <a:solidFill>
                  <a:srgbClr val="000000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RBRG-L1</a:t>
            </a:r>
            <a:r>
              <a:rPr lang="zh-CN" alt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｜跨</a:t>
            </a:r>
            <a:r>
              <a:rPr lang="en-US" altLang="zh-CN" sz="1600" b="1" dirty="0">
                <a:solidFill>
                  <a:srgbClr val="000000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Ring</a:t>
            </a:r>
            <a:r>
              <a:rPr lang="zh-CN" altLang="en-US" sz="1600" b="1" dirty="0">
                <a:solidFill>
                  <a:srgbClr val="000000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桥接</a:t>
            </a:r>
            <a:br>
              <a:rPr lang="zh-CN" altLang="en-US" sz="1600" dirty="0">
                <a:solidFill>
                  <a:srgbClr val="000000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600" dirty="0">
                <a:solidFill>
                  <a:srgbClr val="000000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连接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H/V Ring</a:t>
            </a:r>
            <a:r>
              <a:rPr lang="zh-CN" altLang="en-US" sz="1600" dirty="0">
                <a:solidFill>
                  <a:srgbClr val="000000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，完成跨环缓存、路由选择与转发。</a:t>
            </a:r>
          </a:p>
          <a:p>
            <a:pPr marL="285750" indent="-285750">
              <a:lnSpc>
                <a:spcPts val="2500"/>
              </a:lnSpc>
              <a:buFont typeface="Wingdings" panose="05000000000000000000" pitchFamily="2" charset="2"/>
              <a:buChar char="l"/>
              <a:defRPr/>
            </a:pPr>
            <a:endParaRPr lang="zh-CN" altLang="en-US" sz="1600" dirty="0">
              <a:solidFill>
                <a:srgbClr val="000000"/>
              </a:solidFill>
              <a:highlight>
                <a:srgbClr val="FFFFFF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500"/>
              </a:lnSpc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1600" dirty="0">
                <a:solidFill>
                  <a:srgbClr val="000000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典型访问路径：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2500"/>
              </a:lnSpc>
              <a:defRPr/>
            </a:pP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① Req</a:t>
            </a:r>
            <a:r>
              <a:rPr lang="zh-CN" altLang="en-US" sz="1600" dirty="0">
                <a:solidFill>
                  <a:srgbClr val="000000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： 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AI Core</a:t>
            </a:r>
            <a:r>
              <a:rPr lang="zh-CN" altLang="en-US" sz="1600" dirty="0">
                <a:solidFill>
                  <a:srgbClr val="000000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请求经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V-Ring</a:t>
            </a:r>
            <a:r>
              <a:rPr lang="zh-CN" altLang="en-US" sz="1600" dirty="0">
                <a:solidFill>
                  <a:srgbClr val="000000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发往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HA/</a:t>
            </a:r>
            <a:r>
              <a:rPr lang="zh-CN" altLang="en-US" sz="1600" dirty="0">
                <a:solidFill>
                  <a:srgbClr val="000000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目录。</a:t>
            </a:r>
          </a:p>
          <a:p>
            <a:pPr>
              <a:lnSpc>
                <a:spcPts val="2500"/>
              </a:lnSpc>
              <a:defRPr/>
            </a:pPr>
            <a:r>
              <a:rPr lang="zh-CN" altLang="en-US" sz="1600" dirty="0">
                <a:solidFill>
                  <a:srgbClr val="000000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② 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Hit &amp; Snp</a:t>
            </a:r>
            <a:r>
              <a:rPr lang="zh-CN" altLang="en-US" sz="1600" dirty="0">
                <a:solidFill>
                  <a:srgbClr val="000000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： 目录命中后向目标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L2</a:t>
            </a:r>
            <a:r>
              <a:rPr lang="zh-CN" altLang="en-US" sz="1600" dirty="0">
                <a:solidFill>
                  <a:srgbClr val="000000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发起访问。</a:t>
            </a:r>
          </a:p>
          <a:p>
            <a:pPr>
              <a:lnSpc>
                <a:spcPts val="2500"/>
              </a:lnSpc>
              <a:defRPr/>
            </a:pPr>
            <a:r>
              <a:rPr lang="zh-CN" altLang="en-US" sz="1600" dirty="0">
                <a:solidFill>
                  <a:srgbClr val="000000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③ 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Data</a:t>
            </a:r>
            <a:r>
              <a:rPr lang="zh-CN" altLang="en-US" sz="1600" dirty="0">
                <a:solidFill>
                  <a:srgbClr val="000000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： 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L2</a:t>
            </a:r>
            <a:r>
              <a:rPr lang="zh-CN" altLang="en-US" sz="1600" dirty="0">
                <a:solidFill>
                  <a:srgbClr val="000000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数据经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V-Ring</a:t>
            </a:r>
            <a:r>
              <a:rPr lang="zh-CN" altLang="en-US" sz="1600" dirty="0">
                <a:solidFill>
                  <a:srgbClr val="000000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返回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AI Core</a:t>
            </a:r>
            <a:r>
              <a:rPr lang="zh-CN" altLang="en-US" sz="1600" dirty="0">
                <a:solidFill>
                  <a:srgbClr val="000000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ts val="2500"/>
              </a:lnSpc>
              <a:defRPr/>
            </a:pPr>
            <a:r>
              <a:rPr lang="zh-CN" altLang="en-US" sz="1600" dirty="0">
                <a:solidFill>
                  <a:srgbClr val="000000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④ 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Miss</a:t>
            </a:r>
            <a:r>
              <a:rPr lang="zh-CN" altLang="en-US" sz="1600" dirty="0">
                <a:solidFill>
                  <a:srgbClr val="000000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： 未命中时，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L2</a:t>
            </a:r>
            <a:r>
              <a:rPr lang="zh-CN" altLang="en-US" sz="1600" dirty="0">
                <a:solidFill>
                  <a:srgbClr val="000000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经</a:t>
            </a:r>
            <a:r>
              <a:rPr lang="en-US" altLang="zh-CN" sz="1600" dirty="0"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H-Ring</a:t>
            </a:r>
            <a:r>
              <a:rPr lang="zh-CN" altLang="en-US" sz="1600" dirty="0"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访问</a:t>
            </a:r>
            <a:r>
              <a:rPr lang="en-US" altLang="zh-CN" sz="1600" dirty="0"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HBM</a:t>
            </a:r>
            <a:r>
              <a:rPr lang="zh-CN" altLang="en-US" sz="1600" dirty="0"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并完成</a:t>
            </a:r>
            <a:r>
              <a:rPr lang="zh-CN" altLang="en-US" sz="1600" dirty="0">
                <a:solidFill>
                  <a:srgbClr val="000000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回填。</a:t>
            </a:r>
          </a:p>
          <a:p>
            <a:pPr marL="285750" indent="-285750">
              <a:lnSpc>
                <a:spcPts val="2500"/>
              </a:lnSpc>
              <a:buFont typeface="Wingdings" panose="05000000000000000000" pitchFamily="2" charset="2"/>
              <a:buChar char="l"/>
              <a:defRPr/>
            </a:pP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3" name="文本框 362">
            <a:extLst>
              <a:ext uri="{FF2B5EF4-FFF2-40B4-BE49-F238E27FC236}">
                <a16:creationId xmlns:a16="http://schemas.microsoft.com/office/drawing/2014/main" id="{44A9D2D8-CB49-446E-AB3E-278EA58ED465}"/>
              </a:ext>
            </a:extLst>
          </p:cNvPr>
          <p:cNvSpPr txBox="1"/>
          <p:nvPr/>
        </p:nvSpPr>
        <p:spPr>
          <a:xfrm>
            <a:off x="203180" y="5542731"/>
            <a:ext cx="6167436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硬件实现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FF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lang="zh-CN" altLang="en-US" sz="1600" dirty="0">
                <a:solidFill>
                  <a:srgbClr val="000000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计算侧与存储侧采用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H/V</a:t>
            </a:r>
            <a:r>
              <a:rPr lang="zh-CN" altLang="en-US" sz="1600" dirty="0">
                <a:solidFill>
                  <a:srgbClr val="000000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正交组织，跨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Ring</a:t>
            </a:r>
            <a:r>
              <a:rPr lang="zh-CN" altLang="en-US" sz="1600" dirty="0">
                <a:solidFill>
                  <a:srgbClr val="000000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事务通过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RBRG-L1</a:t>
            </a:r>
            <a:r>
              <a:rPr lang="zh-CN" altLang="en-US" sz="1600" dirty="0">
                <a:solidFill>
                  <a:srgbClr val="000000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完成路径切换，避免所有节点集中在一条长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Ring</a:t>
            </a:r>
            <a:r>
              <a:rPr lang="zh-CN" altLang="en-US" sz="1600" dirty="0">
                <a:solidFill>
                  <a:srgbClr val="000000"/>
                </a:solidFill>
                <a:highlight>
                  <a:srgbClr val="FF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上。</a:t>
            </a:r>
          </a:p>
        </p:txBody>
      </p:sp>
    </p:spTree>
    <p:extLst>
      <p:ext uri="{BB962C8B-B14F-4D97-AF65-F5344CB8AC3E}">
        <p14:creationId xmlns:p14="http://schemas.microsoft.com/office/powerpoint/2010/main" val="3665832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ounded Rectangle 50">
            <a:extLst>
              <a:ext uri="{FF2B5EF4-FFF2-40B4-BE49-F238E27FC236}">
                <a16:creationId xmlns:a16="http://schemas.microsoft.com/office/drawing/2014/main" id="{C1D998D3-A65C-47EE-BEDF-E38DE2B17FBD}"/>
              </a:ext>
            </a:extLst>
          </p:cNvPr>
          <p:cNvSpPr>
            <a:spLocks noGrp="1"/>
          </p:cNvSpPr>
          <p:nvPr/>
        </p:nvSpPr>
        <p:spPr>
          <a:xfrm>
            <a:off x="3714750" y="4665662"/>
            <a:ext cx="952500" cy="281559"/>
          </a:xfrm>
          <a:prstGeom prst="roundRect">
            <a:avLst/>
          </a:prstGeom>
          <a:solidFill>
            <a:srgbClr val="F6DAB2"/>
          </a:solidFill>
          <a:ln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100" b="1" dirty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HBM</a:t>
            </a:r>
            <a:endParaRPr sz="1100" b="1" dirty="0">
              <a:solidFill>
                <a:srgbClr val="202730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</p:txBody>
      </p:sp>
      <p:sp>
        <p:nvSpPr>
          <p:cNvPr id="96" name="Rounded Rectangle 50">
            <a:extLst>
              <a:ext uri="{FF2B5EF4-FFF2-40B4-BE49-F238E27FC236}">
                <a16:creationId xmlns:a16="http://schemas.microsoft.com/office/drawing/2014/main" id="{3E6F8537-8A43-4D0D-8999-7610512CA71B}"/>
              </a:ext>
            </a:extLst>
          </p:cNvPr>
          <p:cNvSpPr>
            <a:spLocks noGrp="1"/>
          </p:cNvSpPr>
          <p:nvPr/>
        </p:nvSpPr>
        <p:spPr>
          <a:xfrm>
            <a:off x="7286625" y="4664582"/>
            <a:ext cx="952500" cy="281559"/>
          </a:xfrm>
          <a:prstGeom prst="roundRect">
            <a:avLst/>
          </a:prstGeom>
          <a:solidFill>
            <a:srgbClr val="F6DAB2"/>
          </a:solidFill>
          <a:ln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100" b="1" dirty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HBM</a:t>
            </a:r>
            <a:endParaRPr sz="1100" b="1" dirty="0">
              <a:solidFill>
                <a:srgbClr val="202730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</p:txBody>
      </p:sp>
      <p:sp>
        <p:nvSpPr>
          <p:cNvPr id="91" name="Rounded Rectangle 50">
            <a:extLst>
              <a:ext uri="{FF2B5EF4-FFF2-40B4-BE49-F238E27FC236}">
                <a16:creationId xmlns:a16="http://schemas.microsoft.com/office/drawing/2014/main" id="{17C9239B-8579-45EE-88CE-FB2BA4215DE9}"/>
              </a:ext>
            </a:extLst>
          </p:cNvPr>
          <p:cNvSpPr>
            <a:spLocks noGrp="1"/>
          </p:cNvSpPr>
          <p:nvPr/>
        </p:nvSpPr>
        <p:spPr>
          <a:xfrm>
            <a:off x="7283958" y="1699640"/>
            <a:ext cx="952500" cy="281559"/>
          </a:xfrm>
          <a:prstGeom prst="roundRect">
            <a:avLst/>
          </a:prstGeom>
          <a:solidFill>
            <a:srgbClr val="F6DAB2"/>
          </a:solidFill>
          <a:ln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100" b="1" dirty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HBM</a:t>
            </a:r>
            <a:endParaRPr sz="1100" b="1" dirty="0">
              <a:solidFill>
                <a:srgbClr val="202730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</p:txBody>
      </p:sp>
      <p:sp>
        <p:nvSpPr>
          <p:cNvPr id="86" name="Rounded Rectangle 50">
            <a:extLst>
              <a:ext uri="{FF2B5EF4-FFF2-40B4-BE49-F238E27FC236}">
                <a16:creationId xmlns:a16="http://schemas.microsoft.com/office/drawing/2014/main" id="{1CFC52F7-23CD-4A1B-9C86-D2A3E55540FA}"/>
              </a:ext>
            </a:extLst>
          </p:cNvPr>
          <p:cNvSpPr>
            <a:spLocks noGrp="1"/>
          </p:cNvSpPr>
          <p:nvPr/>
        </p:nvSpPr>
        <p:spPr>
          <a:xfrm>
            <a:off x="3714750" y="1699640"/>
            <a:ext cx="952500" cy="281559"/>
          </a:xfrm>
          <a:prstGeom prst="roundRect">
            <a:avLst/>
          </a:prstGeom>
          <a:solidFill>
            <a:srgbClr val="F6DAB2"/>
          </a:solidFill>
          <a:ln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100" b="1" dirty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HBM</a:t>
            </a:r>
            <a:endParaRPr sz="1100" b="1" dirty="0">
              <a:solidFill>
                <a:srgbClr val="202730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</p:txBody>
      </p:sp>
      <p:cxnSp>
        <p:nvCxnSpPr>
          <p:cNvPr id="691" name="连接符: 肘形 250"/>
          <p:cNvCxnSpPr>
            <a:cxnSpLocks/>
            <a:endCxn id="16" idx="2"/>
          </p:cNvCxnSpPr>
          <p:nvPr/>
        </p:nvCxnSpPr>
        <p:spPr>
          <a:xfrm rot="16200000" flipV="1">
            <a:off x="816836" y="2364514"/>
            <a:ext cx="928690" cy="562111"/>
          </a:xfrm>
          <a:prstGeom prst="bentConnector3">
            <a:avLst>
              <a:gd name="adj1" fmla="val -9487"/>
            </a:avLst>
          </a:prstGeom>
          <a:ln w="25400" cap="rnd">
            <a:solidFill>
              <a:srgbClr val="2A70AD"/>
            </a:solidFill>
            <a:prstDash val="solid"/>
            <a:round/>
            <a:tailEnd type="arrow" w="med" len="med"/>
          </a:ln>
        </p:spPr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E585687-C87D-4E16-A60C-9EC41D8F5C27}"/>
              </a:ext>
            </a:extLst>
          </p:cNvPr>
          <p:cNvSpPr>
            <a:spLocks noGrp="1"/>
          </p:cNvSpPr>
          <p:nvPr/>
        </p:nvSpPr>
        <p:spPr>
          <a:xfrm>
            <a:off x="1190625" y="3028950"/>
            <a:ext cx="9810750" cy="762000"/>
          </a:xfrm>
          <a:prstGeom prst="roundRect">
            <a:avLst/>
          </a:prstGeom>
          <a:noFill/>
          <a:ln w="14604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9E21BAC4-A8E6-4430-8DB8-5066283CEBAB}"/>
              </a:ext>
            </a:extLst>
          </p:cNvPr>
          <p:cNvSpPr>
            <a:spLocks noGrp="1"/>
          </p:cNvSpPr>
          <p:nvPr/>
        </p:nvSpPr>
        <p:spPr>
          <a:xfrm>
            <a:off x="9810750" y="1714500"/>
            <a:ext cx="952500" cy="3429000"/>
          </a:xfrm>
          <a:prstGeom prst="roundRect">
            <a:avLst/>
          </a:prstGeom>
          <a:noFill/>
          <a:ln w="1333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E709A57-22DC-461D-954B-C6B3EAA2037C}"/>
              </a:ext>
            </a:extLst>
          </p:cNvPr>
          <p:cNvSpPr>
            <a:spLocks noGrp="1"/>
          </p:cNvSpPr>
          <p:nvPr/>
        </p:nvSpPr>
        <p:spPr>
          <a:xfrm>
            <a:off x="1476375" y="1714500"/>
            <a:ext cx="952500" cy="3429000"/>
          </a:xfrm>
          <a:prstGeom prst="roundRect">
            <a:avLst/>
          </a:prstGeom>
          <a:noFill/>
          <a:ln w="1333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07202B-A515-4157-A105-258570C0D40B}"/>
              </a:ext>
            </a:extLst>
          </p:cNvPr>
          <p:cNvSpPr>
            <a:spLocks noGrp="1"/>
          </p:cNvSpPr>
          <p:nvPr/>
        </p:nvSpPr>
        <p:spPr>
          <a:xfrm>
            <a:off x="556260" y="229025"/>
            <a:ext cx="8138160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500" b="1" dirty="0">
                <a:latin typeface="Microsoft YaHei"/>
                <a:ea typeface="Microsoft YaHei"/>
              </a:rPr>
              <a:t>H/V </a:t>
            </a:r>
            <a:r>
              <a:rPr lang="zh-CN" altLang="en-US" sz="2500" b="1" dirty="0">
                <a:latin typeface="Microsoft YaHei"/>
                <a:ea typeface="Microsoft YaHei"/>
              </a:rPr>
              <a:t>多</a:t>
            </a:r>
            <a:r>
              <a:rPr lang="en-US" altLang="zh-CN" sz="2500" b="1" dirty="0">
                <a:latin typeface="Microsoft YaHei"/>
                <a:ea typeface="Microsoft YaHei"/>
              </a:rPr>
              <a:t>Ring</a:t>
            </a:r>
            <a:r>
              <a:rPr lang="zh-CN" altLang="en-US" sz="2500" b="1" dirty="0">
                <a:latin typeface="Microsoft YaHei"/>
                <a:ea typeface="Microsoft YaHei"/>
              </a:rPr>
              <a:t>总体架构</a:t>
            </a:r>
            <a:endParaRPr sz="2500" b="1" i="0" dirty="0">
              <a:solidFill>
                <a:srgbClr val="1F4A7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3C8979-5414-4D82-A96E-B55E4EF0E932}"/>
              </a:ext>
            </a:extLst>
          </p:cNvPr>
          <p:cNvSpPr>
            <a:spLocks noGrp="1"/>
          </p:cNvSpPr>
          <p:nvPr/>
        </p:nvSpPr>
        <p:spPr>
          <a:xfrm>
            <a:off x="1088136" y="685800"/>
            <a:ext cx="98755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5D65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固定配置：两条</a:t>
            </a:r>
            <a:r>
              <a:rPr sz="1125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 V-Ring </a:t>
            </a:r>
            <a:r>
              <a:rPr sz="1125" b="0" i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分居两侧；中央为</a:t>
            </a:r>
            <a:r>
              <a:rPr sz="1125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 4 组 L2 Cache 与 HA/</a:t>
            </a:r>
            <a:r>
              <a:rPr sz="1125" b="0" i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MemPort</a:t>
            </a:r>
            <a:endParaRPr sz="1125" b="0" i="0" dirty="0">
              <a:solidFill>
                <a:schemeClr val="tx1">
                  <a:lumMod val="95000"/>
                  <a:lumOff val="5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510448-B51C-4DC3-A5F8-BB2478F37ABA}"/>
              </a:ext>
            </a:extLst>
          </p:cNvPr>
          <p:cNvSpPr>
            <a:spLocks noGrp="1"/>
          </p:cNvSpPr>
          <p:nvPr/>
        </p:nvSpPr>
        <p:spPr>
          <a:xfrm>
            <a:off x="594360" y="1234440"/>
            <a:ext cx="10991088" cy="4137279"/>
          </a:xfrm>
          <a:prstGeom prst="rect">
            <a:avLst/>
          </a:prstGeom>
          <a:noFill/>
          <a:ln w="10160">
            <a:solidFill>
              <a:srgbClr val="70777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6017C4-6640-4287-9181-C815640C3B93}"/>
              </a:ext>
            </a:extLst>
          </p:cNvPr>
          <p:cNvSpPr>
            <a:spLocks noGrp="1"/>
          </p:cNvSpPr>
          <p:nvPr/>
        </p:nvSpPr>
        <p:spPr>
          <a:xfrm>
            <a:off x="758952" y="1307592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63" b="1">
                <a:solidFill>
                  <a:srgbClr val="5D6570"/>
                </a:solidFill>
                <a:latin typeface="Arial"/>
                <a:ea typeface="Arial"/>
                <a:cs typeface="Arial"/>
              </a:defRPr>
            </a:pPr>
            <a:r>
              <a:rPr sz="10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(A) Dual-Side V-Ring / Central L2-HA Topology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A75578-204E-470E-B78D-55451F6E1B94}"/>
              </a:ext>
            </a:extLst>
          </p:cNvPr>
          <p:cNvSpPr>
            <a:spLocks noGrp="1"/>
          </p:cNvSpPr>
          <p:nvPr/>
        </p:nvSpPr>
        <p:spPr>
          <a:xfrm>
            <a:off x="5476875" y="3257550"/>
            <a:ext cx="1238250" cy="228600"/>
          </a:xfrm>
          <a:prstGeom prst="rect">
            <a:avLst/>
          </a:prstGeom>
          <a:noFill/>
        </p:spPr>
        <p:txBody>
          <a:bodyPr wrap="square" lIns="28575" tIns="19050" rIns="28575" bIns="1905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38" b="1">
                <a:solidFill>
                  <a:srgbClr val="1F4A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i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共享</a:t>
            </a:r>
            <a:r>
              <a:rPr sz="14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 H-Ring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CD8212-8189-49F8-9A3F-9C045FEB81EE}"/>
              </a:ext>
            </a:extLst>
          </p:cNvPr>
          <p:cNvSpPr>
            <a:spLocks noGrp="1"/>
          </p:cNvSpPr>
          <p:nvPr/>
        </p:nvSpPr>
        <p:spPr>
          <a:xfrm>
            <a:off x="1314450" y="1504950"/>
            <a:ext cx="1276350" cy="219075"/>
          </a:xfrm>
          <a:prstGeom prst="rect">
            <a:avLst/>
          </a:prstGeom>
          <a:noFill/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40" b="1">
                <a:solidFill>
                  <a:srgbClr val="5D6570"/>
                </a:solidFill>
                <a:latin typeface="Arial"/>
                <a:ea typeface="Arial"/>
                <a:cs typeface="Arial"/>
              </a:defRPr>
            </a:pPr>
            <a:r>
              <a:rPr sz="10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V-Ring 0 · M0–M3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3F43DE8-43E9-4791-A2B5-E552274C4EDE}"/>
              </a:ext>
            </a:extLst>
          </p:cNvPr>
          <p:cNvSpPr>
            <a:spLocks noGrp="1"/>
          </p:cNvSpPr>
          <p:nvPr/>
        </p:nvSpPr>
        <p:spPr>
          <a:xfrm>
            <a:off x="1412367" y="1955292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4886928-C84B-48AB-87D3-00262C7A86FB}"/>
              </a:ext>
            </a:extLst>
          </p:cNvPr>
          <p:cNvSpPr>
            <a:spLocks noGrp="1"/>
          </p:cNvSpPr>
          <p:nvPr/>
        </p:nvSpPr>
        <p:spPr>
          <a:xfrm>
            <a:off x="2364867" y="1955292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D040F24-C822-477F-AE65-4480492C54B3}"/>
              </a:ext>
            </a:extLst>
          </p:cNvPr>
          <p:cNvSpPr>
            <a:spLocks noGrp="1"/>
          </p:cNvSpPr>
          <p:nvPr/>
        </p:nvSpPr>
        <p:spPr>
          <a:xfrm>
            <a:off x="1412367" y="4327017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E8A0DFC-41BE-458F-9DC4-A42096E13439}"/>
              </a:ext>
            </a:extLst>
          </p:cNvPr>
          <p:cNvSpPr>
            <a:spLocks noGrp="1"/>
          </p:cNvSpPr>
          <p:nvPr/>
        </p:nvSpPr>
        <p:spPr>
          <a:xfrm>
            <a:off x="2364867" y="4327017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D558A31-D14E-4D7E-BBF7-72BCA8BCDBFC}"/>
              </a:ext>
            </a:extLst>
          </p:cNvPr>
          <p:cNvSpPr>
            <a:spLocks noGrp="1"/>
          </p:cNvSpPr>
          <p:nvPr/>
        </p:nvSpPr>
        <p:spPr>
          <a:xfrm>
            <a:off x="619125" y="1866900"/>
            <a:ext cx="762000" cy="314325"/>
          </a:xfrm>
          <a:prstGeom prst="roundRect">
            <a:avLst/>
          </a:prstGeom>
          <a:solidFill>
            <a:srgbClr val="D8EACA"/>
          </a:solidFill>
          <a:ln w="11430">
            <a:solidFill>
              <a:srgbClr val="70777E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825" b="0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Master 0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9136FD3-CF97-413C-8DE7-D22C9A145CAB}"/>
              </a:ext>
            </a:extLst>
          </p:cNvPr>
          <p:cNvSpPr>
            <a:spLocks noGrp="1"/>
          </p:cNvSpPr>
          <p:nvPr/>
        </p:nvSpPr>
        <p:spPr>
          <a:xfrm>
            <a:off x="2524125" y="1866900"/>
            <a:ext cx="762000" cy="314325"/>
          </a:xfrm>
          <a:prstGeom prst="roundRect">
            <a:avLst/>
          </a:prstGeom>
          <a:solidFill>
            <a:srgbClr val="D8EACA"/>
          </a:solidFill>
          <a:ln w="11430">
            <a:solidFill>
              <a:srgbClr val="70777E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825" b="0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Master 1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097F1546-118A-46E9-9DA8-053C83B22DE9}"/>
              </a:ext>
            </a:extLst>
          </p:cNvPr>
          <p:cNvSpPr>
            <a:spLocks noGrp="1"/>
          </p:cNvSpPr>
          <p:nvPr/>
        </p:nvSpPr>
        <p:spPr>
          <a:xfrm>
            <a:off x="1562232" y="2794634"/>
            <a:ext cx="762000" cy="495300"/>
          </a:xfrm>
          <a:prstGeom prst="roundRect">
            <a:avLst/>
          </a:prstGeom>
          <a:solidFill>
            <a:srgbClr val="DAEBF3"/>
          </a:solidFill>
          <a:ln w="11430">
            <a:solidFill>
              <a:srgbClr val="1F4A7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825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RBRG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 sz="825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-L1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FEC3FE95-D3C8-43B2-935E-A8D131C3131A}"/>
              </a:ext>
            </a:extLst>
          </p:cNvPr>
          <p:cNvSpPr>
            <a:spLocks noGrp="1"/>
          </p:cNvSpPr>
          <p:nvPr/>
        </p:nvSpPr>
        <p:spPr>
          <a:xfrm>
            <a:off x="4126992" y="2964942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FF45AF23-D62A-4F15-9626-699DF0AB3709}"/>
              </a:ext>
            </a:extLst>
          </p:cNvPr>
          <p:cNvSpPr>
            <a:spLocks noGrp="1"/>
          </p:cNvSpPr>
          <p:nvPr/>
        </p:nvSpPr>
        <p:spPr>
          <a:xfrm>
            <a:off x="4126992" y="3726942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76C7D23-17C6-4C66-A201-5D24D4F2E075}"/>
              </a:ext>
            </a:extLst>
          </p:cNvPr>
          <p:cNvSpPr>
            <a:spLocks noGrp="1"/>
          </p:cNvSpPr>
          <p:nvPr/>
        </p:nvSpPr>
        <p:spPr>
          <a:xfrm>
            <a:off x="9648825" y="1504950"/>
            <a:ext cx="1276350" cy="219075"/>
          </a:xfrm>
          <a:prstGeom prst="rect">
            <a:avLst/>
          </a:prstGeom>
          <a:noFill/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40" b="1">
                <a:solidFill>
                  <a:srgbClr val="5D6570"/>
                </a:solidFill>
                <a:latin typeface="Arial"/>
                <a:ea typeface="Arial"/>
                <a:cs typeface="Arial"/>
              </a:defRPr>
            </a:pPr>
            <a:r>
              <a:rPr sz="1000" b="1" i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V-Ring 1 · M4–M7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5F0F1E94-BD60-4C4F-993D-933433CA5ABF}"/>
              </a:ext>
            </a:extLst>
          </p:cNvPr>
          <p:cNvSpPr>
            <a:spLocks noGrp="1"/>
          </p:cNvSpPr>
          <p:nvPr/>
        </p:nvSpPr>
        <p:spPr>
          <a:xfrm>
            <a:off x="9746742" y="1955292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69FFB035-70BE-4DCD-B69E-0AEFFEFDFC55}"/>
              </a:ext>
            </a:extLst>
          </p:cNvPr>
          <p:cNvSpPr>
            <a:spLocks noGrp="1"/>
          </p:cNvSpPr>
          <p:nvPr/>
        </p:nvSpPr>
        <p:spPr>
          <a:xfrm>
            <a:off x="10699242" y="1955292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B98AAA46-4A34-4518-B682-BCE9AD0D67AF}"/>
              </a:ext>
            </a:extLst>
          </p:cNvPr>
          <p:cNvSpPr>
            <a:spLocks noGrp="1"/>
          </p:cNvSpPr>
          <p:nvPr/>
        </p:nvSpPr>
        <p:spPr>
          <a:xfrm>
            <a:off x="9746742" y="4327017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4DE0626C-A4FA-412E-A830-D02CE3137972}"/>
              </a:ext>
            </a:extLst>
          </p:cNvPr>
          <p:cNvSpPr>
            <a:spLocks noGrp="1"/>
          </p:cNvSpPr>
          <p:nvPr/>
        </p:nvSpPr>
        <p:spPr>
          <a:xfrm>
            <a:off x="10699242" y="4327017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77EF9D28-FA0A-4BE6-82A7-00A826017095}"/>
              </a:ext>
            </a:extLst>
          </p:cNvPr>
          <p:cNvSpPr>
            <a:spLocks noGrp="1"/>
          </p:cNvSpPr>
          <p:nvPr/>
        </p:nvSpPr>
        <p:spPr>
          <a:xfrm>
            <a:off x="619125" y="4238625"/>
            <a:ext cx="762000" cy="314325"/>
          </a:xfrm>
          <a:prstGeom prst="roundRect">
            <a:avLst/>
          </a:prstGeom>
          <a:solidFill>
            <a:srgbClr val="D8EACA"/>
          </a:solidFill>
          <a:ln w="11430">
            <a:solidFill>
              <a:srgbClr val="70777E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825" b="0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Master 2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F98AC260-54D3-47F8-A6B4-4509451FB963}"/>
              </a:ext>
            </a:extLst>
          </p:cNvPr>
          <p:cNvSpPr>
            <a:spLocks noGrp="1"/>
          </p:cNvSpPr>
          <p:nvPr/>
        </p:nvSpPr>
        <p:spPr>
          <a:xfrm>
            <a:off x="2524125" y="4238625"/>
            <a:ext cx="762000" cy="314325"/>
          </a:xfrm>
          <a:prstGeom prst="roundRect">
            <a:avLst/>
          </a:prstGeom>
          <a:solidFill>
            <a:srgbClr val="D8EACA"/>
          </a:solidFill>
          <a:ln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825" b="0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Master 3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2CDDE5D8-96F1-4776-A689-9E3C7F93543D}"/>
              </a:ext>
            </a:extLst>
          </p:cNvPr>
          <p:cNvSpPr>
            <a:spLocks noGrp="1"/>
          </p:cNvSpPr>
          <p:nvPr/>
        </p:nvSpPr>
        <p:spPr>
          <a:xfrm>
            <a:off x="9906000" y="2886075"/>
            <a:ext cx="762000" cy="495300"/>
          </a:xfrm>
          <a:prstGeom prst="roundRect">
            <a:avLst/>
          </a:prstGeom>
          <a:solidFill>
            <a:srgbClr val="DAEBF3"/>
          </a:solidFill>
          <a:ln w="11430">
            <a:solidFill>
              <a:srgbClr val="1F4A7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825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RBRG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 sz="825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-L1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6850E310-67D3-4C55-B7F3-C4C5F1011586}"/>
              </a:ext>
            </a:extLst>
          </p:cNvPr>
          <p:cNvSpPr>
            <a:spLocks noGrp="1"/>
          </p:cNvSpPr>
          <p:nvPr/>
        </p:nvSpPr>
        <p:spPr>
          <a:xfrm>
            <a:off x="5317617" y="2964942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905350F7-E1EB-4A69-8362-682A0305E241}"/>
              </a:ext>
            </a:extLst>
          </p:cNvPr>
          <p:cNvSpPr>
            <a:spLocks noGrp="1"/>
          </p:cNvSpPr>
          <p:nvPr/>
        </p:nvSpPr>
        <p:spPr>
          <a:xfrm>
            <a:off x="5317617" y="3726942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B312D6C7-A488-4E59-8646-E112CEAEF910}"/>
              </a:ext>
            </a:extLst>
          </p:cNvPr>
          <p:cNvSpPr>
            <a:spLocks noGrp="1"/>
          </p:cNvSpPr>
          <p:nvPr/>
        </p:nvSpPr>
        <p:spPr>
          <a:xfrm>
            <a:off x="6508242" y="2964942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DE361B7E-4285-4FFA-AD2F-1B324C86B345}"/>
              </a:ext>
            </a:extLst>
          </p:cNvPr>
          <p:cNvSpPr>
            <a:spLocks noGrp="1"/>
          </p:cNvSpPr>
          <p:nvPr/>
        </p:nvSpPr>
        <p:spPr>
          <a:xfrm>
            <a:off x="6508242" y="3726942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82CC1F90-2C70-404E-809B-92FF58D9B0A4}"/>
              </a:ext>
            </a:extLst>
          </p:cNvPr>
          <p:cNvSpPr>
            <a:spLocks noGrp="1"/>
          </p:cNvSpPr>
          <p:nvPr/>
        </p:nvSpPr>
        <p:spPr>
          <a:xfrm>
            <a:off x="7698867" y="2964942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05303F5F-64DF-41FE-9F89-D9A9995773B7}"/>
              </a:ext>
            </a:extLst>
          </p:cNvPr>
          <p:cNvSpPr>
            <a:spLocks noGrp="1"/>
          </p:cNvSpPr>
          <p:nvPr/>
        </p:nvSpPr>
        <p:spPr>
          <a:xfrm>
            <a:off x="7698867" y="3726942"/>
            <a:ext cx="128016" cy="128016"/>
          </a:xfrm>
          <a:prstGeom prst="roundRect">
            <a:avLst/>
          </a:prstGeom>
          <a:solidFill>
            <a:srgbClr val="808488"/>
          </a:solidFill>
          <a:ln w="6668">
            <a:solidFill>
              <a:srgbClr val="80848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765137AF-2750-4A48-8105-BCCD3BCC8F61}"/>
              </a:ext>
            </a:extLst>
          </p:cNvPr>
          <p:cNvSpPr>
            <a:spLocks noGrp="1"/>
          </p:cNvSpPr>
          <p:nvPr/>
        </p:nvSpPr>
        <p:spPr>
          <a:xfrm>
            <a:off x="8810625" y="1866900"/>
            <a:ext cx="857250" cy="314325"/>
          </a:xfrm>
          <a:prstGeom prst="roundRect">
            <a:avLst/>
          </a:prstGeom>
          <a:solidFill>
            <a:srgbClr val="D8EACA"/>
          </a:solidFill>
          <a:ln w="11430">
            <a:solidFill>
              <a:srgbClr val="70777E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825" b="0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Master 4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D89FA340-CE1F-4ABD-B581-9A030102534D}"/>
              </a:ext>
            </a:extLst>
          </p:cNvPr>
          <p:cNvSpPr>
            <a:spLocks noGrp="1"/>
          </p:cNvSpPr>
          <p:nvPr/>
        </p:nvSpPr>
        <p:spPr>
          <a:xfrm>
            <a:off x="10858500" y="1866900"/>
            <a:ext cx="666750" cy="314325"/>
          </a:xfrm>
          <a:prstGeom prst="roundRect">
            <a:avLst/>
          </a:prstGeom>
          <a:solidFill>
            <a:srgbClr val="D8EACA"/>
          </a:solidFill>
          <a:ln w="11430">
            <a:solidFill>
              <a:srgbClr val="70777E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788" b="0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Master 5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C2D7DBA4-01C2-484D-8144-4074AD3F11EB}"/>
              </a:ext>
            </a:extLst>
          </p:cNvPr>
          <p:cNvSpPr>
            <a:spLocks noGrp="1"/>
          </p:cNvSpPr>
          <p:nvPr/>
        </p:nvSpPr>
        <p:spPr>
          <a:xfrm>
            <a:off x="3714750" y="1981200"/>
            <a:ext cx="952500" cy="476250"/>
          </a:xfrm>
          <a:prstGeom prst="roundRect">
            <a:avLst/>
          </a:prstGeom>
          <a:solidFill>
            <a:srgbClr val="F6DAB2"/>
          </a:solidFill>
          <a:ln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HA 0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MemPort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2CC4791F-962D-40BD-96C3-710A5DBECDDA}"/>
              </a:ext>
            </a:extLst>
          </p:cNvPr>
          <p:cNvSpPr>
            <a:spLocks noGrp="1"/>
          </p:cNvSpPr>
          <p:nvPr/>
        </p:nvSpPr>
        <p:spPr>
          <a:xfrm>
            <a:off x="4905375" y="4191000"/>
            <a:ext cx="952500" cy="476250"/>
          </a:xfrm>
          <a:prstGeom prst="roundRect">
            <a:avLst/>
          </a:prstGeom>
          <a:solidFill>
            <a:srgbClr val="F6DAB2"/>
          </a:solidFill>
          <a:ln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L2 Cache 1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7201E620-09C5-4E8A-B8CB-C646380B13B6}"/>
              </a:ext>
            </a:extLst>
          </p:cNvPr>
          <p:cNvSpPr>
            <a:spLocks noGrp="1"/>
          </p:cNvSpPr>
          <p:nvPr/>
        </p:nvSpPr>
        <p:spPr>
          <a:xfrm>
            <a:off x="4905375" y="1981200"/>
            <a:ext cx="952500" cy="476250"/>
          </a:xfrm>
          <a:prstGeom prst="roundRect">
            <a:avLst/>
          </a:prstGeom>
          <a:solidFill>
            <a:srgbClr val="F6DAB2"/>
          </a:solidFill>
          <a:ln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L2 Cache 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4C58E25-804A-498F-9679-B1C35E821BBE}"/>
              </a:ext>
            </a:extLst>
          </p:cNvPr>
          <p:cNvSpPr>
            <a:spLocks noGrp="1"/>
          </p:cNvSpPr>
          <p:nvPr/>
        </p:nvSpPr>
        <p:spPr>
          <a:xfrm>
            <a:off x="2524125" y="3318509"/>
            <a:ext cx="1190625" cy="171450"/>
          </a:xfrm>
          <a:prstGeom prst="rect">
            <a:avLst/>
          </a:prstGeom>
          <a:noFill/>
        </p:spPr>
        <p:txBody>
          <a:bodyPr wrap="square" lIns="28575" tIns="19050" rIns="28575" bIns="1905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>
                <a:solidFill>
                  <a:srgbClr val="D73A32"/>
                </a:solidFill>
                <a:latin typeface="Arial"/>
                <a:ea typeface="Arial"/>
                <a:cs typeface="Arial"/>
              </a:defRPr>
            </a:pPr>
            <a:r>
              <a:rPr sz="1200" b="1" i="0" dirty="0">
                <a:solidFill>
                  <a:srgbClr val="D73A32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V_TO_H_REQ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C1A7EC1-654E-4527-A728-73DD8974AAE9}"/>
              </a:ext>
            </a:extLst>
          </p:cNvPr>
          <p:cNvSpPr>
            <a:spLocks noGrp="1"/>
          </p:cNvSpPr>
          <p:nvPr/>
        </p:nvSpPr>
        <p:spPr>
          <a:xfrm>
            <a:off x="2557463" y="2781109"/>
            <a:ext cx="1476375" cy="171450"/>
          </a:xfrm>
          <a:prstGeom prst="rect">
            <a:avLst/>
          </a:prstGeom>
          <a:noFill/>
        </p:spPr>
        <p:txBody>
          <a:bodyPr wrap="square" lIns="28575" tIns="19050" rIns="28575" bIns="1905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50" b="0">
                <a:solidFill>
                  <a:srgbClr val="2A70AD"/>
                </a:solidFill>
                <a:latin typeface="Arial"/>
                <a:ea typeface="Arial"/>
                <a:cs typeface="Arial"/>
              </a:defRPr>
            </a:pPr>
            <a:r>
              <a:rPr sz="1200" b="1" i="0" dirty="0">
                <a:solidFill>
                  <a:srgbClr val="2A70AD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H_TO_V_DAT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7CB1E716-3D71-4B4A-A8C2-CDE094A93868}"/>
              </a:ext>
            </a:extLst>
          </p:cNvPr>
          <p:cNvSpPr>
            <a:spLocks noGrp="1"/>
          </p:cNvSpPr>
          <p:nvPr/>
        </p:nvSpPr>
        <p:spPr>
          <a:xfrm>
            <a:off x="8334375" y="1381125"/>
            <a:ext cx="1190625" cy="36195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3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863" b="1">
                <a:solidFill>
                  <a:srgbClr val="D73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D73A32"/>
                </a:solidFill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单向 packet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 sz="863" b="1">
                <a:solidFill>
                  <a:srgbClr val="D73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D73A32"/>
                </a:solidFill>
                <a:latin typeface="Arial" panose="020B0604020202020204" pitchFamily="34" charset="0"/>
                <a:ea typeface="Microsoft YaHei"/>
                <a:cs typeface="Arial" panose="020B0604020202020204" pitchFamily="34" charset="0"/>
              </a:rPr>
              <a:t>≤ 1 次换环</a:t>
            </a:r>
          </a:p>
        </p:txBody>
      </p:sp>
      <p:sp>
        <p:nvSpPr>
          <p:cNvPr id="72" name="Master 6">
            <a:extLst>
              <a:ext uri="{FF2B5EF4-FFF2-40B4-BE49-F238E27FC236}">
                <a16:creationId xmlns:a16="http://schemas.microsoft.com/office/drawing/2014/main" id="{B5C3EF2A-92DE-4C20-8F28-A3B2A3B5171F}"/>
              </a:ext>
            </a:extLst>
          </p:cNvPr>
          <p:cNvSpPr>
            <a:spLocks noGrp="1"/>
          </p:cNvSpPr>
          <p:nvPr/>
        </p:nvSpPr>
        <p:spPr>
          <a:xfrm>
            <a:off x="8810625" y="4238625"/>
            <a:ext cx="857250" cy="314325"/>
          </a:xfrm>
          <a:prstGeom prst="roundRect">
            <a:avLst>
              <a:gd name="adj" fmla="val 24242"/>
            </a:avLst>
          </a:prstGeom>
          <a:solidFill>
            <a:srgbClr val="D8EACA"/>
          </a:solidFill>
          <a:ln w="11430">
            <a:solidFill>
              <a:srgbClr val="70777E"/>
            </a:solidFill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buNone/>
              <a:defRPr sz="825" b="0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Master 6</a:t>
            </a:r>
          </a:p>
        </p:txBody>
      </p:sp>
      <p:sp>
        <p:nvSpPr>
          <p:cNvPr id="73" name="Master 7">
            <a:extLst>
              <a:ext uri="{FF2B5EF4-FFF2-40B4-BE49-F238E27FC236}">
                <a16:creationId xmlns:a16="http://schemas.microsoft.com/office/drawing/2014/main" id="{A9AFEC18-8CA3-417A-92E3-FACC8770874C}"/>
              </a:ext>
            </a:extLst>
          </p:cNvPr>
          <p:cNvSpPr>
            <a:spLocks noGrp="1"/>
          </p:cNvSpPr>
          <p:nvPr/>
        </p:nvSpPr>
        <p:spPr>
          <a:xfrm>
            <a:off x="10858500" y="4238625"/>
            <a:ext cx="666750" cy="314325"/>
          </a:xfrm>
          <a:prstGeom prst="roundRect">
            <a:avLst>
              <a:gd name="adj" fmla="val 24242"/>
            </a:avLst>
          </a:prstGeom>
          <a:solidFill>
            <a:srgbClr val="D8EACA"/>
          </a:solidFill>
          <a:ln w="11430">
            <a:solidFill>
              <a:srgbClr val="70777E"/>
            </a:solidFill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buNone/>
              <a:defRPr sz="788" b="0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Master 7</a:t>
            </a:r>
          </a:p>
        </p:txBody>
      </p:sp>
      <p:cxnSp>
        <p:nvCxnSpPr>
          <p:cNvPr id="666" name="直接箭头连接符 225"/>
          <p:cNvCxnSpPr>
            <a:stCxn id="16" idx="3"/>
            <a:endCxn id="12" idx="1"/>
          </p:cNvCxnSpPr>
          <p:nvPr/>
        </p:nvCxnSpPr>
        <p:spPr>
          <a:xfrm flipV="1">
            <a:off x="1381125" y="2019300"/>
            <a:ext cx="31242" cy="4763"/>
          </a:xfrm>
          <a:prstGeom prst="straightConnector1">
            <a:avLst/>
          </a:prstGeom>
          <a:ln w="10001" cap="rnd">
            <a:solidFill>
              <a:srgbClr val="BEC4C9"/>
            </a:solidFill>
            <a:prstDash val="solid"/>
          </a:ln>
        </p:spPr>
      </p:cxnSp>
      <p:cxnSp>
        <p:nvCxnSpPr>
          <p:cNvPr id="667" name="直接箭头连接符 226"/>
          <p:cNvCxnSpPr>
            <a:stCxn id="18" idx="1"/>
            <a:endCxn id="13" idx="3"/>
          </p:cNvCxnSpPr>
          <p:nvPr/>
        </p:nvCxnSpPr>
        <p:spPr>
          <a:xfrm flipH="1" flipV="1">
            <a:off x="2492883" y="2019300"/>
            <a:ext cx="31242" cy="4763"/>
          </a:xfrm>
          <a:prstGeom prst="straightConnector1">
            <a:avLst/>
          </a:prstGeom>
          <a:ln w="10001" cap="rnd">
            <a:solidFill>
              <a:srgbClr val="BEC4C9"/>
            </a:solidFill>
            <a:prstDash val="solid"/>
          </a:ln>
        </p:spPr>
      </p:cxnSp>
      <p:cxnSp>
        <p:nvCxnSpPr>
          <p:cNvPr id="668" name="直接箭头连接符 227"/>
          <p:cNvCxnSpPr>
            <a:stCxn id="29" idx="3"/>
            <a:endCxn id="14" idx="1"/>
          </p:cNvCxnSpPr>
          <p:nvPr/>
        </p:nvCxnSpPr>
        <p:spPr>
          <a:xfrm flipV="1">
            <a:off x="1381125" y="4391025"/>
            <a:ext cx="31242" cy="4762"/>
          </a:xfrm>
          <a:prstGeom prst="straightConnector1">
            <a:avLst/>
          </a:prstGeom>
          <a:ln w="10001" cap="rnd">
            <a:solidFill>
              <a:srgbClr val="BEC4C9"/>
            </a:solidFill>
            <a:prstDash val="solid"/>
          </a:ln>
        </p:spPr>
      </p:cxnSp>
      <p:cxnSp>
        <p:nvCxnSpPr>
          <p:cNvPr id="669" name="直接箭头连接符 228"/>
          <p:cNvCxnSpPr>
            <a:stCxn id="31" idx="1"/>
            <a:endCxn id="15" idx="3"/>
          </p:cNvCxnSpPr>
          <p:nvPr/>
        </p:nvCxnSpPr>
        <p:spPr>
          <a:xfrm flipH="1" flipV="1">
            <a:off x="2492883" y="4391025"/>
            <a:ext cx="31242" cy="4762"/>
          </a:xfrm>
          <a:prstGeom prst="straightConnector1">
            <a:avLst/>
          </a:prstGeom>
          <a:ln w="10001" cap="rnd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</p:cxnSp>
      <p:cxnSp>
        <p:nvCxnSpPr>
          <p:cNvPr id="670" name="直接箭头连接符 229"/>
          <p:cNvCxnSpPr>
            <a:stCxn id="42" idx="3"/>
            <a:endCxn id="25" idx="1"/>
          </p:cNvCxnSpPr>
          <p:nvPr/>
        </p:nvCxnSpPr>
        <p:spPr>
          <a:xfrm flipV="1">
            <a:off x="9667875" y="2019300"/>
            <a:ext cx="78867" cy="4763"/>
          </a:xfrm>
          <a:prstGeom prst="straightConnector1">
            <a:avLst/>
          </a:prstGeom>
          <a:ln w="10001" cap="rnd">
            <a:solidFill>
              <a:srgbClr val="BEC4C9"/>
            </a:solidFill>
            <a:prstDash val="solid"/>
          </a:ln>
        </p:spPr>
      </p:cxnSp>
      <p:cxnSp>
        <p:nvCxnSpPr>
          <p:cNvPr id="671" name="直接箭头连接符 230"/>
          <p:cNvCxnSpPr>
            <a:stCxn id="44" idx="1"/>
            <a:endCxn id="26" idx="3"/>
          </p:cNvCxnSpPr>
          <p:nvPr/>
        </p:nvCxnSpPr>
        <p:spPr>
          <a:xfrm flipH="1" flipV="1">
            <a:off x="10827258" y="2019300"/>
            <a:ext cx="31242" cy="4763"/>
          </a:xfrm>
          <a:prstGeom prst="straightConnector1">
            <a:avLst/>
          </a:prstGeom>
          <a:ln w="10001" cap="rnd">
            <a:solidFill>
              <a:srgbClr val="BEC4C9"/>
            </a:solidFill>
            <a:prstDash val="solid"/>
          </a:ln>
        </p:spPr>
      </p:cxnSp>
      <p:cxnSp>
        <p:nvCxnSpPr>
          <p:cNvPr id="672" name="直接箭头连接符 231"/>
          <p:cNvCxnSpPr>
            <a:stCxn id="72" idx="3"/>
            <a:endCxn id="27" idx="1"/>
          </p:cNvCxnSpPr>
          <p:nvPr/>
        </p:nvCxnSpPr>
        <p:spPr>
          <a:xfrm flipV="1">
            <a:off x="9667875" y="4391025"/>
            <a:ext cx="78867" cy="4762"/>
          </a:xfrm>
          <a:prstGeom prst="straightConnector1">
            <a:avLst/>
          </a:prstGeom>
          <a:ln w="10001" cap="rnd">
            <a:solidFill>
              <a:srgbClr val="BEC4C9"/>
            </a:solidFill>
            <a:prstDash val="solid"/>
          </a:ln>
        </p:spPr>
      </p:cxnSp>
      <p:cxnSp>
        <p:nvCxnSpPr>
          <p:cNvPr id="673" name="直接箭头连接符 232"/>
          <p:cNvCxnSpPr>
            <a:stCxn id="73" idx="1"/>
            <a:endCxn id="28" idx="3"/>
          </p:cNvCxnSpPr>
          <p:nvPr/>
        </p:nvCxnSpPr>
        <p:spPr>
          <a:xfrm flipH="1" flipV="1">
            <a:off x="10827258" y="4391025"/>
            <a:ext cx="31242" cy="4762"/>
          </a:xfrm>
          <a:prstGeom prst="straightConnector1">
            <a:avLst/>
          </a:prstGeom>
          <a:ln w="10001" cap="rnd">
            <a:solidFill>
              <a:srgbClr val="BEC4C9"/>
            </a:solidFill>
            <a:prstDash val="solid"/>
          </a:ln>
        </p:spPr>
      </p:cxnSp>
      <p:sp>
        <p:nvSpPr>
          <p:cNvPr id="82" name="L2 Cache 2">
            <a:extLst>
              <a:ext uri="{FF2B5EF4-FFF2-40B4-BE49-F238E27FC236}">
                <a16:creationId xmlns:a16="http://schemas.microsoft.com/office/drawing/2014/main" id="{9F9C7CBC-0FD3-4EB7-ADCA-B9F3DC76E812}"/>
              </a:ext>
            </a:extLst>
          </p:cNvPr>
          <p:cNvSpPr>
            <a:spLocks noGrp="1"/>
          </p:cNvSpPr>
          <p:nvPr/>
        </p:nvSpPr>
        <p:spPr>
          <a:xfrm>
            <a:off x="6096000" y="1981200"/>
            <a:ext cx="952500" cy="476250"/>
          </a:xfrm>
          <a:prstGeom prst="roundRect">
            <a:avLst>
              <a:gd name="adj" fmla="val 16000"/>
            </a:avLst>
          </a:prstGeom>
          <a:solidFill>
            <a:srgbClr val="F6DAB2"/>
          </a:solidFill>
          <a:ln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L2 Cache 2</a:t>
            </a:r>
          </a:p>
        </p:txBody>
      </p:sp>
      <p:sp>
        <p:nvSpPr>
          <p:cNvPr id="83" name="L2 Cache 3">
            <a:extLst>
              <a:ext uri="{FF2B5EF4-FFF2-40B4-BE49-F238E27FC236}">
                <a16:creationId xmlns:a16="http://schemas.microsoft.com/office/drawing/2014/main" id="{D33C070D-9E7D-4A0E-827D-6796DAD62797}"/>
              </a:ext>
            </a:extLst>
          </p:cNvPr>
          <p:cNvSpPr>
            <a:spLocks noGrp="1"/>
          </p:cNvSpPr>
          <p:nvPr/>
        </p:nvSpPr>
        <p:spPr>
          <a:xfrm>
            <a:off x="7286625" y="1981200"/>
            <a:ext cx="952500" cy="476250"/>
          </a:xfrm>
          <a:prstGeom prst="roundRect">
            <a:avLst>
              <a:gd name="adj" fmla="val 16000"/>
            </a:avLst>
          </a:prstGeom>
          <a:solidFill>
            <a:srgbClr val="F6DAB2"/>
          </a:solidFill>
          <a:ln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HA 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MemPort</a:t>
            </a:r>
          </a:p>
        </p:txBody>
      </p:sp>
      <p:sp>
        <p:nvSpPr>
          <p:cNvPr id="84" name="HA 2 MemPort">
            <a:extLst>
              <a:ext uri="{FF2B5EF4-FFF2-40B4-BE49-F238E27FC236}">
                <a16:creationId xmlns:a16="http://schemas.microsoft.com/office/drawing/2014/main" id="{19051119-102C-4207-B475-2773E93A4819}"/>
              </a:ext>
            </a:extLst>
          </p:cNvPr>
          <p:cNvSpPr>
            <a:spLocks noGrp="1"/>
          </p:cNvSpPr>
          <p:nvPr/>
        </p:nvSpPr>
        <p:spPr>
          <a:xfrm>
            <a:off x="6096000" y="4191000"/>
            <a:ext cx="952500" cy="476250"/>
          </a:xfrm>
          <a:prstGeom prst="roundRect">
            <a:avLst>
              <a:gd name="adj" fmla="val 16000"/>
            </a:avLst>
          </a:prstGeom>
          <a:solidFill>
            <a:srgbClr val="F6DAB2"/>
          </a:solidFill>
          <a:ln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L2 Cache 3</a:t>
            </a:r>
          </a:p>
        </p:txBody>
      </p:sp>
      <p:sp>
        <p:nvSpPr>
          <p:cNvPr id="85" name="HA 3 MemPort">
            <a:extLst>
              <a:ext uri="{FF2B5EF4-FFF2-40B4-BE49-F238E27FC236}">
                <a16:creationId xmlns:a16="http://schemas.microsoft.com/office/drawing/2014/main" id="{38152099-C470-409D-9009-3EEE10998D20}"/>
              </a:ext>
            </a:extLst>
          </p:cNvPr>
          <p:cNvSpPr>
            <a:spLocks noGrp="1"/>
          </p:cNvSpPr>
          <p:nvPr/>
        </p:nvSpPr>
        <p:spPr>
          <a:xfrm>
            <a:off x="7286625" y="4191000"/>
            <a:ext cx="952500" cy="476250"/>
          </a:xfrm>
          <a:prstGeom prst="roundRect">
            <a:avLst>
              <a:gd name="adj" fmla="val 16000"/>
            </a:avLst>
          </a:prstGeom>
          <a:solidFill>
            <a:srgbClr val="F6DAB2"/>
          </a:solidFill>
          <a:ln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HA 3</a:t>
            </a:r>
          </a:p>
          <a:p>
            <a:pPr algn="ctr"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MemPort</a:t>
            </a:r>
          </a:p>
        </p:txBody>
      </p:sp>
      <p:cxnSp>
        <p:nvCxnSpPr>
          <p:cNvPr id="678" name="直接箭头连接符 237"/>
          <p:cNvCxnSpPr>
            <a:stCxn id="51" idx="2"/>
            <a:endCxn id="21" idx="0"/>
          </p:cNvCxnSpPr>
          <p:nvPr/>
        </p:nvCxnSpPr>
        <p:spPr>
          <a:xfrm>
            <a:off x="4191000" y="2457450"/>
            <a:ext cx="0" cy="507492"/>
          </a:xfrm>
          <a:prstGeom prst="straightConnector1">
            <a:avLst/>
          </a:prstGeom>
          <a:ln w="9525" cap="rnd">
            <a:solidFill>
              <a:srgbClr val="BEC4C9"/>
            </a:solidFill>
            <a:prstDash val="solid"/>
          </a:ln>
        </p:spPr>
      </p:cxnSp>
      <p:cxnSp>
        <p:nvCxnSpPr>
          <p:cNvPr id="679" name="直接箭头连接符 238"/>
          <p:cNvCxnSpPr>
            <a:stCxn id="22" idx="2"/>
            <a:endCxn id="49" idx="0"/>
          </p:cNvCxnSpPr>
          <p:nvPr/>
        </p:nvCxnSpPr>
        <p:spPr>
          <a:xfrm flipH="1">
            <a:off x="4191000" y="3854958"/>
            <a:ext cx="0" cy="336042"/>
          </a:xfrm>
          <a:prstGeom prst="straightConnector1">
            <a:avLst/>
          </a:prstGeom>
          <a:ln w="9525" cap="rnd">
            <a:solidFill>
              <a:srgbClr val="BEC4C9"/>
            </a:solidFill>
            <a:prstDash val="solid"/>
          </a:ln>
        </p:spPr>
      </p:cxnSp>
      <p:cxnSp>
        <p:nvCxnSpPr>
          <p:cNvPr id="680" name="直接箭头连接符 239"/>
          <p:cNvCxnSpPr>
            <a:stCxn id="55" idx="2"/>
            <a:endCxn id="34" idx="0"/>
          </p:cNvCxnSpPr>
          <p:nvPr/>
        </p:nvCxnSpPr>
        <p:spPr>
          <a:xfrm>
            <a:off x="5381625" y="2457450"/>
            <a:ext cx="0" cy="507492"/>
          </a:xfrm>
          <a:prstGeom prst="straightConnector1">
            <a:avLst/>
          </a:prstGeom>
          <a:ln w="9525" cap="rnd">
            <a:solidFill>
              <a:srgbClr val="BEC4C9"/>
            </a:solidFill>
            <a:prstDash val="solid"/>
          </a:ln>
        </p:spPr>
      </p:cxnSp>
      <p:cxnSp>
        <p:nvCxnSpPr>
          <p:cNvPr id="681" name="直接箭头连接符 240"/>
          <p:cNvCxnSpPr>
            <a:stCxn id="35" idx="2"/>
            <a:endCxn id="53" idx="0"/>
          </p:cNvCxnSpPr>
          <p:nvPr/>
        </p:nvCxnSpPr>
        <p:spPr>
          <a:xfrm>
            <a:off x="5381625" y="3854958"/>
            <a:ext cx="0" cy="336042"/>
          </a:xfrm>
          <a:prstGeom prst="straightConnector1">
            <a:avLst/>
          </a:prstGeom>
          <a:ln w="9525" cap="rnd">
            <a:solidFill>
              <a:srgbClr val="BEC4C9"/>
            </a:solidFill>
            <a:prstDash val="solid"/>
          </a:ln>
        </p:spPr>
      </p:cxnSp>
      <p:cxnSp>
        <p:nvCxnSpPr>
          <p:cNvPr id="682" name="直接箭头连接符 241"/>
          <p:cNvCxnSpPr>
            <a:stCxn id="82" idx="2"/>
            <a:endCxn id="38" idx="0"/>
          </p:cNvCxnSpPr>
          <p:nvPr/>
        </p:nvCxnSpPr>
        <p:spPr>
          <a:xfrm>
            <a:off x="6572250" y="2457450"/>
            <a:ext cx="0" cy="507492"/>
          </a:xfrm>
          <a:prstGeom prst="straightConnector1">
            <a:avLst/>
          </a:prstGeom>
          <a:ln w="9525" cap="rnd">
            <a:solidFill>
              <a:srgbClr val="BEC4C9"/>
            </a:solidFill>
            <a:prstDash val="solid"/>
          </a:ln>
        </p:spPr>
      </p:cxnSp>
      <p:cxnSp>
        <p:nvCxnSpPr>
          <p:cNvPr id="683" name="直接箭头连接符 242"/>
          <p:cNvCxnSpPr>
            <a:stCxn id="39" idx="2"/>
            <a:endCxn id="84" idx="0"/>
          </p:cNvCxnSpPr>
          <p:nvPr/>
        </p:nvCxnSpPr>
        <p:spPr>
          <a:xfrm>
            <a:off x="6572250" y="3854958"/>
            <a:ext cx="0" cy="336042"/>
          </a:xfrm>
          <a:prstGeom prst="straightConnector1">
            <a:avLst/>
          </a:prstGeom>
          <a:ln w="9525" cap="rnd">
            <a:solidFill>
              <a:srgbClr val="BEC4C9"/>
            </a:solidFill>
            <a:prstDash val="solid"/>
          </a:ln>
        </p:spPr>
      </p:cxnSp>
      <p:cxnSp>
        <p:nvCxnSpPr>
          <p:cNvPr id="684" name="直接箭头连接符 243"/>
          <p:cNvCxnSpPr>
            <a:stCxn id="83" idx="2"/>
            <a:endCxn id="40" idx="0"/>
          </p:cNvCxnSpPr>
          <p:nvPr/>
        </p:nvCxnSpPr>
        <p:spPr>
          <a:xfrm>
            <a:off x="7762875" y="2457450"/>
            <a:ext cx="0" cy="507492"/>
          </a:xfrm>
          <a:prstGeom prst="straightConnector1">
            <a:avLst/>
          </a:prstGeom>
          <a:ln w="9525" cap="rnd">
            <a:solidFill>
              <a:srgbClr val="BEC4C9"/>
            </a:solidFill>
            <a:prstDash val="solid"/>
          </a:ln>
        </p:spPr>
      </p:cxnSp>
      <p:cxnSp>
        <p:nvCxnSpPr>
          <p:cNvPr id="685" name="直接箭头连接符 244"/>
          <p:cNvCxnSpPr>
            <a:stCxn id="41" idx="2"/>
            <a:endCxn id="85" idx="0"/>
          </p:cNvCxnSpPr>
          <p:nvPr/>
        </p:nvCxnSpPr>
        <p:spPr>
          <a:xfrm flipH="1">
            <a:off x="7762875" y="3854958"/>
            <a:ext cx="0" cy="336042"/>
          </a:xfrm>
          <a:prstGeom prst="straightConnector1">
            <a:avLst/>
          </a:prstGeom>
          <a:ln w="9525" cap="rnd">
            <a:solidFill>
              <a:srgbClr val="BEC4C9"/>
            </a:solidFill>
            <a:prstDash val="solid"/>
          </a:ln>
        </p:spPr>
      </p:cxnSp>
      <p:cxnSp>
        <p:nvCxnSpPr>
          <p:cNvPr id="686" name="连接符: 肘形 245"/>
          <p:cNvCxnSpPr>
            <a:stCxn id="16" idx="3"/>
            <a:endCxn id="20" idx="0"/>
          </p:cNvCxnSpPr>
          <p:nvPr/>
        </p:nvCxnSpPr>
        <p:spPr>
          <a:xfrm>
            <a:off x="1381125" y="2024063"/>
            <a:ext cx="562107" cy="770571"/>
          </a:xfrm>
          <a:prstGeom prst="bentConnector2">
            <a:avLst/>
          </a:prstGeom>
          <a:ln w="25400" cap="rnd">
            <a:solidFill>
              <a:srgbClr val="D73A32"/>
            </a:solidFill>
            <a:prstDash val="solid"/>
            <a:round/>
            <a:tailEnd type="arrow" w="med" len="med"/>
          </a:ln>
        </p:spPr>
      </p:cxnSp>
      <p:cxnSp>
        <p:nvCxnSpPr>
          <p:cNvPr id="687" name="连接符: 肘形 246"/>
          <p:cNvCxnSpPr>
            <a:cxnSpLocks/>
            <a:stCxn id="20" idx="2"/>
            <a:endCxn id="22" idx="0"/>
          </p:cNvCxnSpPr>
          <p:nvPr/>
        </p:nvCxnSpPr>
        <p:spPr>
          <a:xfrm rot="16200000" flipH="1">
            <a:off x="2848612" y="2384554"/>
            <a:ext cx="437008" cy="2247768"/>
          </a:xfrm>
          <a:prstGeom prst="bentConnector3">
            <a:avLst>
              <a:gd name="adj1" fmla="val 50000"/>
            </a:avLst>
          </a:prstGeom>
          <a:ln w="25400" cap="rnd">
            <a:solidFill>
              <a:srgbClr val="D73A32"/>
            </a:solidFill>
            <a:prstDash val="solid"/>
            <a:round/>
          </a:ln>
        </p:spPr>
      </p:cxnSp>
      <p:cxnSp>
        <p:nvCxnSpPr>
          <p:cNvPr id="688" name="直接箭头连接符 247"/>
          <p:cNvCxnSpPr>
            <a:stCxn id="22" idx="2"/>
            <a:endCxn id="49" idx="0"/>
          </p:cNvCxnSpPr>
          <p:nvPr/>
        </p:nvCxnSpPr>
        <p:spPr>
          <a:xfrm flipH="1">
            <a:off x="4191000" y="3854958"/>
            <a:ext cx="0" cy="336042"/>
          </a:xfrm>
          <a:prstGeom prst="straightConnector1">
            <a:avLst/>
          </a:prstGeom>
          <a:ln w="25400" cap="rnd">
            <a:solidFill>
              <a:srgbClr val="D73A32"/>
            </a:solidFill>
            <a:prstDash val="solid"/>
            <a:round/>
            <a:tailEnd type="arrow" w="med" len="med"/>
          </a:ln>
        </p:spPr>
      </p:cxnSp>
      <p:cxnSp>
        <p:nvCxnSpPr>
          <p:cNvPr id="689" name="直接箭头连接符 248"/>
          <p:cNvCxnSpPr>
            <a:cxnSpLocks/>
          </p:cNvCxnSpPr>
          <p:nvPr/>
        </p:nvCxnSpPr>
        <p:spPr>
          <a:xfrm>
            <a:off x="5381625" y="2457450"/>
            <a:ext cx="0" cy="507492"/>
          </a:xfrm>
          <a:prstGeom prst="straightConnector1">
            <a:avLst/>
          </a:prstGeom>
          <a:ln w="25400" cap="rnd">
            <a:solidFill>
              <a:srgbClr val="2A70AD"/>
            </a:solidFill>
            <a:prstDash val="solid"/>
            <a:round/>
          </a:ln>
        </p:spPr>
      </p:cxnSp>
      <p:cxnSp>
        <p:nvCxnSpPr>
          <p:cNvPr id="690" name="连接符: 肘形 249"/>
          <p:cNvCxnSpPr>
            <a:cxnSpLocks/>
            <a:stCxn id="34" idx="2"/>
          </p:cNvCxnSpPr>
          <p:nvPr/>
        </p:nvCxnSpPr>
        <p:spPr>
          <a:xfrm rot="5400000">
            <a:off x="3810544" y="1606647"/>
            <a:ext cx="84770" cy="3057392"/>
          </a:xfrm>
          <a:prstGeom prst="bentConnector2">
            <a:avLst/>
          </a:prstGeom>
          <a:ln w="25400" cap="rnd">
            <a:solidFill>
              <a:srgbClr val="2A70AD"/>
            </a:solidFill>
            <a:prstDash val="solid"/>
            <a:round/>
          </a:ln>
        </p:spPr>
      </p:cxn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79E7AC14-D476-45B2-B37E-A76BC32E0A21}"/>
              </a:ext>
            </a:extLst>
          </p:cNvPr>
          <p:cNvSpPr>
            <a:spLocks noGrp="1"/>
          </p:cNvSpPr>
          <p:nvPr/>
        </p:nvSpPr>
        <p:spPr>
          <a:xfrm>
            <a:off x="3714750" y="4191000"/>
            <a:ext cx="952500" cy="476250"/>
          </a:xfrm>
          <a:prstGeom prst="roundRect">
            <a:avLst/>
          </a:prstGeom>
          <a:solidFill>
            <a:srgbClr val="F6DAB2"/>
          </a:solidFill>
          <a:ln w="11430">
            <a:solidFill>
              <a:schemeClr val="tx1">
                <a:lumMod val="95000"/>
                <a:lumOff val="5000"/>
              </a:schemeClr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19050" rIns="28575" bIns="19050"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HA 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  <a:defRPr sz="780" b="1">
                <a:solidFill>
                  <a:srgbClr val="20273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20273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MemPort</a:t>
            </a:r>
          </a:p>
        </p:txBody>
      </p:sp>
    </p:spTree>
    <p:extLst>
      <p:ext uri="{BB962C8B-B14F-4D97-AF65-F5344CB8AC3E}">
        <p14:creationId xmlns:p14="http://schemas.microsoft.com/office/powerpoint/2010/main" val="3908310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67533C-E1FA-4C13-991C-87ECECA2B8E4}"/>
              </a:ext>
            </a:extLst>
          </p:cNvPr>
          <p:cNvSpPr>
            <a:spLocks noGrp="1"/>
          </p:cNvSpPr>
          <p:nvPr/>
        </p:nvSpPr>
        <p:spPr>
          <a:xfrm>
            <a:off x="601027" y="219076"/>
            <a:ext cx="8138160" cy="3847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 dirty="0" err="1">
                <a:latin typeface="Microsoft YaHei"/>
                <a:ea typeface="Microsoft YaHei"/>
                <a:cs typeface="Microsoft YaHei"/>
              </a:rPr>
              <a:t>读写事务路径</a:t>
            </a:r>
            <a:endParaRPr sz="2500" b="1" i="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6" name="write-response">
            <a:extLst>
              <a:ext uri="{FF2B5EF4-FFF2-40B4-BE49-F238E27FC236}">
                <a16:creationId xmlns:a16="http://schemas.microsoft.com/office/drawing/2014/main" id="{C0F7057B-BD50-4378-ACCF-613D4848F0A8}"/>
              </a:ext>
            </a:extLst>
          </p:cNvPr>
          <p:cNvSpPr>
            <a:spLocks noGrp="1"/>
          </p:cNvSpPr>
          <p:nvPr/>
        </p:nvSpPr>
        <p:spPr>
          <a:xfrm>
            <a:off x="601027" y="5679313"/>
            <a:ext cx="962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l">
              <a:buNone/>
              <a:defRPr sz="1275" b="1">
                <a:solidFill>
                  <a:srgbClr val="7048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写响应</a:t>
            </a:r>
            <a:r>
              <a:rPr lang="zh-CN" altLang="en-US" sz="1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lang="en-US" altLang="zh-CN" sz="1275" b="1" dirty="0">
                <a:solidFill>
                  <a:srgbClr val="1F2937"/>
                </a:solidFill>
                <a:latin typeface="Microsoft YaHei"/>
                <a:ea typeface="Microsoft YaHei"/>
              </a:rPr>
              <a:t>HA</a:t>
            </a:r>
            <a:r>
              <a:rPr sz="1275" b="1" dirty="0">
                <a:solidFill>
                  <a:srgbClr val="1F2937"/>
                </a:solidFill>
                <a:latin typeface="Microsoft YaHei"/>
                <a:ea typeface="Microsoft YaHei"/>
              </a:rPr>
              <a:t> → H-Ring RSP → RBRG H_TO_V_RSP → V-Ring → Master</a:t>
            </a:r>
          </a:p>
        </p:txBody>
      </p:sp>
      <p:sp>
        <p:nvSpPr>
          <p:cNvPr id="53" name="Rectangle 25">
            <a:extLst>
              <a:ext uri="{FF2B5EF4-FFF2-40B4-BE49-F238E27FC236}">
                <a16:creationId xmlns:a16="http://schemas.microsoft.com/office/drawing/2014/main" id="{C3F4412F-B50E-4027-A10B-934350EE96F6}"/>
              </a:ext>
            </a:extLst>
          </p:cNvPr>
          <p:cNvSpPr>
            <a:spLocks noGrp="1"/>
          </p:cNvSpPr>
          <p:nvPr/>
        </p:nvSpPr>
        <p:spPr>
          <a:xfrm>
            <a:off x="274377" y="949071"/>
            <a:ext cx="11422323" cy="4407408"/>
          </a:xfrm>
          <a:prstGeom prst="rect">
            <a:avLst/>
          </a:prstGeom>
          <a:noFill/>
          <a:ln w="1016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5" name="lane-0-label-frame">
            <a:extLst>
              <a:ext uri="{FF2B5EF4-FFF2-40B4-BE49-F238E27FC236}">
                <a16:creationId xmlns:a16="http://schemas.microsoft.com/office/drawing/2014/main" id="{2C15C1A0-B408-4C75-9FBA-793ADE42B745}"/>
              </a:ext>
            </a:extLst>
          </p:cNvPr>
          <p:cNvSpPr>
            <a:spLocks noGrp="1"/>
          </p:cNvSpPr>
          <p:nvPr/>
        </p:nvSpPr>
        <p:spPr>
          <a:xfrm>
            <a:off x="457200" y="1116711"/>
            <a:ext cx="1285875" cy="876300"/>
          </a:xfrm>
          <a:prstGeom prst="roundRect">
            <a:avLst>
              <a:gd name="adj" fmla="val 14130"/>
            </a:avLst>
          </a:prstGeom>
          <a:solidFill>
            <a:schemeClr val="bg1">
              <a:lumMod val="85000"/>
            </a:schemeClr>
          </a:solidFill>
          <a:ln w="15240">
            <a:solidFill>
              <a:srgbClr val="C9D3DE"/>
            </a:solidFill>
            <a:prstDash val="solid"/>
          </a:ln>
        </p:spPr>
      </p:sp>
      <p:sp>
        <p:nvSpPr>
          <p:cNvPr id="56" name="lane-0-label-title">
            <a:extLst>
              <a:ext uri="{FF2B5EF4-FFF2-40B4-BE49-F238E27FC236}">
                <a16:creationId xmlns:a16="http://schemas.microsoft.com/office/drawing/2014/main" id="{B6D07FE0-E23F-41E8-B0CB-103EE0CB27E4}"/>
              </a:ext>
            </a:extLst>
          </p:cNvPr>
          <p:cNvSpPr>
            <a:spLocks noGrp="1"/>
          </p:cNvSpPr>
          <p:nvPr/>
        </p:nvSpPr>
        <p:spPr>
          <a:xfrm>
            <a:off x="504825" y="1154811"/>
            <a:ext cx="119062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350" b="1">
                <a:solidFill>
                  <a:srgbClr val="D93F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读请求</a:t>
            </a:r>
            <a:r>
              <a:rPr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 REQ</a:t>
            </a:r>
          </a:p>
        </p:txBody>
      </p:sp>
      <p:sp>
        <p:nvSpPr>
          <p:cNvPr id="57" name="lane-0-node-0-frame">
            <a:extLst>
              <a:ext uri="{FF2B5EF4-FFF2-40B4-BE49-F238E27FC236}">
                <a16:creationId xmlns:a16="http://schemas.microsoft.com/office/drawing/2014/main" id="{1DCF9178-C8DC-4D9A-A17C-5DEE2F1E7156}"/>
              </a:ext>
            </a:extLst>
          </p:cNvPr>
          <p:cNvSpPr>
            <a:spLocks noGrp="1"/>
          </p:cNvSpPr>
          <p:nvPr/>
        </p:nvSpPr>
        <p:spPr>
          <a:xfrm>
            <a:off x="2076450" y="1164336"/>
            <a:ext cx="1571625" cy="781050"/>
          </a:xfrm>
          <a:prstGeom prst="roundRect">
            <a:avLst>
              <a:gd name="adj" fmla="val 15854"/>
            </a:avLst>
          </a:prstGeom>
          <a:solidFill>
            <a:srgbClr val="FFFFFF"/>
          </a:solidFill>
          <a:ln w="15240">
            <a:solidFill>
              <a:schemeClr val="tx1"/>
            </a:solidFill>
            <a:prstDash val="solid"/>
          </a:ln>
        </p:spPr>
      </p:sp>
      <p:sp>
        <p:nvSpPr>
          <p:cNvPr id="58" name="lane-0-node-0-title">
            <a:extLst>
              <a:ext uri="{FF2B5EF4-FFF2-40B4-BE49-F238E27FC236}">
                <a16:creationId xmlns:a16="http://schemas.microsoft.com/office/drawing/2014/main" id="{29569E11-B8C0-44DF-92CC-1B87AED5D2DE}"/>
              </a:ext>
            </a:extLst>
          </p:cNvPr>
          <p:cNvSpPr>
            <a:spLocks noGrp="1"/>
          </p:cNvSpPr>
          <p:nvPr/>
        </p:nvSpPr>
        <p:spPr>
          <a:xfrm>
            <a:off x="2124075" y="1202436"/>
            <a:ext cx="147637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27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Master</a:t>
            </a:r>
          </a:p>
        </p:txBody>
      </p:sp>
      <p:sp>
        <p:nvSpPr>
          <p:cNvPr id="59" name="lane-0-node-1-frame">
            <a:extLst>
              <a:ext uri="{FF2B5EF4-FFF2-40B4-BE49-F238E27FC236}">
                <a16:creationId xmlns:a16="http://schemas.microsoft.com/office/drawing/2014/main" id="{5EB3051D-5500-49A6-B57C-61BA41D99CA6}"/>
              </a:ext>
            </a:extLst>
          </p:cNvPr>
          <p:cNvSpPr>
            <a:spLocks noGrp="1"/>
          </p:cNvSpPr>
          <p:nvPr/>
        </p:nvSpPr>
        <p:spPr>
          <a:xfrm>
            <a:off x="4029075" y="1164336"/>
            <a:ext cx="1571625" cy="781050"/>
          </a:xfrm>
          <a:prstGeom prst="roundRect">
            <a:avLst>
              <a:gd name="adj" fmla="val 15854"/>
            </a:avLst>
          </a:prstGeom>
          <a:solidFill>
            <a:srgbClr val="FFFFFF"/>
          </a:solidFill>
          <a:ln w="15240">
            <a:solidFill>
              <a:schemeClr val="tx1"/>
            </a:solidFill>
            <a:prstDash val="solid"/>
          </a:ln>
        </p:spPr>
      </p:sp>
      <p:sp>
        <p:nvSpPr>
          <p:cNvPr id="60" name="lane-0-node-1-title">
            <a:extLst>
              <a:ext uri="{FF2B5EF4-FFF2-40B4-BE49-F238E27FC236}">
                <a16:creationId xmlns:a16="http://schemas.microsoft.com/office/drawing/2014/main" id="{FE9D2701-C719-48E1-A678-0B2D3F30870B}"/>
              </a:ext>
            </a:extLst>
          </p:cNvPr>
          <p:cNvSpPr>
            <a:spLocks noGrp="1"/>
          </p:cNvSpPr>
          <p:nvPr/>
        </p:nvSpPr>
        <p:spPr>
          <a:xfrm>
            <a:off x="4076700" y="1202436"/>
            <a:ext cx="147637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27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V-Ring</a:t>
            </a:r>
          </a:p>
        </p:txBody>
      </p:sp>
      <p:sp>
        <p:nvSpPr>
          <p:cNvPr id="61" name="lane-0-node-2-frame">
            <a:extLst>
              <a:ext uri="{FF2B5EF4-FFF2-40B4-BE49-F238E27FC236}">
                <a16:creationId xmlns:a16="http://schemas.microsoft.com/office/drawing/2014/main" id="{94566DEE-67C2-400D-B5E9-F207A205ED7C}"/>
              </a:ext>
            </a:extLst>
          </p:cNvPr>
          <p:cNvSpPr>
            <a:spLocks noGrp="1"/>
          </p:cNvSpPr>
          <p:nvPr/>
        </p:nvSpPr>
        <p:spPr>
          <a:xfrm>
            <a:off x="5981700" y="1164336"/>
            <a:ext cx="1571625" cy="781050"/>
          </a:xfrm>
          <a:prstGeom prst="roundRect">
            <a:avLst>
              <a:gd name="adj" fmla="val 15854"/>
            </a:avLst>
          </a:prstGeom>
          <a:solidFill>
            <a:srgbClr val="FFFFFF"/>
          </a:solidFill>
          <a:ln w="15240">
            <a:solidFill>
              <a:schemeClr val="tx1"/>
            </a:solidFill>
            <a:prstDash val="solid"/>
          </a:ln>
        </p:spPr>
      </p:sp>
      <p:sp>
        <p:nvSpPr>
          <p:cNvPr id="62" name="lane-0-node-2-title">
            <a:extLst>
              <a:ext uri="{FF2B5EF4-FFF2-40B4-BE49-F238E27FC236}">
                <a16:creationId xmlns:a16="http://schemas.microsoft.com/office/drawing/2014/main" id="{255D0782-E26C-4620-9B9A-667A6376BF10}"/>
              </a:ext>
            </a:extLst>
          </p:cNvPr>
          <p:cNvSpPr>
            <a:spLocks noGrp="1"/>
          </p:cNvSpPr>
          <p:nvPr/>
        </p:nvSpPr>
        <p:spPr>
          <a:xfrm>
            <a:off x="6029325" y="1202436"/>
            <a:ext cx="147637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27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RBRG</a:t>
            </a:r>
          </a:p>
          <a:p>
            <a:pPr algn="ctr">
              <a:buNone/>
              <a:defRPr sz="127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V_TO_H_REQ</a:t>
            </a:r>
          </a:p>
        </p:txBody>
      </p:sp>
      <p:sp>
        <p:nvSpPr>
          <p:cNvPr id="63" name="lane-0-node-3-frame">
            <a:extLst>
              <a:ext uri="{FF2B5EF4-FFF2-40B4-BE49-F238E27FC236}">
                <a16:creationId xmlns:a16="http://schemas.microsoft.com/office/drawing/2014/main" id="{FCDF61FE-1B0C-47CA-BE86-9A1154411604}"/>
              </a:ext>
            </a:extLst>
          </p:cNvPr>
          <p:cNvSpPr>
            <a:spLocks noGrp="1"/>
          </p:cNvSpPr>
          <p:nvPr/>
        </p:nvSpPr>
        <p:spPr>
          <a:xfrm>
            <a:off x="7934325" y="1164336"/>
            <a:ext cx="1571625" cy="781050"/>
          </a:xfrm>
          <a:prstGeom prst="roundRect">
            <a:avLst>
              <a:gd name="adj" fmla="val 15854"/>
            </a:avLst>
          </a:prstGeom>
          <a:solidFill>
            <a:srgbClr val="FFFFFF"/>
          </a:solidFill>
          <a:ln w="15240">
            <a:solidFill>
              <a:schemeClr val="tx1"/>
            </a:solidFill>
            <a:prstDash val="solid"/>
          </a:ln>
        </p:spPr>
      </p:sp>
      <p:sp>
        <p:nvSpPr>
          <p:cNvPr id="64" name="lane-0-node-3-title">
            <a:extLst>
              <a:ext uri="{FF2B5EF4-FFF2-40B4-BE49-F238E27FC236}">
                <a16:creationId xmlns:a16="http://schemas.microsoft.com/office/drawing/2014/main" id="{4FB1D4BA-AEF0-4DFD-ABBC-7FE328806041}"/>
              </a:ext>
            </a:extLst>
          </p:cNvPr>
          <p:cNvSpPr>
            <a:spLocks noGrp="1"/>
          </p:cNvSpPr>
          <p:nvPr/>
        </p:nvSpPr>
        <p:spPr>
          <a:xfrm>
            <a:off x="7981950" y="1202436"/>
            <a:ext cx="147637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27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H-Ring</a:t>
            </a:r>
          </a:p>
        </p:txBody>
      </p:sp>
      <p:sp>
        <p:nvSpPr>
          <p:cNvPr id="65" name="lane-0-node-4-frame">
            <a:extLst>
              <a:ext uri="{FF2B5EF4-FFF2-40B4-BE49-F238E27FC236}">
                <a16:creationId xmlns:a16="http://schemas.microsoft.com/office/drawing/2014/main" id="{32A172E5-CDD5-4FEC-BA1F-81E947626119}"/>
              </a:ext>
            </a:extLst>
          </p:cNvPr>
          <p:cNvSpPr>
            <a:spLocks noGrp="1"/>
          </p:cNvSpPr>
          <p:nvPr/>
        </p:nvSpPr>
        <p:spPr>
          <a:xfrm>
            <a:off x="9886950" y="1164336"/>
            <a:ext cx="1571625" cy="781050"/>
          </a:xfrm>
          <a:prstGeom prst="roundRect">
            <a:avLst>
              <a:gd name="adj" fmla="val 15854"/>
            </a:avLst>
          </a:prstGeom>
          <a:solidFill>
            <a:srgbClr val="FFFFFF"/>
          </a:solidFill>
          <a:ln w="15240">
            <a:solidFill>
              <a:schemeClr val="tx1"/>
            </a:solidFill>
            <a:prstDash val="solid"/>
          </a:ln>
        </p:spPr>
      </p:sp>
      <p:sp>
        <p:nvSpPr>
          <p:cNvPr id="66" name="lane-0-node-4-title">
            <a:extLst>
              <a:ext uri="{FF2B5EF4-FFF2-40B4-BE49-F238E27FC236}">
                <a16:creationId xmlns:a16="http://schemas.microsoft.com/office/drawing/2014/main" id="{8E30FE30-3D79-4867-ABFF-A5BE46C2A196}"/>
              </a:ext>
            </a:extLst>
          </p:cNvPr>
          <p:cNvSpPr>
            <a:spLocks noGrp="1"/>
          </p:cNvSpPr>
          <p:nvPr/>
        </p:nvSpPr>
        <p:spPr>
          <a:xfrm>
            <a:off x="9934575" y="1202436"/>
            <a:ext cx="147637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27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HA / MemPort</a:t>
            </a:r>
          </a:p>
        </p:txBody>
      </p:sp>
      <p:cxnSp>
        <p:nvCxnSpPr>
          <p:cNvPr id="67" name="lane-0-arrow-0">
            <a:extLst>
              <a:ext uri="{FF2B5EF4-FFF2-40B4-BE49-F238E27FC236}">
                <a16:creationId xmlns:a16="http://schemas.microsoft.com/office/drawing/2014/main" id="{7CEF4E65-3C6A-4A64-BBB4-EB3702AD1125}"/>
              </a:ext>
            </a:extLst>
          </p:cNvPr>
          <p:cNvCxnSpPr>
            <a:stCxn id="57" idx="3"/>
            <a:endCxn id="59" idx="1"/>
          </p:cNvCxnSpPr>
          <p:nvPr/>
        </p:nvCxnSpPr>
        <p:spPr>
          <a:xfrm>
            <a:off x="3648075" y="1554861"/>
            <a:ext cx="381000" cy="0"/>
          </a:xfrm>
          <a:prstGeom prst="straightConnector1">
            <a:avLst/>
          </a:prstGeom>
          <a:ln w="24765" cap="rnd">
            <a:solidFill>
              <a:schemeClr val="tx1"/>
            </a:solidFill>
            <a:prstDash val="solid"/>
            <a:round/>
            <a:tailEnd type="arrow" w="sm" len="sm"/>
          </a:ln>
        </p:spPr>
      </p:cxnSp>
      <p:cxnSp>
        <p:nvCxnSpPr>
          <p:cNvPr id="68" name="lane-0-arrow-1">
            <a:extLst>
              <a:ext uri="{FF2B5EF4-FFF2-40B4-BE49-F238E27FC236}">
                <a16:creationId xmlns:a16="http://schemas.microsoft.com/office/drawing/2014/main" id="{2644DF86-D4EE-4F5A-ABB7-5F9EE3B42A16}"/>
              </a:ext>
            </a:extLst>
          </p:cNvPr>
          <p:cNvCxnSpPr>
            <a:stCxn id="59" idx="3"/>
            <a:endCxn id="61" idx="1"/>
          </p:cNvCxnSpPr>
          <p:nvPr/>
        </p:nvCxnSpPr>
        <p:spPr>
          <a:xfrm>
            <a:off x="5600700" y="1554861"/>
            <a:ext cx="381000" cy="0"/>
          </a:xfrm>
          <a:prstGeom prst="straightConnector1">
            <a:avLst/>
          </a:prstGeom>
          <a:ln w="24765" cap="rnd">
            <a:solidFill>
              <a:schemeClr val="tx1"/>
            </a:solidFill>
            <a:prstDash val="solid"/>
            <a:round/>
            <a:tailEnd type="arrow" w="sm" len="sm"/>
          </a:ln>
        </p:spPr>
      </p:cxnSp>
      <p:cxnSp>
        <p:nvCxnSpPr>
          <p:cNvPr id="69" name="lane-0-arrow-2">
            <a:extLst>
              <a:ext uri="{FF2B5EF4-FFF2-40B4-BE49-F238E27FC236}">
                <a16:creationId xmlns:a16="http://schemas.microsoft.com/office/drawing/2014/main" id="{5B2A73EA-5407-4CF2-BA6B-1540EE81ECB1}"/>
              </a:ext>
            </a:extLst>
          </p:cNvPr>
          <p:cNvCxnSpPr>
            <a:stCxn id="61" idx="3"/>
            <a:endCxn id="63" idx="1"/>
          </p:cNvCxnSpPr>
          <p:nvPr/>
        </p:nvCxnSpPr>
        <p:spPr>
          <a:xfrm>
            <a:off x="7553325" y="1554861"/>
            <a:ext cx="381000" cy="0"/>
          </a:xfrm>
          <a:prstGeom prst="straightConnector1">
            <a:avLst/>
          </a:prstGeom>
          <a:ln w="24765" cap="rnd">
            <a:solidFill>
              <a:schemeClr val="tx1"/>
            </a:solidFill>
            <a:prstDash val="solid"/>
            <a:round/>
            <a:tailEnd type="arrow" w="sm" len="sm"/>
          </a:ln>
        </p:spPr>
      </p:cxnSp>
      <p:cxnSp>
        <p:nvCxnSpPr>
          <p:cNvPr id="76" name="lane-0-arrow-3">
            <a:extLst>
              <a:ext uri="{FF2B5EF4-FFF2-40B4-BE49-F238E27FC236}">
                <a16:creationId xmlns:a16="http://schemas.microsoft.com/office/drawing/2014/main" id="{B685816D-BDE4-4A0D-AB6F-9E34B01A4713}"/>
              </a:ext>
            </a:extLst>
          </p:cNvPr>
          <p:cNvCxnSpPr>
            <a:stCxn id="63" idx="3"/>
            <a:endCxn id="65" idx="1"/>
          </p:cNvCxnSpPr>
          <p:nvPr/>
        </p:nvCxnSpPr>
        <p:spPr>
          <a:xfrm>
            <a:off x="9505950" y="1554861"/>
            <a:ext cx="381000" cy="0"/>
          </a:xfrm>
          <a:prstGeom prst="straightConnector1">
            <a:avLst/>
          </a:prstGeom>
          <a:ln w="24765" cap="rnd">
            <a:solidFill>
              <a:schemeClr val="tx1"/>
            </a:solidFill>
            <a:prstDash val="solid"/>
            <a:round/>
            <a:tailEnd type="arrow" w="sm" len="sm"/>
          </a:ln>
        </p:spPr>
      </p:cxnSp>
      <p:sp>
        <p:nvSpPr>
          <p:cNvPr id="77" name="lane-1-label-frame">
            <a:extLst>
              <a:ext uri="{FF2B5EF4-FFF2-40B4-BE49-F238E27FC236}">
                <a16:creationId xmlns:a16="http://schemas.microsoft.com/office/drawing/2014/main" id="{1C1D8153-7CEC-4963-9FD9-1BAD4D67509D}"/>
              </a:ext>
            </a:extLst>
          </p:cNvPr>
          <p:cNvSpPr>
            <a:spLocks noGrp="1"/>
          </p:cNvSpPr>
          <p:nvPr/>
        </p:nvSpPr>
        <p:spPr>
          <a:xfrm>
            <a:off x="457200" y="2735961"/>
            <a:ext cx="1285875" cy="876300"/>
          </a:xfrm>
          <a:prstGeom prst="roundRect">
            <a:avLst>
              <a:gd name="adj" fmla="val 14130"/>
            </a:avLst>
          </a:prstGeom>
          <a:solidFill>
            <a:schemeClr val="bg1">
              <a:lumMod val="85000"/>
            </a:schemeClr>
          </a:solidFill>
          <a:ln w="15240">
            <a:solidFill>
              <a:srgbClr val="C9D3DE"/>
            </a:solidFill>
            <a:prstDash val="solid"/>
          </a:ln>
        </p:spPr>
      </p:sp>
      <p:sp>
        <p:nvSpPr>
          <p:cNvPr id="78" name="lane-1-label-title">
            <a:extLst>
              <a:ext uri="{FF2B5EF4-FFF2-40B4-BE49-F238E27FC236}">
                <a16:creationId xmlns:a16="http://schemas.microsoft.com/office/drawing/2014/main" id="{076A66AC-782F-477D-933C-A8BC12C465BF}"/>
              </a:ext>
            </a:extLst>
          </p:cNvPr>
          <p:cNvSpPr>
            <a:spLocks noGrp="1"/>
          </p:cNvSpPr>
          <p:nvPr/>
        </p:nvSpPr>
        <p:spPr>
          <a:xfrm>
            <a:off x="504825" y="2774061"/>
            <a:ext cx="119062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350" b="1">
                <a:solidFill>
                  <a:srgbClr val="2E74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读数据</a:t>
            </a:r>
            <a:r>
              <a:rPr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 DAT</a:t>
            </a:r>
          </a:p>
        </p:txBody>
      </p:sp>
      <p:sp>
        <p:nvSpPr>
          <p:cNvPr id="79" name="lane-1-node-0-frame">
            <a:extLst>
              <a:ext uri="{FF2B5EF4-FFF2-40B4-BE49-F238E27FC236}">
                <a16:creationId xmlns:a16="http://schemas.microsoft.com/office/drawing/2014/main" id="{F52934D1-0C2C-4E18-A729-EBADDB8B57FF}"/>
              </a:ext>
            </a:extLst>
          </p:cNvPr>
          <p:cNvSpPr>
            <a:spLocks noGrp="1"/>
          </p:cNvSpPr>
          <p:nvPr/>
        </p:nvSpPr>
        <p:spPr>
          <a:xfrm>
            <a:off x="2076450" y="2783586"/>
            <a:ext cx="1571625" cy="781050"/>
          </a:xfrm>
          <a:prstGeom prst="roundRect">
            <a:avLst>
              <a:gd name="adj" fmla="val 15854"/>
            </a:avLst>
          </a:prstGeom>
          <a:solidFill>
            <a:srgbClr val="FFFFFF"/>
          </a:solidFill>
          <a:ln w="15240">
            <a:solidFill>
              <a:schemeClr val="tx1"/>
            </a:solidFill>
            <a:prstDash val="solid"/>
          </a:ln>
        </p:spPr>
      </p:sp>
      <p:sp>
        <p:nvSpPr>
          <p:cNvPr id="80" name="lane-1-node-0-title">
            <a:extLst>
              <a:ext uri="{FF2B5EF4-FFF2-40B4-BE49-F238E27FC236}">
                <a16:creationId xmlns:a16="http://schemas.microsoft.com/office/drawing/2014/main" id="{C108BD02-3157-472E-8A3E-40DD29ECBEB5}"/>
              </a:ext>
            </a:extLst>
          </p:cNvPr>
          <p:cNvSpPr>
            <a:spLocks noGrp="1"/>
          </p:cNvSpPr>
          <p:nvPr/>
        </p:nvSpPr>
        <p:spPr>
          <a:xfrm>
            <a:off x="2124075" y="2821686"/>
            <a:ext cx="147637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27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L2 Buffer</a:t>
            </a:r>
          </a:p>
        </p:txBody>
      </p:sp>
      <p:sp>
        <p:nvSpPr>
          <p:cNvPr id="81" name="lane-1-node-1-frame">
            <a:extLst>
              <a:ext uri="{FF2B5EF4-FFF2-40B4-BE49-F238E27FC236}">
                <a16:creationId xmlns:a16="http://schemas.microsoft.com/office/drawing/2014/main" id="{909DAC1C-0104-489D-AFA4-17C6CB1B27AC}"/>
              </a:ext>
            </a:extLst>
          </p:cNvPr>
          <p:cNvSpPr>
            <a:spLocks noGrp="1"/>
          </p:cNvSpPr>
          <p:nvPr/>
        </p:nvSpPr>
        <p:spPr>
          <a:xfrm>
            <a:off x="4029075" y="2783586"/>
            <a:ext cx="1571625" cy="781050"/>
          </a:xfrm>
          <a:prstGeom prst="roundRect">
            <a:avLst>
              <a:gd name="adj" fmla="val 15854"/>
            </a:avLst>
          </a:prstGeom>
          <a:solidFill>
            <a:srgbClr val="FFFFFF"/>
          </a:solidFill>
          <a:ln w="15240">
            <a:solidFill>
              <a:schemeClr val="tx1"/>
            </a:solidFill>
            <a:prstDash val="solid"/>
          </a:ln>
        </p:spPr>
      </p:sp>
      <p:sp>
        <p:nvSpPr>
          <p:cNvPr id="83" name="lane-1-node-1-title">
            <a:extLst>
              <a:ext uri="{FF2B5EF4-FFF2-40B4-BE49-F238E27FC236}">
                <a16:creationId xmlns:a16="http://schemas.microsoft.com/office/drawing/2014/main" id="{4FF9F542-7C9F-4557-87E8-E27BF752AF79}"/>
              </a:ext>
            </a:extLst>
          </p:cNvPr>
          <p:cNvSpPr>
            <a:spLocks noGrp="1"/>
          </p:cNvSpPr>
          <p:nvPr/>
        </p:nvSpPr>
        <p:spPr>
          <a:xfrm>
            <a:off x="4076700" y="2821686"/>
            <a:ext cx="147637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27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H-Ring</a:t>
            </a:r>
          </a:p>
        </p:txBody>
      </p:sp>
      <p:sp>
        <p:nvSpPr>
          <p:cNvPr id="84" name="lane-1-node-2-frame">
            <a:extLst>
              <a:ext uri="{FF2B5EF4-FFF2-40B4-BE49-F238E27FC236}">
                <a16:creationId xmlns:a16="http://schemas.microsoft.com/office/drawing/2014/main" id="{5541A9DD-21EE-4A77-9024-ECCDADD4DFFE}"/>
              </a:ext>
            </a:extLst>
          </p:cNvPr>
          <p:cNvSpPr>
            <a:spLocks noGrp="1"/>
          </p:cNvSpPr>
          <p:nvPr/>
        </p:nvSpPr>
        <p:spPr>
          <a:xfrm>
            <a:off x="5981700" y="2783586"/>
            <a:ext cx="1571625" cy="781050"/>
          </a:xfrm>
          <a:prstGeom prst="roundRect">
            <a:avLst>
              <a:gd name="adj" fmla="val 15854"/>
            </a:avLst>
          </a:prstGeom>
          <a:solidFill>
            <a:srgbClr val="FFFFFF"/>
          </a:solidFill>
          <a:ln w="15240">
            <a:solidFill>
              <a:schemeClr val="tx1"/>
            </a:solidFill>
            <a:prstDash val="solid"/>
          </a:ln>
        </p:spPr>
      </p:sp>
      <p:sp>
        <p:nvSpPr>
          <p:cNvPr id="85" name="lane-1-node-2-title">
            <a:extLst>
              <a:ext uri="{FF2B5EF4-FFF2-40B4-BE49-F238E27FC236}">
                <a16:creationId xmlns:a16="http://schemas.microsoft.com/office/drawing/2014/main" id="{7A5CA2B7-B5CA-4B37-8953-F8C65C2E1D5A}"/>
              </a:ext>
            </a:extLst>
          </p:cNvPr>
          <p:cNvSpPr>
            <a:spLocks noGrp="1"/>
          </p:cNvSpPr>
          <p:nvPr/>
        </p:nvSpPr>
        <p:spPr>
          <a:xfrm>
            <a:off x="6029325" y="2821686"/>
            <a:ext cx="147637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27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RBRG</a:t>
            </a:r>
          </a:p>
          <a:p>
            <a:pPr algn="ctr">
              <a:buNone/>
              <a:defRPr sz="127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H_TO_V_DAT</a:t>
            </a:r>
          </a:p>
        </p:txBody>
      </p:sp>
      <p:sp>
        <p:nvSpPr>
          <p:cNvPr id="86" name="lane-1-node-3-frame">
            <a:extLst>
              <a:ext uri="{FF2B5EF4-FFF2-40B4-BE49-F238E27FC236}">
                <a16:creationId xmlns:a16="http://schemas.microsoft.com/office/drawing/2014/main" id="{26F727E4-7331-47C0-8B5E-9B88FC03A143}"/>
              </a:ext>
            </a:extLst>
          </p:cNvPr>
          <p:cNvSpPr>
            <a:spLocks noGrp="1"/>
          </p:cNvSpPr>
          <p:nvPr/>
        </p:nvSpPr>
        <p:spPr>
          <a:xfrm>
            <a:off x="7934325" y="2783586"/>
            <a:ext cx="1571625" cy="781050"/>
          </a:xfrm>
          <a:prstGeom prst="roundRect">
            <a:avLst>
              <a:gd name="adj" fmla="val 15854"/>
            </a:avLst>
          </a:prstGeom>
          <a:solidFill>
            <a:srgbClr val="FFFFFF"/>
          </a:solidFill>
          <a:ln w="15240">
            <a:solidFill>
              <a:schemeClr val="tx1"/>
            </a:solidFill>
            <a:prstDash val="solid"/>
          </a:ln>
        </p:spPr>
      </p:sp>
      <p:sp>
        <p:nvSpPr>
          <p:cNvPr id="87" name="lane-1-node-3-title">
            <a:extLst>
              <a:ext uri="{FF2B5EF4-FFF2-40B4-BE49-F238E27FC236}">
                <a16:creationId xmlns:a16="http://schemas.microsoft.com/office/drawing/2014/main" id="{33DFA848-9533-485E-B10D-86DB255BE2CB}"/>
              </a:ext>
            </a:extLst>
          </p:cNvPr>
          <p:cNvSpPr>
            <a:spLocks noGrp="1"/>
          </p:cNvSpPr>
          <p:nvPr/>
        </p:nvSpPr>
        <p:spPr>
          <a:xfrm>
            <a:off x="7981950" y="2821686"/>
            <a:ext cx="147637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27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V-Ring</a:t>
            </a:r>
          </a:p>
        </p:txBody>
      </p:sp>
      <p:sp>
        <p:nvSpPr>
          <p:cNvPr id="88" name="lane-1-node-4-frame">
            <a:extLst>
              <a:ext uri="{FF2B5EF4-FFF2-40B4-BE49-F238E27FC236}">
                <a16:creationId xmlns:a16="http://schemas.microsoft.com/office/drawing/2014/main" id="{C5CF7798-C648-4FCE-A71B-9603087BFA40}"/>
              </a:ext>
            </a:extLst>
          </p:cNvPr>
          <p:cNvSpPr>
            <a:spLocks noGrp="1"/>
          </p:cNvSpPr>
          <p:nvPr/>
        </p:nvSpPr>
        <p:spPr>
          <a:xfrm>
            <a:off x="9886950" y="2783586"/>
            <a:ext cx="1571625" cy="781050"/>
          </a:xfrm>
          <a:prstGeom prst="roundRect">
            <a:avLst>
              <a:gd name="adj" fmla="val 15854"/>
            </a:avLst>
          </a:prstGeom>
          <a:solidFill>
            <a:srgbClr val="FFFFFF"/>
          </a:solidFill>
          <a:ln w="15240">
            <a:solidFill>
              <a:schemeClr val="tx1"/>
            </a:solidFill>
            <a:prstDash val="solid"/>
          </a:ln>
        </p:spPr>
      </p:sp>
      <p:sp>
        <p:nvSpPr>
          <p:cNvPr id="89" name="lane-1-node-4-title">
            <a:extLst>
              <a:ext uri="{FF2B5EF4-FFF2-40B4-BE49-F238E27FC236}">
                <a16:creationId xmlns:a16="http://schemas.microsoft.com/office/drawing/2014/main" id="{523AA75F-F518-4FE6-95C6-A39BC9825DAF}"/>
              </a:ext>
            </a:extLst>
          </p:cNvPr>
          <p:cNvSpPr>
            <a:spLocks noGrp="1"/>
          </p:cNvSpPr>
          <p:nvPr/>
        </p:nvSpPr>
        <p:spPr>
          <a:xfrm>
            <a:off x="9934575" y="2821686"/>
            <a:ext cx="147637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27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Master</a:t>
            </a:r>
          </a:p>
        </p:txBody>
      </p:sp>
      <p:cxnSp>
        <p:nvCxnSpPr>
          <p:cNvPr id="90" name="lane-1-arrow-0">
            <a:extLst>
              <a:ext uri="{FF2B5EF4-FFF2-40B4-BE49-F238E27FC236}">
                <a16:creationId xmlns:a16="http://schemas.microsoft.com/office/drawing/2014/main" id="{D153D3B1-AB14-4A04-809F-A529546801F4}"/>
              </a:ext>
            </a:extLst>
          </p:cNvPr>
          <p:cNvCxnSpPr>
            <a:stCxn id="79" idx="3"/>
            <a:endCxn id="81" idx="1"/>
          </p:cNvCxnSpPr>
          <p:nvPr/>
        </p:nvCxnSpPr>
        <p:spPr>
          <a:xfrm>
            <a:off x="3648075" y="3174111"/>
            <a:ext cx="381000" cy="0"/>
          </a:xfrm>
          <a:prstGeom prst="straightConnector1">
            <a:avLst/>
          </a:prstGeom>
          <a:ln w="24765" cap="rnd">
            <a:solidFill>
              <a:schemeClr val="tx1"/>
            </a:solidFill>
            <a:prstDash val="solid"/>
            <a:round/>
            <a:tailEnd type="arrow" w="sm" len="sm"/>
          </a:ln>
        </p:spPr>
      </p:cxnSp>
      <p:cxnSp>
        <p:nvCxnSpPr>
          <p:cNvPr id="91" name="lane-1-arrow-1">
            <a:extLst>
              <a:ext uri="{FF2B5EF4-FFF2-40B4-BE49-F238E27FC236}">
                <a16:creationId xmlns:a16="http://schemas.microsoft.com/office/drawing/2014/main" id="{D9D46FBF-CECB-44A8-880E-EB390BA2AC6B}"/>
              </a:ext>
            </a:extLst>
          </p:cNvPr>
          <p:cNvCxnSpPr>
            <a:stCxn id="81" idx="3"/>
            <a:endCxn id="84" idx="1"/>
          </p:cNvCxnSpPr>
          <p:nvPr/>
        </p:nvCxnSpPr>
        <p:spPr>
          <a:xfrm>
            <a:off x="5600700" y="3174111"/>
            <a:ext cx="381000" cy="0"/>
          </a:xfrm>
          <a:prstGeom prst="straightConnector1">
            <a:avLst/>
          </a:prstGeom>
          <a:ln w="24765" cap="rnd">
            <a:solidFill>
              <a:schemeClr val="tx1"/>
            </a:solidFill>
            <a:prstDash val="solid"/>
            <a:round/>
            <a:tailEnd type="arrow" w="sm" len="sm"/>
          </a:ln>
        </p:spPr>
      </p:cxnSp>
      <p:cxnSp>
        <p:nvCxnSpPr>
          <p:cNvPr id="92" name="lane-1-arrow-2">
            <a:extLst>
              <a:ext uri="{FF2B5EF4-FFF2-40B4-BE49-F238E27FC236}">
                <a16:creationId xmlns:a16="http://schemas.microsoft.com/office/drawing/2014/main" id="{CEA9888B-792C-4243-8A9B-BC27546B3AC9}"/>
              </a:ext>
            </a:extLst>
          </p:cNvPr>
          <p:cNvCxnSpPr>
            <a:stCxn id="84" idx="3"/>
            <a:endCxn id="86" idx="1"/>
          </p:cNvCxnSpPr>
          <p:nvPr/>
        </p:nvCxnSpPr>
        <p:spPr>
          <a:xfrm>
            <a:off x="7553325" y="3174111"/>
            <a:ext cx="381000" cy="0"/>
          </a:xfrm>
          <a:prstGeom prst="straightConnector1">
            <a:avLst/>
          </a:prstGeom>
          <a:ln w="24765" cap="rnd">
            <a:solidFill>
              <a:schemeClr val="tx1"/>
            </a:solidFill>
            <a:prstDash val="solid"/>
            <a:round/>
            <a:tailEnd type="arrow" w="sm" len="sm"/>
          </a:ln>
        </p:spPr>
      </p:cxnSp>
      <p:cxnSp>
        <p:nvCxnSpPr>
          <p:cNvPr id="93" name="lane-1-arrow-3">
            <a:extLst>
              <a:ext uri="{FF2B5EF4-FFF2-40B4-BE49-F238E27FC236}">
                <a16:creationId xmlns:a16="http://schemas.microsoft.com/office/drawing/2014/main" id="{87AB54AC-3E58-4C0E-AD22-9C2F25FA181C}"/>
              </a:ext>
            </a:extLst>
          </p:cNvPr>
          <p:cNvCxnSpPr>
            <a:stCxn id="86" idx="3"/>
            <a:endCxn id="88" idx="1"/>
          </p:cNvCxnSpPr>
          <p:nvPr/>
        </p:nvCxnSpPr>
        <p:spPr>
          <a:xfrm>
            <a:off x="9505950" y="3174111"/>
            <a:ext cx="381000" cy="0"/>
          </a:xfrm>
          <a:prstGeom prst="straightConnector1">
            <a:avLst/>
          </a:prstGeom>
          <a:ln w="24765" cap="rnd">
            <a:solidFill>
              <a:schemeClr val="tx1"/>
            </a:solidFill>
            <a:prstDash val="solid"/>
            <a:round/>
            <a:tailEnd type="arrow" w="sm" len="sm"/>
          </a:ln>
        </p:spPr>
      </p:cxnSp>
      <p:sp>
        <p:nvSpPr>
          <p:cNvPr id="94" name="lane-2-label-frame">
            <a:extLst>
              <a:ext uri="{FF2B5EF4-FFF2-40B4-BE49-F238E27FC236}">
                <a16:creationId xmlns:a16="http://schemas.microsoft.com/office/drawing/2014/main" id="{814EB057-7D4A-4EEB-A19A-269A58B5FFFC}"/>
              </a:ext>
            </a:extLst>
          </p:cNvPr>
          <p:cNvSpPr>
            <a:spLocks noGrp="1"/>
          </p:cNvSpPr>
          <p:nvPr/>
        </p:nvSpPr>
        <p:spPr>
          <a:xfrm>
            <a:off x="457200" y="4355211"/>
            <a:ext cx="1285875" cy="876300"/>
          </a:xfrm>
          <a:prstGeom prst="roundRect">
            <a:avLst>
              <a:gd name="adj" fmla="val 14130"/>
            </a:avLst>
          </a:prstGeom>
          <a:solidFill>
            <a:schemeClr val="bg1">
              <a:lumMod val="85000"/>
            </a:schemeClr>
          </a:solidFill>
          <a:ln w="15240">
            <a:solidFill>
              <a:srgbClr val="C9D3DE"/>
            </a:solidFill>
            <a:prstDash val="solid"/>
          </a:ln>
        </p:spPr>
      </p:sp>
      <p:sp>
        <p:nvSpPr>
          <p:cNvPr id="95" name="lane-2-label-title">
            <a:extLst>
              <a:ext uri="{FF2B5EF4-FFF2-40B4-BE49-F238E27FC236}">
                <a16:creationId xmlns:a16="http://schemas.microsoft.com/office/drawing/2014/main" id="{6444FD4F-A183-4306-B7BA-8CF619D3D4B5}"/>
              </a:ext>
            </a:extLst>
          </p:cNvPr>
          <p:cNvSpPr>
            <a:spLocks noGrp="1"/>
          </p:cNvSpPr>
          <p:nvPr/>
        </p:nvSpPr>
        <p:spPr>
          <a:xfrm>
            <a:off x="504825" y="4393311"/>
            <a:ext cx="1190625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350" b="1">
                <a:solidFill>
                  <a:srgbClr val="ED7D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写事务</a:t>
            </a:r>
            <a:endParaRPr sz="1400" b="1" dirty="0">
              <a:solidFill>
                <a:schemeClr val="tx1">
                  <a:lumMod val="95000"/>
                  <a:lumOff val="5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6" name="lane-2-node-0-frame">
            <a:extLst>
              <a:ext uri="{FF2B5EF4-FFF2-40B4-BE49-F238E27FC236}">
                <a16:creationId xmlns:a16="http://schemas.microsoft.com/office/drawing/2014/main" id="{AF682BD6-103E-4D47-B699-0075812F188B}"/>
              </a:ext>
            </a:extLst>
          </p:cNvPr>
          <p:cNvSpPr>
            <a:spLocks noGrp="1"/>
          </p:cNvSpPr>
          <p:nvPr/>
        </p:nvSpPr>
        <p:spPr>
          <a:xfrm>
            <a:off x="2076450" y="4402836"/>
            <a:ext cx="1571625" cy="781050"/>
          </a:xfrm>
          <a:prstGeom prst="roundRect">
            <a:avLst>
              <a:gd name="adj" fmla="val 15854"/>
            </a:avLst>
          </a:prstGeom>
          <a:solidFill>
            <a:srgbClr val="FFFFFF"/>
          </a:solidFill>
          <a:ln w="15240">
            <a:solidFill>
              <a:schemeClr val="tx1"/>
            </a:solidFill>
            <a:prstDash val="solid"/>
          </a:ln>
        </p:spPr>
      </p:sp>
      <p:sp>
        <p:nvSpPr>
          <p:cNvPr id="97" name="lane-2-node-0-title">
            <a:extLst>
              <a:ext uri="{FF2B5EF4-FFF2-40B4-BE49-F238E27FC236}">
                <a16:creationId xmlns:a16="http://schemas.microsoft.com/office/drawing/2014/main" id="{1CA923D5-7D06-4CA5-9CEE-D7FBFCF8FDAE}"/>
              </a:ext>
            </a:extLst>
          </p:cNvPr>
          <p:cNvSpPr>
            <a:spLocks noGrp="1"/>
          </p:cNvSpPr>
          <p:nvPr/>
        </p:nvSpPr>
        <p:spPr>
          <a:xfrm>
            <a:off x="2124075" y="4440936"/>
            <a:ext cx="147637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27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Master</a:t>
            </a:r>
          </a:p>
          <a:p>
            <a:pPr algn="ctr">
              <a:buNone/>
              <a:defRPr sz="127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WR / WR_DAT</a:t>
            </a:r>
          </a:p>
        </p:txBody>
      </p:sp>
      <p:sp>
        <p:nvSpPr>
          <p:cNvPr id="98" name="lane-2-node-1-frame">
            <a:extLst>
              <a:ext uri="{FF2B5EF4-FFF2-40B4-BE49-F238E27FC236}">
                <a16:creationId xmlns:a16="http://schemas.microsoft.com/office/drawing/2014/main" id="{604BE3E9-E3A9-4730-8443-10EFD24FECB6}"/>
              </a:ext>
            </a:extLst>
          </p:cNvPr>
          <p:cNvSpPr>
            <a:spLocks noGrp="1"/>
          </p:cNvSpPr>
          <p:nvPr/>
        </p:nvSpPr>
        <p:spPr>
          <a:xfrm>
            <a:off x="4029075" y="4402836"/>
            <a:ext cx="1571625" cy="781050"/>
          </a:xfrm>
          <a:prstGeom prst="roundRect">
            <a:avLst>
              <a:gd name="adj" fmla="val 15854"/>
            </a:avLst>
          </a:prstGeom>
          <a:solidFill>
            <a:srgbClr val="FFFFFF"/>
          </a:solidFill>
          <a:ln w="15240">
            <a:solidFill>
              <a:schemeClr val="tx1"/>
            </a:solidFill>
            <a:prstDash val="solid"/>
          </a:ln>
        </p:spPr>
      </p:sp>
      <p:sp>
        <p:nvSpPr>
          <p:cNvPr id="99" name="lane-2-node-1-title">
            <a:extLst>
              <a:ext uri="{FF2B5EF4-FFF2-40B4-BE49-F238E27FC236}">
                <a16:creationId xmlns:a16="http://schemas.microsoft.com/office/drawing/2014/main" id="{54FF816B-1BBF-4DE8-A2AB-D62432E682B9}"/>
              </a:ext>
            </a:extLst>
          </p:cNvPr>
          <p:cNvSpPr>
            <a:spLocks noGrp="1"/>
          </p:cNvSpPr>
          <p:nvPr/>
        </p:nvSpPr>
        <p:spPr>
          <a:xfrm>
            <a:off x="4076700" y="4440936"/>
            <a:ext cx="147637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27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V-Ring</a:t>
            </a:r>
          </a:p>
        </p:txBody>
      </p:sp>
      <p:sp>
        <p:nvSpPr>
          <p:cNvPr id="100" name="lane-2-node-2-frame">
            <a:extLst>
              <a:ext uri="{FF2B5EF4-FFF2-40B4-BE49-F238E27FC236}">
                <a16:creationId xmlns:a16="http://schemas.microsoft.com/office/drawing/2014/main" id="{325AF914-DE22-4C9B-87E4-0372791FDC0B}"/>
              </a:ext>
            </a:extLst>
          </p:cNvPr>
          <p:cNvSpPr>
            <a:spLocks noGrp="1"/>
          </p:cNvSpPr>
          <p:nvPr/>
        </p:nvSpPr>
        <p:spPr>
          <a:xfrm>
            <a:off x="5981700" y="4402836"/>
            <a:ext cx="1571625" cy="781050"/>
          </a:xfrm>
          <a:prstGeom prst="roundRect">
            <a:avLst>
              <a:gd name="adj" fmla="val 15854"/>
            </a:avLst>
          </a:prstGeom>
          <a:solidFill>
            <a:srgbClr val="FFFFFF"/>
          </a:solidFill>
          <a:ln w="15240">
            <a:solidFill>
              <a:schemeClr val="tx1"/>
            </a:solidFill>
            <a:prstDash val="solid"/>
          </a:ln>
        </p:spPr>
      </p:sp>
      <p:sp>
        <p:nvSpPr>
          <p:cNvPr id="101" name="lane-2-node-2-title">
            <a:extLst>
              <a:ext uri="{FF2B5EF4-FFF2-40B4-BE49-F238E27FC236}">
                <a16:creationId xmlns:a16="http://schemas.microsoft.com/office/drawing/2014/main" id="{6351EFDB-3BAE-4E3B-83AF-924C524784BE}"/>
              </a:ext>
            </a:extLst>
          </p:cNvPr>
          <p:cNvSpPr>
            <a:spLocks noGrp="1"/>
          </p:cNvSpPr>
          <p:nvPr/>
        </p:nvSpPr>
        <p:spPr>
          <a:xfrm>
            <a:off x="6029325" y="4440936"/>
            <a:ext cx="147637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27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RBRG</a:t>
            </a:r>
          </a:p>
          <a:p>
            <a:pPr algn="ctr">
              <a:buNone/>
              <a:defRPr sz="127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dirty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REQ + DAT</a:t>
            </a:r>
          </a:p>
        </p:txBody>
      </p:sp>
      <p:sp>
        <p:nvSpPr>
          <p:cNvPr id="102" name="lane-2-node-3-frame">
            <a:extLst>
              <a:ext uri="{FF2B5EF4-FFF2-40B4-BE49-F238E27FC236}">
                <a16:creationId xmlns:a16="http://schemas.microsoft.com/office/drawing/2014/main" id="{CE7A0A56-AD9D-4269-8D05-1F01D97CFDB9}"/>
              </a:ext>
            </a:extLst>
          </p:cNvPr>
          <p:cNvSpPr>
            <a:spLocks noGrp="1"/>
          </p:cNvSpPr>
          <p:nvPr/>
        </p:nvSpPr>
        <p:spPr>
          <a:xfrm>
            <a:off x="7934325" y="4402836"/>
            <a:ext cx="1571625" cy="781050"/>
          </a:xfrm>
          <a:prstGeom prst="roundRect">
            <a:avLst>
              <a:gd name="adj" fmla="val 15854"/>
            </a:avLst>
          </a:prstGeom>
          <a:solidFill>
            <a:srgbClr val="FFFFFF"/>
          </a:solidFill>
          <a:ln w="15240">
            <a:solidFill>
              <a:schemeClr val="tx1"/>
            </a:solidFill>
            <a:prstDash val="solid"/>
          </a:ln>
        </p:spPr>
      </p:sp>
      <p:sp>
        <p:nvSpPr>
          <p:cNvPr id="103" name="lane-2-node-3-title">
            <a:extLst>
              <a:ext uri="{FF2B5EF4-FFF2-40B4-BE49-F238E27FC236}">
                <a16:creationId xmlns:a16="http://schemas.microsoft.com/office/drawing/2014/main" id="{918D63D4-6BCC-4090-93B5-11A3F78FDCC7}"/>
              </a:ext>
            </a:extLst>
          </p:cNvPr>
          <p:cNvSpPr>
            <a:spLocks noGrp="1"/>
          </p:cNvSpPr>
          <p:nvPr/>
        </p:nvSpPr>
        <p:spPr>
          <a:xfrm>
            <a:off x="7981950" y="4440936"/>
            <a:ext cx="147637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27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H-Ring</a:t>
            </a:r>
          </a:p>
        </p:txBody>
      </p:sp>
      <p:sp>
        <p:nvSpPr>
          <p:cNvPr id="104" name="lane-2-node-4-frame">
            <a:extLst>
              <a:ext uri="{FF2B5EF4-FFF2-40B4-BE49-F238E27FC236}">
                <a16:creationId xmlns:a16="http://schemas.microsoft.com/office/drawing/2014/main" id="{C55D34AF-A894-45E7-A089-87248DA791BF}"/>
              </a:ext>
            </a:extLst>
          </p:cNvPr>
          <p:cNvSpPr>
            <a:spLocks noGrp="1"/>
          </p:cNvSpPr>
          <p:nvPr/>
        </p:nvSpPr>
        <p:spPr>
          <a:xfrm>
            <a:off x="9886950" y="4402836"/>
            <a:ext cx="1571625" cy="781050"/>
          </a:xfrm>
          <a:prstGeom prst="roundRect">
            <a:avLst>
              <a:gd name="adj" fmla="val 15854"/>
            </a:avLst>
          </a:prstGeom>
          <a:solidFill>
            <a:srgbClr val="FFFFFF"/>
          </a:solidFill>
          <a:ln w="15240">
            <a:solidFill>
              <a:schemeClr val="tx1"/>
            </a:solidFill>
            <a:prstDash val="solid"/>
          </a:ln>
        </p:spPr>
      </p:sp>
      <p:sp>
        <p:nvSpPr>
          <p:cNvPr id="105" name="lane-2-node-4-title">
            <a:extLst>
              <a:ext uri="{FF2B5EF4-FFF2-40B4-BE49-F238E27FC236}">
                <a16:creationId xmlns:a16="http://schemas.microsoft.com/office/drawing/2014/main" id="{DF1935CB-EDDB-4994-8886-B247F6E70E37}"/>
              </a:ext>
            </a:extLst>
          </p:cNvPr>
          <p:cNvSpPr>
            <a:spLocks noGrp="1"/>
          </p:cNvSpPr>
          <p:nvPr/>
        </p:nvSpPr>
        <p:spPr>
          <a:xfrm>
            <a:off x="9934575" y="4440936"/>
            <a:ext cx="1476375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27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MemPort / TmMem</a:t>
            </a:r>
          </a:p>
        </p:txBody>
      </p:sp>
      <p:cxnSp>
        <p:nvCxnSpPr>
          <p:cNvPr id="106" name="lane-2-arrow-0">
            <a:extLst>
              <a:ext uri="{FF2B5EF4-FFF2-40B4-BE49-F238E27FC236}">
                <a16:creationId xmlns:a16="http://schemas.microsoft.com/office/drawing/2014/main" id="{97670205-72D1-40F4-A1C5-C353C7796462}"/>
              </a:ext>
            </a:extLst>
          </p:cNvPr>
          <p:cNvCxnSpPr>
            <a:stCxn id="96" idx="3"/>
            <a:endCxn id="98" idx="1"/>
          </p:cNvCxnSpPr>
          <p:nvPr/>
        </p:nvCxnSpPr>
        <p:spPr>
          <a:xfrm>
            <a:off x="3648075" y="4793361"/>
            <a:ext cx="381000" cy="0"/>
          </a:xfrm>
          <a:prstGeom prst="straightConnector1">
            <a:avLst/>
          </a:prstGeom>
          <a:ln w="24765" cap="rnd">
            <a:solidFill>
              <a:schemeClr val="tx1"/>
            </a:solidFill>
            <a:prstDash val="solid"/>
            <a:round/>
            <a:tailEnd type="arrow" w="sm" len="sm"/>
          </a:ln>
        </p:spPr>
      </p:cxnSp>
      <p:cxnSp>
        <p:nvCxnSpPr>
          <p:cNvPr id="107" name="lane-2-arrow-1">
            <a:extLst>
              <a:ext uri="{FF2B5EF4-FFF2-40B4-BE49-F238E27FC236}">
                <a16:creationId xmlns:a16="http://schemas.microsoft.com/office/drawing/2014/main" id="{4E971765-D237-4CD4-82FB-7F3251BB69E5}"/>
              </a:ext>
            </a:extLst>
          </p:cNvPr>
          <p:cNvCxnSpPr>
            <a:stCxn id="98" idx="3"/>
            <a:endCxn id="100" idx="1"/>
          </p:cNvCxnSpPr>
          <p:nvPr/>
        </p:nvCxnSpPr>
        <p:spPr>
          <a:xfrm>
            <a:off x="5600700" y="4793361"/>
            <a:ext cx="381000" cy="0"/>
          </a:xfrm>
          <a:prstGeom prst="straightConnector1">
            <a:avLst/>
          </a:prstGeom>
          <a:ln w="24765" cap="rnd">
            <a:solidFill>
              <a:schemeClr val="tx1"/>
            </a:solidFill>
            <a:prstDash val="solid"/>
            <a:round/>
            <a:tailEnd type="arrow" w="sm" len="sm"/>
          </a:ln>
        </p:spPr>
      </p:cxnSp>
      <p:cxnSp>
        <p:nvCxnSpPr>
          <p:cNvPr id="108" name="lane-2-arrow-2">
            <a:extLst>
              <a:ext uri="{FF2B5EF4-FFF2-40B4-BE49-F238E27FC236}">
                <a16:creationId xmlns:a16="http://schemas.microsoft.com/office/drawing/2014/main" id="{36C89D9B-BC97-4DAF-846F-2A10A4114CFE}"/>
              </a:ext>
            </a:extLst>
          </p:cNvPr>
          <p:cNvCxnSpPr>
            <a:stCxn id="100" idx="3"/>
            <a:endCxn id="102" idx="1"/>
          </p:cNvCxnSpPr>
          <p:nvPr/>
        </p:nvCxnSpPr>
        <p:spPr>
          <a:xfrm>
            <a:off x="7553325" y="4793361"/>
            <a:ext cx="381000" cy="0"/>
          </a:xfrm>
          <a:prstGeom prst="straightConnector1">
            <a:avLst/>
          </a:prstGeom>
          <a:ln w="24765" cap="rnd">
            <a:solidFill>
              <a:schemeClr val="tx1"/>
            </a:solidFill>
            <a:prstDash val="solid"/>
            <a:round/>
            <a:tailEnd type="arrow" w="sm" len="sm"/>
          </a:ln>
        </p:spPr>
      </p:cxnSp>
      <p:cxnSp>
        <p:nvCxnSpPr>
          <p:cNvPr id="109" name="lane-2-arrow-3">
            <a:extLst>
              <a:ext uri="{FF2B5EF4-FFF2-40B4-BE49-F238E27FC236}">
                <a16:creationId xmlns:a16="http://schemas.microsoft.com/office/drawing/2014/main" id="{8B178BD9-77B5-4C39-92EA-4CC302E6F880}"/>
              </a:ext>
            </a:extLst>
          </p:cNvPr>
          <p:cNvCxnSpPr>
            <a:stCxn id="102" idx="3"/>
            <a:endCxn id="104" idx="1"/>
          </p:cNvCxnSpPr>
          <p:nvPr/>
        </p:nvCxnSpPr>
        <p:spPr>
          <a:xfrm>
            <a:off x="9505950" y="4793361"/>
            <a:ext cx="381000" cy="0"/>
          </a:xfrm>
          <a:prstGeom prst="straightConnector1">
            <a:avLst/>
          </a:prstGeom>
          <a:ln w="24765" cap="rnd">
            <a:solidFill>
              <a:schemeClr val="tx1"/>
            </a:solidFill>
            <a:prstDash val="solid"/>
            <a:round/>
            <a:tailEnd type="arrow" w="sm" len="sm"/>
          </a:ln>
        </p:spPr>
      </p:cxnSp>
    </p:spTree>
    <p:extLst>
      <p:ext uri="{BB962C8B-B14F-4D97-AF65-F5344CB8AC3E}">
        <p14:creationId xmlns:p14="http://schemas.microsoft.com/office/powerpoint/2010/main" val="1934961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矩形 684">
            <a:extLst>
              <a:ext uri="{FF2B5EF4-FFF2-40B4-BE49-F238E27FC236}">
                <a16:creationId xmlns:a16="http://schemas.microsoft.com/office/drawing/2014/main" id="{A88F28BB-5C43-4745-A34F-81A953258686}"/>
              </a:ext>
            </a:extLst>
          </p:cNvPr>
          <p:cNvSpPr/>
          <p:nvPr/>
        </p:nvSpPr>
        <p:spPr>
          <a:xfrm>
            <a:off x="249774" y="3955267"/>
            <a:ext cx="6112926" cy="2766131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00206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18">
              <a:defRPr/>
            </a:pPr>
            <a:endParaRPr lang="en-US" altLang="zh-CN" sz="900" b="1" kern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79" name="矩形 578">
            <a:extLst>
              <a:ext uri="{FF2B5EF4-FFF2-40B4-BE49-F238E27FC236}">
                <a16:creationId xmlns:a16="http://schemas.microsoft.com/office/drawing/2014/main" id="{E148359F-FF01-4CBD-9CE9-7264D0CA5934}"/>
              </a:ext>
            </a:extLst>
          </p:cNvPr>
          <p:cNvSpPr/>
          <p:nvPr/>
        </p:nvSpPr>
        <p:spPr>
          <a:xfrm>
            <a:off x="1145018" y="5357740"/>
            <a:ext cx="1847087" cy="579439"/>
          </a:xfrm>
          <a:prstGeom prst="rect">
            <a:avLst/>
          </a:prstGeom>
          <a:solidFill>
            <a:srgbClr val="EDF1FD"/>
          </a:solidFill>
          <a:ln w="1905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18">
              <a:defRPr/>
            </a:pPr>
            <a:endParaRPr lang="zh-CN" altLang="en-US" sz="900" b="1" kern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80" name="矩形 579">
            <a:extLst>
              <a:ext uri="{FF2B5EF4-FFF2-40B4-BE49-F238E27FC236}">
                <a16:creationId xmlns:a16="http://schemas.microsoft.com/office/drawing/2014/main" id="{360968C1-FF12-45D1-A606-35EB382D9E02}"/>
              </a:ext>
            </a:extLst>
          </p:cNvPr>
          <p:cNvSpPr/>
          <p:nvPr/>
        </p:nvSpPr>
        <p:spPr>
          <a:xfrm>
            <a:off x="1148624" y="4683971"/>
            <a:ext cx="1847087" cy="599162"/>
          </a:xfrm>
          <a:prstGeom prst="rect">
            <a:avLst/>
          </a:prstGeom>
          <a:solidFill>
            <a:srgbClr val="EDF1FD"/>
          </a:solidFill>
          <a:ln w="1905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18">
              <a:defRPr/>
            </a:pPr>
            <a:endParaRPr lang="zh-CN" altLang="en-US" sz="900" b="1" kern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81" name="slide5-station-blocked">
            <a:extLst>
              <a:ext uri="{FF2B5EF4-FFF2-40B4-BE49-F238E27FC236}">
                <a16:creationId xmlns:a16="http://schemas.microsoft.com/office/drawing/2014/main" id="{D0EE7D0C-680C-4AB1-85F1-52EBEE9C8D45}"/>
              </a:ext>
            </a:extLst>
          </p:cNvPr>
          <p:cNvSpPr>
            <a:spLocks noGrp="1"/>
          </p:cNvSpPr>
          <p:nvPr/>
        </p:nvSpPr>
        <p:spPr>
          <a:xfrm>
            <a:off x="505682" y="4079805"/>
            <a:ext cx="2614870" cy="2427814"/>
          </a:xfrm>
          <a:prstGeom prst="rect">
            <a:avLst/>
          </a:prstGeom>
          <a:noFill/>
          <a:ln w="9525">
            <a:solidFill>
              <a:srgbClr val="202020"/>
            </a:solidFill>
            <a:prstDash val="dash"/>
          </a:ln>
        </p:spPr>
      </p:sp>
      <p:sp>
        <p:nvSpPr>
          <p:cNvPr id="582" name="slide5-anchor-e-tag-deflect-start">
            <a:extLst>
              <a:ext uri="{FF2B5EF4-FFF2-40B4-BE49-F238E27FC236}">
                <a16:creationId xmlns:a16="http://schemas.microsoft.com/office/drawing/2014/main" id="{B46F10C5-7FAE-4060-B51E-7D14EBDBFBB2}"/>
              </a:ext>
            </a:extLst>
          </p:cNvPr>
          <p:cNvSpPr>
            <a:spLocks noGrp="1"/>
          </p:cNvSpPr>
          <p:nvPr/>
        </p:nvSpPr>
        <p:spPr>
          <a:xfrm>
            <a:off x="870000" y="5575229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583" name="slide5-anchor-e-tag-deflect-output">
            <a:extLst>
              <a:ext uri="{FF2B5EF4-FFF2-40B4-BE49-F238E27FC236}">
                <a16:creationId xmlns:a16="http://schemas.microsoft.com/office/drawing/2014/main" id="{968411E7-7D9F-4480-96A0-4E500B0D5D02}"/>
              </a:ext>
            </a:extLst>
          </p:cNvPr>
          <p:cNvSpPr>
            <a:spLocks noGrp="1"/>
          </p:cNvSpPr>
          <p:nvPr/>
        </p:nvSpPr>
        <p:spPr>
          <a:xfrm>
            <a:off x="3779710" y="5367850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584" name="slide5-anchor-e-tag-blocked-3">
            <a:extLst>
              <a:ext uri="{FF2B5EF4-FFF2-40B4-BE49-F238E27FC236}">
                <a16:creationId xmlns:a16="http://schemas.microsoft.com/office/drawing/2014/main" id="{95670100-E013-49F4-9167-DBFFDDBF8601}"/>
              </a:ext>
            </a:extLst>
          </p:cNvPr>
          <p:cNvSpPr>
            <a:spLocks noGrp="1"/>
          </p:cNvSpPr>
          <p:nvPr/>
        </p:nvSpPr>
        <p:spPr>
          <a:xfrm>
            <a:off x="5621709" y="6737661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585" name="slide5-anchor-e-tag-blocked-4">
            <a:extLst>
              <a:ext uri="{FF2B5EF4-FFF2-40B4-BE49-F238E27FC236}">
                <a16:creationId xmlns:a16="http://schemas.microsoft.com/office/drawing/2014/main" id="{1B8FC857-F041-45DB-97FB-0EDB605AF560}"/>
              </a:ext>
            </a:extLst>
          </p:cNvPr>
          <p:cNvSpPr>
            <a:spLocks noGrp="1"/>
          </p:cNvSpPr>
          <p:nvPr/>
        </p:nvSpPr>
        <p:spPr>
          <a:xfrm>
            <a:off x="934342" y="5944590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586" name="slide5-anchor-e-tag-blocked-5">
            <a:extLst>
              <a:ext uri="{FF2B5EF4-FFF2-40B4-BE49-F238E27FC236}">
                <a16:creationId xmlns:a16="http://schemas.microsoft.com/office/drawing/2014/main" id="{A8477F04-28D7-4C0D-83CF-D2E03B3B7831}"/>
              </a:ext>
            </a:extLst>
          </p:cNvPr>
          <p:cNvSpPr>
            <a:spLocks noGrp="1"/>
          </p:cNvSpPr>
          <p:nvPr/>
        </p:nvSpPr>
        <p:spPr>
          <a:xfrm>
            <a:off x="1136700" y="5784779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587" name="slide5-e-tag-route-return-final">
            <a:extLst>
              <a:ext uri="{FF2B5EF4-FFF2-40B4-BE49-F238E27FC236}">
                <a16:creationId xmlns:a16="http://schemas.microsoft.com/office/drawing/2014/main" id="{B7B44E95-64B2-4ADE-B136-18105A7DC182}"/>
              </a:ext>
            </a:extLst>
          </p:cNvPr>
          <p:cNvCxnSpPr>
            <a:cxnSpLocks/>
            <a:stCxn id="593" idx="1"/>
            <a:endCxn id="621" idx="7"/>
          </p:cNvCxnSpPr>
          <p:nvPr/>
        </p:nvCxnSpPr>
        <p:spPr>
          <a:xfrm flipH="1">
            <a:off x="797963" y="5040876"/>
            <a:ext cx="461355" cy="196605"/>
          </a:xfrm>
          <a:prstGeom prst="straightConnector1">
            <a:avLst/>
          </a:prstGeom>
          <a:ln w="19050">
            <a:solidFill>
              <a:srgbClr val="7339AD"/>
            </a:solidFill>
            <a:prstDash val="dash"/>
            <a:tailEnd type="triangle" w="sm" len="sm"/>
          </a:ln>
        </p:spPr>
      </p:cxnSp>
      <p:sp>
        <p:nvSpPr>
          <p:cNvPr id="588" name="slide5-queue-label-blocked-inject">
            <a:extLst>
              <a:ext uri="{FF2B5EF4-FFF2-40B4-BE49-F238E27FC236}">
                <a16:creationId xmlns:a16="http://schemas.microsoft.com/office/drawing/2014/main" id="{9D7A55C4-6DEC-4281-BEEF-7668EC6250F1}"/>
              </a:ext>
            </a:extLst>
          </p:cNvPr>
          <p:cNvSpPr>
            <a:spLocks noGrp="1"/>
          </p:cNvSpPr>
          <p:nvPr/>
        </p:nvSpPr>
        <p:spPr>
          <a:xfrm>
            <a:off x="791132" y="4660812"/>
            <a:ext cx="2714625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303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kern="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Inject </a:t>
            </a:r>
            <a:r>
              <a:rPr lang="en-US" altLang="zh-CN" sz="1200" b="1" kern="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Queue</a:t>
            </a:r>
            <a:r>
              <a:rPr sz="1200" b="1" kern="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· local</a:t>
            </a:r>
          </a:p>
        </p:txBody>
      </p:sp>
      <p:sp>
        <p:nvSpPr>
          <p:cNvPr id="589" name="slide5-queue-label-blocked-eject">
            <a:extLst>
              <a:ext uri="{FF2B5EF4-FFF2-40B4-BE49-F238E27FC236}">
                <a16:creationId xmlns:a16="http://schemas.microsoft.com/office/drawing/2014/main" id="{2DBD2D6E-CA1A-4E6A-AADA-A1451CCA7597}"/>
              </a:ext>
            </a:extLst>
          </p:cNvPr>
          <p:cNvSpPr>
            <a:spLocks noGrp="1"/>
          </p:cNvSpPr>
          <p:nvPr/>
        </p:nvSpPr>
        <p:spPr>
          <a:xfrm>
            <a:off x="1330682" y="5699061"/>
            <a:ext cx="1660218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303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kern="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Eject Queue · full</a:t>
            </a:r>
          </a:p>
        </p:txBody>
      </p:sp>
      <p:sp>
        <p:nvSpPr>
          <p:cNvPr id="590" name="slide5-blocked-marker">
            <a:extLst>
              <a:ext uri="{FF2B5EF4-FFF2-40B4-BE49-F238E27FC236}">
                <a16:creationId xmlns:a16="http://schemas.microsoft.com/office/drawing/2014/main" id="{BEA14F5A-FBDE-456E-9846-7D48D14B73BA}"/>
              </a:ext>
            </a:extLst>
          </p:cNvPr>
          <p:cNvSpPr>
            <a:spLocks noGrp="1"/>
          </p:cNvSpPr>
          <p:nvPr/>
        </p:nvSpPr>
        <p:spPr>
          <a:xfrm>
            <a:off x="851073" y="4975154"/>
            <a:ext cx="284335" cy="2481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B3261E"/>
                </a:solidFill>
                <a:latin typeface="Arial"/>
                <a:ea typeface="Arial"/>
                <a:cs typeface="Arial"/>
              </a:defRPr>
            </a:pPr>
            <a:r>
              <a:rPr sz="2000" b="1" dirty="0">
                <a:solidFill>
                  <a:srgbClr val="FF0000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591" name="slide5-queue-frame-blocked-inject">
            <a:extLst>
              <a:ext uri="{FF2B5EF4-FFF2-40B4-BE49-F238E27FC236}">
                <a16:creationId xmlns:a16="http://schemas.microsoft.com/office/drawing/2014/main" id="{B812A1A3-28FB-4063-99DC-1BCAB38630A3}"/>
              </a:ext>
            </a:extLst>
          </p:cNvPr>
          <p:cNvSpPr>
            <a:spLocks noGrp="1"/>
          </p:cNvSpPr>
          <p:nvPr/>
        </p:nvSpPr>
        <p:spPr>
          <a:xfrm>
            <a:off x="1264092" y="4882127"/>
            <a:ext cx="327425" cy="323850"/>
          </a:xfrm>
          <a:prstGeom prst="rect">
            <a:avLst/>
          </a:prstGeom>
          <a:solidFill>
            <a:srgbClr val="FFFFFF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592" name="slide5-flit-blocked-inject-0">
            <a:extLst>
              <a:ext uri="{FF2B5EF4-FFF2-40B4-BE49-F238E27FC236}">
                <a16:creationId xmlns:a16="http://schemas.microsoft.com/office/drawing/2014/main" id="{EFCEA250-7D63-4DAE-A726-793B6D1A50E1}"/>
              </a:ext>
            </a:extLst>
          </p:cNvPr>
          <p:cNvSpPr>
            <a:spLocks noGrp="1" noChangeAspect="1"/>
          </p:cNvSpPr>
          <p:nvPr/>
        </p:nvSpPr>
        <p:spPr>
          <a:xfrm>
            <a:off x="1299815" y="4917049"/>
            <a:ext cx="252000" cy="252000"/>
          </a:xfrm>
          <a:prstGeom prst="ellipse">
            <a:avLst/>
          </a:prstGeom>
          <a:solidFill>
            <a:srgbClr val="EFF6EA"/>
          </a:solidFill>
          <a:ln w="19050">
            <a:solidFill>
              <a:srgbClr val="4E8735"/>
            </a:solidFill>
            <a:prstDash val="solid"/>
          </a:ln>
        </p:spPr>
        <p:txBody>
          <a:bodyPr/>
          <a:lstStyle/>
          <a:p>
            <a:endParaRPr lang="zh-CN" altLang="en-US" sz="600" dirty="0"/>
          </a:p>
        </p:txBody>
      </p:sp>
      <p:sp>
        <p:nvSpPr>
          <p:cNvPr id="593" name="slide5-label-flit-blocked-inject-1">
            <a:extLst>
              <a:ext uri="{FF2B5EF4-FFF2-40B4-BE49-F238E27FC236}">
                <a16:creationId xmlns:a16="http://schemas.microsoft.com/office/drawing/2014/main" id="{874C3B3E-D620-43FF-A964-EEAFAC8CA322}"/>
              </a:ext>
            </a:extLst>
          </p:cNvPr>
          <p:cNvSpPr>
            <a:spLocks noGrp="1"/>
          </p:cNvSpPr>
          <p:nvPr/>
        </p:nvSpPr>
        <p:spPr>
          <a:xfrm>
            <a:off x="1259318" y="4964676"/>
            <a:ext cx="346472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4E8735"/>
                </a:solidFill>
                <a:latin typeface="Arial"/>
                <a:ea typeface="Arial"/>
                <a:cs typeface="Arial"/>
              </a:defRPr>
            </a:pPr>
            <a:r>
              <a:rPr sz="1000" b="1" dirty="0">
                <a:solidFill>
                  <a:srgbClr val="4E8735"/>
                </a:solidFill>
                <a:latin typeface="Arial"/>
                <a:ea typeface="Arial"/>
                <a:cs typeface="Arial"/>
              </a:rPr>
              <a:t>A</a:t>
            </a:r>
            <a:r>
              <a:rPr lang="en-US" sz="1000" b="1" dirty="0">
                <a:solidFill>
                  <a:srgbClr val="4E8735"/>
                </a:solidFill>
                <a:latin typeface="Arial"/>
                <a:ea typeface="Arial"/>
                <a:cs typeface="Arial"/>
              </a:rPr>
              <a:t>1</a:t>
            </a:r>
            <a:endParaRPr sz="1000" b="1" dirty="0">
              <a:solidFill>
                <a:srgbClr val="4E873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4" name="slide5-queue-frame-blocked-inject">
            <a:extLst>
              <a:ext uri="{FF2B5EF4-FFF2-40B4-BE49-F238E27FC236}">
                <a16:creationId xmlns:a16="http://schemas.microsoft.com/office/drawing/2014/main" id="{40E732EF-EB00-4B67-B301-98DB19A8674C}"/>
              </a:ext>
            </a:extLst>
          </p:cNvPr>
          <p:cNvSpPr>
            <a:spLocks noGrp="1"/>
          </p:cNvSpPr>
          <p:nvPr/>
        </p:nvSpPr>
        <p:spPr>
          <a:xfrm>
            <a:off x="1587538" y="4882127"/>
            <a:ext cx="327425" cy="323850"/>
          </a:xfrm>
          <a:prstGeom prst="rect">
            <a:avLst/>
          </a:prstGeom>
          <a:solidFill>
            <a:srgbClr val="FFFFFF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595" name="slide5-flit-blocked-inject-0">
            <a:extLst>
              <a:ext uri="{FF2B5EF4-FFF2-40B4-BE49-F238E27FC236}">
                <a16:creationId xmlns:a16="http://schemas.microsoft.com/office/drawing/2014/main" id="{B83C493F-6E06-45D1-9000-2DC46837C4DD}"/>
              </a:ext>
            </a:extLst>
          </p:cNvPr>
          <p:cNvSpPr>
            <a:spLocks noGrp="1" noChangeAspect="1"/>
          </p:cNvSpPr>
          <p:nvPr/>
        </p:nvSpPr>
        <p:spPr>
          <a:xfrm>
            <a:off x="1623261" y="4917049"/>
            <a:ext cx="252000" cy="252000"/>
          </a:xfrm>
          <a:prstGeom prst="ellipse">
            <a:avLst/>
          </a:prstGeom>
          <a:solidFill>
            <a:srgbClr val="EFF6EA"/>
          </a:solidFill>
          <a:ln w="19050">
            <a:solidFill>
              <a:srgbClr val="4E8735"/>
            </a:solidFill>
            <a:prstDash val="solid"/>
          </a:ln>
        </p:spPr>
        <p:txBody>
          <a:bodyPr/>
          <a:lstStyle/>
          <a:p>
            <a:endParaRPr lang="zh-CN" altLang="en-US" sz="600" dirty="0"/>
          </a:p>
        </p:txBody>
      </p:sp>
      <p:sp>
        <p:nvSpPr>
          <p:cNvPr id="596" name="slide5-label-flit-blocked-inject-1">
            <a:extLst>
              <a:ext uri="{FF2B5EF4-FFF2-40B4-BE49-F238E27FC236}">
                <a16:creationId xmlns:a16="http://schemas.microsoft.com/office/drawing/2014/main" id="{59ACE1AF-B4E2-4DF4-9044-58340B252425}"/>
              </a:ext>
            </a:extLst>
          </p:cNvPr>
          <p:cNvSpPr>
            <a:spLocks noGrp="1"/>
          </p:cNvSpPr>
          <p:nvPr/>
        </p:nvSpPr>
        <p:spPr>
          <a:xfrm>
            <a:off x="1582764" y="4964676"/>
            <a:ext cx="346472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4E8735"/>
                </a:solidFill>
                <a:latin typeface="Arial"/>
                <a:ea typeface="Arial"/>
                <a:cs typeface="Arial"/>
              </a:defRPr>
            </a:pPr>
            <a:r>
              <a:rPr sz="1000" b="1" dirty="0">
                <a:solidFill>
                  <a:srgbClr val="4E8735"/>
                </a:solidFill>
                <a:latin typeface="Arial"/>
                <a:ea typeface="Arial"/>
                <a:cs typeface="Arial"/>
              </a:rPr>
              <a:t>A</a:t>
            </a:r>
            <a:r>
              <a:rPr lang="en-US" sz="1000" b="1" dirty="0">
                <a:solidFill>
                  <a:srgbClr val="4E8735"/>
                </a:solidFill>
                <a:latin typeface="Arial"/>
                <a:ea typeface="Arial"/>
                <a:cs typeface="Arial"/>
              </a:rPr>
              <a:t>2</a:t>
            </a:r>
            <a:endParaRPr sz="1000" b="1" dirty="0">
              <a:solidFill>
                <a:srgbClr val="4E873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7" name="slide5-queue-frame-blocked-inject">
            <a:extLst>
              <a:ext uri="{FF2B5EF4-FFF2-40B4-BE49-F238E27FC236}">
                <a16:creationId xmlns:a16="http://schemas.microsoft.com/office/drawing/2014/main" id="{1D27E493-C32B-462C-AE54-12BD68C52088}"/>
              </a:ext>
            </a:extLst>
          </p:cNvPr>
          <p:cNvSpPr>
            <a:spLocks noGrp="1"/>
          </p:cNvSpPr>
          <p:nvPr/>
        </p:nvSpPr>
        <p:spPr>
          <a:xfrm>
            <a:off x="1916569" y="4882127"/>
            <a:ext cx="327425" cy="323850"/>
          </a:xfrm>
          <a:prstGeom prst="rect">
            <a:avLst/>
          </a:prstGeom>
          <a:solidFill>
            <a:srgbClr val="FFFFFF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598" name="slide5-flit-blocked-inject-0">
            <a:extLst>
              <a:ext uri="{FF2B5EF4-FFF2-40B4-BE49-F238E27FC236}">
                <a16:creationId xmlns:a16="http://schemas.microsoft.com/office/drawing/2014/main" id="{62320932-4676-4CC9-81CA-C3B173F6B63C}"/>
              </a:ext>
            </a:extLst>
          </p:cNvPr>
          <p:cNvSpPr>
            <a:spLocks noGrp="1" noChangeAspect="1"/>
          </p:cNvSpPr>
          <p:nvPr/>
        </p:nvSpPr>
        <p:spPr>
          <a:xfrm>
            <a:off x="1952292" y="4917049"/>
            <a:ext cx="252000" cy="252000"/>
          </a:xfrm>
          <a:prstGeom prst="ellipse">
            <a:avLst/>
          </a:prstGeom>
          <a:solidFill>
            <a:srgbClr val="EFF6EA"/>
          </a:solidFill>
          <a:ln w="19050">
            <a:solidFill>
              <a:srgbClr val="4E8735"/>
            </a:solidFill>
            <a:prstDash val="solid"/>
          </a:ln>
        </p:spPr>
        <p:txBody>
          <a:bodyPr/>
          <a:lstStyle/>
          <a:p>
            <a:endParaRPr lang="zh-CN" altLang="en-US" sz="600" dirty="0"/>
          </a:p>
        </p:txBody>
      </p:sp>
      <p:sp>
        <p:nvSpPr>
          <p:cNvPr id="599" name="slide5-label-flit-blocked-inject-1">
            <a:extLst>
              <a:ext uri="{FF2B5EF4-FFF2-40B4-BE49-F238E27FC236}">
                <a16:creationId xmlns:a16="http://schemas.microsoft.com/office/drawing/2014/main" id="{76929ACA-1FD5-4DBF-98F4-8D58DBF38CD8}"/>
              </a:ext>
            </a:extLst>
          </p:cNvPr>
          <p:cNvSpPr>
            <a:spLocks noGrp="1"/>
          </p:cNvSpPr>
          <p:nvPr/>
        </p:nvSpPr>
        <p:spPr>
          <a:xfrm>
            <a:off x="1911795" y="4964676"/>
            <a:ext cx="346472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4E8735"/>
                </a:solidFill>
                <a:latin typeface="Arial"/>
                <a:ea typeface="Arial"/>
                <a:cs typeface="Arial"/>
              </a:defRPr>
            </a:pPr>
            <a:r>
              <a:rPr sz="1000" b="1" dirty="0">
                <a:solidFill>
                  <a:srgbClr val="4E8735"/>
                </a:solidFill>
                <a:latin typeface="Arial"/>
                <a:ea typeface="Arial"/>
                <a:cs typeface="Arial"/>
              </a:rPr>
              <a:t>A</a:t>
            </a:r>
            <a:r>
              <a:rPr lang="en-US" sz="1000" b="1" dirty="0">
                <a:solidFill>
                  <a:srgbClr val="4E8735"/>
                </a:solidFill>
                <a:latin typeface="Arial"/>
                <a:ea typeface="Arial"/>
                <a:cs typeface="Arial"/>
              </a:rPr>
              <a:t>3</a:t>
            </a:r>
            <a:endParaRPr sz="1000" b="1" dirty="0">
              <a:solidFill>
                <a:srgbClr val="4E873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0" name="slide5-queue-frame-blocked-inject">
            <a:extLst>
              <a:ext uri="{FF2B5EF4-FFF2-40B4-BE49-F238E27FC236}">
                <a16:creationId xmlns:a16="http://schemas.microsoft.com/office/drawing/2014/main" id="{35FF41A8-CBF3-49CF-803F-24A6C88B8225}"/>
              </a:ext>
            </a:extLst>
          </p:cNvPr>
          <p:cNvSpPr>
            <a:spLocks noGrp="1"/>
          </p:cNvSpPr>
          <p:nvPr/>
        </p:nvSpPr>
        <p:spPr>
          <a:xfrm>
            <a:off x="2240015" y="4882127"/>
            <a:ext cx="327425" cy="323850"/>
          </a:xfrm>
          <a:prstGeom prst="rect">
            <a:avLst/>
          </a:prstGeom>
          <a:solidFill>
            <a:srgbClr val="FFFFFF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601" name="slide5-flit-blocked-inject-0">
            <a:extLst>
              <a:ext uri="{FF2B5EF4-FFF2-40B4-BE49-F238E27FC236}">
                <a16:creationId xmlns:a16="http://schemas.microsoft.com/office/drawing/2014/main" id="{AE547027-8CD9-4CF8-8DF3-7A4904D1DC93}"/>
              </a:ext>
            </a:extLst>
          </p:cNvPr>
          <p:cNvSpPr>
            <a:spLocks noGrp="1" noChangeAspect="1"/>
          </p:cNvSpPr>
          <p:nvPr/>
        </p:nvSpPr>
        <p:spPr>
          <a:xfrm>
            <a:off x="2275738" y="4917049"/>
            <a:ext cx="252000" cy="252000"/>
          </a:xfrm>
          <a:prstGeom prst="ellipse">
            <a:avLst/>
          </a:prstGeom>
          <a:solidFill>
            <a:srgbClr val="EFF6EA"/>
          </a:solidFill>
          <a:ln w="19050">
            <a:solidFill>
              <a:srgbClr val="4E8735"/>
            </a:solidFill>
            <a:prstDash val="solid"/>
          </a:ln>
        </p:spPr>
        <p:txBody>
          <a:bodyPr/>
          <a:lstStyle/>
          <a:p>
            <a:endParaRPr lang="zh-CN" altLang="en-US" sz="600" dirty="0"/>
          </a:p>
        </p:txBody>
      </p:sp>
      <p:sp>
        <p:nvSpPr>
          <p:cNvPr id="602" name="slide5-label-flit-blocked-inject-1">
            <a:extLst>
              <a:ext uri="{FF2B5EF4-FFF2-40B4-BE49-F238E27FC236}">
                <a16:creationId xmlns:a16="http://schemas.microsoft.com/office/drawing/2014/main" id="{46A3CB33-CF30-4195-899F-FEBC73CC2BB5}"/>
              </a:ext>
            </a:extLst>
          </p:cNvPr>
          <p:cNvSpPr>
            <a:spLocks noGrp="1"/>
          </p:cNvSpPr>
          <p:nvPr/>
        </p:nvSpPr>
        <p:spPr>
          <a:xfrm>
            <a:off x="2235241" y="4964676"/>
            <a:ext cx="346472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4E8735"/>
                </a:solidFill>
                <a:latin typeface="Arial"/>
                <a:ea typeface="Arial"/>
                <a:cs typeface="Arial"/>
              </a:defRPr>
            </a:pPr>
            <a:r>
              <a:rPr sz="1000" b="1" dirty="0">
                <a:solidFill>
                  <a:srgbClr val="4E8735"/>
                </a:solidFill>
                <a:latin typeface="Arial"/>
                <a:ea typeface="Arial"/>
                <a:cs typeface="Arial"/>
              </a:rPr>
              <a:t>A</a:t>
            </a:r>
            <a:r>
              <a:rPr lang="en-US" sz="1000" b="1" dirty="0">
                <a:solidFill>
                  <a:srgbClr val="4E8735"/>
                </a:solidFill>
                <a:latin typeface="Arial"/>
                <a:ea typeface="Arial"/>
                <a:cs typeface="Arial"/>
              </a:rPr>
              <a:t>4</a:t>
            </a:r>
            <a:endParaRPr sz="1000" b="1" dirty="0">
              <a:solidFill>
                <a:srgbClr val="4E873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3" name="slide5-queue-frame-blocked-inject">
            <a:extLst>
              <a:ext uri="{FF2B5EF4-FFF2-40B4-BE49-F238E27FC236}">
                <a16:creationId xmlns:a16="http://schemas.microsoft.com/office/drawing/2014/main" id="{4BACD5AF-0478-4938-8A7C-38D7D0567549}"/>
              </a:ext>
            </a:extLst>
          </p:cNvPr>
          <p:cNvSpPr>
            <a:spLocks noGrp="1"/>
          </p:cNvSpPr>
          <p:nvPr/>
        </p:nvSpPr>
        <p:spPr>
          <a:xfrm>
            <a:off x="2567449" y="4882127"/>
            <a:ext cx="327425" cy="323850"/>
          </a:xfrm>
          <a:prstGeom prst="rect">
            <a:avLst/>
          </a:prstGeom>
          <a:solidFill>
            <a:srgbClr val="FFFFFF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604" name="slide5-flit-blocked-inject-0">
            <a:extLst>
              <a:ext uri="{FF2B5EF4-FFF2-40B4-BE49-F238E27FC236}">
                <a16:creationId xmlns:a16="http://schemas.microsoft.com/office/drawing/2014/main" id="{6D134BDA-9A7E-4864-8FED-A5CFE2B02D86}"/>
              </a:ext>
            </a:extLst>
          </p:cNvPr>
          <p:cNvSpPr>
            <a:spLocks noGrp="1" noChangeAspect="1"/>
          </p:cNvSpPr>
          <p:nvPr/>
        </p:nvSpPr>
        <p:spPr>
          <a:xfrm>
            <a:off x="2603172" y="4917049"/>
            <a:ext cx="252000" cy="252000"/>
          </a:xfrm>
          <a:prstGeom prst="ellipse">
            <a:avLst/>
          </a:prstGeom>
          <a:solidFill>
            <a:srgbClr val="EFF6EA"/>
          </a:solidFill>
          <a:ln w="19050">
            <a:solidFill>
              <a:srgbClr val="4E8735"/>
            </a:solidFill>
            <a:prstDash val="solid"/>
          </a:ln>
        </p:spPr>
        <p:txBody>
          <a:bodyPr/>
          <a:lstStyle/>
          <a:p>
            <a:endParaRPr lang="zh-CN" altLang="en-US" sz="600" dirty="0"/>
          </a:p>
        </p:txBody>
      </p:sp>
      <p:sp>
        <p:nvSpPr>
          <p:cNvPr id="605" name="slide5-label-flit-blocked-inject-1">
            <a:extLst>
              <a:ext uri="{FF2B5EF4-FFF2-40B4-BE49-F238E27FC236}">
                <a16:creationId xmlns:a16="http://schemas.microsoft.com/office/drawing/2014/main" id="{AB60A485-B6DF-4823-8353-8FBCC635D487}"/>
              </a:ext>
            </a:extLst>
          </p:cNvPr>
          <p:cNvSpPr>
            <a:spLocks noGrp="1"/>
          </p:cNvSpPr>
          <p:nvPr/>
        </p:nvSpPr>
        <p:spPr>
          <a:xfrm>
            <a:off x="2562675" y="4964676"/>
            <a:ext cx="346472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4E8735"/>
                </a:solidFill>
                <a:latin typeface="Arial"/>
                <a:ea typeface="Arial"/>
                <a:cs typeface="Arial"/>
              </a:defRPr>
            </a:pPr>
            <a:r>
              <a:rPr sz="1000" b="1" dirty="0">
                <a:solidFill>
                  <a:srgbClr val="4E8735"/>
                </a:solidFill>
                <a:latin typeface="Arial"/>
                <a:ea typeface="Arial"/>
                <a:cs typeface="Arial"/>
              </a:rPr>
              <a:t>A</a:t>
            </a:r>
            <a:r>
              <a:rPr lang="en-US" sz="1000" b="1" dirty="0">
                <a:solidFill>
                  <a:srgbClr val="4E8735"/>
                </a:solidFill>
                <a:latin typeface="Arial"/>
                <a:ea typeface="Arial"/>
                <a:cs typeface="Arial"/>
              </a:rPr>
              <a:t>5</a:t>
            </a:r>
            <a:endParaRPr sz="1000" b="1" dirty="0">
              <a:solidFill>
                <a:srgbClr val="4E873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6" name="slide5-queue-frame-blocked-inject">
            <a:extLst>
              <a:ext uri="{FF2B5EF4-FFF2-40B4-BE49-F238E27FC236}">
                <a16:creationId xmlns:a16="http://schemas.microsoft.com/office/drawing/2014/main" id="{BF24886F-B298-4B11-93F1-B08C29468715}"/>
              </a:ext>
            </a:extLst>
          </p:cNvPr>
          <p:cNvSpPr>
            <a:spLocks noGrp="1"/>
          </p:cNvSpPr>
          <p:nvPr/>
        </p:nvSpPr>
        <p:spPr>
          <a:xfrm>
            <a:off x="1224390" y="5433940"/>
            <a:ext cx="327425" cy="323850"/>
          </a:xfrm>
          <a:prstGeom prst="rect">
            <a:avLst/>
          </a:prstGeom>
          <a:solidFill>
            <a:srgbClr val="FFFFFF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607" name="slide5-flit-blocked-inject-0">
            <a:extLst>
              <a:ext uri="{FF2B5EF4-FFF2-40B4-BE49-F238E27FC236}">
                <a16:creationId xmlns:a16="http://schemas.microsoft.com/office/drawing/2014/main" id="{1669FB8B-D5F8-471C-B4D6-855C7D28AECE}"/>
              </a:ext>
            </a:extLst>
          </p:cNvPr>
          <p:cNvSpPr>
            <a:spLocks noGrp="1" noChangeAspect="1"/>
          </p:cNvSpPr>
          <p:nvPr/>
        </p:nvSpPr>
        <p:spPr>
          <a:xfrm>
            <a:off x="1260113" y="5468862"/>
            <a:ext cx="252000" cy="252000"/>
          </a:xfrm>
          <a:prstGeom prst="ellipse">
            <a:avLst/>
          </a:prstGeom>
          <a:solidFill>
            <a:srgbClr val="FFF3EA"/>
          </a:solidFill>
          <a:ln w="1905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zh-CN" altLang="en-US" sz="600" dirty="0"/>
          </a:p>
        </p:txBody>
      </p:sp>
      <p:sp>
        <p:nvSpPr>
          <p:cNvPr id="608" name="slide5-label-flit-blocked-inject-1">
            <a:extLst>
              <a:ext uri="{FF2B5EF4-FFF2-40B4-BE49-F238E27FC236}">
                <a16:creationId xmlns:a16="http://schemas.microsoft.com/office/drawing/2014/main" id="{85EBCA94-8DED-4EDE-ABA6-6168645FB34D}"/>
              </a:ext>
            </a:extLst>
          </p:cNvPr>
          <p:cNvSpPr>
            <a:spLocks noGrp="1"/>
          </p:cNvSpPr>
          <p:nvPr/>
        </p:nvSpPr>
        <p:spPr>
          <a:xfrm>
            <a:off x="1219616" y="5516489"/>
            <a:ext cx="346472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4E8735"/>
                </a:solidFill>
                <a:latin typeface="Arial"/>
                <a:ea typeface="Arial"/>
                <a:cs typeface="Arial"/>
              </a:defRPr>
            </a:pPr>
            <a:r>
              <a:rPr lang="en-US" sz="1000" b="1" dirty="0">
                <a:solidFill>
                  <a:srgbClr val="D86A25"/>
                </a:solidFill>
                <a:latin typeface="Arial"/>
                <a:ea typeface="Arial"/>
                <a:cs typeface="Arial"/>
              </a:rPr>
              <a:t>B5</a:t>
            </a:r>
            <a:endParaRPr sz="1000" b="1" dirty="0">
              <a:solidFill>
                <a:srgbClr val="D86A2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9" name="slide5-queue-frame-blocked-inject">
            <a:extLst>
              <a:ext uri="{FF2B5EF4-FFF2-40B4-BE49-F238E27FC236}">
                <a16:creationId xmlns:a16="http://schemas.microsoft.com/office/drawing/2014/main" id="{CAB78D7B-E6F3-4E55-B9ED-AB3DA42CF571}"/>
              </a:ext>
            </a:extLst>
          </p:cNvPr>
          <p:cNvSpPr>
            <a:spLocks noGrp="1"/>
          </p:cNvSpPr>
          <p:nvPr/>
        </p:nvSpPr>
        <p:spPr>
          <a:xfrm>
            <a:off x="1547836" y="5433940"/>
            <a:ext cx="327425" cy="323850"/>
          </a:xfrm>
          <a:prstGeom prst="rect">
            <a:avLst/>
          </a:prstGeom>
          <a:solidFill>
            <a:srgbClr val="FFFFFF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610" name="slide5-flit-blocked-inject-0">
            <a:extLst>
              <a:ext uri="{FF2B5EF4-FFF2-40B4-BE49-F238E27FC236}">
                <a16:creationId xmlns:a16="http://schemas.microsoft.com/office/drawing/2014/main" id="{FB748746-2E96-4912-AFB1-95A816ADADD4}"/>
              </a:ext>
            </a:extLst>
          </p:cNvPr>
          <p:cNvSpPr>
            <a:spLocks noGrp="1" noChangeAspect="1"/>
          </p:cNvSpPr>
          <p:nvPr/>
        </p:nvSpPr>
        <p:spPr>
          <a:xfrm>
            <a:off x="1583559" y="5468862"/>
            <a:ext cx="252000" cy="252000"/>
          </a:xfrm>
          <a:prstGeom prst="ellipse">
            <a:avLst/>
          </a:prstGeom>
          <a:solidFill>
            <a:srgbClr val="FFF3EA"/>
          </a:solidFill>
          <a:ln w="1905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zh-CN" altLang="en-US" sz="600" dirty="0"/>
          </a:p>
        </p:txBody>
      </p:sp>
      <p:sp>
        <p:nvSpPr>
          <p:cNvPr id="611" name="slide5-label-flit-blocked-inject-1">
            <a:extLst>
              <a:ext uri="{FF2B5EF4-FFF2-40B4-BE49-F238E27FC236}">
                <a16:creationId xmlns:a16="http://schemas.microsoft.com/office/drawing/2014/main" id="{F14BBC23-EC3D-4085-B737-BB6CE7251A1F}"/>
              </a:ext>
            </a:extLst>
          </p:cNvPr>
          <p:cNvSpPr>
            <a:spLocks noGrp="1"/>
          </p:cNvSpPr>
          <p:nvPr/>
        </p:nvSpPr>
        <p:spPr>
          <a:xfrm>
            <a:off x="1543062" y="5516489"/>
            <a:ext cx="346472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4E8735"/>
                </a:solidFill>
                <a:latin typeface="Arial"/>
                <a:ea typeface="Arial"/>
                <a:cs typeface="Arial"/>
              </a:defRPr>
            </a:pPr>
            <a:r>
              <a:rPr lang="en-US" sz="1000" b="1" dirty="0">
                <a:solidFill>
                  <a:srgbClr val="D86A25"/>
                </a:solidFill>
                <a:latin typeface="Arial"/>
                <a:ea typeface="Arial"/>
                <a:cs typeface="Arial"/>
              </a:rPr>
              <a:t>B4</a:t>
            </a:r>
            <a:endParaRPr sz="1000" b="1" dirty="0">
              <a:solidFill>
                <a:srgbClr val="D86A2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2" name="slide5-queue-frame-blocked-inject">
            <a:extLst>
              <a:ext uri="{FF2B5EF4-FFF2-40B4-BE49-F238E27FC236}">
                <a16:creationId xmlns:a16="http://schemas.microsoft.com/office/drawing/2014/main" id="{54312FB8-E497-4FBA-84A6-7F91A517EDE9}"/>
              </a:ext>
            </a:extLst>
          </p:cNvPr>
          <p:cNvSpPr>
            <a:spLocks noGrp="1"/>
          </p:cNvSpPr>
          <p:nvPr/>
        </p:nvSpPr>
        <p:spPr>
          <a:xfrm>
            <a:off x="1876867" y="5433940"/>
            <a:ext cx="327425" cy="323850"/>
          </a:xfrm>
          <a:prstGeom prst="rect">
            <a:avLst/>
          </a:prstGeom>
          <a:solidFill>
            <a:srgbClr val="FFFFFF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613" name="slide5-flit-blocked-inject-0">
            <a:extLst>
              <a:ext uri="{FF2B5EF4-FFF2-40B4-BE49-F238E27FC236}">
                <a16:creationId xmlns:a16="http://schemas.microsoft.com/office/drawing/2014/main" id="{AE67E855-29B7-4CBB-BC40-B1094B73A18A}"/>
              </a:ext>
            </a:extLst>
          </p:cNvPr>
          <p:cNvSpPr>
            <a:spLocks noGrp="1" noChangeAspect="1"/>
          </p:cNvSpPr>
          <p:nvPr/>
        </p:nvSpPr>
        <p:spPr>
          <a:xfrm>
            <a:off x="1912590" y="5468862"/>
            <a:ext cx="252000" cy="252000"/>
          </a:xfrm>
          <a:prstGeom prst="ellipse">
            <a:avLst/>
          </a:prstGeom>
          <a:solidFill>
            <a:srgbClr val="FFF3EA"/>
          </a:solidFill>
          <a:ln w="1905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zh-CN" altLang="en-US" sz="600" dirty="0"/>
          </a:p>
        </p:txBody>
      </p:sp>
      <p:sp>
        <p:nvSpPr>
          <p:cNvPr id="614" name="slide5-label-flit-blocked-inject-1">
            <a:extLst>
              <a:ext uri="{FF2B5EF4-FFF2-40B4-BE49-F238E27FC236}">
                <a16:creationId xmlns:a16="http://schemas.microsoft.com/office/drawing/2014/main" id="{9808B2EB-5A73-49C2-A437-C817358651DE}"/>
              </a:ext>
            </a:extLst>
          </p:cNvPr>
          <p:cNvSpPr>
            <a:spLocks noGrp="1"/>
          </p:cNvSpPr>
          <p:nvPr/>
        </p:nvSpPr>
        <p:spPr>
          <a:xfrm>
            <a:off x="1872093" y="5516489"/>
            <a:ext cx="346472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4E8735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000" b="1" dirty="0">
                <a:solidFill>
                  <a:srgbClr val="D86A25"/>
                </a:solidFill>
                <a:latin typeface="Arial"/>
                <a:ea typeface="Arial"/>
                <a:cs typeface="Arial"/>
              </a:rPr>
              <a:t>B3</a:t>
            </a:r>
            <a:endParaRPr sz="1000" b="1" dirty="0">
              <a:solidFill>
                <a:srgbClr val="D86A2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5" name="slide5-queue-frame-blocked-inject">
            <a:extLst>
              <a:ext uri="{FF2B5EF4-FFF2-40B4-BE49-F238E27FC236}">
                <a16:creationId xmlns:a16="http://schemas.microsoft.com/office/drawing/2014/main" id="{B4AE5649-59B5-47B5-8C8B-35075283C4AB}"/>
              </a:ext>
            </a:extLst>
          </p:cNvPr>
          <p:cNvSpPr>
            <a:spLocks noGrp="1"/>
          </p:cNvSpPr>
          <p:nvPr/>
        </p:nvSpPr>
        <p:spPr>
          <a:xfrm>
            <a:off x="2200313" y="5433940"/>
            <a:ext cx="327425" cy="323850"/>
          </a:xfrm>
          <a:prstGeom prst="rect">
            <a:avLst/>
          </a:prstGeom>
          <a:solidFill>
            <a:srgbClr val="FFFFFF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616" name="slide5-flit-blocked-inject-0">
            <a:extLst>
              <a:ext uri="{FF2B5EF4-FFF2-40B4-BE49-F238E27FC236}">
                <a16:creationId xmlns:a16="http://schemas.microsoft.com/office/drawing/2014/main" id="{E2B21476-153F-4398-9D52-1C915957F1F5}"/>
              </a:ext>
            </a:extLst>
          </p:cNvPr>
          <p:cNvSpPr>
            <a:spLocks noGrp="1" noChangeAspect="1"/>
          </p:cNvSpPr>
          <p:nvPr/>
        </p:nvSpPr>
        <p:spPr>
          <a:xfrm>
            <a:off x="2236036" y="5468862"/>
            <a:ext cx="252000" cy="252000"/>
          </a:xfrm>
          <a:prstGeom prst="ellipse">
            <a:avLst/>
          </a:prstGeom>
          <a:solidFill>
            <a:srgbClr val="FFF3EA"/>
          </a:solidFill>
          <a:ln w="1905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zh-CN" altLang="en-US" sz="600" dirty="0"/>
          </a:p>
        </p:txBody>
      </p:sp>
      <p:sp>
        <p:nvSpPr>
          <p:cNvPr id="617" name="slide5-label-flit-blocked-inject-1">
            <a:extLst>
              <a:ext uri="{FF2B5EF4-FFF2-40B4-BE49-F238E27FC236}">
                <a16:creationId xmlns:a16="http://schemas.microsoft.com/office/drawing/2014/main" id="{125DF7FD-570D-4238-B2AF-D8EABDBAE802}"/>
              </a:ext>
            </a:extLst>
          </p:cNvPr>
          <p:cNvSpPr>
            <a:spLocks noGrp="1"/>
          </p:cNvSpPr>
          <p:nvPr/>
        </p:nvSpPr>
        <p:spPr>
          <a:xfrm>
            <a:off x="2195539" y="5516489"/>
            <a:ext cx="346472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4E8735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000" b="1" dirty="0">
                <a:solidFill>
                  <a:srgbClr val="D86A25"/>
                </a:solidFill>
                <a:latin typeface="Arial"/>
                <a:ea typeface="Arial"/>
                <a:cs typeface="Arial"/>
              </a:rPr>
              <a:t>B2</a:t>
            </a:r>
            <a:endParaRPr sz="1000" b="1" dirty="0">
              <a:solidFill>
                <a:srgbClr val="D86A2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8" name="slide5-queue-frame-blocked-inject">
            <a:extLst>
              <a:ext uri="{FF2B5EF4-FFF2-40B4-BE49-F238E27FC236}">
                <a16:creationId xmlns:a16="http://schemas.microsoft.com/office/drawing/2014/main" id="{07F15048-30BE-4151-A659-14DAC4410733}"/>
              </a:ext>
            </a:extLst>
          </p:cNvPr>
          <p:cNvSpPr>
            <a:spLocks noGrp="1"/>
          </p:cNvSpPr>
          <p:nvPr/>
        </p:nvSpPr>
        <p:spPr>
          <a:xfrm>
            <a:off x="2527747" y="5433940"/>
            <a:ext cx="327425" cy="323850"/>
          </a:xfrm>
          <a:prstGeom prst="rect">
            <a:avLst/>
          </a:prstGeom>
          <a:solidFill>
            <a:srgbClr val="FFFFFF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619" name="slide5-flit-blocked-inject-0">
            <a:extLst>
              <a:ext uri="{FF2B5EF4-FFF2-40B4-BE49-F238E27FC236}">
                <a16:creationId xmlns:a16="http://schemas.microsoft.com/office/drawing/2014/main" id="{96213142-C8DD-48FE-A02A-4F55C578F5B7}"/>
              </a:ext>
            </a:extLst>
          </p:cNvPr>
          <p:cNvSpPr>
            <a:spLocks noGrp="1" noChangeAspect="1"/>
          </p:cNvSpPr>
          <p:nvPr/>
        </p:nvSpPr>
        <p:spPr>
          <a:xfrm>
            <a:off x="2563470" y="5468862"/>
            <a:ext cx="252000" cy="252000"/>
          </a:xfrm>
          <a:prstGeom prst="ellipse">
            <a:avLst/>
          </a:prstGeom>
          <a:solidFill>
            <a:srgbClr val="FFF3EA"/>
          </a:solidFill>
          <a:ln w="1905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zh-CN" altLang="en-US" sz="600" dirty="0"/>
          </a:p>
        </p:txBody>
      </p:sp>
      <p:sp>
        <p:nvSpPr>
          <p:cNvPr id="620" name="slide5-label-flit-blocked-inject-1">
            <a:extLst>
              <a:ext uri="{FF2B5EF4-FFF2-40B4-BE49-F238E27FC236}">
                <a16:creationId xmlns:a16="http://schemas.microsoft.com/office/drawing/2014/main" id="{834DF9B5-34BF-487A-9DC5-BB7B3478D3EF}"/>
              </a:ext>
            </a:extLst>
          </p:cNvPr>
          <p:cNvSpPr>
            <a:spLocks noGrp="1"/>
          </p:cNvSpPr>
          <p:nvPr/>
        </p:nvSpPr>
        <p:spPr>
          <a:xfrm>
            <a:off x="2522973" y="5516489"/>
            <a:ext cx="346472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4E8735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000" b="1" dirty="0">
                <a:solidFill>
                  <a:srgbClr val="D86A25"/>
                </a:solidFill>
                <a:latin typeface="Arial"/>
                <a:ea typeface="Arial"/>
                <a:cs typeface="Arial"/>
              </a:rPr>
              <a:t>B1</a:t>
            </a:r>
            <a:endParaRPr sz="1000" b="1" dirty="0">
              <a:solidFill>
                <a:srgbClr val="D86A2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1" name="slide5-flit-blocked-inject-0">
            <a:extLst>
              <a:ext uri="{FF2B5EF4-FFF2-40B4-BE49-F238E27FC236}">
                <a16:creationId xmlns:a16="http://schemas.microsoft.com/office/drawing/2014/main" id="{DE250A7C-F9C1-4610-9BD2-4A634AF8E458}"/>
              </a:ext>
            </a:extLst>
          </p:cNvPr>
          <p:cNvSpPr>
            <a:spLocks noGrp="1" noChangeAspect="1"/>
          </p:cNvSpPr>
          <p:nvPr/>
        </p:nvSpPr>
        <p:spPr>
          <a:xfrm>
            <a:off x="582868" y="5200576"/>
            <a:ext cx="252000" cy="252000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1905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 sz="600" dirty="0"/>
          </a:p>
        </p:txBody>
      </p:sp>
      <p:sp>
        <p:nvSpPr>
          <p:cNvPr id="622" name="slide5-label-flit-blocked-inject-1">
            <a:extLst>
              <a:ext uri="{FF2B5EF4-FFF2-40B4-BE49-F238E27FC236}">
                <a16:creationId xmlns:a16="http://schemas.microsoft.com/office/drawing/2014/main" id="{C86D2013-D66E-4AFF-9AE7-FF0D176CB147}"/>
              </a:ext>
            </a:extLst>
          </p:cNvPr>
          <p:cNvSpPr>
            <a:spLocks noGrp="1"/>
          </p:cNvSpPr>
          <p:nvPr/>
        </p:nvSpPr>
        <p:spPr>
          <a:xfrm>
            <a:off x="535632" y="5250376"/>
            <a:ext cx="346472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4E8735"/>
                </a:solidFill>
                <a:latin typeface="Arial"/>
                <a:ea typeface="Arial"/>
                <a:cs typeface="Arial"/>
              </a:defRPr>
            </a:pPr>
            <a:r>
              <a:rPr lang="en-US" sz="1000" b="1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B6</a:t>
            </a:r>
            <a:endParaRPr sz="1000" b="1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623" name="slide5-e-tag-route-return-final">
            <a:extLst>
              <a:ext uri="{FF2B5EF4-FFF2-40B4-BE49-F238E27FC236}">
                <a16:creationId xmlns:a16="http://schemas.microsoft.com/office/drawing/2014/main" id="{F48DE0A3-552B-444B-B954-F43D2C06705C}"/>
              </a:ext>
            </a:extLst>
          </p:cNvPr>
          <p:cNvCxnSpPr>
            <a:cxnSpLocks/>
            <a:stCxn id="621" idx="5"/>
            <a:endCxn id="607" idx="2"/>
          </p:cNvCxnSpPr>
          <p:nvPr/>
        </p:nvCxnSpPr>
        <p:spPr>
          <a:xfrm>
            <a:off x="797963" y="5415671"/>
            <a:ext cx="462150" cy="179191"/>
          </a:xfrm>
          <a:prstGeom prst="straightConnector1">
            <a:avLst/>
          </a:prstGeom>
          <a:ln w="19050">
            <a:solidFill>
              <a:srgbClr val="7339AD"/>
            </a:solidFill>
            <a:prstDash val="dash"/>
            <a:tailEnd type="triangle" w="sm" len="sm"/>
          </a:ln>
        </p:spPr>
      </p:cxnSp>
      <p:sp>
        <p:nvSpPr>
          <p:cNvPr id="624" name="slide5-blocked-marker">
            <a:extLst>
              <a:ext uri="{FF2B5EF4-FFF2-40B4-BE49-F238E27FC236}">
                <a16:creationId xmlns:a16="http://schemas.microsoft.com/office/drawing/2014/main" id="{586F3A0D-6726-47C8-9179-B0D568888D1B}"/>
              </a:ext>
            </a:extLst>
          </p:cNvPr>
          <p:cNvSpPr>
            <a:spLocks noGrp="1"/>
          </p:cNvSpPr>
          <p:nvPr/>
        </p:nvSpPr>
        <p:spPr>
          <a:xfrm>
            <a:off x="851832" y="5305147"/>
            <a:ext cx="284335" cy="2481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B3261E"/>
                </a:solidFill>
                <a:latin typeface="Arial"/>
                <a:ea typeface="Arial"/>
                <a:cs typeface="Arial"/>
              </a:defRPr>
            </a:pPr>
            <a:r>
              <a:rPr sz="2000" b="1" dirty="0">
                <a:solidFill>
                  <a:srgbClr val="FF0000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cxnSp>
        <p:nvCxnSpPr>
          <p:cNvPr id="625" name="直接箭头连接符 624">
            <a:extLst>
              <a:ext uri="{FF2B5EF4-FFF2-40B4-BE49-F238E27FC236}">
                <a16:creationId xmlns:a16="http://schemas.microsoft.com/office/drawing/2014/main" id="{583E6ABC-8D65-4E99-A122-7CA8FDEC99E9}"/>
              </a:ext>
            </a:extLst>
          </p:cNvPr>
          <p:cNvCxnSpPr>
            <a:cxnSpLocks/>
            <a:stCxn id="628" idx="4"/>
            <a:endCxn id="621" idx="0"/>
          </p:cNvCxnSpPr>
          <p:nvPr/>
        </p:nvCxnSpPr>
        <p:spPr>
          <a:xfrm flipH="1">
            <a:off x="708868" y="4491728"/>
            <a:ext cx="6144" cy="708848"/>
          </a:xfrm>
          <a:prstGeom prst="straightConnector1">
            <a:avLst/>
          </a:prstGeom>
          <a:noFill/>
          <a:ln w="19050" cap="flat" cmpd="sng" algn="ctr">
            <a:solidFill>
              <a:schemeClr val="accent6">
                <a:lumMod val="50000"/>
              </a:scheme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626" name="slide4-node-interface">
            <a:extLst>
              <a:ext uri="{FF2B5EF4-FFF2-40B4-BE49-F238E27FC236}">
                <a16:creationId xmlns:a16="http://schemas.microsoft.com/office/drawing/2014/main" id="{2EB7C66A-5609-4ADC-B773-04EDF7F89339}"/>
              </a:ext>
            </a:extLst>
          </p:cNvPr>
          <p:cNvSpPr>
            <a:spLocks noGrp="1"/>
          </p:cNvSpPr>
          <p:nvPr/>
        </p:nvSpPr>
        <p:spPr>
          <a:xfrm>
            <a:off x="541776" y="4200844"/>
            <a:ext cx="2475479" cy="340923"/>
          </a:xfrm>
          <a:prstGeom prst="rect">
            <a:avLst/>
          </a:prstGeom>
          <a:noFill/>
          <a:ln w="12700">
            <a:solidFill>
              <a:srgbClr val="50565E"/>
            </a:solidFill>
            <a:prstDash val="dash"/>
          </a:ln>
        </p:spPr>
      </p:sp>
      <p:sp>
        <p:nvSpPr>
          <p:cNvPr id="627" name="文本框 626">
            <a:extLst>
              <a:ext uri="{FF2B5EF4-FFF2-40B4-BE49-F238E27FC236}">
                <a16:creationId xmlns:a16="http://schemas.microsoft.com/office/drawing/2014/main" id="{CDE7530D-5D3E-4CBD-8A5C-A04177B326EB}"/>
              </a:ext>
            </a:extLst>
          </p:cNvPr>
          <p:cNvSpPr txBox="1"/>
          <p:nvPr/>
        </p:nvSpPr>
        <p:spPr>
          <a:xfrm>
            <a:off x="2019271" y="4238728"/>
            <a:ext cx="9369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kern="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CS N-1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8" name="slide5-flit-blocked-inject-0">
            <a:extLst>
              <a:ext uri="{FF2B5EF4-FFF2-40B4-BE49-F238E27FC236}">
                <a16:creationId xmlns:a16="http://schemas.microsoft.com/office/drawing/2014/main" id="{B4C25D35-9650-4097-B0AB-15120BAB26F0}"/>
              </a:ext>
            </a:extLst>
          </p:cNvPr>
          <p:cNvSpPr>
            <a:spLocks noGrp="1" noChangeAspect="1"/>
          </p:cNvSpPr>
          <p:nvPr/>
        </p:nvSpPr>
        <p:spPr>
          <a:xfrm>
            <a:off x="589012" y="4239728"/>
            <a:ext cx="252000" cy="252000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1905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 sz="600" dirty="0"/>
          </a:p>
        </p:txBody>
      </p:sp>
      <p:sp>
        <p:nvSpPr>
          <p:cNvPr id="629" name="slide5-label-flit-blocked-inject-1">
            <a:extLst>
              <a:ext uri="{FF2B5EF4-FFF2-40B4-BE49-F238E27FC236}">
                <a16:creationId xmlns:a16="http://schemas.microsoft.com/office/drawing/2014/main" id="{20BA3DB6-24F7-4EE2-BB8A-CFF5868D5CDB}"/>
              </a:ext>
            </a:extLst>
          </p:cNvPr>
          <p:cNvSpPr>
            <a:spLocks noGrp="1"/>
          </p:cNvSpPr>
          <p:nvPr/>
        </p:nvSpPr>
        <p:spPr>
          <a:xfrm>
            <a:off x="541776" y="4289528"/>
            <a:ext cx="346472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4E8735"/>
                </a:solidFill>
                <a:latin typeface="Arial"/>
                <a:ea typeface="Arial"/>
                <a:cs typeface="Arial"/>
              </a:defRPr>
            </a:pPr>
            <a:r>
              <a:rPr lang="en-US" sz="1000" b="1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C </a:t>
            </a:r>
            <a:endParaRPr sz="1000" b="1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0" name="slide4-node-interface">
            <a:extLst>
              <a:ext uri="{FF2B5EF4-FFF2-40B4-BE49-F238E27FC236}">
                <a16:creationId xmlns:a16="http://schemas.microsoft.com/office/drawing/2014/main" id="{7DD8BB59-9240-4405-AFBE-D92E674C3F85}"/>
              </a:ext>
            </a:extLst>
          </p:cNvPr>
          <p:cNvSpPr>
            <a:spLocks noGrp="1"/>
          </p:cNvSpPr>
          <p:nvPr/>
        </p:nvSpPr>
        <p:spPr>
          <a:xfrm>
            <a:off x="535632" y="6099638"/>
            <a:ext cx="2475479" cy="340923"/>
          </a:xfrm>
          <a:prstGeom prst="rect">
            <a:avLst/>
          </a:prstGeom>
          <a:noFill/>
          <a:ln w="12700">
            <a:solidFill>
              <a:srgbClr val="50565E"/>
            </a:solidFill>
            <a:prstDash val="dash"/>
          </a:ln>
        </p:spPr>
      </p:sp>
      <p:sp>
        <p:nvSpPr>
          <p:cNvPr id="631" name="文本框 630">
            <a:extLst>
              <a:ext uri="{FF2B5EF4-FFF2-40B4-BE49-F238E27FC236}">
                <a16:creationId xmlns:a16="http://schemas.microsoft.com/office/drawing/2014/main" id="{85319E0C-0022-475D-BF28-4951FE2A6EC6}"/>
              </a:ext>
            </a:extLst>
          </p:cNvPr>
          <p:cNvSpPr txBox="1"/>
          <p:nvPr/>
        </p:nvSpPr>
        <p:spPr>
          <a:xfrm>
            <a:off x="2013127" y="6137522"/>
            <a:ext cx="9369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kern="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CS N+1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2" name="slide5-flit-blocked-inject-0">
            <a:extLst>
              <a:ext uri="{FF2B5EF4-FFF2-40B4-BE49-F238E27FC236}">
                <a16:creationId xmlns:a16="http://schemas.microsoft.com/office/drawing/2014/main" id="{255FB70B-14EE-4605-8DF3-4653498E8CFB}"/>
              </a:ext>
            </a:extLst>
          </p:cNvPr>
          <p:cNvSpPr>
            <a:spLocks noGrp="1" noChangeAspect="1"/>
          </p:cNvSpPr>
          <p:nvPr/>
        </p:nvSpPr>
        <p:spPr>
          <a:xfrm>
            <a:off x="582868" y="6138522"/>
            <a:ext cx="252000" cy="252000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1905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 sz="600" dirty="0"/>
          </a:p>
        </p:txBody>
      </p:sp>
      <p:sp>
        <p:nvSpPr>
          <p:cNvPr id="633" name="slide5-label-flit-blocked-inject-1">
            <a:extLst>
              <a:ext uri="{FF2B5EF4-FFF2-40B4-BE49-F238E27FC236}">
                <a16:creationId xmlns:a16="http://schemas.microsoft.com/office/drawing/2014/main" id="{2A6E132B-D683-42B8-B8A7-42436C0B0B5B}"/>
              </a:ext>
            </a:extLst>
          </p:cNvPr>
          <p:cNvSpPr>
            <a:spLocks noGrp="1"/>
          </p:cNvSpPr>
          <p:nvPr/>
        </p:nvSpPr>
        <p:spPr>
          <a:xfrm>
            <a:off x="541776" y="6195672"/>
            <a:ext cx="346472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4E8735"/>
                </a:solidFill>
                <a:latin typeface="Arial"/>
                <a:ea typeface="Arial"/>
                <a:cs typeface="Arial"/>
              </a:defRPr>
            </a:pPr>
            <a:r>
              <a:rPr lang="en-US" sz="1000" b="1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D </a:t>
            </a:r>
            <a:endParaRPr sz="1000" b="1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634" name="直接箭头连接符 633">
            <a:extLst>
              <a:ext uri="{FF2B5EF4-FFF2-40B4-BE49-F238E27FC236}">
                <a16:creationId xmlns:a16="http://schemas.microsoft.com/office/drawing/2014/main" id="{944ACB17-12F8-4C41-8955-838A09717CD6}"/>
              </a:ext>
            </a:extLst>
          </p:cNvPr>
          <p:cNvCxnSpPr>
            <a:cxnSpLocks/>
            <a:stCxn id="621" idx="4"/>
            <a:endCxn id="632" idx="0"/>
          </p:cNvCxnSpPr>
          <p:nvPr/>
        </p:nvCxnSpPr>
        <p:spPr>
          <a:xfrm>
            <a:off x="708868" y="5452576"/>
            <a:ext cx="0" cy="685946"/>
          </a:xfrm>
          <a:prstGeom prst="straightConnector1">
            <a:avLst/>
          </a:prstGeom>
          <a:noFill/>
          <a:ln w="19050" cap="flat" cmpd="sng" algn="ctr">
            <a:solidFill>
              <a:schemeClr val="accent6">
                <a:lumMod val="50000"/>
              </a:scheme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635" name="B5 tag mark">
            <a:extLst>
              <a:ext uri="{FF2B5EF4-FFF2-40B4-BE49-F238E27FC236}">
                <a16:creationId xmlns:a16="http://schemas.microsoft.com/office/drawing/2014/main" id="{BAD901DB-50B4-4449-BA94-89E85812A586}"/>
              </a:ext>
            </a:extLst>
          </p:cNvPr>
          <p:cNvSpPr>
            <a:spLocks noGrp="1"/>
          </p:cNvSpPr>
          <p:nvPr/>
        </p:nvSpPr>
        <p:spPr>
          <a:xfrm>
            <a:off x="1062882" y="6152878"/>
            <a:ext cx="533400" cy="195664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9050">
            <a:solidFill>
              <a:srgbClr val="7030A0"/>
            </a:solidFill>
            <a:prstDash val="solid"/>
          </a:ln>
        </p:spPr>
        <p:txBody>
          <a:bodyPr wrap="square" lIns="38100" tIns="19050" rIns="38100" bIns="19050" anchor="ctr">
            <a:normAutofit lnSpcReduction="10000"/>
          </a:bodyPr>
          <a:lstStyle/>
          <a:p>
            <a:pPr algn="ctr">
              <a:defRPr sz="900" b="1">
                <a:solidFill>
                  <a:srgbClr val="7030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dirty="0" err="1">
                <a:solidFill>
                  <a:srgbClr val="7030A0"/>
                </a:solidFill>
                <a:latin typeface="Microsoft YaHei"/>
                <a:ea typeface="Microsoft YaHei"/>
                <a:cs typeface="Microsoft YaHei"/>
              </a:rPr>
              <a:t>E</a:t>
            </a:r>
            <a:r>
              <a:rPr lang="en-US" sz="900" b="1" dirty="0" err="1">
                <a:solidFill>
                  <a:srgbClr val="7030A0"/>
                </a:solidFill>
                <a:latin typeface="Microsoft YaHei"/>
                <a:ea typeface="Microsoft YaHei"/>
                <a:cs typeface="Microsoft YaHei"/>
              </a:rPr>
              <a:t>_</a:t>
            </a:r>
            <a:r>
              <a:rPr lang="en-US" altLang="zh-CN" sz="900" b="1" dirty="0" err="1">
                <a:solidFill>
                  <a:srgbClr val="7030A0"/>
                </a:solidFill>
                <a:latin typeface="Microsoft YaHei"/>
                <a:ea typeface="Microsoft YaHei"/>
                <a:cs typeface="Microsoft YaHei"/>
              </a:rPr>
              <a:t>tag</a:t>
            </a:r>
            <a:endParaRPr sz="900" b="1" dirty="0">
              <a:solidFill>
                <a:srgbClr val="7030A0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636" name="slide5-e-tag-route-return-final">
            <a:extLst>
              <a:ext uri="{FF2B5EF4-FFF2-40B4-BE49-F238E27FC236}">
                <a16:creationId xmlns:a16="http://schemas.microsoft.com/office/drawing/2014/main" id="{C266D504-2B9F-4426-AC1E-AB8B2690C35E}"/>
              </a:ext>
            </a:extLst>
          </p:cNvPr>
          <p:cNvCxnSpPr>
            <a:cxnSpLocks/>
            <a:stCxn id="607" idx="4"/>
            <a:endCxn id="635" idx="0"/>
          </p:cNvCxnSpPr>
          <p:nvPr/>
        </p:nvCxnSpPr>
        <p:spPr>
          <a:xfrm flipH="1">
            <a:off x="1329582" y="5720862"/>
            <a:ext cx="56531" cy="432016"/>
          </a:xfrm>
          <a:prstGeom prst="straightConnector1">
            <a:avLst/>
          </a:prstGeom>
          <a:ln w="19050">
            <a:solidFill>
              <a:srgbClr val="7339AD"/>
            </a:solidFill>
            <a:prstDash val="solid"/>
            <a:tailEnd type="triangle" w="sm" len="sm"/>
          </a:ln>
        </p:spPr>
      </p:cxnSp>
      <p:sp>
        <p:nvSpPr>
          <p:cNvPr id="637" name="B5 tag mark">
            <a:extLst>
              <a:ext uri="{FF2B5EF4-FFF2-40B4-BE49-F238E27FC236}">
                <a16:creationId xmlns:a16="http://schemas.microsoft.com/office/drawing/2014/main" id="{42AB07DC-7820-4DA8-AD9E-8F9A067A0819}"/>
              </a:ext>
            </a:extLst>
          </p:cNvPr>
          <p:cNvSpPr>
            <a:spLocks noGrp="1"/>
          </p:cNvSpPr>
          <p:nvPr/>
        </p:nvSpPr>
        <p:spPr>
          <a:xfrm>
            <a:off x="1148624" y="4310592"/>
            <a:ext cx="533400" cy="195664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9050">
            <a:solidFill>
              <a:srgbClr val="7030A0"/>
            </a:solidFill>
            <a:prstDash val="solid"/>
          </a:ln>
        </p:spPr>
        <p:txBody>
          <a:bodyPr wrap="square" lIns="38100" tIns="19050" rIns="38100" bIns="19050" anchor="ctr">
            <a:normAutofit lnSpcReduction="10000"/>
          </a:bodyPr>
          <a:lstStyle/>
          <a:p>
            <a:pPr algn="ctr">
              <a:defRPr sz="900" b="1">
                <a:solidFill>
                  <a:srgbClr val="7030A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00" b="1" dirty="0">
                <a:solidFill>
                  <a:srgbClr val="548235"/>
                </a:solidFill>
                <a:latin typeface="Microsoft YaHei"/>
                <a:ea typeface="Microsoft YaHei"/>
                <a:cs typeface="Microsoft YaHei"/>
              </a:rPr>
              <a:t>I-tag</a:t>
            </a:r>
            <a:endParaRPr sz="900" b="1" dirty="0">
              <a:solidFill>
                <a:srgbClr val="7030A0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638" name="slide5-e-tag-route-return-final">
            <a:extLst>
              <a:ext uri="{FF2B5EF4-FFF2-40B4-BE49-F238E27FC236}">
                <a16:creationId xmlns:a16="http://schemas.microsoft.com/office/drawing/2014/main" id="{4CACDD10-EC92-4E21-883E-DEDE89A7F8D8}"/>
              </a:ext>
            </a:extLst>
          </p:cNvPr>
          <p:cNvCxnSpPr>
            <a:cxnSpLocks/>
            <a:stCxn id="592" idx="0"/>
            <a:endCxn id="637" idx="2"/>
          </p:cNvCxnSpPr>
          <p:nvPr/>
        </p:nvCxnSpPr>
        <p:spPr>
          <a:xfrm flipH="1" flipV="1">
            <a:off x="1415324" y="4506256"/>
            <a:ext cx="10491" cy="410793"/>
          </a:xfrm>
          <a:prstGeom prst="straightConnector1">
            <a:avLst/>
          </a:prstGeom>
          <a:ln w="19050">
            <a:solidFill>
              <a:srgbClr val="7339AD"/>
            </a:solidFill>
            <a:prstDash val="solid"/>
            <a:tailEnd type="triangle" w="sm" len="sm"/>
          </a:ln>
        </p:spPr>
      </p:cxnSp>
      <p:sp>
        <p:nvSpPr>
          <p:cNvPr id="639" name="矩形 638">
            <a:extLst>
              <a:ext uri="{FF2B5EF4-FFF2-40B4-BE49-F238E27FC236}">
                <a16:creationId xmlns:a16="http://schemas.microsoft.com/office/drawing/2014/main" id="{89A2E884-81F2-416C-A3AC-A6B57838B8B1}"/>
              </a:ext>
            </a:extLst>
          </p:cNvPr>
          <p:cNvSpPr/>
          <p:nvPr/>
        </p:nvSpPr>
        <p:spPr>
          <a:xfrm>
            <a:off x="4217135" y="5169376"/>
            <a:ext cx="1847087" cy="579439"/>
          </a:xfrm>
          <a:prstGeom prst="rect">
            <a:avLst/>
          </a:prstGeom>
          <a:solidFill>
            <a:srgbClr val="EDF1FD"/>
          </a:solidFill>
          <a:ln w="1905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18">
              <a:defRPr/>
            </a:pPr>
            <a:endParaRPr lang="zh-CN" altLang="en-US" sz="900" b="1" kern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40" name="矩形 639">
            <a:extLst>
              <a:ext uri="{FF2B5EF4-FFF2-40B4-BE49-F238E27FC236}">
                <a16:creationId xmlns:a16="http://schemas.microsoft.com/office/drawing/2014/main" id="{62948DEB-4442-4127-AFD8-E3C67AF5A635}"/>
              </a:ext>
            </a:extLst>
          </p:cNvPr>
          <p:cNvSpPr/>
          <p:nvPr/>
        </p:nvSpPr>
        <p:spPr>
          <a:xfrm>
            <a:off x="4220741" y="4495607"/>
            <a:ext cx="1847087" cy="599162"/>
          </a:xfrm>
          <a:prstGeom prst="rect">
            <a:avLst/>
          </a:prstGeom>
          <a:solidFill>
            <a:srgbClr val="EDF1FD"/>
          </a:solidFill>
          <a:ln w="1905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18">
              <a:defRPr/>
            </a:pPr>
            <a:endParaRPr lang="zh-CN" altLang="en-US" sz="900" b="1" kern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41" name="slide5-station-blocked">
            <a:extLst>
              <a:ext uri="{FF2B5EF4-FFF2-40B4-BE49-F238E27FC236}">
                <a16:creationId xmlns:a16="http://schemas.microsoft.com/office/drawing/2014/main" id="{DBDAC3DC-7ABD-40C2-9441-98EF1C2682A3}"/>
              </a:ext>
            </a:extLst>
          </p:cNvPr>
          <p:cNvSpPr>
            <a:spLocks noGrp="1"/>
          </p:cNvSpPr>
          <p:nvPr/>
        </p:nvSpPr>
        <p:spPr>
          <a:xfrm>
            <a:off x="3730309" y="4149007"/>
            <a:ext cx="2486841" cy="2249722"/>
          </a:xfrm>
          <a:prstGeom prst="rect">
            <a:avLst/>
          </a:prstGeom>
          <a:noFill/>
          <a:ln w="9525">
            <a:solidFill>
              <a:srgbClr val="202020"/>
            </a:solidFill>
            <a:prstDash val="dash"/>
          </a:ln>
        </p:spPr>
      </p:sp>
      <p:sp>
        <p:nvSpPr>
          <p:cNvPr id="642" name="slide5-anchor-e-tag-deflect-start">
            <a:extLst>
              <a:ext uri="{FF2B5EF4-FFF2-40B4-BE49-F238E27FC236}">
                <a16:creationId xmlns:a16="http://schemas.microsoft.com/office/drawing/2014/main" id="{186DAF24-1E89-4727-B7A5-2562BCA0EBFC}"/>
              </a:ext>
            </a:extLst>
          </p:cNvPr>
          <p:cNvSpPr>
            <a:spLocks noGrp="1"/>
          </p:cNvSpPr>
          <p:nvPr/>
        </p:nvSpPr>
        <p:spPr>
          <a:xfrm>
            <a:off x="3942117" y="5386865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643" name="slide5-anchor-e-tag-blocked-4">
            <a:extLst>
              <a:ext uri="{FF2B5EF4-FFF2-40B4-BE49-F238E27FC236}">
                <a16:creationId xmlns:a16="http://schemas.microsoft.com/office/drawing/2014/main" id="{2AF8CD26-2100-4B05-B5D8-C915E11601D9}"/>
              </a:ext>
            </a:extLst>
          </p:cNvPr>
          <p:cNvSpPr>
            <a:spLocks noGrp="1"/>
          </p:cNvSpPr>
          <p:nvPr/>
        </p:nvSpPr>
        <p:spPr>
          <a:xfrm>
            <a:off x="4006459" y="5756226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644" name="slide5-anchor-e-tag-blocked-5">
            <a:extLst>
              <a:ext uri="{FF2B5EF4-FFF2-40B4-BE49-F238E27FC236}">
                <a16:creationId xmlns:a16="http://schemas.microsoft.com/office/drawing/2014/main" id="{B3A74241-13B2-4D72-A563-E8DE07B3C4F0}"/>
              </a:ext>
            </a:extLst>
          </p:cNvPr>
          <p:cNvSpPr>
            <a:spLocks noGrp="1"/>
          </p:cNvSpPr>
          <p:nvPr/>
        </p:nvSpPr>
        <p:spPr>
          <a:xfrm>
            <a:off x="4208817" y="5596415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645" name="slide5-queue-label-blocked-inject">
            <a:extLst>
              <a:ext uri="{FF2B5EF4-FFF2-40B4-BE49-F238E27FC236}">
                <a16:creationId xmlns:a16="http://schemas.microsoft.com/office/drawing/2014/main" id="{8060ABBE-CB2D-4E9A-A26B-EC02690248E3}"/>
              </a:ext>
            </a:extLst>
          </p:cNvPr>
          <p:cNvSpPr>
            <a:spLocks noGrp="1"/>
          </p:cNvSpPr>
          <p:nvPr/>
        </p:nvSpPr>
        <p:spPr>
          <a:xfrm>
            <a:off x="3863249" y="4472448"/>
            <a:ext cx="2714625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303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kern="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Inject </a:t>
            </a:r>
            <a:r>
              <a:rPr lang="en-US" altLang="zh-CN" sz="1200" b="1" kern="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Queue</a:t>
            </a:r>
            <a:r>
              <a:rPr sz="1200" b="1" kern="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· local</a:t>
            </a:r>
          </a:p>
        </p:txBody>
      </p:sp>
      <p:sp>
        <p:nvSpPr>
          <p:cNvPr id="646" name="slide5-queue-label-blocked-eject">
            <a:extLst>
              <a:ext uri="{FF2B5EF4-FFF2-40B4-BE49-F238E27FC236}">
                <a16:creationId xmlns:a16="http://schemas.microsoft.com/office/drawing/2014/main" id="{52D49185-4778-4FB0-84D5-CA1C34A52383}"/>
              </a:ext>
            </a:extLst>
          </p:cNvPr>
          <p:cNvSpPr>
            <a:spLocks noGrp="1"/>
          </p:cNvSpPr>
          <p:nvPr/>
        </p:nvSpPr>
        <p:spPr>
          <a:xfrm>
            <a:off x="4402799" y="5510697"/>
            <a:ext cx="1660218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303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kern="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Eject Queue · full</a:t>
            </a:r>
          </a:p>
        </p:txBody>
      </p:sp>
      <p:sp>
        <p:nvSpPr>
          <p:cNvPr id="647" name="slide5-queue-frame-blocked-inject">
            <a:extLst>
              <a:ext uri="{FF2B5EF4-FFF2-40B4-BE49-F238E27FC236}">
                <a16:creationId xmlns:a16="http://schemas.microsoft.com/office/drawing/2014/main" id="{19D01822-A40D-4FEE-88BE-DDC2B4BFD377}"/>
              </a:ext>
            </a:extLst>
          </p:cNvPr>
          <p:cNvSpPr>
            <a:spLocks noGrp="1"/>
          </p:cNvSpPr>
          <p:nvPr/>
        </p:nvSpPr>
        <p:spPr>
          <a:xfrm>
            <a:off x="4336209" y="4693763"/>
            <a:ext cx="327425" cy="323850"/>
          </a:xfrm>
          <a:prstGeom prst="rect">
            <a:avLst/>
          </a:prstGeom>
          <a:solidFill>
            <a:srgbClr val="FFFFFF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648" name="slide5-queue-frame-blocked-inject">
            <a:extLst>
              <a:ext uri="{FF2B5EF4-FFF2-40B4-BE49-F238E27FC236}">
                <a16:creationId xmlns:a16="http://schemas.microsoft.com/office/drawing/2014/main" id="{5893B33C-B44F-4940-99DF-05E30FD2039B}"/>
              </a:ext>
            </a:extLst>
          </p:cNvPr>
          <p:cNvSpPr>
            <a:spLocks noGrp="1"/>
          </p:cNvSpPr>
          <p:nvPr/>
        </p:nvSpPr>
        <p:spPr>
          <a:xfrm>
            <a:off x="4659655" y="4693763"/>
            <a:ext cx="327425" cy="323850"/>
          </a:xfrm>
          <a:prstGeom prst="rect">
            <a:avLst/>
          </a:prstGeom>
          <a:solidFill>
            <a:srgbClr val="FFFFFF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649" name="slide5-flit-blocked-inject-0">
            <a:extLst>
              <a:ext uri="{FF2B5EF4-FFF2-40B4-BE49-F238E27FC236}">
                <a16:creationId xmlns:a16="http://schemas.microsoft.com/office/drawing/2014/main" id="{80E8C432-DBAA-4FED-8E86-54FA513782C7}"/>
              </a:ext>
            </a:extLst>
          </p:cNvPr>
          <p:cNvSpPr>
            <a:spLocks noGrp="1" noChangeAspect="1"/>
          </p:cNvSpPr>
          <p:nvPr/>
        </p:nvSpPr>
        <p:spPr>
          <a:xfrm>
            <a:off x="4695378" y="4728685"/>
            <a:ext cx="252000" cy="252000"/>
          </a:xfrm>
          <a:prstGeom prst="ellipse">
            <a:avLst/>
          </a:prstGeom>
          <a:solidFill>
            <a:srgbClr val="EFF6EA"/>
          </a:solidFill>
          <a:ln w="19050">
            <a:solidFill>
              <a:srgbClr val="4E8735"/>
            </a:solidFill>
            <a:prstDash val="solid"/>
          </a:ln>
        </p:spPr>
        <p:txBody>
          <a:bodyPr/>
          <a:lstStyle/>
          <a:p>
            <a:endParaRPr lang="zh-CN" altLang="en-US" sz="600" dirty="0"/>
          </a:p>
        </p:txBody>
      </p:sp>
      <p:sp>
        <p:nvSpPr>
          <p:cNvPr id="650" name="slide5-label-flit-blocked-inject-1">
            <a:extLst>
              <a:ext uri="{FF2B5EF4-FFF2-40B4-BE49-F238E27FC236}">
                <a16:creationId xmlns:a16="http://schemas.microsoft.com/office/drawing/2014/main" id="{F351566F-08BE-44B6-A009-55DE5D9A3CBD}"/>
              </a:ext>
            </a:extLst>
          </p:cNvPr>
          <p:cNvSpPr>
            <a:spLocks noGrp="1"/>
          </p:cNvSpPr>
          <p:nvPr/>
        </p:nvSpPr>
        <p:spPr>
          <a:xfrm>
            <a:off x="4654881" y="4776312"/>
            <a:ext cx="346472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4E8735"/>
                </a:solidFill>
                <a:latin typeface="Arial"/>
                <a:ea typeface="Arial"/>
                <a:cs typeface="Arial"/>
              </a:defRPr>
            </a:pPr>
            <a:r>
              <a:rPr sz="1000" b="1" dirty="0">
                <a:solidFill>
                  <a:srgbClr val="4E8735"/>
                </a:solidFill>
                <a:latin typeface="Arial"/>
                <a:ea typeface="Arial"/>
                <a:cs typeface="Arial"/>
              </a:rPr>
              <a:t>A</a:t>
            </a:r>
            <a:r>
              <a:rPr lang="en-US" sz="1000" b="1" dirty="0">
                <a:solidFill>
                  <a:srgbClr val="4E8735"/>
                </a:solidFill>
                <a:latin typeface="Arial"/>
                <a:ea typeface="Arial"/>
                <a:cs typeface="Arial"/>
              </a:rPr>
              <a:t>2</a:t>
            </a:r>
            <a:endParaRPr sz="1000" b="1" dirty="0">
              <a:solidFill>
                <a:srgbClr val="4E873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1" name="slide5-queue-frame-blocked-inject">
            <a:extLst>
              <a:ext uri="{FF2B5EF4-FFF2-40B4-BE49-F238E27FC236}">
                <a16:creationId xmlns:a16="http://schemas.microsoft.com/office/drawing/2014/main" id="{4139F446-83A4-457B-81A7-544F4C4F16AE}"/>
              </a:ext>
            </a:extLst>
          </p:cNvPr>
          <p:cNvSpPr>
            <a:spLocks noGrp="1"/>
          </p:cNvSpPr>
          <p:nvPr/>
        </p:nvSpPr>
        <p:spPr>
          <a:xfrm>
            <a:off x="4988686" y="4693763"/>
            <a:ext cx="327425" cy="323850"/>
          </a:xfrm>
          <a:prstGeom prst="rect">
            <a:avLst/>
          </a:prstGeom>
          <a:solidFill>
            <a:srgbClr val="FFFFFF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652" name="slide5-flit-blocked-inject-0">
            <a:extLst>
              <a:ext uri="{FF2B5EF4-FFF2-40B4-BE49-F238E27FC236}">
                <a16:creationId xmlns:a16="http://schemas.microsoft.com/office/drawing/2014/main" id="{BC6732BF-67A2-461F-A0AE-C99FA50031B3}"/>
              </a:ext>
            </a:extLst>
          </p:cNvPr>
          <p:cNvSpPr>
            <a:spLocks noGrp="1" noChangeAspect="1"/>
          </p:cNvSpPr>
          <p:nvPr/>
        </p:nvSpPr>
        <p:spPr>
          <a:xfrm>
            <a:off x="5024409" y="4728685"/>
            <a:ext cx="252000" cy="252000"/>
          </a:xfrm>
          <a:prstGeom prst="ellipse">
            <a:avLst/>
          </a:prstGeom>
          <a:solidFill>
            <a:srgbClr val="EFF6EA"/>
          </a:solidFill>
          <a:ln w="19050">
            <a:solidFill>
              <a:srgbClr val="4E8735"/>
            </a:solidFill>
            <a:prstDash val="solid"/>
          </a:ln>
        </p:spPr>
        <p:txBody>
          <a:bodyPr/>
          <a:lstStyle/>
          <a:p>
            <a:endParaRPr lang="zh-CN" altLang="en-US" sz="600" dirty="0"/>
          </a:p>
        </p:txBody>
      </p:sp>
      <p:sp>
        <p:nvSpPr>
          <p:cNvPr id="653" name="slide5-label-flit-blocked-inject-1">
            <a:extLst>
              <a:ext uri="{FF2B5EF4-FFF2-40B4-BE49-F238E27FC236}">
                <a16:creationId xmlns:a16="http://schemas.microsoft.com/office/drawing/2014/main" id="{817E1EF3-D35D-4B02-8CC6-23A8FA4464A6}"/>
              </a:ext>
            </a:extLst>
          </p:cNvPr>
          <p:cNvSpPr>
            <a:spLocks noGrp="1"/>
          </p:cNvSpPr>
          <p:nvPr/>
        </p:nvSpPr>
        <p:spPr>
          <a:xfrm>
            <a:off x="4983912" y="4776312"/>
            <a:ext cx="346472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4E8735"/>
                </a:solidFill>
                <a:latin typeface="Arial"/>
                <a:ea typeface="Arial"/>
                <a:cs typeface="Arial"/>
              </a:defRPr>
            </a:pPr>
            <a:r>
              <a:rPr sz="1000" b="1" dirty="0">
                <a:solidFill>
                  <a:srgbClr val="4E8735"/>
                </a:solidFill>
                <a:latin typeface="Arial"/>
                <a:ea typeface="Arial"/>
                <a:cs typeface="Arial"/>
              </a:rPr>
              <a:t>A</a:t>
            </a:r>
            <a:r>
              <a:rPr lang="en-US" sz="1000" b="1" dirty="0">
                <a:solidFill>
                  <a:srgbClr val="4E8735"/>
                </a:solidFill>
                <a:latin typeface="Arial"/>
                <a:ea typeface="Arial"/>
                <a:cs typeface="Arial"/>
              </a:rPr>
              <a:t>3</a:t>
            </a:r>
            <a:endParaRPr sz="1000" b="1" dirty="0">
              <a:solidFill>
                <a:srgbClr val="4E873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4" name="slide5-queue-frame-blocked-inject">
            <a:extLst>
              <a:ext uri="{FF2B5EF4-FFF2-40B4-BE49-F238E27FC236}">
                <a16:creationId xmlns:a16="http://schemas.microsoft.com/office/drawing/2014/main" id="{A07B4D42-65AB-4622-B8FF-0BC55855951A}"/>
              </a:ext>
            </a:extLst>
          </p:cNvPr>
          <p:cNvSpPr>
            <a:spLocks noGrp="1"/>
          </p:cNvSpPr>
          <p:nvPr/>
        </p:nvSpPr>
        <p:spPr>
          <a:xfrm>
            <a:off x="5312132" y="4693763"/>
            <a:ext cx="327425" cy="323850"/>
          </a:xfrm>
          <a:prstGeom prst="rect">
            <a:avLst/>
          </a:prstGeom>
          <a:solidFill>
            <a:srgbClr val="FFFFFF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655" name="slide5-flit-blocked-inject-0">
            <a:extLst>
              <a:ext uri="{FF2B5EF4-FFF2-40B4-BE49-F238E27FC236}">
                <a16:creationId xmlns:a16="http://schemas.microsoft.com/office/drawing/2014/main" id="{8D88D100-DA3B-4ABF-BD3A-33BF2F4EDA92}"/>
              </a:ext>
            </a:extLst>
          </p:cNvPr>
          <p:cNvSpPr>
            <a:spLocks noGrp="1" noChangeAspect="1"/>
          </p:cNvSpPr>
          <p:nvPr/>
        </p:nvSpPr>
        <p:spPr>
          <a:xfrm>
            <a:off x="5347855" y="4728685"/>
            <a:ext cx="252000" cy="252000"/>
          </a:xfrm>
          <a:prstGeom prst="ellipse">
            <a:avLst/>
          </a:prstGeom>
          <a:solidFill>
            <a:srgbClr val="EFF6EA"/>
          </a:solidFill>
          <a:ln w="19050">
            <a:solidFill>
              <a:srgbClr val="4E8735"/>
            </a:solidFill>
            <a:prstDash val="solid"/>
          </a:ln>
        </p:spPr>
        <p:txBody>
          <a:bodyPr/>
          <a:lstStyle/>
          <a:p>
            <a:endParaRPr lang="zh-CN" altLang="en-US" sz="600" dirty="0"/>
          </a:p>
        </p:txBody>
      </p:sp>
      <p:sp>
        <p:nvSpPr>
          <p:cNvPr id="656" name="slide5-label-flit-blocked-inject-1">
            <a:extLst>
              <a:ext uri="{FF2B5EF4-FFF2-40B4-BE49-F238E27FC236}">
                <a16:creationId xmlns:a16="http://schemas.microsoft.com/office/drawing/2014/main" id="{E64374F1-22DE-4BA8-841E-04FD7A387037}"/>
              </a:ext>
            </a:extLst>
          </p:cNvPr>
          <p:cNvSpPr>
            <a:spLocks noGrp="1"/>
          </p:cNvSpPr>
          <p:nvPr/>
        </p:nvSpPr>
        <p:spPr>
          <a:xfrm>
            <a:off x="5307358" y="4776312"/>
            <a:ext cx="346472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4E8735"/>
                </a:solidFill>
                <a:latin typeface="Arial"/>
                <a:ea typeface="Arial"/>
                <a:cs typeface="Arial"/>
              </a:defRPr>
            </a:pPr>
            <a:r>
              <a:rPr sz="1000" b="1" dirty="0">
                <a:solidFill>
                  <a:srgbClr val="4E8735"/>
                </a:solidFill>
                <a:latin typeface="Arial"/>
                <a:ea typeface="Arial"/>
                <a:cs typeface="Arial"/>
              </a:rPr>
              <a:t>A</a:t>
            </a:r>
            <a:r>
              <a:rPr lang="en-US" sz="1000" b="1" dirty="0">
                <a:solidFill>
                  <a:srgbClr val="4E8735"/>
                </a:solidFill>
                <a:latin typeface="Arial"/>
                <a:ea typeface="Arial"/>
                <a:cs typeface="Arial"/>
              </a:rPr>
              <a:t>4</a:t>
            </a:r>
            <a:endParaRPr sz="1000" b="1" dirty="0">
              <a:solidFill>
                <a:srgbClr val="4E873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7" name="slide5-queue-frame-blocked-inject">
            <a:extLst>
              <a:ext uri="{FF2B5EF4-FFF2-40B4-BE49-F238E27FC236}">
                <a16:creationId xmlns:a16="http://schemas.microsoft.com/office/drawing/2014/main" id="{D305AA98-81D9-49C4-8E5E-6B3A1E8CB4AE}"/>
              </a:ext>
            </a:extLst>
          </p:cNvPr>
          <p:cNvSpPr>
            <a:spLocks noGrp="1"/>
          </p:cNvSpPr>
          <p:nvPr/>
        </p:nvSpPr>
        <p:spPr>
          <a:xfrm>
            <a:off x="5639566" y="4693763"/>
            <a:ext cx="327425" cy="323850"/>
          </a:xfrm>
          <a:prstGeom prst="rect">
            <a:avLst/>
          </a:prstGeom>
          <a:solidFill>
            <a:srgbClr val="FFFFFF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658" name="slide5-flit-blocked-inject-0">
            <a:extLst>
              <a:ext uri="{FF2B5EF4-FFF2-40B4-BE49-F238E27FC236}">
                <a16:creationId xmlns:a16="http://schemas.microsoft.com/office/drawing/2014/main" id="{09C02B31-4F73-4D51-8A76-EC9978638CE1}"/>
              </a:ext>
            </a:extLst>
          </p:cNvPr>
          <p:cNvSpPr>
            <a:spLocks noGrp="1" noChangeAspect="1"/>
          </p:cNvSpPr>
          <p:nvPr/>
        </p:nvSpPr>
        <p:spPr>
          <a:xfrm>
            <a:off x="5675289" y="4728685"/>
            <a:ext cx="252000" cy="252000"/>
          </a:xfrm>
          <a:prstGeom prst="ellipse">
            <a:avLst/>
          </a:prstGeom>
          <a:solidFill>
            <a:srgbClr val="EFF6EA"/>
          </a:solidFill>
          <a:ln w="19050">
            <a:solidFill>
              <a:srgbClr val="4E8735"/>
            </a:solidFill>
            <a:prstDash val="solid"/>
          </a:ln>
        </p:spPr>
        <p:txBody>
          <a:bodyPr/>
          <a:lstStyle/>
          <a:p>
            <a:endParaRPr lang="zh-CN" altLang="en-US" sz="600" dirty="0"/>
          </a:p>
        </p:txBody>
      </p:sp>
      <p:sp>
        <p:nvSpPr>
          <p:cNvPr id="659" name="slide5-label-flit-blocked-inject-1">
            <a:extLst>
              <a:ext uri="{FF2B5EF4-FFF2-40B4-BE49-F238E27FC236}">
                <a16:creationId xmlns:a16="http://schemas.microsoft.com/office/drawing/2014/main" id="{F7392B5F-81B8-45A8-ACBA-3C45C873D445}"/>
              </a:ext>
            </a:extLst>
          </p:cNvPr>
          <p:cNvSpPr>
            <a:spLocks noGrp="1"/>
          </p:cNvSpPr>
          <p:nvPr/>
        </p:nvSpPr>
        <p:spPr>
          <a:xfrm>
            <a:off x="5634792" y="4776312"/>
            <a:ext cx="346472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4E8735"/>
                </a:solidFill>
                <a:latin typeface="Arial"/>
                <a:ea typeface="Arial"/>
                <a:cs typeface="Arial"/>
              </a:defRPr>
            </a:pPr>
            <a:r>
              <a:rPr sz="1000" b="1" dirty="0">
                <a:solidFill>
                  <a:srgbClr val="4E8735"/>
                </a:solidFill>
                <a:latin typeface="Arial"/>
                <a:ea typeface="Arial"/>
                <a:cs typeface="Arial"/>
              </a:rPr>
              <a:t>A</a:t>
            </a:r>
            <a:r>
              <a:rPr lang="en-US" sz="1000" b="1" dirty="0">
                <a:solidFill>
                  <a:srgbClr val="4E8735"/>
                </a:solidFill>
                <a:latin typeface="Arial"/>
                <a:ea typeface="Arial"/>
                <a:cs typeface="Arial"/>
              </a:rPr>
              <a:t>5</a:t>
            </a:r>
            <a:endParaRPr sz="1000" b="1" dirty="0">
              <a:solidFill>
                <a:srgbClr val="4E873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0" name="slide5-queue-frame-blocked-inject">
            <a:extLst>
              <a:ext uri="{FF2B5EF4-FFF2-40B4-BE49-F238E27FC236}">
                <a16:creationId xmlns:a16="http://schemas.microsoft.com/office/drawing/2014/main" id="{4B895617-6FAE-482A-8585-B5C8F0442474}"/>
              </a:ext>
            </a:extLst>
          </p:cNvPr>
          <p:cNvSpPr>
            <a:spLocks noGrp="1"/>
          </p:cNvSpPr>
          <p:nvPr/>
        </p:nvSpPr>
        <p:spPr>
          <a:xfrm>
            <a:off x="4296507" y="5245576"/>
            <a:ext cx="327425" cy="323850"/>
          </a:xfrm>
          <a:prstGeom prst="rect">
            <a:avLst/>
          </a:prstGeom>
          <a:solidFill>
            <a:srgbClr val="FFFFFF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661" name="slide5-queue-frame-blocked-inject">
            <a:extLst>
              <a:ext uri="{FF2B5EF4-FFF2-40B4-BE49-F238E27FC236}">
                <a16:creationId xmlns:a16="http://schemas.microsoft.com/office/drawing/2014/main" id="{8D0C3144-912A-417B-9750-18475C01E19B}"/>
              </a:ext>
            </a:extLst>
          </p:cNvPr>
          <p:cNvSpPr>
            <a:spLocks noGrp="1"/>
          </p:cNvSpPr>
          <p:nvPr/>
        </p:nvSpPr>
        <p:spPr>
          <a:xfrm>
            <a:off x="4619953" y="5245576"/>
            <a:ext cx="327425" cy="323850"/>
          </a:xfrm>
          <a:prstGeom prst="rect">
            <a:avLst/>
          </a:prstGeom>
          <a:solidFill>
            <a:srgbClr val="FFFFFF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662" name="slide5-flit-blocked-inject-0">
            <a:extLst>
              <a:ext uri="{FF2B5EF4-FFF2-40B4-BE49-F238E27FC236}">
                <a16:creationId xmlns:a16="http://schemas.microsoft.com/office/drawing/2014/main" id="{6F29916D-8C8D-4EA4-BCC8-26D14D04A232}"/>
              </a:ext>
            </a:extLst>
          </p:cNvPr>
          <p:cNvSpPr>
            <a:spLocks noGrp="1" noChangeAspect="1"/>
          </p:cNvSpPr>
          <p:nvPr/>
        </p:nvSpPr>
        <p:spPr>
          <a:xfrm>
            <a:off x="4655676" y="5280498"/>
            <a:ext cx="252000" cy="252000"/>
          </a:xfrm>
          <a:prstGeom prst="ellipse">
            <a:avLst/>
          </a:prstGeom>
          <a:solidFill>
            <a:srgbClr val="FFF3EA"/>
          </a:solidFill>
          <a:ln w="1905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zh-CN" altLang="en-US" sz="600" dirty="0"/>
          </a:p>
        </p:txBody>
      </p:sp>
      <p:sp>
        <p:nvSpPr>
          <p:cNvPr id="663" name="slide5-label-flit-blocked-inject-1">
            <a:extLst>
              <a:ext uri="{FF2B5EF4-FFF2-40B4-BE49-F238E27FC236}">
                <a16:creationId xmlns:a16="http://schemas.microsoft.com/office/drawing/2014/main" id="{2A916172-65EE-4F4E-9795-369F1F65D577}"/>
              </a:ext>
            </a:extLst>
          </p:cNvPr>
          <p:cNvSpPr>
            <a:spLocks noGrp="1"/>
          </p:cNvSpPr>
          <p:nvPr/>
        </p:nvSpPr>
        <p:spPr>
          <a:xfrm>
            <a:off x="4615179" y="5328125"/>
            <a:ext cx="346472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4E8735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000" b="1" dirty="0">
                <a:solidFill>
                  <a:srgbClr val="D86A25"/>
                </a:solidFill>
                <a:latin typeface="Arial"/>
                <a:ea typeface="Arial"/>
                <a:cs typeface="Arial"/>
              </a:rPr>
              <a:t>B5</a:t>
            </a:r>
            <a:endParaRPr sz="1000" b="1" dirty="0">
              <a:solidFill>
                <a:srgbClr val="D86A2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4" name="slide5-queue-frame-blocked-inject">
            <a:extLst>
              <a:ext uri="{FF2B5EF4-FFF2-40B4-BE49-F238E27FC236}">
                <a16:creationId xmlns:a16="http://schemas.microsoft.com/office/drawing/2014/main" id="{861188C5-D6C6-46A4-94C2-61CADF4C7DF5}"/>
              </a:ext>
            </a:extLst>
          </p:cNvPr>
          <p:cNvSpPr>
            <a:spLocks noGrp="1"/>
          </p:cNvSpPr>
          <p:nvPr/>
        </p:nvSpPr>
        <p:spPr>
          <a:xfrm>
            <a:off x="4948984" y="5245576"/>
            <a:ext cx="327425" cy="323850"/>
          </a:xfrm>
          <a:prstGeom prst="rect">
            <a:avLst/>
          </a:prstGeom>
          <a:solidFill>
            <a:srgbClr val="FFFFFF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665" name="slide5-flit-blocked-inject-0">
            <a:extLst>
              <a:ext uri="{FF2B5EF4-FFF2-40B4-BE49-F238E27FC236}">
                <a16:creationId xmlns:a16="http://schemas.microsoft.com/office/drawing/2014/main" id="{552909A4-B93A-43E3-8C6A-08225CAF9051}"/>
              </a:ext>
            </a:extLst>
          </p:cNvPr>
          <p:cNvSpPr>
            <a:spLocks noGrp="1" noChangeAspect="1"/>
          </p:cNvSpPr>
          <p:nvPr/>
        </p:nvSpPr>
        <p:spPr>
          <a:xfrm>
            <a:off x="4984707" y="5280498"/>
            <a:ext cx="252000" cy="252000"/>
          </a:xfrm>
          <a:prstGeom prst="ellipse">
            <a:avLst/>
          </a:prstGeom>
          <a:solidFill>
            <a:srgbClr val="FFF3EA"/>
          </a:solidFill>
          <a:ln w="1905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zh-CN" altLang="en-US" sz="600" dirty="0"/>
          </a:p>
        </p:txBody>
      </p:sp>
      <p:sp>
        <p:nvSpPr>
          <p:cNvPr id="666" name="slide5-label-flit-blocked-inject-1">
            <a:extLst>
              <a:ext uri="{FF2B5EF4-FFF2-40B4-BE49-F238E27FC236}">
                <a16:creationId xmlns:a16="http://schemas.microsoft.com/office/drawing/2014/main" id="{CB078BAC-78D5-4A5E-9A3A-88102F609FE5}"/>
              </a:ext>
            </a:extLst>
          </p:cNvPr>
          <p:cNvSpPr>
            <a:spLocks noGrp="1"/>
          </p:cNvSpPr>
          <p:nvPr/>
        </p:nvSpPr>
        <p:spPr>
          <a:xfrm>
            <a:off x="4944210" y="5328125"/>
            <a:ext cx="346472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4E8735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000" b="1" dirty="0">
                <a:solidFill>
                  <a:srgbClr val="D86A25"/>
                </a:solidFill>
                <a:latin typeface="Arial"/>
                <a:ea typeface="Arial"/>
                <a:cs typeface="Arial"/>
              </a:rPr>
              <a:t>B4</a:t>
            </a:r>
            <a:endParaRPr sz="1000" b="1" dirty="0">
              <a:solidFill>
                <a:srgbClr val="D86A2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7" name="slide5-queue-frame-blocked-inject">
            <a:extLst>
              <a:ext uri="{FF2B5EF4-FFF2-40B4-BE49-F238E27FC236}">
                <a16:creationId xmlns:a16="http://schemas.microsoft.com/office/drawing/2014/main" id="{3430DF3E-E564-41FE-919A-CD98F781978E}"/>
              </a:ext>
            </a:extLst>
          </p:cNvPr>
          <p:cNvSpPr>
            <a:spLocks noGrp="1"/>
          </p:cNvSpPr>
          <p:nvPr/>
        </p:nvSpPr>
        <p:spPr>
          <a:xfrm>
            <a:off x="5272430" y="5245576"/>
            <a:ext cx="327425" cy="323850"/>
          </a:xfrm>
          <a:prstGeom prst="rect">
            <a:avLst/>
          </a:prstGeom>
          <a:solidFill>
            <a:srgbClr val="FFFFFF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668" name="slide5-flit-blocked-inject-0">
            <a:extLst>
              <a:ext uri="{FF2B5EF4-FFF2-40B4-BE49-F238E27FC236}">
                <a16:creationId xmlns:a16="http://schemas.microsoft.com/office/drawing/2014/main" id="{F7E66B3B-D940-4C9C-86CE-E3EDE9B37834}"/>
              </a:ext>
            </a:extLst>
          </p:cNvPr>
          <p:cNvSpPr>
            <a:spLocks noGrp="1" noChangeAspect="1"/>
          </p:cNvSpPr>
          <p:nvPr/>
        </p:nvSpPr>
        <p:spPr>
          <a:xfrm>
            <a:off x="5308153" y="5280498"/>
            <a:ext cx="252000" cy="252000"/>
          </a:xfrm>
          <a:prstGeom prst="ellipse">
            <a:avLst/>
          </a:prstGeom>
          <a:solidFill>
            <a:srgbClr val="FFF3EA"/>
          </a:solidFill>
          <a:ln w="1905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zh-CN" altLang="en-US" sz="600" dirty="0"/>
          </a:p>
        </p:txBody>
      </p:sp>
      <p:sp>
        <p:nvSpPr>
          <p:cNvPr id="669" name="slide5-label-flit-blocked-inject-1">
            <a:extLst>
              <a:ext uri="{FF2B5EF4-FFF2-40B4-BE49-F238E27FC236}">
                <a16:creationId xmlns:a16="http://schemas.microsoft.com/office/drawing/2014/main" id="{1E18EEAB-7913-4B7A-8804-27BBAD3E8D0F}"/>
              </a:ext>
            </a:extLst>
          </p:cNvPr>
          <p:cNvSpPr>
            <a:spLocks noGrp="1"/>
          </p:cNvSpPr>
          <p:nvPr/>
        </p:nvSpPr>
        <p:spPr>
          <a:xfrm>
            <a:off x="5267656" y="5328125"/>
            <a:ext cx="346472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4E8735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000" b="1" dirty="0">
                <a:solidFill>
                  <a:srgbClr val="D86A25"/>
                </a:solidFill>
                <a:latin typeface="Arial"/>
                <a:ea typeface="Arial"/>
                <a:cs typeface="Arial"/>
              </a:rPr>
              <a:t>B3</a:t>
            </a:r>
            <a:endParaRPr sz="1000" b="1" dirty="0">
              <a:solidFill>
                <a:srgbClr val="D86A2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0" name="slide5-queue-frame-blocked-inject">
            <a:extLst>
              <a:ext uri="{FF2B5EF4-FFF2-40B4-BE49-F238E27FC236}">
                <a16:creationId xmlns:a16="http://schemas.microsoft.com/office/drawing/2014/main" id="{AEC78860-E987-406B-99CD-486FC7C5ED3B}"/>
              </a:ext>
            </a:extLst>
          </p:cNvPr>
          <p:cNvSpPr>
            <a:spLocks noGrp="1"/>
          </p:cNvSpPr>
          <p:nvPr/>
        </p:nvSpPr>
        <p:spPr>
          <a:xfrm>
            <a:off x="5599864" y="5245576"/>
            <a:ext cx="327425" cy="323850"/>
          </a:xfrm>
          <a:prstGeom prst="rect">
            <a:avLst/>
          </a:prstGeom>
          <a:solidFill>
            <a:srgbClr val="FFFFFF"/>
          </a:solidFill>
          <a:ln w="15875">
            <a:solidFill>
              <a:schemeClr val="tx1"/>
            </a:solidFill>
            <a:prstDash val="solid"/>
          </a:ln>
        </p:spPr>
      </p:sp>
      <p:sp>
        <p:nvSpPr>
          <p:cNvPr id="671" name="slide5-flit-blocked-inject-0">
            <a:extLst>
              <a:ext uri="{FF2B5EF4-FFF2-40B4-BE49-F238E27FC236}">
                <a16:creationId xmlns:a16="http://schemas.microsoft.com/office/drawing/2014/main" id="{5839F619-3D1A-464A-8E09-80D61F83FE4F}"/>
              </a:ext>
            </a:extLst>
          </p:cNvPr>
          <p:cNvSpPr>
            <a:spLocks noGrp="1" noChangeAspect="1"/>
          </p:cNvSpPr>
          <p:nvPr/>
        </p:nvSpPr>
        <p:spPr>
          <a:xfrm>
            <a:off x="5635587" y="5280498"/>
            <a:ext cx="252000" cy="252000"/>
          </a:xfrm>
          <a:prstGeom prst="ellipse">
            <a:avLst/>
          </a:prstGeom>
          <a:solidFill>
            <a:srgbClr val="FFF3EA"/>
          </a:solidFill>
          <a:ln w="1905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zh-CN" altLang="en-US" sz="600" dirty="0"/>
          </a:p>
        </p:txBody>
      </p:sp>
      <p:sp>
        <p:nvSpPr>
          <p:cNvPr id="672" name="slide5-label-flit-blocked-inject-1">
            <a:extLst>
              <a:ext uri="{FF2B5EF4-FFF2-40B4-BE49-F238E27FC236}">
                <a16:creationId xmlns:a16="http://schemas.microsoft.com/office/drawing/2014/main" id="{5E17B4D6-DC33-4CF2-89C0-EF3DF161229D}"/>
              </a:ext>
            </a:extLst>
          </p:cNvPr>
          <p:cNvSpPr>
            <a:spLocks noGrp="1"/>
          </p:cNvSpPr>
          <p:nvPr/>
        </p:nvSpPr>
        <p:spPr>
          <a:xfrm>
            <a:off x="5595090" y="5328125"/>
            <a:ext cx="346472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4E8735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000" b="1" dirty="0">
                <a:solidFill>
                  <a:srgbClr val="D86A25"/>
                </a:solidFill>
                <a:latin typeface="Arial"/>
                <a:ea typeface="Arial"/>
                <a:cs typeface="Arial"/>
              </a:rPr>
              <a:t>B2</a:t>
            </a:r>
            <a:endParaRPr sz="1000" b="1" dirty="0">
              <a:solidFill>
                <a:srgbClr val="D86A2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3" name="slide5-flit-blocked-inject-0">
            <a:extLst>
              <a:ext uri="{FF2B5EF4-FFF2-40B4-BE49-F238E27FC236}">
                <a16:creationId xmlns:a16="http://schemas.microsoft.com/office/drawing/2014/main" id="{BB8A507A-B9DE-4E4D-AB02-B65EC99609BB}"/>
              </a:ext>
            </a:extLst>
          </p:cNvPr>
          <p:cNvSpPr>
            <a:spLocks noGrp="1" noChangeAspect="1"/>
          </p:cNvSpPr>
          <p:nvPr/>
        </p:nvSpPr>
        <p:spPr>
          <a:xfrm>
            <a:off x="4321588" y="5281617"/>
            <a:ext cx="252000" cy="252000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1905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zh-CN" altLang="en-US" sz="600" dirty="0"/>
          </a:p>
        </p:txBody>
      </p:sp>
      <p:sp>
        <p:nvSpPr>
          <p:cNvPr id="674" name="slide5-label-flit-blocked-inject-1">
            <a:extLst>
              <a:ext uri="{FF2B5EF4-FFF2-40B4-BE49-F238E27FC236}">
                <a16:creationId xmlns:a16="http://schemas.microsoft.com/office/drawing/2014/main" id="{EFD0AC84-499D-4F4B-9068-4DA9FCDEE672}"/>
              </a:ext>
            </a:extLst>
          </p:cNvPr>
          <p:cNvSpPr>
            <a:spLocks noGrp="1"/>
          </p:cNvSpPr>
          <p:nvPr/>
        </p:nvSpPr>
        <p:spPr>
          <a:xfrm>
            <a:off x="4274352" y="5331417"/>
            <a:ext cx="346472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4E8735"/>
                </a:solidFill>
                <a:latin typeface="Arial"/>
                <a:ea typeface="Arial"/>
                <a:cs typeface="Arial"/>
              </a:defRPr>
            </a:pPr>
            <a:r>
              <a:rPr lang="en-US" sz="1000" b="1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B6</a:t>
            </a:r>
            <a:endParaRPr sz="1000" b="1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5" name="slide5-flit-blocked-inject-0">
            <a:extLst>
              <a:ext uri="{FF2B5EF4-FFF2-40B4-BE49-F238E27FC236}">
                <a16:creationId xmlns:a16="http://schemas.microsoft.com/office/drawing/2014/main" id="{B71F0802-116A-4E4D-9749-8CEC2B845C01}"/>
              </a:ext>
            </a:extLst>
          </p:cNvPr>
          <p:cNvSpPr>
            <a:spLocks noGrp="1" noChangeAspect="1"/>
          </p:cNvSpPr>
          <p:nvPr/>
        </p:nvSpPr>
        <p:spPr>
          <a:xfrm>
            <a:off x="3737249" y="4976305"/>
            <a:ext cx="252000" cy="252000"/>
          </a:xfrm>
          <a:prstGeom prst="ellipse">
            <a:avLst/>
          </a:prstGeom>
          <a:solidFill>
            <a:srgbClr val="EFF6EA"/>
          </a:solidFill>
          <a:ln w="19050">
            <a:solidFill>
              <a:srgbClr val="4E8735"/>
            </a:solidFill>
            <a:prstDash val="solid"/>
          </a:ln>
        </p:spPr>
        <p:txBody>
          <a:bodyPr/>
          <a:lstStyle/>
          <a:p>
            <a:endParaRPr lang="zh-CN" altLang="en-US" sz="600" dirty="0"/>
          </a:p>
        </p:txBody>
      </p:sp>
      <p:sp>
        <p:nvSpPr>
          <p:cNvPr id="676" name="slide5-label-flit-blocked-inject-1">
            <a:extLst>
              <a:ext uri="{FF2B5EF4-FFF2-40B4-BE49-F238E27FC236}">
                <a16:creationId xmlns:a16="http://schemas.microsoft.com/office/drawing/2014/main" id="{0B280C07-A63A-4FCC-BC35-CD791E0757BF}"/>
              </a:ext>
            </a:extLst>
          </p:cNvPr>
          <p:cNvSpPr>
            <a:spLocks noGrp="1"/>
          </p:cNvSpPr>
          <p:nvPr/>
        </p:nvSpPr>
        <p:spPr>
          <a:xfrm>
            <a:off x="3696752" y="5023932"/>
            <a:ext cx="346472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638" b="1">
                <a:solidFill>
                  <a:srgbClr val="4E8735"/>
                </a:solidFill>
                <a:latin typeface="Arial"/>
                <a:ea typeface="Arial"/>
                <a:cs typeface="Arial"/>
              </a:defRPr>
            </a:pPr>
            <a:r>
              <a:rPr sz="1000" b="1" dirty="0">
                <a:solidFill>
                  <a:srgbClr val="4E8735"/>
                </a:solidFill>
                <a:latin typeface="Arial"/>
                <a:ea typeface="Arial"/>
                <a:cs typeface="Arial"/>
              </a:rPr>
              <a:t>A</a:t>
            </a:r>
            <a:r>
              <a:rPr lang="en-US" sz="1000" b="1" dirty="0">
                <a:solidFill>
                  <a:srgbClr val="4E8735"/>
                </a:solidFill>
                <a:latin typeface="Arial"/>
                <a:ea typeface="Arial"/>
                <a:cs typeface="Arial"/>
              </a:rPr>
              <a:t>1</a:t>
            </a:r>
            <a:endParaRPr sz="1000" b="1" dirty="0">
              <a:solidFill>
                <a:srgbClr val="4E8735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677" name="连接符: 肘形 676">
            <a:extLst>
              <a:ext uri="{FF2B5EF4-FFF2-40B4-BE49-F238E27FC236}">
                <a16:creationId xmlns:a16="http://schemas.microsoft.com/office/drawing/2014/main" id="{68D0DFF2-DAFD-495D-9395-D6DCF79A74EC}"/>
              </a:ext>
            </a:extLst>
          </p:cNvPr>
          <p:cNvCxnSpPr>
            <a:cxnSpLocks/>
            <a:endCxn id="675" idx="0"/>
          </p:cNvCxnSpPr>
          <p:nvPr/>
        </p:nvCxnSpPr>
        <p:spPr>
          <a:xfrm rot="10800000" flipV="1">
            <a:off x="3863249" y="4855687"/>
            <a:ext cx="616548" cy="120618"/>
          </a:xfrm>
          <a:prstGeom prst="bentConnector2">
            <a:avLst/>
          </a:prstGeom>
          <a:ln w="19050">
            <a:solidFill>
              <a:srgbClr val="7030A0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8" name="连接符: 肘形 677">
            <a:extLst>
              <a:ext uri="{FF2B5EF4-FFF2-40B4-BE49-F238E27FC236}">
                <a16:creationId xmlns:a16="http://schemas.microsoft.com/office/drawing/2014/main" id="{8D58D70D-076A-4CDC-B33A-D28AFEA68A4E}"/>
              </a:ext>
            </a:extLst>
          </p:cNvPr>
          <p:cNvCxnSpPr>
            <a:cxnSpLocks/>
            <a:stCxn id="675" idx="4"/>
            <a:endCxn id="673" idx="2"/>
          </p:cNvCxnSpPr>
          <p:nvPr/>
        </p:nvCxnSpPr>
        <p:spPr>
          <a:xfrm rot="16200000" flipH="1">
            <a:off x="4002762" y="5088791"/>
            <a:ext cx="179312" cy="458339"/>
          </a:xfrm>
          <a:prstGeom prst="bentConnector2">
            <a:avLst/>
          </a:prstGeom>
          <a:ln w="19050">
            <a:solidFill>
              <a:srgbClr val="7030A0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9" name="箭头: 下 678">
            <a:extLst>
              <a:ext uri="{FF2B5EF4-FFF2-40B4-BE49-F238E27FC236}">
                <a16:creationId xmlns:a16="http://schemas.microsoft.com/office/drawing/2014/main" id="{15E3FBB9-BBD3-4B18-8747-740090D6CED4}"/>
              </a:ext>
            </a:extLst>
          </p:cNvPr>
          <p:cNvSpPr/>
          <p:nvPr/>
        </p:nvSpPr>
        <p:spPr>
          <a:xfrm rot="16200000">
            <a:off x="3318103" y="5050465"/>
            <a:ext cx="181346" cy="418513"/>
          </a:xfrm>
          <a:prstGeom prst="downArrow">
            <a:avLst/>
          </a:prstGeom>
          <a:solidFill>
            <a:schemeClr val="accent6">
              <a:lumMod val="60000"/>
              <a:lumOff val="40000"/>
            </a:schemeClr>
          </a:solidFill>
          <a:ln w="158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0" name="文本框 679">
            <a:extLst>
              <a:ext uri="{FF2B5EF4-FFF2-40B4-BE49-F238E27FC236}">
                <a16:creationId xmlns:a16="http://schemas.microsoft.com/office/drawing/2014/main" id="{ED1175A4-1A61-43F1-A299-113CDC7B4EE6}"/>
              </a:ext>
            </a:extLst>
          </p:cNvPr>
          <p:cNvSpPr txBox="1"/>
          <p:nvPr/>
        </p:nvSpPr>
        <p:spPr>
          <a:xfrm>
            <a:off x="5200305" y="4206109"/>
            <a:ext cx="5757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kern="0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CS N</a:t>
            </a:r>
            <a:endParaRPr lang="zh-CN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3" name="e tag claim label">
            <a:extLst>
              <a:ext uri="{FF2B5EF4-FFF2-40B4-BE49-F238E27FC236}">
                <a16:creationId xmlns:a16="http://schemas.microsoft.com/office/drawing/2014/main" id="{725F068A-A911-4416-9935-069C39E5CC00}"/>
              </a:ext>
            </a:extLst>
          </p:cNvPr>
          <p:cNvSpPr>
            <a:spLocks noGrp="1"/>
          </p:cNvSpPr>
          <p:nvPr/>
        </p:nvSpPr>
        <p:spPr>
          <a:xfrm>
            <a:off x="3789235" y="5828927"/>
            <a:ext cx="193762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defRPr sz="825" b="1">
                <a:solidFill>
                  <a:srgbClr val="7030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 dirty="0">
                <a:solidFill>
                  <a:srgbClr val="7030A0"/>
                </a:solidFill>
                <a:latin typeface="Microsoft YaHei"/>
                <a:ea typeface="Microsoft YaHei"/>
                <a:cs typeface="Microsoft YaHei"/>
              </a:rPr>
              <a:t>E-tag：B</a:t>
            </a:r>
            <a:r>
              <a:rPr lang="en-US" sz="1100" b="1" dirty="0">
                <a:solidFill>
                  <a:srgbClr val="7030A0"/>
                </a:solidFill>
                <a:latin typeface="Microsoft YaHei"/>
                <a:ea typeface="Microsoft YaHei"/>
                <a:cs typeface="Microsoft YaHei"/>
              </a:rPr>
              <a:t>6</a:t>
            </a:r>
            <a:r>
              <a:rPr sz="1100" b="1" dirty="0">
                <a:solidFill>
                  <a:srgbClr val="7030A0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00" b="1" dirty="0" err="1">
                <a:solidFill>
                  <a:srgbClr val="7030A0"/>
                </a:solidFill>
                <a:latin typeface="Microsoft YaHei"/>
                <a:ea typeface="Microsoft YaHei"/>
                <a:cs typeface="Microsoft YaHei"/>
              </a:rPr>
              <a:t>占用预留</a:t>
            </a:r>
            <a:r>
              <a:rPr sz="1100" b="1" dirty="0">
                <a:solidFill>
                  <a:srgbClr val="7030A0"/>
                </a:solidFill>
                <a:latin typeface="Microsoft YaHei"/>
                <a:ea typeface="Microsoft YaHei"/>
                <a:cs typeface="Microsoft YaHei"/>
              </a:rPr>
              <a:t> entry</a:t>
            </a:r>
          </a:p>
        </p:txBody>
      </p:sp>
      <p:sp>
        <p:nvSpPr>
          <p:cNvPr id="684" name="i tag replacement label">
            <a:extLst>
              <a:ext uri="{FF2B5EF4-FFF2-40B4-BE49-F238E27FC236}">
                <a16:creationId xmlns:a16="http://schemas.microsoft.com/office/drawing/2014/main" id="{8467EA4E-EB8E-4D09-8DC5-90E00FD1D18B}"/>
              </a:ext>
            </a:extLst>
          </p:cNvPr>
          <p:cNvSpPr>
            <a:spLocks noGrp="1"/>
          </p:cNvSpPr>
          <p:nvPr/>
        </p:nvSpPr>
        <p:spPr>
          <a:xfrm>
            <a:off x="3882886" y="6047008"/>
            <a:ext cx="2108587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Autofit/>
          </a:bodyPr>
          <a:lstStyle/>
          <a:p>
            <a:pPr algn="ctr">
              <a:defRPr sz="825" b="1">
                <a:solidFill>
                  <a:srgbClr val="5482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 dirty="0">
                <a:solidFill>
                  <a:srgbClr val="548235"/>
                </a:solidFill>
                <a:latin typeface="Microsoft YaHei"/>
                <a:ea typeface="Microsoft YaHei"/>
                <a:cs typeface="Microsoft YaHei"/>
              </a:rPr>
              <a:t>I-tag：A1 </a:t>
            </a:r>
            <a:r>
              <a:rPr sz="1100" b="1" dirty="0" err="1">
                <a:solidFill>
                  <a:srgbClr val="548235"/>
                </a:solidFill>
                <a:latin typeface="Microsoft YaHei"/>
                <a:ea typeface="Microsoft YaHei"/>
                <a:cs typeface="Microsoft YaHei"/>
              </a:rPr>
              <a:t>替换空出的</a:t>
            </a:r>
            <a:r>
              <a:rPr sz="1100" b="1" dirty="0">
                <a:solidFill>
                  <a:srgbClr val="548235"/>
                </a:solidFill>
                <a:latin typeface="Microsoft YaHei"/>
                <a:ea typeface="Microsoft YaHei"/>
                <a:cs typeface="Microsoft YaHei"/>
              </a:rPr>
              <a:t> Ring slot</a:t>
            </a:r>
          </a:p>
        </p:txBody>
      </p:sp>
      <p:sp>
        <p:nvSpPr>
          <p:cNvPr id="686" name="TextBox 2">
            <a:extLst>
              <a:ext uri="{FF2B5EF4-FFF2-40B4-BE49-F238E27FC236}">
                <a16:creationId xmlns:a16="http://schemas.microsoft.com/office/drawing/2014/main" id="{BC39C1A6-3496-40A8-82AD-E058B2B7B086}"/>
              </a:ext>
            </a:extLst>
          </p:cNvPr>
          <p:cNvSpPr>
            <a:spLocks noGrp="1"/>
          </p:cNvSpPr>
          <p:nvPr/>
        </p:nvSpPr>
        <p:spPr>
          <a:xfrm>
            <a:off x="282366" y="119410"/>
            <a:ext cx="5934784" cy="387798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1" dirty="0">
                <a:latin typeface="Microsoft YaHei"/>
                <a:ea typeface="Microsoft YaHei"/>
              </a:rPr>
              <a:t>Cross Station </a:t>
            </a:r>
            <a:r>
              <a:rPr lang="zh-CN" altLang="en-US" sz="2400" b="1" dirty="0">
                <a:latin typeface="Microsoft YaHei"/>
                <a:ea typeface="Microsoft YaHei"/>
              </a:rPr>
              <a:t>调度与 </a:t>
            </a:r>
            <a:r>
              <a:rPr lang="en-US" altLang="zh-CN" sz="2400" b="1" dirty="0">
                <a:latin typeface="Microsoft YaHei"/>
                <a:ea typeface="Microsoft YaHei"/>
              </a:rPr>
              <a:t>I/E-tag </a:t>
            </a:r>
            <a:r>
              <a:rPr lang="zh-CN" altLang="en-US" sz="2400" b="1" dirty="0">
                <a:latin typeface="Microsoft YaHei"/>
                <a:ea typeface="Microsoft YaHei"/>
              </a:rPr>
              <a:t>活性保障</a:t>
            </a:r>
            <a:endParaRPr sz="2400" b="1" dirty="0">
              <a:latin typeface="Microsoft YaHei"/>
              <a:ea typeface="Microsoft YaHei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FC5408E0-95E4-4B0E-9D9C-BD4C0FEBA06F}"/>
              </a:ext>
            </a:extLst>
          </p:cNvPr>
          <p:cNvGrpSpPr/>
          <p:nvPr/>
        </p:nvGrpSpPr>
        <p:grpSpPr>
          <a:xfrm>
            <a:off x="282366" y="719611"/>
            <a:ext cx="5392923" cy="3088863"/>
            <a:chOff x="121030" y="530437"/>
            <a:chExt cx="5392923" cy="3088863"/>
          </a:xfrm>
        </p:grpSpPr>
        <p:grpSp>
          <p:nvGrpSpPr>
            <p:cNvPr id="539" name="组合 538">
              <a:extLst>
                <a:ext uri="{FF2B5EF4-FFF2-40B4-BE49-F238E27FC236}">
                  <a16:creationId xmlns:a16="http://schemas.microsoft.com/office/drawing/2014/main" id="{927E0B0D-A78F-43A4-A420-BC4BEB1E58BA}"/>
                </a:ext>
              </a:extLst>
            </p:cNvPr>
            <p:cNvGrpSpPr/>
            <p:nvPr/>
          </p:nvGrpSpPr>
          <p:grpSpPr>
            <a:xfrm>
              <a:off x="121030" y="569009"/>
              <a:ext cx="5392923" cy="3050291"/>
              <a:chOff x="8472737" y="813826"/>
              <a:chExt cx="5392923" cy="3050291"/>
            </a:xfrm>
          </p:grpSpPr>
          <p:sp>
            <p:nvSpPr>
              <p:cNvPr id="540" name="矩形 539">
                <a:extLst>
                  <a:ext uri="{FF2B5EF4-FFF2-40B4-BE49-F238E27FC236}">
                    <a16:creationId xmlns:a16="http://schemas.microsoft.com/office/drawing/2014/main" id="{5A0581F7-BFA6-40D8-A0C3-B2ECA4DB818D}"/>
                  </a:ext>
                </a:extLst>
              </p:cNvPr>
              <p:cNvSpPr/>
              <p:nvPr/>
            </p:nvSpPr>
            <p:spPr>
              <a:xfrm>
                <a:off x="9312918" y="1000418"/>
                <a:ext cx="3697169" cy="1569660"/>
              </a:xfrm>
              <a:prstGeom prst="rect">
                <a:avLst/>
              </a:prstGeom>
              <a:solidFill>
                <a:schemeClr val="bg1">
                  <a:lumMod val="95000"/>
                  <a:alpha val="50196"/>
                </a:schemeClr>
              </a:solidFill>
              <a:ln w="19050">
                <a:solidFill>
                  <a:schemeClr val="tx1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1" name="矩形 540">
                <a:extLst>
                  <a:ext uri="{FF2B5EF4-FFF2-40B4-BE49-F238E27FC236}">
                    <a16:creationId xmlns:a16="http://schemas.microsoft.com/office/drawing/2014/main" id="{C29A41DD-0C69-4C20-8F07-7B3E763CDDCF}"/>
                  </a:ext>
                </a:extLst>
              </p:cNvPr>
              <p:cNvSpPr/>
              <p:nvPr/>
            </p:nvSpPr>
            <p:spPr>
              <a:xfrm>
                <a:off x="9404191" y="2196487"/>
                <a:ext cx="844536" cy="29230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905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18">
                  <a:defRPr/>
                </a:pPr>
                <a:r>
                  <a:rPr lang="en-US" altLang="zh-CN" sz="1200" b="1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Queue</a:t>
                </a:r>
                <a:endParaRPr lang="zh-CN" altLang="en-US" sz="1200" b="1" kern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42" name="矩形 541">
                <a:extLst>
                  <a:ext uri="{FF2B5EF4-FFF2-40B4-BE49-F238E27FC236}">
                    <a16:creationId xmlns:a16="http://schemas.microsoft.com/office/drawing/2014/main" id="{2D3908F7-6B1C-4779-932F-DB875AE4C357}"/>
                  </a:ext>
                </a:extLst>
              </p:cNvPr>
              <p:cNvSpPr/>
              <p:nvPr/>
            </p:nvSpPr>
            <p:spPr>
              <a:xfrm>
                <a:off x="9404191" y="1904184"/>
                <a:ext cx="844536" cy="29230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905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18">
                  <a:defRPr/>
                </a:pPr>
                <a:endParaRPr lang="zh-CN" altLang="en-US" sz="1200" b="1" kern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43" name="矩形 542">
                <a:extLst>
                  <a:ext uri="{FF2B5EF4-FFF2-40B4-BE49-F238E27FC236}">
                    <a16:creationId xmlns:a16="http://schemas.microsoft.com/office/drawing/2014/main" id="{8E048994-6BC6-492A-ADE3-6A6153614B27}"/>
                  </a:ext>
                </a:extLst>
              </p:cNvPr>
              <p:cNvSpPr/>
              <p:nvPr/>
            </p:nvSpPr>
            <p:spPr>
              <a:xfrm>
                <a:off x="9404191" y="1610280"/>
                <a:ext cx="844536" cy="29230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905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18">
                  <a:defRPr/>
                </a:pPr>
                <a:endParaRPr lang="zh-CN" altLang="en-US" sz="1200" b="1" kern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44" name="矩形 543">
                <a:extLst>
                  <a:ext uri="{FF2B5EF4-FFF2-40B4-BE49-F238E27FC236}">
                    <a16:creationId xmlns:a16="http://schemas.microsoft.com/office/drawing/2014/main" id="{60BAB55F-D182-472F-BA2D-7D88242F08D0}"/>
                  </a:ext>
                </a:extLst>
              </p:cNvPr>
              <p:cNvSpPr/>
              <p:nvPr/>
            </p:nvSpPr>
            <p:spPr>
              <a:xfrm>
                <a:off x="9404191" y="1317977"/>
                <a:ext cx="844536" cy="29230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905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18">
                  <a:defRPr/>
                </a:pPr>
                <a:endParaRPr lang="zh-CN" altLang="en-US" sz="1200" b="1" kern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45" name="文本框 544">
                <a:extLst>
                  <a:ext uri="{FF2B5EF4-FFF2-40B4-BE49-F238E27FC236}">
                    <a16:creationId xmlns:a16="http://schemas.microsoft.com/office/drawing/2014/main" id="{6728543E-B079-4FE0-BE87-D0984A72119B}"/>
                  </a:ext>
                </a:extLst>
              </p:cNvPr>
              <p:cNvSpPr txBox="1"/>
              <p:nvPr/>
            </p:nvSpPr>
            <p:spPr>
              <a:xfrm>
                <a:off x="9357997" y="1046216"/>
                <a:ext cx="936924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b="1" kern="0" dirty="0">
                    <a:latin typeface="Arial" panose="020B0604020202020204" pitchFamily="34" charset="0"/>
                    <a:ea typeface="等线" panose="02010600030101010101" pitchFamily="2" charset="-122"/>
                    <a:cs typeface="Arial" panose="020B0604020202020204" pitchFamily="34" charset="0"/>
                  </a:rPr>
                  <a:t>Inject  CW</a:t>
                </a:r>
                <a:endParaRPr lang="zh-CN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46" name="矩形 545">
                <a:extLst>
                  <a:ext uri="{FF2B5EF4-FFF2-40B4-BE49-F238E27FC236}">
                    <a16:creationId xmlns:a16="http://schemas.microsoft.com/office/drawing/2014/main" id="{8C8F9679-5F1D-4B73-BDDC-7EC4B6427A99}"/>
                  </a:ext>
                </a:extLst>
              </p:cNvPr>
              <p:cNvSpPr/>
              <p:nvPr/>
            </p:nvSpPr>
            <p:spPr>
              <a:xfrm>
                <a:off x="10785316" y="2189405"/>
                <a:ext cx="844536" cy="29230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905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18">
                  <a:defRPr/>
                </a:pPr>
                <a:r>
                  <a:rPr lang="en-US" altLang="zh-CN" sz="1200" b="1" kern="0">
                    <a:latin typeface="Arial" panose="020B0604020202020204" pitchFamily="34" charset="0"/>
                    <a:cs typeface="Arial" panose="020B0604020202020204" pitchFamily="34" charset="0"/>
                  </a:rPr>
                  <a:t>Queue</a:t>
                </a:r>
                <a:endParaRPr lang="zh-CN" altLang="en-US" sz="1200" b="1" kern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47" name="矩形 546">
                <a:extLst>
                  <a:ext uri="{FF2B5EF4-FFF2-40B4-BE49-F238E27FC236}">
                    <a16:creationId xmlns:a16="http://schemas.microsoft.com/office/drawing/2014/main" id="{FABFFF21-A711-406D-8D1F-25D44273739A}"/>
                  </a:ext>
                </a:extLst>
              </p:cNvPr>
              <p:cNvSpPr/>
              <p:nvPr/>
            </p:nvSpPr>
            <p:spPr>
              <a:xfrm>
                <a:off x="10785316" y="1897102"/>
                <a:ext cx="844536" cy="29230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905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18">
                  <a:defRPr/>
                </a:pPr>
                <a:endParaRPr lang="zh-CN" altLang="en-US" sz="1200" b="1" kern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48" name="矩形 547">
                <a:extLst>
                  <a:ext uri="{FF2B5EF4-FFF2-40B4-BE49-F238E27FC236}">
                    <a16:creationId xmlns:a16="http://schemas.microsoft.com/office/drawing/2014/main" id="{18C40BA7-B8CC-4939-A3AD-4C91D8ED4951}"/>
                  </a:ext>
                </a:extLst>
              </p:cNvPr>
              <p:cNvSpPr/>
              <p:nvPr/>
            </p:nvSpPr>
            <p:spPr>
              <a:xfrm>
                <a:off x="10785316" y="1603198"/>
                <a:ext cx="844536" cy="29230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905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18">
                  <a:defRPr/>
                </a:pPr>
                <a:endParaRPr lang="zh-CN" altLang="en-US" sz="1200" b="1" kern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49" name="矩形 548">
                <a:extLst>
                  <a:ext uri="{FF2B5EF4-FFF2-40B4-BE49-F238E27FC236}">
                    <a16:creationId xmlns:a16="http://schemas.microsoft.com/office/drawing/2014/main" id="{1B770934-3EFB-4887-8FC8-DC4C187D42EC}"/>
                  </a:ext>
                </a:extLst>
              </p:cNvPr>
              <p:cNvSpPr/>
              <p:nvPr/>
            </p:nvSpPr>
            <p:spPr>
              <a:xfrm>
                <a:off x="10785316" y="1310895"/>
                <a:ext cx="844536" cy="29230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905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18">
                  <a:defRPr/>
                </a:pPr>
                <a:endParaRPr lang="zh-CN" altLang="en-US" sz="1200" b="1" kern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50" name="文本框 549">
                <a:extLst>
                  <a:ext uri="{FF2B5EF4-FFF2-40B4-BE49-F238E27FC236}">
                    <a16:creationId xmlns:a16="http://schemas.microsoft.com/office/drawing/2014/main" id="{E0C8159E-7515-4B63-BBBB-DD9B864E9008}"/>
                  </a:ext>
                </a:extLst>
              </p:cNvPr>
              <p:cNvSpPr txBox="1"/>
              <p:nvPr/>
            </p:nvSpPr>
            <p:spPr>
              <a:xfrm>
                <a:off x="10650937" y="1028241"/>
                <a:ext cx="1113293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b="1" kern="0" dirty="0">
                    <a:latin typeface="Arial" panose="020B0604020202020204" pitchFamily="34" charset="0"/>
                    <a:ea typeface="等线" panose="02010600030101010101" pitchFamily="2" charset="-122"/>
                    <a:cs typeface="Arial" panose="020B0604020202020204" pitchFamily="34" charset="0"/>
                  </a:rPr>
                  <a:t>Eject  Queue</a:t>
                </a:r>
                <a:endParaRPr lang="zh-CN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51" name="矩形 550">
                <a:extLst>
                  <a:ext uri="{FF2B5EF4-FFF2-40B4-BE49-F238E27FC236}">
                    <a16:creationId xmlns:a16="http://schemas.microsoft.com/office/drawing/2014/main" id="{E2071E71-FF36-46A1-A98A-1D1D89419587}"/>
                  </a:ext>
                </a:extLst>
              </p:cNvPr>
              <p:cNvSpPr/>
              <p:nvPr/>
            </p:nvSpPr>
            <p:spPr>
              <a:xfrm>
                <a:off x="12082668" y="2176193"/>
                <a:ext cx="844536" cy="29230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905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18">
                  <a:defRPr/>
                </a:pPr>
                <a:r>
                  <a:rPr lang="en-US" altLang="zh-CN" sz="1200" b="1" kern="0">
                    <a:latin typeface="Arial" panose="020B0604020202020204" pitchFamily="34" charset="0"/>
                    <a:cs typeface="Arial" panose="020B0604020202020204" pitchFamily="34" charset="0"/>
                  </a:rPr>
                  <a:t>Queue</a:t>
                </a:r>
                <a:endParaRPr lang="zh-CN" altLang="en-US" sz="1200" b="1" kern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52" name="矩形 551">
                <a:extLst>
                  <a:ext uri="{FF2B5EF4-FFF2-40B4-BE49-F238E27FC236}">
                    <a16:creationId xmlns:a16="http://schemas.microsoft.com/office/drawing/2014/main" id="{73D4D4F9-070E-416F-A905-3B1427E729E8}"/>
                  </a:ext>
                </a:extLst>
              </p:cNvPr>
              <p:cNvSpPr/>
              <p:nvPr/>
            </p:nvSpPr>
            <p:spPr>
              <a:xfrm>
                <a:off x="12082668" y="1883890"/>
                <a:ext cx="844536" cy="29230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905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18">
                  <a:defRPr/>
                </a:pPr>
                <a:endParaRPr lang="zh-CN" altLang="en-US" sz="1200" b="1" kern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53" name="矩形 552">
                <a:extLst>
                  <a:ext uri="{FF2B5EF4-FFF2-40B4-BE49-F238E27FC236}">
                    <a16:creationId xmlns:a16="http://schemas.microsoft.com/office/drawing/2014/main" id="{EEAE748C-0881-4272-B95F-4C960828065C}"/>
                  </a:ext>
                </a:extLst>
              </p:cNvPr>
              <p:cNvSpPr/>
              <p:nvPr/>
            </p:nvSpPr>
            <p:spPr>
              <a:xfrm>
                <a:off x="12082668" y="1589986"/>
                <a:ext cx="844536" cy="29230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905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18">
                  <a:defRPr/>
                </a:pPr>
                <a:endParaRPr lang="zh-CN" altLang="en-US" sz="1200" b="1" kern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54" name="矩形 553">
                <a:extLst>
                  <a:ext uri="{FF2B5EF4-FFF2-40B4-BE49-F238E27FC236}">
                    <a16:creationId xmlns:a16="http://schemas.microsoft.com/office/drawing/2014/main" id="{8647D86D-5D13-46BB-A276-6FB05EBC1D03}"/>
                  </a:ext>
                </a:extLst>
              </p:cNvPr>
              <p:cNvSpPr/>
              <p:nvPr/>
            </p:nvSpPr>
            <p:spPr>
              <a:xfrm>
                <a:off x="12082668" y="1297683"/>
                <a:ext cx="844536" cy="29230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905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18">
                  <a:defRPr/>
                </a:pPr>
                <a:endParaRPr lang="zh-CN" altLang="en-US" sz="1200" b="1" kern="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55" name="文本框 554">
                <a:extLst>
                  <a:ext uri="{FF2B5EF4-FFF2-40B4-BE49-F238E27FC236}">
                    <a16:creationId xmlns:a16="http://schemas.microsoft.com/office/drawing/2014/main" id="{2931EAA7-C835-4A18-B6D1-9E8F6F8548FE}"/>
                  </a:ext>
                </a:extLst>
              </p:cNvPr>
              <p:cNvSpPr txBox="1"/>
              <p:nvPr/>
            </p:nvSpPr>
            <p:spPr>
              <a:xfrm>
                <a:off x="11973078" y="1025922"/>
                <a:ext cx="1063716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b="1" kern="0" dirty="0">
                    <a:latin typeface="Arial" panose="020B0604020202020204" pitchFamily="34" charset="0"/>
                    <a:ea typeface="等线" panose="02010600030101010101" pitchFamily="2" charset="-122"/>
                    <a:cs typeface="Arial" panose="020B0604020202020204" pitchFamily="34" charset="0"/>
                  </a:rPr>
                  <a:t>Inject  CCW</a:t>
                </a:r>
                <a:endParaRPr lang="zh-CN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56" name="矩形 555">
                <a:extLst>
                  <a:ext uri="{FF2B5EF4-FFF2-40B4-BE49-F238E27FC236}">
                    <a16:creationId xmlns:a16="http://schemas.microsoft.com/office/drawing/2014/main" id="{782FDE0A-AD8B-41B8-A036-FC8BA3B37493}"/>
                  </a:ext>
                </a:extLst>
              </p:cNvPr>
              <p:cNvSpPr/>
              <p:nvPr/>
            </p:nvSpPr>
            <p:spPr>
              <a:xfrm>
                <a:off x="12698673" y="2844640"/>
                <a:ext cx="844536" cy="357021"/>
              </a:xfrm>
              <a:prstGeom prst="rect">
                <a:avLst/>
              </a:prstGeom>
              <a:solidFill>
                <a:srgbClr val="D4E8D4"/>
              </a:solidFill>
              <a:ln w="1905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18">
                  <a:defRPr/>
                </a:pPr>
                <a:r>
                  <a:rPr lang="en-US" altLang="zh-CN" sz="1200" b="1" kern="0" dirty="0" err="1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Reg_In</a:t>
                </a:r>
                <a:endParaRPr lang="zh-CN" altLang="en-US" sz="1200" b="1" kern="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557" name="矩形 556">
                <a:extLst>
                  <a:ext uri="{FF2B5EF4-FFF2-40B4-BE49-F238E27FC236}">
                    <a16:creationId xmlns:a16="http://schemas.microsoft.com/office/drawing/2014/main" id="{6D777C51-9474-49F0-861C-9363BCDBD5D4}"/>
                  </a:ext>
                </a:extLst>
              </p:cNvPr>
              <p:cNvSpPr/>
              <p:nvPr/>
            </p:nvSpPr>
            <p:spPr>
              <a:xfrm>
                <a:off x="12709686" y="3416493"/>
                <a:ext cx="844536" cy="356668"/>
              </a:xfrm>
              <a:prstGeom prst="rect">
                <a:avLst/>
              </a:prstGeom>
              <a:solidFill>
                <a:srgbClr val="FAD9BF"/>
              </a:solidFill>
              <a:ln w="1905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18">
                  <a:defRPr/>
                </a:pPr>
                <a:r>
                  <a:rPr lang="en-US" altLang="zh-CN" sz="1200" b="1" kern="0" dirty="0" err="1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Reg_Out</a:t>
                </a:r>
                <a:endParaRPr lang="zh-CN" altLang="en-US" sz="1200" b="1" kern="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558" name="矩形 557">
                <a:extLst>
                  <a:ext uri="{FF2B5EF4-FFF2-40B4-BE49-F238E27FC236}">
                    <a16:creationId xmlns:a16="http://schemas.microsoft.com/office/drawing/2014/main" id="{8B2BFD6C-0B98-4F7A-81F3-7DAFB5831D13}"/>
                  </a:ext>
                </a:extLst>
              </p:cNvPr>
              <p:cNvSpPr/>
              <p:nvPr/>
            </p:nvSpPr>
            <p:spPr>
              <a:xfrm>
                <a:off x="8765694" y="2847714"/>
                <a:ext cx="844536" cy="356668"/>
              </a:xfrm>
              <a:prstGeom prst="rect">
                <a:avLst/>
              </a:prstGeom>
              <a:solidFill>
                <a:srgbClr val="FAD9BF"/>
              </a:solidFill>
              <a:ln w="1905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18">
                  <a:defRPr/>
                </a:pPr>
                <a:r>
                  <a:rPr lang="en-US" altLang="zh-CN" sz="1200" b="1" kern="0" dirty="0" err="1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Reg_Out</a:t>
                </a:r>
                <a:endParaRPr lang="zh-CN" altLang="en-US" sz="1200" b="1" kern="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559" name="矩形 558">
                <a:extLst>
                  <a:ext uri="{FF2B5EF4-FFF2-40B4-BE49-F238E27FC236}">
                    <a16:creationId xmlns:a16="http://schemas.microsoft.com/office/drawing/2014/main" id="{501B6CEC-FE8C-4472-A376-BB6E2F322CB5}"/>
                  </a:ext>
                </a:extLst>
              </p:cNvPr>
              <p:cNvSpPr/>
              <p:nvPr/>
            </p:nvSpPr>
            <p:spPr>
              <a:xfrm>
                <a:off x="8765694" y="3416140"/>
                <a:ext cx="844536" cy="357021"/>
              </a:xfrm>
              <a:prstGeom prst="rect">
                <a:avLst/>
              </a:prstGeom>
              <a:solidFill>
                <a:srgbClr val="D4E8D4"/>
              </a:solidFill>
              <a:ln w="1905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18">
                  <a:defRPr/>
                </a:pPr>
                <a:r>
                  <a:rPr lang="en-US" altLang="zh-CN" sz="1200" b="1" kern="0" dirty="0" err="1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Reg_In</a:t>
                </a:r>
                <a:endParaRPr lang="zh-CN" altLang="en-US" sz="1200" b="1" kern="0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cxnSp>
            <p:nvCxnSpPr>
              <p:cNvPr id="560" name="直接箭头连接符 559">
                <a:extLst>
                  <a:ext uri="{FF2B5EF4-FFF2-40B4-BE49-F238E27FC236}">
                    <a16:creationId xmlns:a16="http://schemas.microsoft.com/office/drawing/2014/main" id="{7B001D58-2389-4208-AB85-02C21B4560B0}"/>
                  </a:ext>
                </a:extLst>
              </p:cNvPr>
              <p:cNvCxnSpPr>
                <a:cxnSpLocks/>
                <a:stCxn id="556" idx="1"/>
                <a:endCxn id="561" idx="3"/>
              </p:cNvCxnSpPr>
              <p:nvPr/>
            </p:nvCxnSpPr>
            <p:spPr>
              <a:xfrm flipH="1">
                <a:off x="10859290" y="3023151"/>
                <a:ext cx="1839383" cy="2897"/>
              </a:xfrm>
              <a:prstGeom prst="straightConnector1">
                <a:avLst/>
              </a:prstGeom>
              <a:noFill/>
              <a:ln w="19050" cap="flat" cmpd="sng" algn="ctr">
                <a:solidFill>
                  <a:schemeClr val="accent3"/>
                </a:solidFill>
                <a:prstDash val="solid"/>
                <a:miter lim="800000"/>
                <a:tailEnd type="triangle"/>
              </a:ln>
              <a:effectLst/>
            </p:spPr>
          </p:cxnSp>
          <p:sp>
            <p:nvSpPr>
              <p:cNvPr id="561" name="矩形 560">
                <a:extLst>
                  <a:ext uri="{FF2B5EF4-FFF2-40B4-BE49-F238E27FC236}">
                    <a16:creationId xmlns:a16="http://schemas.microsoft.com/office/drawing/2014/main" id="{AC192722-C1BC-4C82-924F-4E04E00F0D33}"/>
                  </a:ext>
                </a:extLst>
              </p:cNvPr>
              <p:cNvSpPr/>
              <p:nvPr/>
            </p:nvSpPr>
            <p:spPr>
              <a:xfrm>
                <a:off x="9896259" y="2847714"/>
                <a:ext cx="963031" cy="35666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18">
                  <a:defRPr/>
                </a:pPr>
                <a:r>
                  <a:rPr lang="en-US" altLang="zh-CN" sz="9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Microsoft YaHei"/>
                    <a:ea typeface="Microsoft YaHei"/>
                    <a:cs typeface="Microsoft YaHei"/>
                  </a:rPr>
                  <a:t>RR_CW</a:t>
                </a:r>
              </a:p>
              <a:p>
                <a:pPr algn="ctr" defTabSz="914418">
                  <a:defRPr/>
                </a:pPr>
                <a:r>
                  <a:rPr lang="en-US" altLang="zh-CN" sz="8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/>
                    <a:ea typeface="Arial"/>
                    <a:cs typeface="Arial"/>
                  </a:rPr>
                  <a:t>Transit ↔ Local</a:t>
                </a:r>
              </a:p>
            </p:txBody>
          </p:sp>
          <p:cxnSp>
            <p:nvCxnSpPr>
              <p:cNvPr id="562" name="直接箭头连接符 561">
                <a:extLst>
                  <a:ext uri="{FF2B5EF4-FFF2-40B4-BE49-F238E27FC236}">
                    <a16:creationId xmlns:a16="http://schemas.microsoft.com/office/drawing/2014/main" id="{0AB29D92-DB5E-4107-A2C1-FCCE35B59D6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288436" y="2847714"/>
                <a:ext cx="0" cy="175436"/>
              </a:xfrm>
              <a:prstGeom prst="straightConnector1">
                <a:avLst/>
              </a:prstGeom>
              <a:noFill/>
              <a:ln w="19050" cap="flat" cmpd="sng" algn="ctr">
                <a:solidFill>
                  <a:schemeClr val="accent3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563" name="直接箭头连接符 562">
                <a:extLst>
                  <a:ext uri="{FF2B5EF4-FFF2-40B4-BE49-F238E27FC236}">
                    <a16:creationId xmlns:a16="http://schemas.microsoft.com/office/drawing/2014/main" id="{B83E7688-FD65-40C1-B762-0C922B880D9B}"/>
                  </a:ext>
                </a:extLst>
              </p:cNvPr>
              <p:cNvCxnSpPr>
                <a:cxnSpLocks/>
                <a:stCxn id="561" idx="1"/>
                <a:endCxn id="558" idx="3"/>
              </p:cNvCxnSpPr>
              <p:nvPr/>
            </p:nvCxnSpPr>
            <p:spPr>
              <a:xfrm flipH="1">
                <a:off x="9610230" y="3026048"/>
                <a:ext cx="286029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chemeClr val="accent3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564" name="连接符: 肘形 563">
                <a:extLst>
                  <a:ext uri="{FF2B5EF4-FFF2-40B4-BE49-F238E27FC236}">
                    <a16:creationId xmlns:a16="http://schemas.microsoft.com/office/drawing/2014/main" id="{014E2EC6-01AC-4806-BB9C-816D34664375}"/>
                  </a:ext>
                </a:extLst>
              </p:cNvPr>
              <p:cNvCxnSpPr>
                <a:cxnSpLocks/>
                <a:stCxn id="541" idx="2"/>
                <a:endCxn id="561" idx="0"/>
              </p:cNvCxnSpPr>
              <p:nvPr/>
            </p:nvCxnSpPr>
            <p:spPr>
              <a:xfrm rot="16200000" flipH="1">
                <a:off x="9922655" y="2392594"/>
                <a:ext cx="358924" cy="551316"/>
              </a:xfrm>
              <a:prstGeom prst="bentConnector3">
                <a:avLst/>
              </a:prstGeom>
              <a:ln w="19050">
                <a:solidFill>
                  <a:schemeClr val="accent3"/>
                </a:solidFill>
                <a:miter lim="800000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5" name="矩形 564">
                <a:extLst>
                  <a:ext uri="{FF2B5EF4-FFF2-40B4-BE49-F238E27FC236}">
                    <a16:creationId xmlns:a16="http://schemas.microsoft.com/office/drawing/2014/main" id="{F8F281BF-D533-48BB-B05E-28A987C0C6F5}"/>
                  </a:ext>
                </a:extLst>
              </p:cNvPr>
              <p:cNvSpPr/>
              <p:nvPr/>
            </p:nvSpPr>
            <p:spPr>
              <a:xfrm>
                <a:off x="11282714" y="3416140"/>
                <a:ext cx="963031" cy="35666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18">
                  <a:defRPr/>
                </a:pPr>
                <a:r>
                  <a:rPr lang="en-US" altLang="zh-CN" sz="9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Microsoft YaHei"/>
                    <a:ea typeface="Microsoft YaHei"/>
                    <a:cs typeface="Microsoft YaHei"/>
                  </a:rPr>
                  <a:t>RR_CCW</a:t>
                </a:r>
              </a:p>
              <a:p>
                <a:pPr algn="ctr" defTabSz="914418">
                  <a:defRPr/>
                </a:pPr>
                <a:r>
                  <a:rPr lang="en-US" altLang="zh-CN" sz="8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/>
                    <a:ea typeface="Arial"/>
                    <a:cs typeface="Arial"/>
                  </a:rPr>
                  <a:t>Transit ↔ Local</a:t>
                </a:r>
              </a:p>
            </p:txBody>
          </p:sp>
          <p:cxnSp>
            <p:nvCxnSpPr>
              <p:cNvPr id="566" name="直接箭头连接符 565">
                <a:extLst>
                  <a:ext uri="{FF2B5EF4-FFF2-40B4-BE49-F238E27FC236}">
                    <a16:creationId xmlns:a16="http://schemas.microsoft.com/office/drawing/2014/main" id="{0FF9A936-3B89-41A5-A62D-31080031B52D}"/>
                  </a:ext>
                </a:extLst>
              </p:cNvPr>
              <p:cNvCxnSpPr>
                <a:cxnSpLocks/>
                <a:stCxn id="559" idx="3"/>
                <a:endCxn id="565" idx="1"/>
              </p:cNvCxnSpPr>
              <p:nvPr/>
            </p:nvCxnSpPr>
            <p:spPr>
              <a:xfrm flipV="1">
                <a:off x="9610230" y="3594474"/>
                <a:ext cx="1672484" cy="177"/>
              </a:xfrm>
              <a:prstGeom prst="straightConnector1">
                <a:avLst/>
              </a:prstGeom>
              <a:noFill/>
              <a:ln w="19050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567" name="直接箭头连接符 566">
                <a:extLst>
                  <a:ext uri="{FF2B5EF4-FFF2-40B4-BE49-F238E27FC236}">
                    <a16:creationId xmlns:a16="http://schemas.microsoft.com/office/drawing/2014/main" id="{7A8CC952-E9C6-40B4-8478-4DA6B25084F8}"/>
                  </a:ext>
                </a:extLst>
              </p:cNvPr>
              <p:cNvCxnSpPr>
                <a:cxnSpLocks/>
                <a:stCxn id="565" idx="3"/>
                <a:endCxn id="557" idx="1"/>
              </p:cNvCxnSpPr>
              <p:nvPr/>
            </p:nvCxnSpPr>
            <p:spPr>
              <a:xfrm>
                <a:off x="12245745" y="3594474"/>
                <a:ext cx="463941" cy="353"/>
              </a:xfrm>
              <a:prstGeom prst="straightConnector1">
                <a:avLst/>
              </a:prstGeom>
              <a:noFill/>
              <a:ln w="19050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568" name="连接符: 肘形 567">
                <a:extLst>
                  <a:ext uri="{FF2B5EF4-FFF2-40B4-BE49-F238E27FC236}">
                    <a16:creationId xmlns:a16="http://schemas.microsoft.com/office/drawing/2014/main" id="{77EDDC7E-BF8F-4E59-8374-FC1834A32EA3}"/>
                  </a:ext>
                </a:extLst>
              </p:cNvPr>
              <p:cNvCxnSpPr>
                <a:cxnSpLocks/>
                <a:stCxn id="551" idx="2"/>
                <a:endCxn id="565" idx="0"/>
              </p:cNvCxnSpPr>
              <p:nvPr/>
            </p:nvCxnSpPr>
            <p:spPr>
              <a:xfrm rot="5400000">
                <a:off x="11660761" y="2571965"/>
                <a:ext cx="947644" cy="740706"/>
              </a:xfrm>
              <a:prstGeom prst="bentConnector3">
                <a:avLst>
                  <a:gd name="adj1" fmla="val 50000"/>
                </a:avLst>
              </a:prstGeom>
              <a:ln w="19050">
                <a:solidFill>
                  <a:schemeClr val="accent6"/>
                </a:solidFill>
                <a:miter lim="800000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9" name="直接箭头连接符 568">
                <a:extLst>
                  <a:ext uri="{FF2B5EF4-FFF2-40B4-BE49-F238E27FC236}">
                    <a16:creationId xmlns:a16="http://schemas.microsoft.com/office/drawing/2014/main" id="{48BD2F20-B8B3-4410-BCBD-B8E70E96538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041428" y="2858582"/>
                <a:ext cx="0" cy="736245"/>
              </a:xfrm>
              <a:prstGeom prst="straightConnector1">
                <a:avLst/>
              </a:prstGeom>
              <a:noFill/>
              <a:ln w="19050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 lim="800000"/>
                <a:tailEnd type="triangle"/>
              </a:ln>
              <a:effectLst/>
            </p:spPr>
          </p:cxnSp>
          <p:sp>
            <p:nvSpPr>
              <p:cNvPr id="570" name="文本框 569">
                <a:extLst>
                  <a:ext uri="{FF2B5EF4-FFF2-40B4-BE49-F238E27FC236}">
                    <a16:creationId xmlns:a16="http://schemas.microsoft.com/office/drawing/2014/main" id="{7CEBD63E-3E89-46F2-82BA-2F372BE4A083}"/>
                  </a:ext>
                </a:extLst>
              </p:cNvPr>
              <p:cNvSpPr txBox="1"/>
              <p:nvPr/>
            </p:nvSpPr>
            <p:spPr>
              <a:xfrm>
                <a:off x="12989130" y="953882"/>
                <a:ext cx="87652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b="1" kern="0" dirty="0">
                    <a:latin typeface="Arial" panose="020B0604020202020204" pitchFamily="34" charset="0"/>
                    <a:ea typeface="等线" panose="02010600030101010101" pitchFamily="2" charset="-122"/>
                    <a:cs typeface="Arial" panose="020B0604020202020204" pitchFamily="34" charset="0"/>
                  </a:rPr>
                  <a:t>Node</a:t>
                </a:r>
              </a:p>
              <a:p>
                <a:r>
                  <a:rPr lang="en-US" altLang="zh-CN" sz="1200" b="1" kern="0" dirty="0">
                    <a:latin typeface="Arial" panose="020B0604020202020204" pitchFamily="34" charset="0"/>
                    <a:ea typeface="等线" panose="02010600030101010101" pitchFamily="2" charset="-122"/>
                    <a:cs typeface="Arial" panose="020B0604020202020204" pitchFamily="34" charset="0"/>
                  </a:rPr>
                  <a:t>Interface</a:t>
                </a:r>
                <a:endParaRPr lang="zh-CN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571" name="直接箭头连接符 570">
                <a:extLst>
                  <a:ext uri="{FF2B5EF4-FFF2-40B4-BE49-F238E27FC236}">
                    <a16:creationId xmlns:a16="http://schemas.microsoft.com/office/drawing/2014/main" id="{709FDBAE-B87A-407E-9E3D-3143B5727E2A}"/>
                  </a:ext>
                </a:extLst>
              </p:cNvPr>
              <p:cNvCxnSpPr>
                <a:cxnSpLocks/>
                <a:endCxn id="556" idx="3"/>
              </p:cNvCxnSpPr>
              <p:nvPr/>
            </p:nvCxnSpPr>
            <p:spPr>
              <a:xfrm flipH="1">
                <a:off x="13543209" y="3023150"/>
                <a:ext cx="322451" cy="1"/>
              </a:xfrm>
              <a:prstGeom prst="straightConnector1">
                <a:avLst/>
              </a:prstGeom>
              <a:noFill/>
              <a:ln w="19050" cap="flat" cmpd="sng" algn="ctr">
                <a:solidFill>
                  <a:schemeClr val="accent3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572" name="直接箭头连接符 571">
                <a:extLst>
                  <a:ext uri="{FF2B5EF4-FFF2-40B4-BE49-F238E27FC236}">
                    <a16:creationId xmlns:a16="http://schemas.microsoft.com/office/drawing/2014/main" id="{85E4681A-4659-47B9-A0AB-CEC9C4F948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543209" y="3587958"/>
                <a:ext cx="322451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573" name="直接箭头连接符 572">
                <a:extLst>
                  <a:ext uri="{FF2B5EF4-FFF2-40B4-BE49-F238E27FC236}">
                    <a16:creationId xmlns:a16="http://schemas.microsoft.com/office/drawing/2014/main" id="{70F17F92-B175-45DB-9189-3CA5A2C4D4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72737" y="3569619"/>
                <a:ext cx="284717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chemeClr val="accent6">
                    <a:lumMod val="75000"/>
                  </a:schemeClr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574" name="直接箭头连接符 573">
                <a:extLst>
                  <a:ext uri="{FF2B5EF4-FFF2-40B4-BE49-F238E27FC236}">
                    <a16:creationId xmlns:a16="http://schemas.microsoft.com/office/drawing/2014/main" id="{DAAB70A7-CDCB-4696-A55F-5910230C533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472737" y="3016777"/>
                <a:ext cx="284718" cy="0"/>
              </a:xfrm>
              <a:prstGeom prst="straightConnector1">
                <a:avLst/>
              </a:prstGeom>
              <a:noFill/>
              <a:ln w="19050" cap="flat" cmpd="sng" algn="ctr">
                <a:solidFill>
                  <a:schemeClr val="accent3"/>
                </a:solidFill>
                <a:prstDash val="solid"/>
                <a:miter lim="800000"/>
                <a:tailEnd type="triangle"/>
              </a:ln>
              <a:effectLst/>
            </p:spPr>
          </p:cxnSp>
          <p:sp>
            <p:nvSpPr>
              <p:cNvPr id="575" name="矩形 574">
                <a:extLst>
                  <a:ext uri="{FF2B5EF4-FFF2-40B4-BE49-F238E27FC236}">
                    <a16:creationId xmlns:a16="http://schemas.microsoft.com/office/drawing/2014/main" id="{06BD8391-C3E8-46FC-A2B2-24CFF3DDBBE7}"/>
                  </a:ext>
                </a:extLst>
              </p:cNvPr>
              <p:cNvSpPr/>
              <p:nvPr/>
            </p:nvSpPr>
            <p:spPr>
              <a:xfrm>
                <a:off x="10989328" y="2677494"/>
                <a:ext cx="445513" cy="17543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18">
                  <a:defRPr/>
                </a:pPr>
                <a:r>
                  <a:rPr lang="en-US" altLang="zh-CN" sz="800" b="1" dirty="0">
                    <a:solidFill>
                      <a:schemeClr val="bg2">
                        <a:lumMod val="25000"/>
                      </a:schemeClr>
                    </a:solidFill>
                    <a:latin typeface="Arial"/>
                    <a:ea typeface="Arial"/>
                    <a:cs typeface="Arial"/>
                  </a:rPr>
                  <a:t>RR</a:t>
                </a:r>
              </a:p>
            </p:txBody>
          </p:sp>
          <p:cxnSp>
            <p:nvCxnSpPr>
              <p:cNvPr id="576" name="直接箭头连接符 575">
                <a:extLst>
                  <a:ext uri="{FF2B5EF4-FFF2-40B4-BE49-F238E27FC236}">
                    <a16:creationId xmlns:a16="http://schemas.microsoft.com/office/drawing/2014/main" id="{D0B96225-A41D-4860-AD9B-F1F53E042676}"/>
                  </a:ext>
                </a:extLst>
              </p:cNvPr>
              <p:cNvCxnSpPr>
                <a:cxnSpLocks/>
                <a:stCxn id="575" idx="0"/>
                <a:endCxn id="546" idx="2"/>
              </p:cNvCxnSpPr>
              <p:nvPr/>
            </p:nvCxnSpPr>
            <p:spPr>
              <a:xfrm flipH="1" flipV="1">
                <a:off x="11207584" y="2481708"/>
                <a:ext cx="4501" cy="195786"/>
              </a:xfrm>
              <a:prstGeom prst="straightConnector1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miter lim="800000"/>
                <a:tailEnd type="triangle"/>
              </a:ln>
              <a:effectLst/>
            </p:spPr>
          </p:cxnSp>
          <p:sp>
            <p:nvSpPr>
              <p:cNvPr id="577" name="矩形 576">
                <a:extLst>
                  <a:ext uri="{FF2B5EF4-FFF2-40B4-BE49-F238E27FC236}">
                    <a16:creationId xmlns:a16="http://schemas.microsoft.com/office/drawing/2014/main" id="{55314992-69FF-436F-8182-2AF81BF3E7B5}"/>
                  </a:ext>
                </a:extLst>
              </p:cNvPr>
              <p:cNvSpPr/>
              <p:nvPr/>
            </p:nvSpPr>
            <p:spPr>
              <a:xfrm>
                <a:off x="8582933" y="813826"/>
                <a:ext cx="5153691" cy="3050291"/>
              </a:xfrm>
              <a:prstGeom prst="rect">
                <a:avLst/>
              </a:prstGeom>
              <a:noFill/>
              <a:ln w="19050" cap="flat" cmpd="sng" algn="ctr">
                <a:solidFill>
                  <a:srgbClr val="00206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418">
                  <a:defRPr/>
                </a:pPr>
                <a:endParaRPr lang="en-US" altLang="zh-CN" sz="900" b="1" kern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88" name="文本框 687">
              <a:extLst>
                <a:ext uri="{FF2B5EF4-FFF2-40B4-BE49-F238E27FC236}">
                  <a16:creationId xmlns:a16="http://schemas.microsoft.com/office/drawing/2014/main" id="{98BA39DF-CD61-4B34-8CE2-7F889DB9CEE7}"/>
                </a:ext>
              </a:extLst>
            </p:cNvPr>
            <p:cNvSpPr txBox="1"/>
            <p:nvPr/>
          </p:nvSpPr>
          <p:spPr>
            <a:xfrm>
              <a:off x="231226" y="530437"/>
              <a:ext cx="177391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b="1" kern="0" dirty="0">
                  <a:latin typeface="Arial" panose="020B0604020202020204" pitchFamily="34" charset="0"/>
                  <a:ea typeface="等线" panose="02010600030101010101" pitchFamily="2" charset="-122"/>
                  <a:cs typeface="Arial" panose="020B0604020202020204" pitchFamily="34" charset="0"/>
                </a:rPr>
                <a:t>Cross Station</a:t>
              </a:r>
              <a:endParaRPr lang="zh-CN" altLang="en-US" sz="1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89" name="文本框 688">
            <a:extLst>
              <a:ext uri="{FF2B5EF4-FFF2-40B4-BE49-F238E27FC236}">
                <a16:creationId xmlns:a16="http://schemas.microsoft.com/office/drawing/2014/main" id="{0B74AF3C-FDCF-463E-A10F-5218B0F07CA7}"/>
              </a:ext>
            </a:extLst>
          </p:cNvPr>
          <p:cNvSpPr txBox="1"/>
          <p:nvPr/>
        </p:nvSpPr>
        <p:spPr>
          <a:xfrm>
            <a:off x="6758987" y="1131563"/>
            <a:ext cx="4755320" cy="1609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lang="zh-CN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正常态</a:t>
            </a:r>
            <a:r>
              <a:rPr lang="en-US" altLang="zh-CN" sz="14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—Cross Station</a:t>
            </a:r>
            <a:r>
              <a:rPr lang="zh-CN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双向调度</a:t>
            </a:r>
          </a:p>
          <a:p>
            <a:pPr algn="l">
              <a:lnSpc>
                <a:spcPts val="2000"/>
              </a:lnSpc>
            </a:pPr>
            <a:r>
              <a:rPr lang="en-US" altLang="zh-CN" sz="1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Cross Station</a:t>
            </a:r>
            <a:r>
              <a:rPr lang="zh-CN" altLang="en-US" sz="1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负责环上包的转发、本地注入与目的弹出： </a:t>
            </a:r>
            <a:endParaRPr lang="en-US" altLang="zh-CN" sz="140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indent="-285750" algn="l">
              <a:lnSpc>
                <a:spcPts val="2000"/>
              </a:lnSpc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Transit</a:t>
            </a:r>
            <a:r>
              <a:rPr lang="zh-CN" altLang="en-US" sz="1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转发： </a:t>
            </a:r>
            <a:r>
              <a:rPr lang="en-US" altLang="zh-CN" sz="14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Reg_In</a:t>
            </a:r>
            <a:r>
              <a:rPr lang="zh-CN" altLang="en-US" sz="1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接收环上在途包，非目的包继续由</a:t>
            </a:r>
            <a:r>
              <a:rPr lang="en-US" altLang="zh-CN" sz="1400" dirty="0" err="1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Reg_Out</a:t>
            </a:r>
            <a:r>
              <a:rPr lang="zh-CN" altLang="en-US" sz="1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发送。</a:t>
            </a:r>
            <a:endParaRPr lang="en-US" altLang="zh-CN" sz="140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indent="-285750" algn="l">
              <a:lnSpc>
                <a:spcPts val="2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站内仲裁： </a:t>
            </a:r>
            <a:r>
              <a:rPr lang="en-US" altLang="zh-CN" sz="1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CW/CCW</a:t>
            </a:r>
            <a:r>
              <a:rPr lang="zh-CN" altLang="en-US" sz="1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分别通过</a:t>
            </a:r>
            <a:r>
              <a:rPr lang="en-US" altLang="zh-CN" sz="1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RR</a:t>
            </a:r>
            <a:r>
              <a:rPr lang="zh-CN" altLang="en-US" sz="1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选择</a:t>
            </a:r>
            <a:r>
              <a:rPr lang="en-US" altLang="zh-CN" sz="1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Transit</a:t>
            </a:r>
            <a:r>
              <a:rPr lang="zh-CN" altLang="en-US" sz="1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或</a:t>
            </a:r>
            <a:r>
              <a:rPr lang="en-US" altLang="zh-CN" sz="1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Local</a:t>
            </a:r>
            <a:r>
              <a:rPr lang="zh-CN" altLang="en-US" sz="1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；目的包转入共享</a:t>
            </a:r>
            <a:r>
              <a:rPr lang="en-US" altLang="zh-CN" sz="1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Eject Queue</a:t>
            </a:r>
            <a:r>
              <a:rPr lang="zh-CN" altLang="en-US" sz="1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690" name="文本框 689">
            <a:extLst>
              <a:ext uri="{FF2B5EF4-FFF2-40B4-BE49-F238E27FC236}">
                <a16:creationId xmlns:a16="http://schemas.microsoft.com/office/drawing/2014/main" id="{1E7B8FB0-2643-49F5-96AD-02685B33114C}"/>
              </a:ext>
            </a:extLst>
          </p:cNvPr>
          <p:cNvSpPr txBox="1"/>
          <p:nvPr/>
        </p:nvSpPr>
        <p:spPr>
          <a:xfrm>
            <a:off x="6831953" y="3987031"/>
            <a:ext cx="5026672" cy="21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lang="zh-CN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阻塞态</a:t>
            </a:r>
            <a:r>
              <a:rPr lang="en-US" altLang="zh-CN" sz="14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——I/E-tag</a:t>
            </a:r>
            <a:r>
              <a:rPr lang="zh-CN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活性保障</a:t>
            </a:r>
          </a:p>
          <a:p>
            <a:pPr algn="l">
              <a:lnSpc>
                <a:spcPts val="2000"/>
              </a:lnSpc>
            </a:pP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当目的弹出与本地注入同时受阻时，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I/E-tag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分别保护两类资源： </a:t>
            </a:r>
            <a:endParaRPr lang="en-US" altLang="zh-CN" sz="14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indent="-285750" algn="l">
              <a:lnSpc>
                <a:spcPts val="2000"/>
              </a:lnSpc>
              <a:buFont typeface="Wingdings" panose="05000000000000000000" pitchFamily="2" charset="2"/>
              <a:buChar char="l"/>
            </a:pP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Eject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阻塞： 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B6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到达目的节点时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Eject Queue</a:t>
            </a:r>
            <a:r>
              <a:rPr lang="zh-CN" altLang="en-US" sz="1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已满，携带</a:t>
            </a:r>
            <a:r>
              <a:rPr lang="en-US" altLang="zh-CN" sz="1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E-tag</a:t>
            </a:r>
            <a:r>
              <a:rPr lang="zh-CN" altLang="en-US" sz="1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继续绕环。</a:t>
            </a:r>
            <a:endParaRPr lang="en-US" altLang="zh-CN" sz="140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indent="-285750" algn="l">
              <a:lnSpc>
                <a:spcPts val="2000"/>
              </a:lnSpc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Inject</a:t>
            </a:r>
            <a:r>
              <a:rPr lang="zh-CN" altLang="en-US" sz="1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受阻： </a:t>
            </a:r>
            <a:r>
              <a:rPr lang="en-US" altLang="zh-CN" sz="1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A1</a:t>
            </a:r>
            <a:r>
              <a:rPr lang="zh-CN" altLang="en-US" sz="1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长期无法获得</a:t>
            </a:r>
            <a:r>
              <a:rPr lang="en-US" altLang="zh-CN" sz="1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Ring slot</a:t>
            </a:r>
            <a:r>
              <a:rPr lang="zh-CN" altLang="en-US" sz="1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，通过</a:t>
            </a:r>
            <a:r>
              <a:rPr lang="en-US" altLang="zh-CN" sz="1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I-tag</a:t>
            </a:r>
            <a:r>
              <a:rPr lang="zh-CN" altLang="en-US" sz="1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保护后续注入机会。</a:t>
            </a:r>
            <a:endParaRPr lang="en-US" altLang="zh-CN" sz="140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indent="-285750" algn="l">
              <a:lnSpc>
                <a:spcPts val="2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返回恢复： </a:t>
            </a:r>
            <a:r>
              <a:rPr lang="en-US" altLang="zh-CN" sz="1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B5</a:t>
            </a:r>
            <a:r>
              <a:rPr lang="zh-CN" altLang="en-US" sz="1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被本地取走释放</a:t>
            </a:r>
            <a:r>
              <a:rPr lang="en-US" altLang="zh-CN" sz="1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entry</a:t>
            </a:r>
            <a:r>
              <a:rPr lang="zh-CN" altLang="en-US" sz="1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；</a:t>
            </a:r>
            <a:r>
              <a:rPr lang="en-US" altLang="zh-CN" sz="1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B6</a:t>
            </a:r>
            <a:r>
              <a:rPr lang="zh-CN" altLang="en-US" sz="1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返回后</a:t>
            </a:r>
            <a:r>
              <a:rPr lang="en-US" altLang="zh-CN" sz="1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Eject</a:t>
            </a:r>
            <a:r>
              <a:rPr lang="zh-CN" altLang="en-US" sz="1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，</a:t>
            </a:r>
            <a:r>
              <a:rPr lang="en-US" altLang="zh-CN" sz="1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A1</a:t>
            </a:r>
            <a:r>
              <a:rPr lang="zh-CN" altLang="en-US" sz="1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同时替换其</a:t>
            </a:r>
            <a:r>
              <a:rPr lang="en-US" altLang="zh-CN" sz="1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Ring slot</a:t>
            </a:r>
            <a:r>
              <a:rPr lang="zh-CN" altLang="en-US" sz="1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完成</a:t>
            </a:r>
            <a:r>
              <a:rPr lang="en-US" altLang="zh-CN" sz="1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Inject</a:t>
            </a:r>
            <a:r>
              <a:rPr lang="zh-CN" altLang="en-US" sz="1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968924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v-domain-frame">
            <a:extLst>
              <a:ext uri="{FF2B5EF4-FFF2-40B4-BE49-F238E27FC236}">
                <a16:creationId xmlns:a16="http://schemas.microsoft.com/office/drawing/2014/main" id="{A1EBD3B0-5050-4465-B721-160AF8950349}"/>
              </a:ext>
            </a:extLst>
          </p:cNvPr>
          <p:cNvSpPr>
            <a:spLocks noGrp="1"/>
          </p:cNvSpPr>
          <p:nvPr/>
        </p:nvSpPr>
        <p:spPr>
          <a:xfrm>
            <a:off x="278130" y="666750"/>
            <a:ext cx="1285875" cy="4762500"/>
          </a:xfrm>
          <a:prstGeom prst="roundRect">
            <a:avLst>
              <a:gd name="adj" fmla="val 9630"/>
            </a:avLst>
          </a:prstGeom>
          <a:noFill/>
          <a:ln w="22225">
            <a:solidFill>
              <a:schemeClr val="tx1"/>
            </a:solidFill>
            <a:prstDash val="solid"/>
          </a:ln>
        </p:spPr>
      </p:sp>
      <p:sp>
        <p:nvSpPr>
          <p:cNvPr id="58" name="v-domain-title">
            <a:extLst>
              <a:ext uri="{FF2B5EF4-FFF2-40B4-BE49-F238E27FC236}">
                <a16:creationId xmlns:a16="http://schemas.microsoft.com/office/drawing/2014/main" id="{45CEF3C4-D6C5-4585-917A-7F9392036E96}"/>
              </a:ext>
            </a:extLst>
          </p:cNvPr>
          <p:cNvSpPr>
            <a:spLocks noGrp="1"/>
          </p:cNvSpPr>
          <p:nvPr/>
        </p:nvSpPr>
        <p:spPr>
          <a:xfrm>
            <a:off x="325755" y="704850"/>
            <a:ext cx="1190625" cy="468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65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V-Ring</a:t>
            </a:r>
          </a:p>
          <a:p>
            <a:pPr algn="ctr">
              <a:buNone/>
              <a:defRPr sz="165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domain</a:t>
            </a:r>
          </a:p>
        </p:txBody>
      </p:sp>
      <p:sp>
        <p:nvSpPr>
          <p:cNvPr id="59" name="h-domain-frame">
            <a:extLst>
              <a:ext uri="{FF2B5EF4-FFF2-40B4-BE49-F238E27FC236}">
                <a16:creationId xmlns:a16="http://schemas.microsoft.com/office/drawing/2014/main" id="{F64A3FBE-D9CD-40B6-944D-672515ED1198}"/>
              </a:ext>
            </a:extLst>
          </p:cNvPr>
          <p:cNvSpPr>
            <a:spLocks noGrp="1"/>
          </p:cNvSpPr>
          <p:nvPr/>
        </p:nvSpPr>
        <p:spPr>
          <a:xfrm>
            <a:off x="10327005" y="666750"/>
            <a:ext cx="1285875" cy="4762500"/>
          </a:xfrm>
          <a:prstGeom prst="roundRect">
            <a:avLst>
              <a:gd name="adj" fmla="val 9630"/>
            </a:avLst>
          </a:prstGeom>
          <a:noFill/>
          <a:ln w="19050">
            <a:solidFill>
              <a:schemeClr val="tx1"/>
            </a:solidFill>
            <a:prstDash val="solid"/>
          </a:ln>
        </p:spPr>
      </p:sp>
      <p:sp>
        <p:nvSpPr>
          <p:cNvPr id="60" name="h-domain-title">
            <a:extLst>
              <a:ext uri="{FF2B5EF4-FFF2-40B4-BE49-F238E27FC236}">
                <a16:creationId xmlns:a16="http://schemas.microsoft.com/office/drawing/2014/main" id="{B708E329-E824-4891-AFC5-C6C6BFB4A39E}"/>
              </a:ext>
            </a:extLst>
          </p:cNvPr>
          <p:cNvSpPr>
            <a:spLocks noGrp="1"/>
          </p:cNvSpPr>
          <p:nvPr/>
        </p:nvSpPr>
        <p:spPr>
          <a:xfrm>
            <a:off x="10374630" y="704850"/>
            <a:ext cx="1190625" cy="468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65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H-Ring</a:t>
            </a:r>
          </a:p>
          <a:p>
            <a:pPr algn="ctr">
              <a:buNone/>
              <a:defRPr sz="165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domain</a:t>
            </a:r>
          </a:p>
        </p:txBody>
      </p:sp>
      <p:sp>
        <p:nvSpPr>
          <p:cNvPr id="61" name="rbrg-lane-0">
            <a:extLst>
              <a:ext uri="{FF2B5EF4-FFF2-40B4-BE49-F238E27FC236}">
                <a16:creationId xmlns:a16="http://schemas.microsoft.com/office/drawing/2014/main" id="{F025D254-35DC-4027-962F-08B0E30E217C}"/>
              </a:ext>
            </a:extLst>
          </p:cNvPr>
          <p:cNvSpPr>
            <a:spLocks noGrp="1"/>
          </p:cNvSpPr>
          <p:nvPr/>
        </p:nvSpPr>
        <p:spPr>
          <a:xfrm>
            <a:off x="1849755" y="666750"/>
            <a:ext cx="8191500" cy="952500"/>
          </a:xfrm>
          <a:prstGeom prst="roundRect">
            <a:avLst>
              <a:gd name="adj" fmla="val 10000"/>
            </a:avLst>
          </a:prstGeom>
          <a:solidFill>
            <a:srgbClr val="FAFBFC"/>
          </a:solidFill>
          <a:ln w="9525">
            <a:solidFill>
              <a:srgbClr val="D5DCE3"/>
            </a:solidFill>
            <a:prstDash val="solid"/>
          </a:ln>
        </p:spPr>
      </p:sp>
      <p:sp>
        <p:nvSpPr>
          <p:cNvPr id="62" name="v-ni-0-frame">
            <a:extLst>
              <a:ext uri="{FF2B5EF4-FFF2-40B4-BE49-F238E27FC236}">
                <a16:creationId xmlns:a16="http://schemas.microsoft.com/office/drawing/2014/main" id="{3E6B7424-32DC-429A-AE10-C55BA7227AE4}"/>
              </a:ext>
            </a:extLst>
          </p:cNvPr>
          <p:cNvSpPr>
            <a:spLocks noGrp="1"/>
          </p:cNvSpPr>
          <p:nvPr/>
        </p:nvSpPr>
        <p:spPr>
          <a:xfrm>
            <a:off x="1992630" y="895350"/>
            <a:ext cx="781050" cy="4953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240">
            <a:solidFill>
              <a:srgbClr val="D93F32"/>
            </a:solidFill>
            <a:prstDash val="solid"/>
          </a:ln>
        </p:spPr>
      </p:sp>
      <p:sp>
        <p:nvSpPr>
          <p:cNvPr id="63" name="v-ni-0-title">
            <a:extLst>
              <a:ext uri="{FF2B5EF4-FFF2-40B4-BE49-F238E27FC236}">
                <a16:creationId xmlns:a16="http://schemas.microsoft.com/office/drawing/2014/main" id="{0677E4FA-65E9-4B4A-8396-685DBD7F7E18}"/>
              </a:ext>
            </a:extLst>
          </p:cNvPr>
          <p:cNvSpPr>
            <a:spLocks noGrp="1"/>
          </p:cNvSpPr>
          <p:nvPr/>
        </p:nvSpPr>
        <p:spPr>
          <a:xfrm>
            <a:off x="2040255" y="933450"/>
            <a:ext cx="685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088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V NI</a:t>
            </a:r>
          </a:p>
        </p:txBody>
      </p:sp>
      <p:sp>
        <p:nvSpPr>
          <p:cNvPr id="64" name="h-ni-0-frame">
            <a:extLst>
              <a:ext uri="{FF2B5EF4-FFF2-40B4-BE49-F238E27FC236}">
                <a16:creationId xmlns:a16="http://schemas.microsoft.com/office/drawing/2014/main" id="{80CF5CEC-12AC-4942-992B-33FE3FFF0E76}"/>
              </a:ext>
            </a:extLst>
          </p:cNvPr>
          <p:cNvSpPr>
            <a:spLocks noGrp="1"/>
          </p:cNvSpPr>
          <p:nvPr/>
        </p:nvSpPr>
        <p:spPr>
          <a:xfrm>
            <a:off x="9117330" y="895350"/>
            <a:ext cx="781050" cy="4953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240">
            <a:solidFill>
              <a:srgbClr val="D93F32"/>
            </a:solidFill>
            <a:prstDash val="solid"/>
          </a:ln>
        </p:spPr>
      </p:sp>
      <p:sp>
        <p:nvSpPr>
          <p:cNvPr id="65" name="h-ni-0-title">
            <a:extLst>
              <a:ext uri="{FF2B5EF4-FFF2-40B4-BE49-F238E27FC236}">
                <a16:creationId xmlns:a16="http://schemas.microsoft.com/office/drawing/2014/main" id="{EBEE7E62-9C0B-4F37-B7DD-89C07A451B01}"/>
              </a:ext>
            </a:extLst>
          </p:cNvPr>
          <p:cNvSpPr>
            <a:spLocks noGrp="1"/>
          </p:cNvSpPr>
          <p:nvPr/>
        </p:nvSpPr>
        <p:spPr>
          <a:xfrm>
            <a:off x="9164955" y="933450"/>
            <a:ext cx="685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088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H NI</a:t>
            </a:r>
          </a:p>
        </p:txBody>
      </p:sp>
      <p:sp>
        <p:nvSpPr>
          <p:cNvPr id="66" name="path-0-frame">
            <a:extLst>
              <a:ext uri="{FF2B5EF4-FFF2-40B4-BE49-F238E27FC236}">
                <a16:creationId xmlns:a16="http://schemas.microsoft.com/office/drawing/2014/main" id="{F97DD2B4-0121-40AA-9E79-5B3513225E92}"/>
              </a:ext>
            </a:extLst>
          </p:cNvPr>
          <p:cNvSpPr>
            <a:spLocks noGrp="1"/>
          </p:cNvSpPr>
          <p:nvPr/>
        </p:nvSpPr>
        <p:spPr>
          <a:xfrm>
            <a:off x="3469005" y="828675"/>
            <a:ext cx="2095500" cy="628650"/>
          </a:xfrm>
          <a:prstGeom prst="roundRect">
            <a:avLst>
              <a:gd name="adj" fmla="val 19697"/>
            </a:avLst>
          </a:prstGeom>
          <a:solidFill>
            <a:srgbClr val="FFFFFF"/>
          </a:solidFill>
          <a:ln w="15240">
            <a:solidFill>
              <a:srgbClr val="D93F32"/>
            </a:solidFill>
            <a:prstDash val="solid"/>
          </a:ln>
        </p:spPr>
      </p:sp>
      <p:sp>
        <p:nvSpPr>
          <p:cNvPr id="67" name="path-0-title">
            <a:extLst>
              <a:ext uri="{FF2B5EF4-FFF2-40B4-BE49-F238E27FC236}">
                <a16:creationId xmlns:a16="http://schemas.microsoft.com/office/drawing/2014/main" id="{B0690077-C6E0-4542-9260-EBD411B01BE4}"/>
              </a:ext>
            </a:extLst>
          </p:cNvPr>
          <p:cNvSpPr>
            <a:spLocks noGrp="1"/>
          </p:cNvSpPr>
          <p:nvPr/>
        </p:nvSpPr>
        <p:spPr>
          <a:xfrm>
            <a:off x="3535680" y="876300"/>
            <a:ext cx="19621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95921" lnSpcReduction="10000"/>
          </a:bodyPr>
          <a:lstStyle/>
          <a:p>
            <a:pPr algn="ctr">
              <a:buNone/>
              <a:defRPr sz="1238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V_TO_H_REQ</a:t>
            </a:r>
          </a:p>
        </p:txBody>
      </p:sp>
      <p:sp>
        <p:nvSpPr>
          <p:cNvPr id="68" name="path-0-body">
            <a:extLst>
              <a:ext uri="{FF2B5EF4-FFF2-40B4-BE49-F238E27FC236}">
                <a16:creationId xmlns:a16="http://schemas.microsoft.com/office/drawing/2014/main" id="{B1232CB7-94C8-4DFC-BF92-8D9C0B8D9AE1}"/>
              </a:ext>
            </a:extLst>
          </p:cNvPr>
          <p:cNvSpPr>
            <a:spLocks noGrp="1"/>
          </p:cNvSpPr>
          <p:nvPr/>
        </p:nvSpPr>
        <p:spPr>
          <a:xfrm>
            <a:off x="3545205" y="1085850"/>
            <a:ext cx="19431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013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REQ</a:t>
            </a:r>
          </a:p>
        </p:txBody>
      </p:sp>
      <p:sp>
        <p:nvSpPr>
          <p:cNvPr id="69" name="cw-0-frame">
            <a:extLst>
              <a:ext uri="{FF2B5EF4-FFF2-40B4-BE49-F238E27FC236}">
                <a16:creationId xmlns:a16="http://schemas.microsoft.com/office/drawing/2014/main" id="{2BEEFF95-8371-4A93-ADDB-DC524B244779}"/>
              </a:ext>
            </a:extLst>
          </p:cNvPr>
          <p:cNvSpPr>
            <a:spLocks noGrp="1"/>
          </p:cNvSpPr>
          <p:nvPr/>
        </p:nvSpPr>
        <p:spPr>
          <a:xfrm>
            <a:off x="6374130" y="762000"/>
            <a:ext cx="1809750" cy="342900"/>
          </a:xfrm>
          <a:prstGeom prst="roundRect">
            <a:avLst>
              <a:gd name="adj" fmla="val 36111"/>
            </a:avLst>
          </a:prstGeom>
          <a:solidFill>
            <a:srgbClr val="FFFFFF"/>
          </a:solidFill>
          <a:ln w="15240">
            <a:solidFill>
              <a:srgbClr val="D93F32"/>
            </a:solidFill>
            <a:prstDash val="solid"/>
          </a:ln>
        </p:spPr>
      </p:sp>
      <p:sp>
        <p:nvSpPr>
          <p:cNvPr id="70" name="cw-0-title">
            <a:extLst>
              <a:ext uri="{FF2B5EF4-FFF2-40B4-BE49-F238E27FC236}">
                <a16:creationId xmlns:a16="http://schemas.microsoft.com/office/drawing/2014/main" id="{DD465035-E533-4724-A4D5-2E70FD0544BA}"/>
              </a:ext>
            </a:extLst>
          </p:cNvPr>
          <p:cNvSpPr>
            <a:spLocks noGrp="1"/>
          </p:cNvSpPr>
          <p:nvPr/>
        </p:nvSpPr>
        <p:spPr>
          <a:xfrm>
            <a:off x="6421755" y="8001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013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CW Queue / Serializer</a:t>
            </a:r>
          </a:p>
        </p:txBody>
      </p:sp>
      <p:sp>
        <p:nvSpPr>
          <p:cNvPr id="71" name="ccw-0-frame">
            <a:extLst>
              <a:ext uri="{FF2B5EF4-FFF2-40B4-BE49-F238E27FC236}">
                <a16:creationId xmlns:a16="http://schemas.microsoft.com/office/drawing/2014/main" id="{A525F769-DC47-4AEF-BA06-59536CBC246A}"/>
              </a:ext>
            </a:extLst>
          </p:cNvPr>
          <p:cNvSpPr>
            <a:spLocks noGrp="1"/>
          </p:cNvSpPr>
          <p:nvPr/>
        </p:nvSpPr>
        <p:spPr>
          <a:xfrm>
            <a:off x="6374130" y="1181100"/>
            <a:ext cx="1809750" cy="342900"/>
          </a:xfrm>
          <a:prstGeom prst="roundRect">
            <a:avLst>
              <a:gd name="adj" fmla="val 36111"/>
            </a:avLst>
          </a:prstGeom>
          <a:solidFill>
            <a:srgbClr val="FFFFFF"/>
          </a:solidFill>
          <a:ln w="15240">
            <a:solidFill>
              <a:srgbClr val="D93F32"/>
            </a:solidFill>
            <a:prstDash val="solid"/>
          </a:ln>
        </p:spPr>
      </p:sp>
      <p:sp>
        <p:nvSpPr>
          <p:cNvPr id="72" name="ccw-0-title">
            <a:extLst>
              <a:ext uri="{FF2B5EF4-FFF2-40B4-BE49-F238E27FC236}">
                <a16:creationId xmlns:a16="http://schemas.microsoft.com/office/drawing/2014/main" id="{52137A4A-3C32-45C9-9BBC-901494EE7F66}"/>
              </a:ext>
            </a:extLst>
          </p:cNvPr>
          <p:cNvSpPr>
            <a:spLocks noGrp="1"/>
          </p:cNvSpPr>
          <p:nvPr/>
        </p:nvSpPr>
        <p:spPr>
          <a:xfrm>
            <a:off x="6421755" y="12192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013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CCW Queue / Serializer</a:t>
            </a:r>
          </a:p>
        </p:txBody>
      </p:sp>
      <p:cxnSp>
        <p:nvCxnSpPr>
          <p:cNvPr id="453" name="in-0"/>
          <p:cNvCxnSpPr>
            <a:stCxn id="62" idx="3"/>
            <a:endCxn id="66" idx="1"/>
          </p:cNvCxnSpPr>
          <p:nvPr/>
        </p:nvCxnSpPr>
        <p:spPr>
          <a:xfrm>
            <a:off x="2773680" y="1143000"/>
            <a:ext cx="695325" cy="0"/>
          </a:xfrm>
          <a:prstGeom prst="straightConnector1">
            <a:avLst/>
          </a:prstGeom>
          <a:ln w="24765" cap="rnd">
            <a:solidFill>
              <a:srgbClr val="D93F32"/>
            </a:solidFill>
            <a:prstDash val="solid"/>
            <a:round/>
            <a:tailEnd type="arrow" w="sm" len="sm"/>
          </a:ln>
        </p:spPr>
      </p:cxnSp>
      <p:cxnSp>
        <p:nvCxnSpPr>
          <p:cNvPr id="454" name="ccw-branch-0"/>
          <p:cNvCxnSpPr>
            <a:stCxn id="66" idx="3"/>
            <a:endCxn id="71" idx="1"/>
          </p:cNvCxnSpPr>
          <p:nvPr/>
        </p:nvCxnSpPr>
        <p:spPr>
          <a:xfrm>
            <a:off x="5564505" y="1143000"/>
            <a:ext cx="809625" cy="209550"/>
          </a:xfrm>
          <a:prstGeom prst="bentConnector3">
            <a:avLst>
              <a:gd name="adj1" fmla="val 50000"/>
            </a:avLst>
          </a:prstGeom>
          <a:ln w="24765" cap="rnd">
            <a:solidFill>
              <a:srgbClr val="D93F32"/>
            </a:solidFill>
            <a:prstDash val="solid"/>
            <a:round/>
            <a:tailEnd type="arrow" w="sm" len="sm"/>
          </a:ln>
        </p:spPr>
      </p:cxnSp>
      <p:cxnSp>
        <p:nvCxnSpPr>
          <p:cNvPr id="455" name="cw-out-0"/>
          <p:cNvCxnSpPr>
            <a:stCxn id="69" idx="3"/>
            <a:endCxn id="64" idx="1"/>
          </p:cNvCxnSpPr>
          <p:nvPr/>
        </p:nvCxnSpPr>
        <p:spPr>
          <a:xfrm>
            <a:off x="8183880" y="933450"/>
            <a:ext cx="933450" cy="209550"/>
          </a:xfrm>
          <a:prstGeom prst="bentConnector3">
            <a:avLst>
              <a:gd name="adj1" fmla="val 50000"/>
            </a:avLst>
          </a:prstGeom>
          <a:ln w="24765" cap="rnd">
            <a:solidFill>
              <a:srgbClr val="D93F32"/>
            </a:solidFill>
            <a:prstDash val="solid"/>
            <a:round/>
            <a:tailEnd type="arrow" w="sm" len="sm"/>
          </a:ln>
        </p:spPr>
      </p:cxnSp>
      <p:cxnSp>
        <p:nvCxnSpPr>
          <p:cNvPr id="456" name="ccw-out-0"/>
          <p:cNvCxnSpPr>
            <a:stCxn id="71" idx="3"/>
            <a:endCxn id="64" idx="1"/>
          </p:cNvCxnSpPr>
          <p:nvPr/>
        </p:nvCxnSpPr>
        <p:spPr>
          <a:xfrm flipV="1">
            <a:off x="8183880" y="1143000"/>
            <a:ext cx="933450" cy="209550"/>
          </a:xfrm>
          <a:prstGeom prst="bentConnector3">
            <a:avLst>
              <a:gd name="adj1" fmla="val 50000"/>
            </a:avLst>
          </a:prstGeom>
          <a:ln w="24765" cap="rnd">
            <a:solidFill>
              <a:srgbClr val="D93F32"/>
            </a:solidFill>
            <a:prstDash val="solid"/>
            <a:round/>
            <a:tailEnd type="arrow" w="sm" len="sm"/>
          </a:ln>
        </p:spPr>
      </p:cxnSp>
      <p:sp>
        <p:nvSpPr>
          <p:cNvPr id="77" name="rbrg-lane-1">
            <a:extLst>
              <a:ext uri="{FF2B5EF4-FFF2-40B4-BE49-F238E27FC236}">
                <a16:creationId xmlns:a16="http://schemas.microsoft.com/office/drawing/2014/main" id="{30643096-BD14-4C9E-8DAA-5C5E6274E891}"/>
              </a:ext>
            </a:extLst>
          </p:cNvPr>
          <p:cNvSpPr>
            <a:spLocks noGrp="1"/>
          </p:cNvSpPr>
          <p:nvPr/>
        </p:nvSpPr>
        <p:spPr>
          <a:xfrm>
            <a:off x="1849755" y="1857375"/>
            <a:ext cx="8191500" cy="952500"/>
          </a:xfrm>
          <a:prstGeom prst="roundRect">
            <a:avLst>
              <a:gd name="adj" fmla="val 10000"/>
            </a:avLst>
          </a:prstGeom>
          <a:solidFill>
            <a:srgbClr val="FAFBFC"/>
          </a:solidFill>
          <a:ln w="9525">
            <a:solidFill>
              <a:srgbClr val="D5DCE3"/>
            </a:solidFill>
            <a:prstDash val="solid"/>
          </a:ln>
        </p:spPr>
      </p:sp>
      <p:sp>
        <p:nvSpPr>
          <p:cNvPr id="78" name="v-ni-1-frame">
            <a:extLst>
              <a:ext uri="{FF2B5EF4-FFF2-40B4-BE49-F238E27FC236}">
                <a16:creationId xmlns:a16="http://schemas.microsoft.com/office/drawing/2014/main" id="{6C2A9E8C-91B7-4304-95CE-FC54652DFB89}"/>
              </a:ext>
            </a:extLst>
          </p:cNvPr>
          <p:cNvSpPr>
            <a:spLocks noGrp="1"/>
          </p:cNvSpPr>
          <p:nvPr/>
        </p:nvSpPr>
        <p:spPr>
          <a:xfrm>
            <a:off x="1992630" y="2085975"/>
            <a:ext cx="781050" cy="4953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240">
            <a:solidFill>
              <a:srgbClr val="ED7D31"/>
            </a:solidFill>
            <a:prstDash val="solid"/>
          </a:ln>
        </p:spPr>
      </p:sp>
      <p:sp>
        <p:nvSpPr>
          <p:cNvPr id="79" name="v-ni-1-title">
            <a:extLst>
              <a:ext uri="{FF2B5EF4-FFF2-40B4-BE49-F238E27FC236}">
                <a16:creationId xmlns:a16="http://schemas.microsoft.com/office/drawing/2014/main" id="{658791E6-CA31-4298-80CB-27061F185901}"/>
              </a:ext>
            </a:extLst>
          </p:cNvPr>
          <p:cNvSpPr>
            <a:spLocks noGrp="1"/>
          </p:cNvSpPr>
          <p:nvPr/>
        </p:nvSpPr>
        <p:spPr>
          <a:xfrm>
            <a:off x="2040255" y="2124075"/>
            <a:ext cx="685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088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V NI</a:t>
            </a:r>
          </a:p>
        </p:txBody>
      </p:sp>
      <p:sp>
        <p:nvSpPr>
          <p:cNvPr id="80" name="h-ni-1-frame">
            <a:extLst>
              <a:ext uri="{FF2B5EF4-FFF2-40B4-BE49-F238E27FC236}">
                <a16:creationId xmlns:a16="http://schemas.microsoft.com/office/drawing/2014/main" id="{04F39213-4CEE-4FAB-A9F5-44656D9D344B}"/>
              </a:ext>
            </a:extLst>
          </p:cNvPr>
          <p:cNvSpPr>
            <a:spLocks noGrp="1"/>
          </p:cNvSpPr>
          <p:nvPr/>
        </p:nvSpPr>
        <p:spPr>
          <a:xfrm>
            <a:off x="9117330" y="2085975"/>
            <a:ext cx="781050" cy="4953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240">
            <a:solidFill>
              <a:srgbClr val="ED7D31"/>
            </a:solidFill>
            <a:prstDash val="solid"/>
          </a:ln>
        </p:spPr>
      </p:sp>
      <p:sp>
        <p:nvSpPr>
          <p:cNvPr id="81" name="h-ni-1-title">
            <a:extLst>
              <a:ext uri="{FF2B5EF4-FFF2-40B4-BE49-F238E27FC236}">
                <a16:creationId xmlns:a16="http://schemas.microsoft.com/office/drawing/2014/main" id="{8D8DFE7F-A23C-46E4-A7DB-973EAB812E34}"/>
              </a:ext>
            </a:extLst>
          </p:cNvPr>
          <p:cNvSpPr>
            <a:spLocks noGrp="1"/>
          </p:cNvSpPr>
          <p:nvPr/>
        </p:nvSpPr>
        <p:spPr>
          <a:xfrm>
            <a:off x="9164955" y="2124075"/>
            <a:ext cx="685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088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H NI</a:t>
            </a:r>
          </a:p>
        </p:txBody>
      </p:sp>
      <p:sp>
        <p:nvSpPr>
          <p:cNvPr id="82" name="path-1-frame">
            <a:extLst>
              <a:ext uri="{FF2B5EF4-FFF2-40B4-BE49-F238E27FC236}">
                <a16:creationId xmlns:a16="http://schemas.microsoft.com/office/drawing/2014/main" id="{B2EF91BB-BBA8-422E-B3E2-EDBE55E20747}"/>
              </a:ext>
            </a:extLst>
          </p:cNvPr>
          <p:cNvSpPr>
            <a:spLocks noGrp="1"/>
          </p:cNvSpPr>
          <p:nvPr/>
        </p:nvSpPr>
        <p:spPr>
          <a:xfrm>
            <a:off x="3469005" y="2019300"/>
            <a:ext cx="2095500" cy="628650"/>
          </a:xfrm>
          <a:prstGeom prst="roundRect">
            <a:avLst>
              <a:gd name="adj" fmla="val 19697"/>
            </a:avLst>
          </a:prstGeom>
          <a:solidFill>
            <a:srgbClr val="FFFFFF"/>
          </a:solidFill>
          <a:ln w="15240">
            <a:solidFill>
              <a:srgbClr val="ED7D31"/>
            </a:solidFill>
            <a:prstDash val="solid"/>
          </a:ln>
        </p:spPr>
      </p:sp>
      <p:sp>
        <p:nvSpPr>
          <p:cNvPr id="83" name="path-1-title">
            <a:extLst>
              <a:ext uri="{FF2B5EF4-FFF2-40B4-BE49-F238E27FC236}">
                <a16:creationId xmlns:a16="http://schemas.microsoft.com/office/drawing/2014/main" id="{42E3A852-CBD3-430C-93B6-B9184A6453F3}"/>
              </a:ext>
            </a:extLst>
          </p:cNvPr>
          <p:cNvSpPr>
            <a:spLocks noGrp="1"/>
          </p:cNvSpPr>
          <p:nvPr/>
        </p:nvSpPr>
        <p:spPr>
          <a:xfrm>
            <a:off x="3535680" y="2066925"/>
            <a:ext cx="19621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95921" lnSpcReduction="10000"/>
          </a:bodyPr>
          <a:lstStyle/>
          <a:p>
            <a:pPr algn="ctr">
              <a:buNone/>
              <a:defRPr sz="1238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V_TO_H_DAT</a:t>
            </a:r>
          </a:p>
        </p:txBody>
      </p:sp>
      <p:sp>
        <p:nvSpPr>
          <p:cNvPr id="84" name="path-1-body">
            <a:extLst>
              <a:ext uri="{FF2B5EF4-FFF2-40B4-BE49-F238E27FC236}">
                <a16:creationId xmlns:a16="http://schemas.microsoft.com/office/drawing/2014/main" id="{5B4A8C02-2CA1-47B2-9C52-D3B1CF3CEEDF}"/>
              </a:ext>
            </a:extLst>
          </p:cNvPr>
          <p:cNvSpPr>
            <a:spLocks noGrp="1"/>
          </p:cNvSpPr>
          <p:nvPr/>
        </p:nvSpPr>
        <p:spPr>
          <a:xfrm>
            <a:off x="3545205" y="2276475"/>
            <a:ext cx="19431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013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DAT</a:t>
            </a:r>
          </a:p>
        </p:txBody>
      </p:sp>
      <p:sp>
        <p:nvSpPr>
          <p:cNvPr id="85" name="cw-1-frame">
            <a:extLst>
              <a:ext uri="{FF2B5EF4-FFF2-40B4-BE49-F238E27FC236}">
                <a16:creationId xmlns:a16="http://schemas.microsoft.com/office/drawing/2014/main" id="{BB87793B-FEE1-4DD1-BC0A-30E8AE4FD485}"/>
              </a:ext>
            </a:extLst>
          </p:cNvPr>
          <p:cNvSpPr>
            <a:spLocks noGrp="1"/>
          </p:cNvSpPr>
          <p:nvPr/>
        </p:nvSpPr>
        <p:spPr>
          <a:xfrm>
            <a:off x="6374130" y="1952625"/>
            <a:ext cx="1809750" cy="342900"/>
          </a:xfrm>
          <a:prstGeom prst="roundRect">
            <a:avLst>
              <a:gd name="adj" fmla="val 36111"/>
            </a:avLst>
          </a:prstGeom>
          <a:solidFill>
            <a:srgbClr val="FFFFFF"/>
          </a:solidFill>
          <a:ln w="15240">
            <a:solidFill>
              <a:srgbClr val="ED7D31"/>
            </a:solidFill>
            <a:prstDash val="solid"/>
          </a:ln>
        </p:spPr>
      </p:sp>
      <p:sp>
        <p:nvSpPr>
          <p:cNvPr id="86" name="cw-1-title">
            <a:extLst>
              <a:ext uri="{FF2B5EF4-FFF2-40B4-BE49-F238E27FC236}">
                <a16:creationId xmlns:a16="http://schemas.microsoft.com/office/drawing/2014/main" id="{53C5E8CA-D1DB-42B0-87B0-2388A67FD31D}"/>
              </a:ext>
            </a:extLst>
          </p:cNvPr>
          <p:cNvSpPr>
            <a:spLocks noGrp="1"/>
          </p:cNvSpPr>
          <p:nvPr/>
        </p:nvSpPr>
        <p:spPr>
          <a:xfrm>
            <a:off x="6421755" y="1990725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013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CW Queue / Serializer</a:t>
            </a:r>
          </a:p>
        </p:txBody>
      </p:sp>
      <p:sp>
        <p:nvSpPr>
          <p:cNvPr id="87" name="ccw-1-frame">
            <a:extLst>
              <a:ext uri="{FF2B5EF4-FFF2-40B4-BE49-F238E27FC236}">
                <a16:creationId xmlns:a16="http://schemas.microsoft.com/office/drawing/2014/main" id="{273F21C6-69EF-4929-B997-C620F7533C2C}"/>
              </a:ext>
            </a:extLst>
          </p:cNvPr>
          <p:cNvSpPr>
            <a:spLocks noGrp="1"/>
          </p:cNvSpPr>
          <p:nvPr/>
        </p:nvSpPr>
        <p:spPr>
          <a:xfrm>
            <a:off x="6374130" y="2371725"/>
            <a:ext cx="1809750" cy="342900"/>
          </a:xfrm>
          <a:prstGeom prst="roundRect">
            <a:avLst>
              <a:gd name="adj" fmla="val 36111"/>
            </a:avLst>
          </a:prstGeom>
          <a:solidFill>
            <a:srgbClr val="FFFFFF"/>
          </a:solidFill>
          <a:ln w="15240">
            <a:solidFill>
              <a:srgbClr val="ED7D31"/>
            </a:solidFill>
            <a:prstDash val="solid"/>
          </a:ln>
        </p:spPr>
      </p:sp>
      <p:sp>
        <p:nvSpPr>
          <p:cNvPr id="88" name="ccw-1-title">
            <a:extLst>
              <a:ext uri="{FF2B5EF4-FFF2-40B4-BE49-F238E27FC236}">
                <a16:creationId xmlns:a16="http://schemas.microsoft.com/office/drawing/2014/main" id="{B0865591-C759-45E2-8A88-5FD97AFEEB47}"/>
              </a:ext>
            </a:extLst>
          </p:cNvPr>
          <p:cNvSpPr>
            <a:spLocks noGrp="1"/>
          </p:cNvSpPr>
          <p:nvPr/>
        </p:nvSpPr>
        <p:spPr>
          <a:xfrm>
            <a:off x="6421755" y="2409825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013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CCW Queue / Serializer</a:t>
            </a:r>
          </a:p>
        </p:txBody>
      </p:sp>
      <p:cxnSp>
        <p:nvCxnSpPr>
          <p:cNvPr id="469" name="in-1"/>
          <p:cNvCxnSpPr>
            <a:stCxn id="78" idx="3"/>
            <a:endCxn id="82" idx="1"/>
          </p:cNvCxnSpPr>
          <p:nvPr/>
        </p:nvCxnSpPr>
        <p:spPr>
          <a:xfrm>
            <a:off x="2773680" y="2333625"/>
            <a:ext cx="695325" cy="0"/>
          </a:xfrm>
          <a:prstGeom prst="straightConnector1">
            <a:avLst/>
          </a:prstGeom>
          <a:ln w="24765" cap="rnd">
            <a:solidFill>
              <a:srgbClr val="ED7D31"/>
            </a:solidFill>
            <a:prstDash val="solid"/>
            <a:round/>
            <a:tailEnd type="arrow" w="sm" len="sm"/>
          </a:ln>
        </p:spPr>
      </p:cxnSp>
      <p:cxnSp>
        <p:nvCxnSpPr>
          <p:cNvPr id="470" name="ccw-branch-1"/>
          <p:cNvCxnSpPr>
            <a:stCxn id="82" idx="3"/>
            <a:endCxn id="87" idx="1"/>
          </p:cNvCxnSpPr>
          <p:nvPr/>
        </p:nvCxnSpPr>
        <p:spPr>
          <a:xfrm>
            <a:off x="5564505" y="2333625"/>
            <a:ext cx="809625" cy="209550"/>
          </a:xfrm>
          <a:prstGeom prst="bentConnector3">
            <a:avLst>
              <a:gd name="adj1" fmla="val 50000"/>
            </a:avLst>
          </a:prstGeom>
          <a:ln w="24765" cap="rnd">
            <a:solidFill>
              <a:srgbClr val="ED7D31"/>
            </a:solidFill>
            <a:prstDash val="solid"/>
            <a:round/>
            <a:tailEnd type="arrow" w="sm" len="sm"/>
          </a:ln>
        </p:spPr>
      </p:cxnSp>
      <p:cxnSp>
        <p:nvCxnSpPr>
          <p:cNvPr id="471" name="cw-out-1"/>
          <p:cNvCxnSpPr>
            <a:stCxn id="85" idx="3"/>
            <a:endCxn id="80" idx="1"/>
          </p:cNvCxnSpPr>
          <p:nvPr/>
        </p:nvCxnSpPr>
        <p:spPr>
          <a:xfrm>
            <a:off x="8183880" y="2124075"/>
            <a:ext cx="933450" cy="209550"/>
          </a:xfrm>
          <a:prstGeom prst="bentConnector3">
            <a:avLst>
              <a:gd name="adj1" fmla="val 50000"/>
            </a:avLst>
          </a:prstGeom>
          <a:ln w="24765" cap="rnd">
            <a:solidFill>
              <a:srgbClr val="ED7D31"/>
            </a:solidFill>
            <a:prstDash val="solid"/>
            <a:round/>
            <a:tailEnd type="arrow" w="sm" len="sm"/>
          </a:ln>
        </p:spPr>
      </p:cxnSp>
      <p:cxnSp>
        <p:nvCxnSpPr>
          <p:cNvPr id="472" name="ccw-out-1"/>
          <p:cNvCxnSpPr>
            <a:stCxn id="87" idx="3"/>
            <a:endCxn id="80" idx="1"/>
          </p:cNvCxnSpPr>
          <p:nvPr/>
        </p:nvCxnSpPr>
        <p:spPr>
          <a:xfrm flipV="1">
            <a:off x="8183880" y="2333625"/>
            <a:ext cx="933450" cy="209550"/>
          </a:xfrm>
          <a:prstGeom prst="bentConnector3">
            <a:avLst>
              <a:gd name="adj1" fmla="val 50000"/>
            </a:avLst>
          </a:prstGeom>
          <a:ln w="24765" cap="rnd">
            <a:solidFill>
              <a:srgbClr val="ED7D31"/>
            </a:solidFill>
            <a:prstDash val="solid"/>
            <a:round/>
            <a:tailEnd type="arrow" w="sm" len="sm"/>
          </a:ln>
        </p:spPr>
      </p:cxnSp>
      <p:sp>
        <p:nvSpPr>
          <p:cNvPr id="93" name="rbrg-lane-2">
            <a:extLst>
              <a:ext uri="{FF2B5EF4-FFF2-40B4-BE49-F238E27FC236}">
                <a16:creationId xmlns:a16="http://schemas.microsoft.com/office/drawing/2014/main" id="{EF9E396E-50E1-4E64-B304-63A5C577801B}"/>
              </a:ext>
            </a:extLst>
          </p:cNvPr>
          <p:cNvSpPr>
            <a:spLocks noGrp="1"/>
          </p:cNvSpPr>
          <p:nvPr/>
        </p:nvSpPr>
        <p:spPr>
          <a:xfrm>
            <a:off x="1849755" y="3048000"/>
            <a:ext cx="8191500" cy="952500"/>
          </a:xfrm>
          <a:prstGeom prst="roundRect">
            <a:avLst>
              <a:gd name="adj" fmla="val 10000"/>
            </a:avLst>
          </a:prstGeom>
          <a:solidFill>
            <a:srgbClr val="FAFBFC"/>
          </a:solidFill>
          <a:ln w="9525">
            <a:solidFill>
              <a:srgbClr val="D5DCE3"/>
            </a:solidFill>
            <a:prstDash val="solid"/>
          </a:ln>
        </p:spPr>
      </p:sp>
      <p:sp>
        <p:nvSpPr>
          <p:cNvPr id="94" name="v-ni-2-frame">
            <a:extLst>
              <a:ext uri="{FF2B5EF4-FFF2-40B4-BE49-F238E27FC236}">
                <a16:creationId xmlns:a16="http://schemas.microsoft.com/office/drawing/2014/main" id="{9BA7D09F-EFA1-48AB-9F37-E861C9B23314}"/>
              </a:ext>
            </a:extLst>
          </p:cNvPr>
          <p:cNvSpPr>
            <a:spLocks noGrp="1"/>
          </p:cNvSpPr>
          <p:nvPr/>
        </p:nvSpPr>
        <p:spPr>
          <a:xfrm>
            <a:off x="1992630" y="3276600"/>
            <a:ext cx="781050" cy="4953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240">
            <a:solidFill>
              <a:srgbClr val="7048A8"/>
            </a:solidFill>
            <a:prstDash val="solid"/>
          </a:ln>
        </p:spPr>
      </p:sp>
      <p:sp>
        <p:nvSpPr>
          <p:cNvPr id="95" name="v-ni-2-title">
            <a:extLst>
              <a:ext uri="{FF2B5EF4-FFF2-40B4-BE49-F238E27FC236}">
                <a16:creationId xmlns:a16="http://schemas.microsoft.com/office/drawing/2014/main" id="{6903546F-937A-4564-90A1-0E69C6A56D4A}"/>
              </a:ext>
            </a:extLst>
          </p:cNvPr>
          <p:cNvSpPr>
            <a:spLocks noGrp="1"/>
          </p:cNvSpPr>
          <p:nvPr/>
        </p:nvSpPr>
        <p:spPr>
          <a:xfrm>
            <a:off x="2040255" y="3314700"/>
            <a:ext cx="685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088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V NI</a:t>
            </a:r>
          </a:p>
        </p:txBody>
      </p:sp>
      <p:sp>
        <p:nvSpPr>
          <p:cNvPr id="96" name="h-ni-2-frame">
            <a:extLst>
              <a:ext uri="{FF2B5EF4-FFF2-40B4-BE49-F238E27FC236}">
                <a16:creationId xmlns:a16="http://schemas.microsoft.com/office/drawing/2014/main" id="{4F21C341-DB25-4E02-AC9F-8A5186A00176}"/>
              </a:ext>
            </a:extLst>
          </p:cNvPr>
          <p:cNvSpPr>
            <a:spLocks noGrp="1"/>
          </p:cNvSpPr>
          <p:nvPr/>
        </p:nvSpPr>
        <p:spPr>
          <a:xfrm>
            <a:off x="9117330" y="3276600"/>
            <a:ext cx="781050" cy="4953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240">
            <a:solidFill>
              <a:srgbClr val="7048A8"/>
            </a:solidFill>
            <a:prstDash val="solid"/>
          </a:ln>
        </p:spPr>
      </p:sp>
      <p:sp>
        <p:nvSpPr>
          <p:cNvPr id="97" name="h-ni-2-title">
            <a:extLst>
              <a:ext uri="{FF2B5EF4-FFF2-40B4-BE49-F238E27FC236}">
                <a16:creationId xmlns:a16="http://schemas.microsoft.com/office/drawing/2014/main" id="{9328FC3E-C3A4-4DAB-9832-E689D0EF1658}"/>
              </a:ext>
            </a:extLst>
          </p:cNvPr>
          <p:cNvSpPr>
            <a:spLocks noGrp="1"/>
          </p:cNvSpPr>
          <p:nvPr/>
        </p:nvSpPr>
        <p:spPr>
          <a:xfrm>
            <a:off x="9164955" y="3314700"/>
            <a:ext cx="685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088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H NI</a:t>
            </a:r>
          </a:p>
        </p:txBody>
      </p:sp>
      <p:sp>
        <p:nvSpPr>
          <p:cNvPr id="98" name="path-2-frame">
            <a:extLst>
              <a:ext uri="{FF2B5EF4-FFF2-40B4-BE49-F238E27FC236}">
                <a16:creationId xmlns:a16="http://schemas.microsoft.com/office/drawing/2014/main" id="{B48E078A-8C6D-44A7-A531-001EF02B902B}"/>
              </a:ext>
            </a:extLst>
          </p:cNvPr>
          <p:cNvSpPr>
            <a:spLocks noGrp="1"/>
          </p:cNvSpPr>
          <p:nvPr/>
        </p:nvSpPr>
        <p:spPr>
          <a:xfrm>
            <a:off x="6326505" y="3209925"/>
            <a:ext cx="2095500" cy="628650"/>
          </a:xfrm>
          <a:prstGeom prst="roundRect">
            <a:avLst>
              <a:gd name="adj" fmla="val 19697"/>
            </a:avLst>
          </a:prstGeom>
          <a:solidFill>
            <a:srgbClr val="FFFFFF"/>
          </a:solidFill>
          <a:ln w="15240">
            <a:solidFill>
              <a:srgbClr val="7048A8"/>
            </a:solidFill>
            <a:prstDash val="solid"/>
          </a:ln>
        </p:spPr>
      </p:sp>
      <p:sp>
        <p:nvSpPr>
          <p:cNvPr id="99" name="path-2-title">
            <a:extLst>
              <a:ext uri="{FF2B5EF4-FFF2-40B4-BE49-F238E27FC236}">
                <a16:creationId xmlns:a16="http://schemas.microsoft.com/office/drawing/2014/main" id="{F4787D30-9C7E-429B-BF85-3C994EE8C359}"/>
              </a:ext>
            </a:extLst>
          </p:cNvPr>
          <p:cNvSpPr>
            <a:spLocks noGrp="1"/>
          </p:cNvSpPr>
          <p:nvPr/>
        </p:nvSpPr>
        <p:spPr>
          <a:xfrm>
            <a:off x="6393180" y="3257550"/>
            <a:ext cx="19621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95921" lnSpcReduction="10000"/>
          </a:bodyPr>
          <a:lstStyle/>
          <a:p>
            <a:pPr algn="ctr">
              <a:buNone/>
              <a:defRPr sz="1238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H_TO_V_RSP</a:t>
            </a:r>
          </a:p>
        </p:txBody>
      </p:sp>
      <p:sp>
        <p:nvSpPr>
          <p:cNvPr id="100" name="path-2-body">
            <a:extLst>
              <a:ext uri="{FF2B5EF4-FFF2-40B4-BE49-F238E27FC236}">
                <a16:creationId xmlns:a16="http://schemas.microsoft.com/office/drawing/2014/main" id="{18056486-21F6-47A1-8A91-B4195F6515BB}"/>
              </a:ext>
            </a:extLst>
          </p:cNvPr>
          <p:cNvSpPr>
            <a:spLocks noGrp="1"/>
          </p:cNvSpPr>
          <p:nvPr/>
        </p:nvSpPr>
        <p:spPr>
          <a:xfrm>
            <a:off x="6402705" y="3467100"/>
            <a:ext cx="19431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013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RSP</a:t>
            </a:r>
          </a:p>
        </p:txBody>
      </p:sp>
      <p:sp>
        <p:nvSpPr>
          <p:cNvPr id="101" name="cw-2-frame">
            <a:extLst>
              <a:ext uri="{FF2B5EF4-FFF2-40B4-BE49-F238E27FC236}">
                <a16:creationId xmlns:a16="http://schemas.microsoft.com/office/drawing/2014/main" id="{CE4F7635-A35B-4E9F-8D2A-3AA212F7B131}"/>
              </a:ext>
            </a:extLst>
          </p:cNvPr>
          <p:cNvSpPr>
            <a:spLocks noGrp="1"/>
          </p:cNvSpPr>
          <p:nvPr/>
        </p:nvSpPr>
        <p:spPr>
          <a:xfrm>
            <a:off x="3707130" y="3143250"/>
            <a:ext cx="1809750" cy="342900"/>
          </a:xfrm>
          <a:prstGeom prst="roundRect">
            <a:avLst>
              <a:gd name="adj" fmla="val 36111"/>
            </a:avLst>
          </a:prstGeom>
          <a:solidFill>
            <a:srgbClr val="FFFFFF"/>
          </a:solidFill>
          <a:ln w="15240">
            <a:solidFill>
              <a:srgbClr val="7048A8"/>
            </a:solidFill>
            <a:prstDash val="solid"/>
          </a:ln>
        </p:spPr>
      </p:sp>
      <p:sp>
        <p:nvSpPr>
          <p:cNvPr id="102" name="cw-2-title">
            <a:extLst>
              <a:ext uri="{FF2B5EF4-FFF2-40B4-BE49-F238E27FC236}">
                <a16:creationId xmlns:a16="http://schemas.microsoft.com/office/drawing/2014/main" id="{5884AEEF-FE5A-488E-A2C0-78DD3AB6AB39}"/>
              </a:ext>
            </a:extLst>
          </p:cNvPr>
          <p:cNvSpPr>
            <a:spLocks noGrp="1"/>
          </p:cNvSpPr>
          <p:nvPr/>
        </p:nvSpPr>
        <p:spPr>
          <a:xfrm>
            <a:off x="3754755" y="31813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013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CW Queue / Serializer</a:t>
            </a:r>
          </a:p>
        </p:txBody>
      </p:sp>
      <p:sp>
        <p:nvSpPr>
          <p:cNvPr id="103" name="ccw-2-frame">
            <a:extLst>
              <a:ext uri="{FF2B5EF4-FFF2-40B4-BE49-F238E27FC236}">
                <a16:creationId xmlns:a16="http://schemas.microsoft.com/office/drawing/2014/main" id="{572FC97E-2BA2-4233-A09E-0DA8CDE0540C}"/>
              </a:ext>
            </a:extLst>
          </p:cNvPr>
          <p:cNvSpPr>
            <a:spLocks noGrp="1"/>
          </p:cNvSpPr>
          <p:nvPr/>
        </p:nvSpPr>
        <p:spPr>
          <a:xfrm>
            <a:off x="3707130" y="3562350"/>
            <a:ext cx="1809750" cy="342900"/>
          </a:xfrm>
          <a:prstGeom prst="roundRect">
            <a:avLst>
              <a:gd name="adj" fmla="val 36111"/>
            </a:avLst>
          </a:prstGeom>
          <a:solidFill>
            <a:srgbClr val="FFFFFF"/>
          </a:solidFill>
          <a:ln w="15240">
            <a:solidFill>
              <a:srgbClr val="7048A8"/>
            </a:solidFill>
            <a:prstDash val="solid"/>
          </a:ln>
        </p:spPr>
      </p:sp>
      <p:sp>
        <p:nvSpPr>
          <p:cNvPr id="104" name="ccw-2-title">
            <a:extLst>
              <a:ext uri="{FF2B5EF4-FFF2-40B4-BE49-F238E27FC236}">
                <a16:creationId xmlns:a16="http://schemas.microsoft.com/office/drawing/2014/main" id="{F5EC1D6C-0F0A-41BB-9BC2-058576BFFB7E}"/>
              </a:ext>
            </a:extLst>
          </p:cNvPr>
          <p:cNvSpPr>
            <a:spLocks noGrp="1"/>
          </p:cNvSpPr>
          <p:nvPr/>
        </p:nvSpPr>
        <p:spPr>
          <a:xfrm>
            <a:off x="3754755" y="36004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013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CCW Queue / Serializer</a:t>
            </a:r>
          </a:p>
        </p:txBody>
      </p:sp>
      <p:cxnSp>
        <p:nvCxnSpPr>
          <p:cNvPr id="485" name="in-2"/>
          <p:cNvCxnSpPr>
            <a:stCxn id="96" idx="1"/>
            <a:endCxn id="98" idx="3"/>
          </p:cNvCxnSpPr>
          <p:nvPr/>
        </p:nvCxnSpPr>
        <p:spPr>
          <a:xfrm flipH="1">
            <a:off x="8422005" y="3524250"/>
            <a:ext cx="695325" cy="0"/>
          </a:xfrm>
          <a:prstGeom prst="straightConnector1">
            <a:avLst/>
          </a:prstGeom>
          <a:ln w="24765" cap="rnd">
            <a:solidFill>
              <a:srgbClr val="7048A8"/>
            </a:solidFill>
            <a:prstDash val="solid"/>
            <a:round/>
            <a:tailEnd type="arrow" w="sm" len="sm"/>
          </a:ln>
        </p:spPr>
      </p:cxnSp>
      <p:cxnSp>
        <p:nvCxnSpPr>
          <p:cNvPr id="486" name="ccw-branch-2"/>
          <p:cNvCxnSpPr>
            <a:stCxn id="98" idx="1"/>
            <a:endCxn id="103" idx="3"/>
          </p:cNvCxnSpPr>
          <p:nvPr/>
        </p:nvCxnSpPr>
        <p:spPr>
          <a:xfrm flipH="1">
            <a:off x="5516880" y="3524250"/>
            <a:ext cx="809625" cy="209550"/>
          </a:xfrm>
          <a:prstGeom prst="bentConnector3">
            <a:avLst>
              <a:gd name="adj1" fmla="val 50000"/>
            </a:avLst>
          </a:prstGeom>
          <a:ln w="24765" cap="rnd">
            <a:solidFill>
              <a:srgbClr val="7048A8"/>
            </a:solidFill>
            <a:prstDash val="solid"/>
            <a:round/>
            <a:tailEnd type="arrow" w="sm" len="sm"/>
          </a:ln>
        </p:spPr>
      </p:cxnSp>
      <p:cxnSp>
        <p:nvCxnSpPr>
          <p:cNvPr id="487" name="cw-out-2"/>
          <p:cNvCxnSpPr>
            <a:stCxn id="101" idx="1"/>
            <a:endCxn id="94" idx="3"/>
          </p:cNvCxnSpPr>
          <p:nvPr/>
        </p:nvCxnSpPr>
        <p:spPr>
          <a:xfrm flipH="1">
            <a:off x="2773680" y="3314700"/>
            <a:ext cx="933450" cy="209550"/>
          </a:xfrm>
          <a:prstGeom prst="bentConnector3">
            <a:avLst>
              <a:gd name="adj1" fmla="val 50000"/>
            </a:avLst>
          </a:prstGeom>
          <a:ln w="24765" cap="rnd">
            <a:solidFill>
              <a:srgbClr val="7048A8"/>
            </a:solidFill>
            <a:prstDash val="solid"/>
            <a:round/>
            <a:tailEnd type="arrow" w="sm" len="sm"/>
          </a:ln>
        </p:spPr>
      </p:cxnSp>
      <p:cxnSp>
        <p:nvCxnSpPr>
          <p:cNvPr id="488" name="ccw-out-2"/>
          <p:cNvCxnSpPr>
            <a:stCxn id="103" idx="1"/>
            <a:endCxn id="94" idx="3"/>
          </p:cNvCxnSpPr>
          <p:nvPr/>
        </p:nvCxnSpPr>
        <p:spPr>
          <a:xfrm flipH="1" flipV="1">
            <a:off x="2773680" y="3524250"/>
            <a:ext cx="933450" cy="209550"/>
          </a:xfrm>
          <a:prstGeom prst="bentConnector3">
            <a:avLst>
              <a:gd name="adj1" fmla="val 50000"/>
            </a:avLst>
          </a:prstGeom>
          <a:ln w="24765" cap="rnd">
            <a:solidFill>
              <a:srgbClr val="7048A8"/>
            </a:solidFill>
            <a:prstDash val="solid"/>
            <a:round/>
            <a:tailEnd type="arrow" w="sm" len="sm"/>
          </a:ln>
        </p:spPr>
      </p:cxnSp>
      <p:sp>
        <p:nvSpPr>
          <p:cNvPr id="109" name="rbrg-lane-3">
            <a:extLst>
              <a:ext uri="{FF2B5EF4-FFF2-40B4-BE49-F238E27FC236}">
                <a16:creationId xmlns:a16="http://schemas.microsoft.com/office/drawing/2014/main" id="{D646B3DE-7418-4C61-B9AB-EF317087553E}"/>
              </a:ext>
            </a:extLst>
          </p:cNvPr>
          <p:cNvSpPr>
            <a:spLocks noGrp="1"/>
          </p:cNvSpPr>
          <p:nvPr/>
        </p:nvSpPr>
        <p:spPr>
          <a:xfrm>
            <a:off x="1849755" y="4229100"/>
            <a:ext cx="8191500" cy="952500"/>
          </a:xfrm>
          <a:prstGeom prst="roundRect">
            <a:avLst>
              <a:gd name="adj" fmla="val 10000"/>
            </a:avLst>
          </a:prstGeom>
          <a:solidFill>
            <a:srgbClr val="FAFBFC"/>
          </a:solidFill>
          <a:ln w="9525">
            <a:solidFill>
              <a:srgbClr val="D5DCE3"/>
            </a:solidFill>
            <a:prstDash val="solid"/>
          </a:ln>
        </p:spPr>
      </p:sp>
      <p:sp>
        <p:nvSpPr>
          <p:cNvPr id="110" name="v-ni-3-frame">
            <a:extLst>
              <a:ext uri="{FF2B5EF4-FFF2-40B4-BE49-F238E27FC236}">
                <a16:creationId xmlns:a16="http://schemas.microsoft.com/office/drawing/2014/main" id="{E6EA7CBD-CBAC-47C6-9DDE-98AE7FF36616}"/>
              </a:ext>
            </a:extLst>
          </p:cNvPr>
          <p:cNvSpPr>
            <a:spLocks noGrp="1"/>
          </p:cNvSpPr>
          <p:nvPr/>
        </p:nvSpPr>
        <p:spPr>
          <a:xfrm>
            <a:off x="1992630" y="4467225"/>
            <a:ext cx="781050" cy="4953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240">
            <a:solidFill>
              <a:srgbClr val="2E74B5"/>
            </a:solidFill>
            <a:prstDash val="solid"/>
          </a:ln>
        </p:spPr>
      </p:sp>
      <p:sp>
        <p:nvSpPr>
          <p:cNvPr id="111" name="v-ni-3-title">
            <a:extLst>
              <a:ext uri="{FF2B5EF4-FFF2-40B4-BE49-F238E27FC236}">
                <a16:creationId xmlns:a16="http://schemas.microsoft.com/office/drawing/2014/main" id="{22CED131-22E6-4F0D-AFEB-FFD75B8F0FFE}"/>
              </a:ext>
            </a:extLst>
          </p:cNvPr>
          <p:cNvSpPr>
            <a:spLocks noGrp="1"/>
          </p:cNvSpPr>
          <p:nvPr/>
        </p:nvSpPr>
        <p:spPr>
          <a:xfrm>
            <a:off x="2040255" y="4505325"/>
            <a:ext cx="685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088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V NI</a:t>
            </a:r>
          </a:p>
        </p:txBody>
      </p:sp>
      <p:sp>
        <p:nvSpPr>
          <p:cNvPr id="112" name="h-ni-3-frame">
            <a:extLst>
              <a:ext uri="{FF2B5EF4-FFF2-40B4-BE49-F238E27FC236}">
                <a16:creationId xmlns:a16="http://schemas.microsoft.com/office/drawing/2014/main" id="{E5D709AB-0121-4083-9DAA-C08277942D0F}"/>
              </a:ext>
            </a:extLst>
          </p:cNvPr>
          <p:cNvSpPr>
            <a:spLocks noGrp="1"/>
          </p:cNvSpPr>
          <p:nvPr/>
        </p:nvSpPr>
        <p:spPr>
          <a:xfrm>
            <a:off x="9117330" y="4467225"/>
            <a:ext cx="781050" cy="4953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240">
            <a:solidFill>
              <a:srgbClr val="2E74B5"/>
            </a:solidFill>
            <a:prstDash val="solid"/>
          </a:ln>
        </p:spPr>
      </p:sp>
      <p:sp>
        <p:nvSpPr>
          <p:cNvPr id="113" name="h-ni-3-title">
            <a:extLst>
              <a:ext uri="{FF2B5EF4-FFF2-40B4-BE49-F238E27FC236}">
                <a16:creationId xmlns:a16="http://schemas.microsoft.com/office/drawing/2014/main" id="{0E4025EF-7E9B-4C4C-9161-640FC9B7ED1A}"/>
              </a:ext>
            </a:extLst>
          </p:cNvPr>
          <p:cNvSpPr>
            <a:spLocks noGrp="1"/>
          </p:cNvSpPr>
          <p:nvPr/>
        </p:nvSpPr>
        <p:spPr>
          <a:xfrm>
            <a:off x="9164955" y="4505325"/>
            <a:ext cx="685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088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H NI</a:t>
            </a:r>
          </a:p>
        </p:txBody>
      </p:sp>
      <p:sp>
        <p:nvSpPr>
          <p:cNvPr id="114" name="path-3-frame">
            <a:extLst>
              <a:ext uri="{FF2B5EF4-FFF2-40B4-BE49-F238E27FC236}">
                <a16:creationId xmlns:a16="http://schemas.microsoft.com/office/drawing/2014/main" id="{630BD15E-50B7-4C16-ABA5-F09F07828D24}"/>
              </a:ext>
            </a:extLst>
          </p:cNvPr>
          <p:cNvSpPr>
            <a:spLocks noGrp="1"/>
          </p:cNvSpPr>
          <p:nvPr/>
        </p:nvSpPr>
        <p:spPr>
          <a:xfrm>
            <a:off x="6326505" y="4400550"/>
            <a:ext cx="2095500" cy="628650"/>
          </a:xfrm>
          <a:prstGeom prst="roundRect">
            <a:avLst>
              <a:gd name="adj" fmla="val 19697"/>
            </a:avLst>
          </a:prstGeom>
          <a:solidFill>
            <a:srgbClr val="FFFFFF"/>
          </a:solidFill>
          <a:ln w="15240">
            <a:solidFill>
              <a:srgbClr val="2E74B5"/>
            </a:solidFill>
            <a:prstDash val="solid"/>
          </a:ln>
        </p:spPr>
      </p:sp>
      <p:sp>
        <p:nvSpPr>
          <p:cNvPr id="115" name="path-3-title">
            <a:extLst>
              <a:ext uri="{FF2B5EF4-FFF2-40B4-BE49-F238E27FC236}">
                <a16:creationId xmlns:a16="http://schemas.microsoft.com/office/drawing/2014/main" id="{B9494988-DFD0-49A9-9BFC-1EA29745D533}"/>
              </a:ext>
            </a:extLst>
          </p:cNvPr>
          <p:cNvSpPr>
            <a:spLocks noGrp="1"/>
          </p:cNvSpPr>
          <p:nvPr/>
        </p:nvSpPr>
        <p:spPr>
          <a:xfrm>
            <a:off x="6393180" y="4448175"/>
            <a:ext cx="19621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 fontScale="95921" lnSpcReduction="10000"/>
          </a:bodyPr>
          <a:lstStyle/>
          <a:p>
            <a:pPr algn="ctr">
              <a:buNone/>
              <a:defRPr sz="1238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H_TO_V_DAT</a:t>
            </a:r>
          </a:p>
        </p:txBody>
      </p:sp>
      <p:sp>
        <p:nvSpPr>
          <p:cNvPr id="116" name="path-3-body">
            <a:extLst>
              <a:ext uri="{FF2B5EF4-FFF2-40B4-BE49-F238E27FC236}">
                <a16:creationId xmlns:a16="http://schemas.microsoft.com/office/drawing/2014/main" id="{079602CC-CA3C-4E30-B11B-E5675CD47AF9}"/>
              </a:ext>
            </a:extLst>
          </p:cNvPr>
          <p:cNvSpPr>
            <a:spLocks noGrp="1"/>
          </p:cNvSpPr>
          <p:nvPr/>
        </p:nvSpPr>
        <p:spPr>
          <a:xfrm>
            <a:off x="6402705" y="4657725"/>
            <a:ext cx="19431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013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DAT</a:t>
            </a:r>
          </a:p>
        </p:txBody>
      </p:sp>
      <p:sp>
        <p:nvSpPr>
          <p:cNvPr id="117" name="cw-3-frame">
            <a:extLst>
              <a:ext uri="{FF2B5EF4-FFF2-40B4-BE49-F238E27FC236}">
                <a16:creationId xmlns:a16="http://schemas.microsoft.com/office/drawing/2014/main" id="{9C563B38-B130-47C8-AC86-2B555A1D37E6}"/>
              </a:ext>
            </a:extLst>
          </p:cNvPr>
          <p:cNvSpPr>
            <a:spLocks noGrp="1"/>
          </p:cNvSpPr>
          <p:nvPr/>
        </p:nvSpPr>
        <p:spPr>
          <a:xfrm>
            <a:off x="3707130" y="4333875"/>
            <a:ext cx="1809750" cy="342900"/>
          </a:xfrm>
          <a:prstGeom prst="roundRect">
            <a:avLst>
              <a:gd name="adj" fmla="val 36111"/>
            </a:avLst>
          </a:prstGeom>
          <a:solidFill>
            <a:srgbClr val="FFFFFF"/>
          </a:solidFill>
          <a:ln w="15240">
            <a:solidFill>
              <a:srgbClr val="2E74B5"/>
            </a:solidFill>
            <a:prstDash val="solid"/>
          </a:ln>
        </p:spPr>
      </p:sp>
      <p:sp>
        <p:nvSpPr>
          <p:cNvPr id="118" name="cw-3-title">
            <a:extLst>
              <a:ext uri="{FF2B5EF4-FFF2-40B4-BE49-F238E27FC236}">
                <a16:creationId xmlns:a16="http://schemas.microsoft.com/office/drawing/2014/main" id="{B1E97353-6558-44B3-AF3F-721A1FA3DD0E}"/>
              </a:ext>
            </a:extLst>
          </p:cNvPr>
          <p:cNvSpPr>
            <a:spLocks noGrp="1"/>
          </p:cNvSpPr>
          <p:nvPr/>
        </p:nvSpPr>
        <p:spPr>
          <a:xfrm>
            <a:off x="3754755" y="4371975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013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CW Queue / Serializer</a:t>
            </a:r>
          </a:p>
        </p:txBody>
      </p:sp>
      <p:sp>
        <p:nvSpPr>
          <p:cNvPr id="119" name="ccw-3-frame">
            <a:extLst>
              <a:ext uri="{FF2B5EF4-FFF2-40B4-BE49-F238E27FC236}">
                <a16:creationId xmlns:a16="http://schemas.microsoft.com/office/drawing/2014/main" id="{16152765-1444-4F26-AF10-B22A9E4D9B39}"/>
              </a:ext>
            </a:extLst>
          </p:cNvPr>
          <p:cNvSpPr>
            <a:spLocks noGrp="1"/>
          </p:cNvSpPr>
          <p:nvPr/>
        </p:nvSpPr>
        <p:spPr>
          <a:xfrm>
            <a:off x="3707130" y="4752975"/>
            <a:ext cx="1809750" cy="342900"/>
          </a:xfrm>
          <a:prstGeom prst="roundRect">
            <a:avLst>
              <a:gd name="adj" fmla="val 36111"/>
            </a:avLst>
          </a:prstGeom>
          <a:solidFill>
            <a:srgbClr val="FFFFFF"/>
          </a:solidFill>
          <a:ln w="15240">
            <a:solidFill>
              <a:srgbClr val="2E74B5"/>
            </a:solidFill>
            <a:prstDash val="solid"/>
          </a:ln>
        </p:spPr>
      </p:sp>
      <p:sp>
        <p:nvSpPr>
          <p:cNvPr id="120" name="ccw-3-title">
            <a:extLst>
              <a:ext uri="{FF2B5EF4-FFF2-40B4-BE49-F238E27FC236}">
                <a16:creationId xmlns:a16="http://schemas.microsoft.com/office/drawing/2014/main" id="{E29F92AC-A2F9-45D6-8163-E16AFD6E8593}"/>
              </a:ext>
            </a:extLst>
          </p:cNvPr>
          <p:cNvSpPr>
            <a:spLocks noGrp="1"/>
          </p:cNvSpPr>
          <p:nvPr/>
        </p:nvSpPr>
        <p:spPr>
          <a:xfrm>
            <a:off x="3754755" y="4791075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rmAutofit/>
          </a:bodyPr>
          <a:lstStyle/>
          <a:p>
            <a:pPr algn="ctr">
              <a:buNone/>
              <a:defRPr sz="1013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CCW Queue / Serializer</a:t>
            </a:r>
          </a:p>
        </p:txBody>
      </p:sp>
      <p:cxnSp>
        <p:nvCxnSpPr>
          <p:cNvPr id="501" name="in-3"/>
          <p:cNvCxnSpPr>
            <a:stCxn id="112" idx="1"/>
            <a:endCxn id="114" idx="3"/>
          </p:cNvCxnSpPr>
          <p:nvPr/>
        </p:nvCxnSpPr>
        <p:spPr>
          <a:xfrm flipH="1">
            <a:off x="8422005" y="4714875"/>
            <a:ext cx="695325" cy="0"/>
          </a:xfrm>
          <a:prstGeom prst="straightConnector1">
            <a:avLst/>
          </a:prstGeom>
          <a:ln w="24765" cap="rnd">
            <a:solidFill>
              <a:srgbClr val="2E74B5"/>
            </a:solidFill>
            <a:prstDash val="solid"/>
            <a:round/>
            <a:tailEnd type="arrow" w="sm" len="sm"/>
          </a:ln>
        </p:spPr>
      </p:cxnSp>
      <p:cxnSp>
        <p:nvCxnSpPr>
          <p:cNvPr id="502" name="ccw-branch-3"/>
          <p:cNvCxnSpPr>
            <a:stCxn id="114" idx="1"/>
            <a:endCxn id="119" idx="3"/>
          </p:cNvCxnSpPr>
          <p:nvPr/>
        </p:nvCxnSpPr>
        <p:spPr>
          <a:xfrm flipH="1">
            <a:off x="5516880" y="4714875"/>
            <a:ext cx="809625" cy="209550"/>
          </a:xfrm>
          <a:prstGeom prst="bentConnector3">
            <a:avLst>
              <a:gd name="adj1" fmla="val 50000"/>
            </a:avLst>
          </a:prstGeom>
          <a:ln w="24765" cap="rnd">
            <a:solidFill>
              <a:srgbClr val="2E74B5"/>
            </a:solidFill>
            <a:prstDash val="solid"/>
            <a:round/>
            <a:tailEnd type="arrow" w="sm" len="sm"/>
          </a:ln>
        </p:spPr>
      </p:cxnSp>
      <p:cxnSp>
        <p:nvCxnSpPr>
          <p:cNvPr id="503" name="cw-out-3"/>
          <p:cNvCxnSpPr>
            <a:stCxn id="117" idx="1"/>
            <a:endCxn id="110" idx="3"/>
          </p:cNvCxnSpPr>
          <p:nvPr/>
        </p:nvCxnSpPr>
        <p:spPr>
          <a:xfrm flipH="1">
            <a:off x="2773680" y="4505325"/>
            <a:ext cx="933450" cy="209550"/>
          </a:xfrm>
          <a:prstGeom prst="bentConnector3">
            <a:avLst>
              <a:gd name="adj1" fmla="val 50000"/>
            </a:avLst>
          </a:prstGeom>
          <a:ln w="24765" cap="rnd">
            <a:solidFill>
              <a:srgbClr val="2E74B5"/>
            </a:solidFill>
            <a:prstDash val="solid"/>
            <a:round/>
            <a:tailEnd type="arrow" w="sm" len="sm"/>
          </a:ln>
        </p:spPr>
      </p:cxnSp>
      <p:cxnSp>
        <p:nvCxnSpPr>
          <p:cNvPr id="504" name="ccw-out-3"/>
          <p:cNvCxnSpPr>
            <a:stCxn id="119" idx="1"/>
            <a:endCxn id="110" idx="3"/>
          </p:cNvCxnSpPr>
          <p:nvPr/>
        </p:nvCxnSpPr>
        <p:spPr>
          <a:xfrm flipH="1" flipV="1">
            <a:off x="2773680" y="4714875"/>
            <a:ext cx="933450" cy="209550"/>
          </a:xfrm>
          <a:prstGeom prst="bentConnector3">
            <a:avLst>
              <a:gd name="adj1" fmla="val 50000"/>
            </a:avLst>
          </a:prstGeom>
          <a:ln w="24765" cap="rnd">
            <a:solidFill>
              <a:srgbClr val="2E74B5"/>
            </a:solidFill>
            <a:prstDash val="solid"/>
            <a:round/>
            <a:tailEnd type="arrow" w="sm" len="sm"/>
          </a:ln>
        </p:spPr>
      </p:cxnSp>
      <p:cxnSp>
        <p:nvCxnSpPr>
          <p:cNvPr id="506" name="ccw-branch-3"/>
          <p:cNvCxnSpPr/>
          <p:nvPr/>
        </p:nvCxnSpPr>
        <p:spPr>
          <a:xfrm rot="10800000">
            <a:off x="5516880" y="4510087"/>
            <a:ext cx="404812" cy="204788"/>
          </a:xfrm>
          <a:prstGeom prst="bentConnector3">
            <a:avLst>
              <a:gd name="adj1" fmla="val -588"/>
            </a:avLst>
          </a:prstGeom>
          <a:ln w="24765" cap="rnd">
            <a:solidFill>
              <a:srgbClr val="2E74B5"/>
            </a:solidFill>
            <a:prstDash val="solid"/>
            <a:round/>
            <a:tailEnd type="arrow" w="sm" len="sm"/>
          </a:ln>
        </p:spPr>
      </p:cxnSp>
      <p:cxnSp>
        <p:nvCxnSpPr>
          <p:cNvPr id="507" name="ccw-branch-2"/>
          <p:cNvCxnSpPr/>
          <p:nvPr/>
        </p:nvCxnSpPr>
        <p:spPr>
          <a:xfrm rot="10800000">
            <a:off x="5540693" y="3331371"/>
            <a:ext cx="388143" cy="192878"/>
          </a:xfrm>
          <a:prstGeom prst="bentConnector3">
            <a:avLst>
              <a:gd name="adj1" fmla="val 2556"/>
            </a:avLst>
          </a:prstGeom>
          <a:ln w="24765" cap="rnd">
            <a:solidFill>
              <a:srgbClr val="7048A8"/>
            </a:solidFill>
            <a:prstDash val="solid"/>
            <a:round/>
            <a:tailEnd type="arrow" w="sm" len="sm"/>
          </a:ln>
        </p:spPr>
      </p:cxnSp>
      <p:cxnSp>
        <p:nvCxnSpPr>
          <p:cNvPr id="508" name="ccw-branch-1"/>
          <p:cNvCxnSpPr>
            <a:endCxn id="85" idx="1"/>
          </p:cNvCxnSpPr>
          <p:nvPr/>
        </p:nvCxnSpPr>
        <p:spPr>
          <a:xfrm flipV="1">
            <a:off x="5566093" y="2124075"/>
            <a:ext cx="808037" cy="204788"/>
          </a:xfrm>
          <a:prstGeom prst="bentConnector3">
            <a:avLst>
              <a:gd name="adj1" fmla="val 50000"/>
            </a:avLst>
          </a:prstGeom>
          <a:ln w="24765" cap="rnd">
            <a:solidFill>
              <a:srgbClr val="ED7D31"/>
            </a:solidFill>
            <a:prstDash val="solid"/>
            <a:round/>
            <a:tailEnd type="arrow" w="sm" len="sm"/>
          </a:ln>
        </p:spPr>
      </p:cxnSp>
      <p:cxnSp>
        <p:nvCxnSpPr>
          <p:cNvPr id="509" name="ccw-branch-0"/>
          <p:cNvCxnSpPr/>
          <p:nvPr/>
        </p:nvCxnSpPr>
        <p:spPr>
          <a:xfrm flipV="1">
            <a:off x="5564505" y="933450"/>
            <a:ext cx="809625" cy="211931"/>
          </a:xfrm>
          <a:prstGeom prst="bentConnector3">
            <a:avLst>
              <a:gd name="adj1" fmla="val 50000"/>
            </a:avLst>
          </a:prstGeom>
          <a:ln w="24765" cap="rnd">
            <a:solidFill>
              <a:srgbClr val="D93F32"/>
            </a:solidFill>
            <a:prstDash val="solid"/>
            <a:round/>
            <a:tailEnd type="arrow" w="sm" len="sm"/>
          </a:ln>
        </p:spPr>
      </p:cxnSp>
      <p:sp>
        <p:nvSpPr>
          <p:cNvPr id="90" name="文本框 89">
            <a:extLst>
              <a:ext uri="{FF2B5EF4-FFF2-40B4-BE49-F238E27FC236}">
                <a16:creationId xmlns:a16="http://schemas.microsoft.com/office/drawing/2014/main" id="{D898199B-4A77-40DD-8241-4B4725F1A06E}"/>
              </a:ext>
            </a:extLst>
          </p:cNvPr>
          <p:cNvSpPr txBox="1"/>
          <p:nvPr/>
        </p:nvSpPr>
        <p:spPr>
          <a:xfrm>
            <a:off x="2726055" y="5343525"/>
            <a:ext cx="70951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提交条件：目标 directional Inject Bank 可接收且 serializer slot 可用；成功后才 pop source 队首</a:t>
            </a:r>
          </a:p>
        </p:txBody>
      </p:sp>
      <p:sp>
        <p:nvSpPr>
          <p:cNvPr id="92" name="TextBox 2">
            <a:extLst>
              <a:ext uri="{FF2B5EF4-FFF2-40B4-BE49-F238E27FC236}">
                <a16:creationId xmlns:a16="http://schemas.microsoft.com/office/drawing/2014/main" id="{0BE54EAE-447A-40D1-8306-232F0262CBC2}"/>
              </a:ext>
            </a:extLst>
          </p:cNvPr>
          <p:cNvSpPr>
            <a:spLocks noGrp="1"/>
          </p:cNvSpPr>
          <p:nvPr/>
        </p:nvSpPr>
        <p:spPr>
          <a:xfrm>
            <a:off x="282366" y="119410"/>
            <a:ext cx="5934784" cy="387798"/>
          </a:xfrm>
          <a:prstGeom prst="rect">
            <a:avLst/>
          </a:prstGeom>
          <a:noFill/>
        </p:spPr>
        <p:txBody>
          <a:bodyPr wrap="square" lIns="36576" tIns="9144" rIns="36576" bIns="9144" anchor="ctr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RBRG-L1</a:t>
            </a:r>
            <a:r>
              <a:rPr lang="zh-CN" altLang="en-US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：四条协议路径与方向化资源</a:t>
            </a:r>
          </a:p>
        </p:txBody>
      </p:sp>
    </p:spTree>
    <p:extLst>
      <p:ext uri="{BB962C8B-B14F-4D97-AF65-F5344CB8AC3E}">
        <p14:creationId xmlns:p14="http://schemas.microsoft.com/office/powerpoint/2010/main" val="1019541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EN_TEXT_002">
            <a:extLst>
              <a:ext uri="{FF2B5EF4-FFF2-40B4-BE49-F238E27FC236}">
                <a16:creationId xmlns:a16="http://schemas.microsoft.com/office/drawing/2014/main" id="{113A8BAD-A29F-44A9-B2B0-486F20D83982}"/>
              </a:ext>
            </a:extLst>
          </p:cNvPr>
          <p:cNvSpPr>
            <a:spLocks noGrp="1"/>
          </p:cNvSpPr>
          <p:nvPr/>
        </p:nvSpPr>
        <p:spPr>
          <a:xfrm>
            <a:off x="577850" y="177800"/>
            <a:ext cx="10541000" cy="45720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2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包级</a:t>
            </a:r>
            <a:r>
              <a:rPr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Cut-Through </a:t>
            </a:r>
            <a:r>
              <a:rPr sz="2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近似</a:t>
            </a:r>
            <a:endParaRPr sz="2800" b="1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GEN_TEXT_003">
            <a:extLst>
              <a:ext uri="{FF2B5EF4-FFF2-40B4-BE49-F238E27FC236}">
                <a16:creationId xmlns:a16="http://schemas.microsoft.com/office/drawing/2014/main" id="{C78FF874-6606-4902-9299-BA1753C92ED2}"/>
              </a:ext>
            </a:extLst>
          </p:cNvPr>
          <p:cNvSpPr>
            <a:spLocks noGrp="1"/>
          </p:cNvSpPr>
          <p:nvPr/>
        </p:nvSpPr>
        <p:spPr>
          <a:xfrm>
            <a:off x="558800" y="838198"/>
            <a:ext cx="10414000" cy="25400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为了避免</a:t>
            </a:r>
            <a:r>
              <a:rPr lang="en-US" altLang="zh-CN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Flit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级建模复杂度过高，我们采用包级</a:t>
            </a:r>
            <a:r>
              <a:rPr lang="en-US" altLang="zh-CN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Cut-Through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近似：不展开每个</a:t>
            </a:r>
            <a:r>
              <a:rPr lang="en-US" altLang="zh-CN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Flit</a:t>
            </a: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的状态，但保留多跳延迟、逐链路带宽占用和反压。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5" name="GEN_RULE_004">
            <a:extLst>
              <a:ext uri="{FF2B5EF4-FFF2-40B4-BE49-F238E27FC236}">
                <a16:creationId xmlns:a16="http://schemas.microsoft.com/office/drawing/2014/main" id="{CF5EABA7-8066-4DD0-A460-7049847946E3}"/>
              </a:ext>
            </a:extLst>
          </p:cNvPr>
          <p:cNvSpPr>
            <a:spLocks noGrp="1"/>
          </p:cNvSpPr>
          <p:nvPr/>
        </p:nvSpPr>
        <p:spPr>
          <a:xfrm>
            <a:off x="558800" y="1313180"/>
            <a:ext cx="11074400" cy="0"/>
          </a:xfrm>
          <a:prstGeom prst="line">
            <a:avLst/>
          </a:prstGeom>
          <a:ln w="190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 sz="140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GEN_PANEL_005">
            <a:extLst>
              <a:ext uri="{FF2B5EF4-FFF2-40B4-BE49-F238E27FC236}">
                <a16:creationId xmlns:a16="http://schemas.microsoft.com/office/drawing/2014/main" id="{969A345B-7F94-43E9-A783-C53E66D68CE1}"/>
              </a:ext>
            </a:extLst>
          </p:cNvPr>
          <p:cNvSpPr>
            <a:spLocks noGrp="1"/>
          </p:cNvSpPr>
          <p:nvPr/>
        </p:nvSpPr>
        <p:spPr>
          <a:xfrm>
            <a:off x="583184" y="1697228"/>
            <a:ext cx="8128000" cy="3873498"/>
          </a:xfrm>
          <a:prstGeom prst="rect">
            <a:avLst/>
          </a:prstGeom>
          <a:noFill/>
          <a:ln w="12700" cmpd="sng">
            <a:solidFill>
              <a:schemeClr val="tx1"/>
            </a:solidFill>
            <a:prstDash val="dash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40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GEN_PANEL_006">
            <a:extLst>
              <a:ext uri="{FF2B5EF4-FFF2-40B4-BE49-F238E27FC236}">
                <a16:creationId xmlns:a16="http://schemas.microsoft.com/office/drawing/2014/main" id="{1C8E9041-1896-453E-A6B7-4D0E12701917}"/>
              </a:ext>
            </a:extLst>
          </p:cNvPr>
          <p:cNvSpPr>
            <a:spLocks noGrp="1"/>
          </p:cNvSpPr>
          <p:nvPr/>
        </p:nvSpPr>
        <p:spPr>
          <a:xfrm>
            <a:off x="8877300" y="1465580"/>
            <a:ext cx="2755900" cy="4724400"/>
          </a:xfrm>
          <a:prstGeom prst="rect">
            <a:avLst/>
          </a:prstGeom>
          <a:noFill/>
          <a:ln w="12700" cmpd="sng">
            <a:solidFill>
              <a:srgbClr val="B7C2CC"/>
            </a:solidFill>
            <a:prstDash val="dash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40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GEN_TEXT_007">
            <a:extLst>
              <a:ext uri="{FF2B5EF4-FFF2-40B4-BE49-F238E27FC236}">
                <a16:creationId xmlns:a16="http://schemas.microsoft.com/office/drawing/2014/main" id="{13223A85-7C64-40B4-80DD-28E414CF667A}"/>
              </a:ext>
            </a:extLst>
          </p:cNvPr>
          <p:cNvSpPr>
            <a:spLocks noGrp="1"/>
          </p:cNvSpPr>
          <p:nvPr/>
        </p:nvSpPr>
        <p:spPr>
          <a:xfrm>
            <a:off x="748284" y="1811528"/>
            <a:ext cx="2921000" cy="2286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>
            <a:noAutofit/>
          </a:bodyPr>
          <a:lstStyle/>
          <a:p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(A) SEGMENT PIPELINE</a:t>
            </a:r>
          </a:p>
        </p:txBody>
      </p:sp>
      <p:sp>
        <p:nvSpPr>
          <p:cNvPr id="9" name="GEN_TEXT_008">
            <a:extLst>
              <a:ext uri="{FF2B5EF4-FFF2-40B4-BE49-F238E27FC236}">
                <a16:creationId xmlns:a16="http://schemas.microsoft.com/office/drawing/2014/main" id="{F6E4C74E-B940-498F-8A6E-6A5776496EA7}"/>
              </a:ext>
            </a:extLst>
          </p:cNvPr>
          <p:cNvSpPr>
            <a:spLocks noGrp="1"/>
          </p:cNvSpPr>
          <p:nvPr/>
        </p:nvSpPr>
        <p:spPr>
          <a:xfrm>
            <a:off x="9042400" y="1579880"/>
            <a:ext cx="2349500" cy="22860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(B) </a:t>
            </a:r>
            <a:r>
              <a:rPr lang="zh-CN" altLang="en-US" sz="14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两级</a:t>
            </a:r>
            <a:r>
              <a:rPr lang="en-US" altLang="zh-C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hop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为例</a:t>
            </a:r>
            <a:endParaRPr sz="14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GEN_BOX_009">
            <a:extLst>
              <a:ext uri="{FF2B5EF4-FFF2-40B4-BE49-F238E27FC236}">
                <a16:creationId xmlns:a16="http://schemas.microsoft.com/office/drawing/2014/main" id="{9108F500-A391-4D7A-8389-BC9940032DFA}"/>
              </a:ext>
            </a:extLst>
          </p:cNvPr>
          <p:cNvSpPr>
            <a:spLocks noGrp="1"/>
          </p:cNvSpPr>
          <p:nvPr/>
        </p:nvSpPr>
        <p:spPr>
          <a:xfrm>
            <a:off x="1942084" y="2141728"/>
            <a:ext cx="2032000" cy="533400"/>
          </a:xfrm>
          <a:prstGeom prst="roundRect">
            <a:avLst/>
          </a:prstGeom>
          <a:noFill/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anchor="ctr">
            <a:noAutofit/>
          </a:bodyPr>
          <a:lstStyle/>
          <a:p>
            <a:pPr algn="ctr">
              <a:buNone/>
            </a:pP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第一跳</a:t>
            </a:r>
            <a:r>
              <a:rPr lang="zh-CN" altLang="en-US" sz="14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
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 − 1) 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+ L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GEN_BOX_010">
            <a:extLst>
              <a:ext uri="{FF2B5EF4-FFF2-40B4-BE49-F238E27FC236}">
                <a16:creationId xmlns:a16="http://schemas.microsoft.com/office/drawing/2014/main" id="{31A0F601-9773-435B-B63E-C7B399826CAF}"/>
              </a:ext>
            </a:extLst>
          </p:cNvPr>
          <p:cNvSpPr>
            <a:spLocks noGrp="1"/>
          </p:cNvSpPr>
          <p:nvPr/>
        </p:nvSpPr>
        <p:spPr>
          <a:xfrm>
            <a:off x="5485384" y="2141728"/>
            <a:ext cx="1905000" cy="533400"/>
          </a:xfrm>
          <a:prstGeom prst="roundRect">
            <a:avLst/>
          </a:prstGeom>
          <a:noFill/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anchor="ctr">
            <a:noAutofit/>
          </a:bodyPr>
          <a:lstStyle/>
          <a:p>
            <a:pPr algn="ctr">
              <a:buNone/>
            </a:pP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后续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hop</a:t>
            </a:r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
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L</a:t>
            </a:r>
          </a:p>
        </p:txBody>
      </p:sp>
      <p:sp>
        <p:nvSpPr>
          <p:cNvPr id="12" name="GEN_BOX_011">
            <a:extLst>
              <a:ext uri="{FF2B5EF4-FFF2-40B4-BE49-F238E27FC236}">
                <a16:creationId xmlns:a16="http://schemas.microsoft.com/office/drawing/2014/main" id="{376B48E9-8685-4A59-85C5-02316662D272}"/>
              </a:ext>
            </a:extLst>
          </p:cNvPr>
          <p:cNvSpPr>
            <a:spLocks noGrp="1"/>
          </p:cNvSpPr>
          <p:nvPr/>
        </p:nvSpPr>
        <p:spPr>
          <a:xfrm>
            <a:off x="811784" y="2929128"/>
            <a:ext cx="1041400" cy="609600"/>
          </a:xfrm>
          <a:prstGeom prst="roundRect">
            <a:avLst/>
          </a:prstGeom>
          <a:noFill/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anchor="ctr">
            <a:noAutofit/>
          </a:bodyPr>
          <a:lstStyle/>
          <a:p>
            <a:pPr algn="ctr">
              <a:buNone/>
            </a:pP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Inject
Bank</a:t>
            </a:r>
          </a:p>
        </p:txBody>
      </p:sp>
      <p:sp>
        <p:nvSpPr>
          <p:cNvPr id="13" name="GEN_BOX_012">
            <a:extLst>
              <a:ext uri="{FF2B5EF4-FFF2-40B4-BE49-F238E27FC236}">
                <a16:creationId xmlns:a16="http://schemas.microsoft.com/office/drawing/2014/main" id="{A5E60181-A32E-4AE1-8374-B640F4347CEE}"/>
              </a:ext>
            </a:extLst>
          </p:cNvPr>
          <p:cNvSpPr>
            <a:spLocks noGrp="1"/>
          </p:cNvSpPr>
          <p:nvPr/>
        </p:nvSpPr>
        <p:spPr>
          <a:xfrm>
            <a:off x="2272284" y="2929128"/>
            <a:ext cx="1193800" cy="609600"/>
          </a:xfrm>
          <a:prstGeom prst="roundRect">
            <a:avLst/>
          </a:prstGeom>
          <a:noFill/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anchor="ctr">
            <a:noAutofit/>
          </a:bodyPr>
          <a:lstStyle/>
          <a:p>
            <a:pPr algn="ctr">
              <a:buNone/>
            </a:pPr>
            <a:r>
              <a:rPr sz="14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Conn 0</a:t>
            </a:r>
          </a:p>
        </p:txBody>
      </p:sp>
      <p:sp>
        <p:nvSpPr>
          <p:cNvPr id="14" name="GEN_BOX_013">
            <a:extLst>
              <a:ext uri="{FF2B5EF4-FFF2-40B4-BE49-F238E27FC236}">
                <a16:creationId xmlns:a16="http://schemas.microsoft.com/office/drawing/2014/main" id="{899194EF-ADFC-4EEE-8542-88F9B4D2F523}"/>
              </a:ext>
            </a:extLst>
          </p:cNvPr>
          <p:cNvSpPr>
            <a:spLocks noGrp="1"/>
          </p:cNvSpPr>
          <p:nvPr/>
        </p:nvSpPr>
        <p:spPr>
          <a:xfrm>
            <a:off x="3961384" y="2929128"/>
            <a:ext cx="1422400" cy="609600"/>
          </a:xfrm>
          <a:prstGeom prst="roundRect">
            <a:avLst/>
          </a:prstGeom>
          <a:noFill/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anchor="ctr">
            <a:noAutofit/>
          </a:bodyPr>
          <a:lstStyle/>
          <a:p>
            <a:pPr algn="ctr">
              <a:buNone/>
            </a:pP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Cross
Station</a:t>
            </a:r>
          </a:p>
        </p:txBody>
      </p:sp>
      <p:sp>
        <p:nvSpPr>
          <p:cNvPr id="15" name="GEN_BOX_014">
            <a:extLst>
              <a:ext uri="{FF2B5EF4-FFF2-40B4-BE49-F238E27FC236}">
                <a16:creationId xmlns:a16="http://schemas.microsoft.com/office/drawing/2014/main" id="{6EC91A5E-5F5B-4624-98D8-73611135A220}"/>
              </a:ext>
            </a:extLst>
          </p:cNvPr>
          <p:cNvSpPr>
            <a:spLocks noGrp="1"/>
          </p:cNvSpPr>
          <p:nvPr/>
        </p:nvSpPr>
        <p:spPr>
          <a:xfrm>
            <a:off x="5815584" y="2929128"/>
            <a:ext cx="1193800" cy="609600"/>
          </a:xfrm>
          <a:prstGeom prst="roundRect">
            <a:avLst/>
          </a:prstGeom>
          <a:noFill/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anchor="ctr">
            <a:noAutofit/>
          </a:bodyPr>
          <a:lstStyle/>
          <a:p>
            <a:pPr algn="ctr">
              <a:buNone/>
            </a:pP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Conn 1</a:t>
            </a:r>
          </a:p>
        </p:txBody>
      </p:sp>
      <p:sp>
        <p:nvSpPr>
          <p:cNvPr id="16" name="GEN_BOX_015">
            <a:extLst>
              <a:ext uri="{FF2B5EF4-FFF2-40B4-BE49-F238E27FC236}">
                <a16:creationId xmlns:a16="http://schemas.microsoft.com/office/drawing/2014/main" id="{10273A50-F621-4DB1-909B-0E00BB8AFD38}"/>
              </a:ext>
            </a:extLst>
          </p:cNvPr>
          <p:cNvSpPr>
            <a:spLocks noGrp="1"/>
          </p:cNvSpPr>
          <p:nvPr/>
        </p:nvSpPr>
        <p:spPr>
          <a:xfrm>
            <a:off x="7517384" y="2929128"/>
            <a:ext cx="914400" cy="609600"/>
          </a:xfrm>
          <a:prstGeom prst="roundRect">
            <a:avLst/>
          </a:prstGeom>
          <a:noFill/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anchor="ctr">
            <a:noAutofit/>
          </a:bodyPr>
          <a:lstStyle/>
          <a:p>
            <a:pPr algn="ctr">
              <a:buNone/>
            </a:pPr>
            <a:r>
              <a:rPr sz="14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Eject</a:t>
            </a:r>
          </a:p>
        </p:txBody>
      </p:sp>
      <p:sp>
        <p:nvSpPr>
          <p:cNvPr id="17" name="GEN_ARROW_016">
            <a:extLst>
              <a:ext uri="{FF2B5EF4-FFF2-40B4-BE49-F238E27FC236}">
                <a16:creationId xmlns:a16="http://schemas.microsoft.com/office/drawing/2014/main" id="{978DAE22-DD10-41BB-B698-FECE9E4A0EC9}"/>
              </a:ext>
            </a:extLst>
          </p:cNvPr>
          <p:cNvSpPr>
            <a:spLocks noGrp="1"/>
          </p:cNvSpPr>
          <p:nvPr/>
        </p:nvSpPr>
        <p:spPr>
          <a:xfrm>
            <a:off x="1853184" y="3233928"/>
            <a:ext cx="419100" cy="0"/>
          </a:xfrm>
          <a:prstGeom prst="line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 sz="140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8" name="GEN_ARROW_017">
            <a:extLst>
              <a:ext uri="{FF2B5EF4-FFF2-40B4-BE49-F238E27FC236}">
                <a16:creationId xmlns:a16="http://schemas.microsoft.com/office/drawing/2014/main" id="{B9A3865E-69AD-4475-8B34-6DCAC507CFA8}"/>
              </a:ext>
            </a:extLst>
          </p:cNvPr>
          <p:cNvSpPr>
            <a:spLocks noGrp="1"/>
          </p:cNvSpPr>
          <p:nvPr/>
        </p:nvSpPr>
        <p:spPr>
          <a:xfrm>
            <a:off x="3466084" y="3233928"/>
            <a:ext cx="495300" cy="0"/>
          </a:xfrm>
          <a:prstGeom prst="line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 sz="140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9" name="GEN_ARROW_018">
            <a:extLst>
              <a:ext uri="{FF2B5EF4-FFF2-40B4-BE49-F238E27FC236}">
                <a16:creationId xmlns:a16="http://schemas.microsoft.com/office/drawing/2014/main" id="{BD04B2C1-0C01-4CF4-A9D6-64B1E39B2A08}"/>
              </a:ext>
            </a:extLst>
          </p:cNvPr>
          <p:cNvSpPr>
            <a:spLocks noGrp="1"/>
          </p:cNvSpPr>
          <p:nvPr/>
        </p:nvSpPr>
        <p:spPr>
          <a:xfrm>
            <a:off x="5383784" y="3233928"/>
            <a:ext cx="431800" cy="0"/>
          </a:xfrm>
          <a:prstGeom prst="line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 sz="140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GEN_ARROW_019">
            <a:extLst>
              <a:ext uri="{FF2B5EF4-FFF2-40B4-BE49-F238E27FC236}">
                <a16:creationId xmlns:a16="http://schemas.microsoft.com/office/drawing/2014/main" id="{6A6B11C3-93EA-4BDF-907E-37907E63A56D}"/>
              </a:ext>
            </a:extLst>
          </p:cNvPr>
          <p:cNvSpPr>
            <a:spLocks noGrp="1"/>
          </p:cNvSpPr>
          <p:nvPr/>
        </p:nvSpPr>
        <p:spPr>
          <a:xfrm>
            <a:off x="7009384" y="3233928"/>
            <a:ext cx="508000" cy="0"/>
          </a:xfrm>
          <a:prstGeom prst="line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 sz="140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1" name="GEN_BOX_020">
            <a:extLst>
              <a:ext uri="{FF2B5EF4-FFF2-40B4-BE49-F238E27FC236}">
                <a16:creationId xmlns:a16="http://schemas.microsoft.com/office/drawing/2014/main" id="{E2412AD3-0D54-4E0A-BE8C-DF8ABA3722BF}"/>
              </a:ext>
            </a:extLst>
          </p:cNvPr>
          <p:cNvSpPr>
            <a:spLocks noGrp="1"/>
          </p:cNvSpPr>
          <p:nvPr/>
        </p:nvSpPr>
        <p:spPr>
          <a:xfrm>
            <a:off x="799084" y="3653028"/>
            <a:ext cx="1066800" cy="292100"/>
          </a:xfrm>
          <a:prstGeom prst="roundRect">
            <a:avLst/>
          </a:prstGeom>
          <a:noFill/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anchor="ctr">
            <a:noAutofit/>
          </a:bodyPr>
          <a:lstStyle/>
          <a:p>
            <a:pPr algn="ctr">
              <a:buNone/>
            </a:pPr>
            <a:r>
              <a:rPr sz="14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paid=false</a:t>
            </a:r>
          </a:p>
        </p:txBody>
      </p:sp>
      <p:sp>
        <p:nvSpPr>
          <p:cNvPr id="22" name="GEN_BOX_021">
            <a:extLst>
              <a:ext uri="{FF2B5EF4-FFF2-40B4-BE49-F238E27FC236}">
                <a16:creationId xmlns:a16="http://schemas.microsoft.com/office/drawing/2014/main" id="{53B14ACF-258B-4A15-A311-0EC5601F11E3}"/>
              </a:ext>
            </a:extLst>
          </p:cNvPr>
          <p:cNvSpPr>
            <a:spLocks noGrp="1"/>
          </p:cNvSpPr>
          <p:nvPr/>
        </p:nvSpPr>
        <p:spPr>
          <a:xfrm>
            <a:off x="2323084" y="3653028"/>
            <a:ext cx="1092200" cy="292100"/>
          </a:xfrm>
          <a:prstGeom prst="roundRect">
            <a:avLst/>
          </a:prstGeom>
          <a:noFill/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anchor="ctr">
            <a:noAutofit/>
          </a:bodyPr>
          <a:lstStyle/>
          <a:p>
            <a:pPr algn="ctr">
              <a:buNone/>
            </a:pP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paid=true</a:t>
            </a:r>
          </a:p>
        </p:txBody>
      </p:sp>
      <p:sp>
        <p:nvSpPr>
          <p:cNvPr id="23" name="GEN_BOX_022">
            <a:extLst>
              <a:ext uri="{FF2B5EF4-FFF2-40B4-BE49-F238E27FC236}">
                <a16:creationId xmlns:a16="http://schemas.microsoft.com/office/drawing/2014/main" id="{B3B51EFD-6E4B-439F-BBE9-410F146FB7CC}"/>
              </a:ext>
            </a:extLst>
          </p:cNvPr>
          <p:cNvSpPr>
            <a:spLocks noGrp="1"/>
          </p:cNvSpPr>
          <p:nvPr/>
        </p:nvSpPr>
        <p:spPr>
          <a:xfrm>
            <a:off x="3961384" y="3691127"/>
            <a:ext cx="2895600" cy="292100"/>
          </a:xfrm>
          <a:prstGeom prst="roundRect">
            <a:avLst/>
          </a:prstGeom>
          <a:noFill/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anchor="ctr">
            <a:noAutofit/>
          </a:bodyPr>
          <a:lstStyle/>
          <a:p>
            <a:pPr algn="ctr">
              <a:buNone/>
            </a:pP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paid=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true（沿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segment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保持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24" name="GEN_BOX_023">
            <a:extLst>
              <a:ext uri="{FF2B5EF4-FFF2-40B4-BE49-F238E27FC236}">
                <a16:creationId xmlns:a16="http://schemas.microsoft.com/office/drawing/2014/main" id="{8D1CAFE9-A3CC-4505-878E-EC451813A640}"/>
              </a:ext>
            </a:extLst>
          </p:cNvPr>
          <p:cNvSpPr>
            <a:spLocks noGrp="1"/>
          </p:cNvSpPr>
          <p:nvPr/>
        </p:nvSpPr>
        <p:spPr>
          <a:xfrm>
            <a:off x="1078484" y="4161028"/>
            <a:ext cx="7061200" cy="431800"/>
          </a:xfrm>
          <a:prstGeom prst="roundRect">
            <a:avLst/>
          </a:prstGeom>
          <a:noFill/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anchor="ctr">
            <a:noAutofit/>
          </a:bodyPr>
          <a:lstStyle/>
          <a:p>
            <a:pPr algn="ctr">
              <a:buNone/>
            </a:pPr>
            <a:r>
              <a:rPr sz="1400" dirty="0" err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每条</a:t>
            </a:r>
            <a:r>
              <a:rPr sz="14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Conn </a:t>
            </a:r>
            <a:r>
              <a:rPr sz="1400" dirty="0" err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serializer：仍</a:t>
            </a:r>
            <a:r>
              <a:rPr sz="14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busy S </a:t>
            </a:r>
            <a:r>
              <a:rPr sz="1400" dirty="0" err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cycles；t</a:t>
            </a:r>
            <a:r>
              <a:rPr sz="14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+ S </a:t>
            </a:r>
            <a:r>
              <a:rPr sz="1400" dirty="0" err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才可接受下一包</a:t>
            </a:r>
            <a:endParaRPr sz="14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GEN_BOX_024">
            <a:extLst>
              <a:ext uri="{FF2B5EF4-FFF2-40B4-BE49-F238E27FC236}">
                <a16:creationId xmlns:a16="http://schemas.microsoft.com/office/drawing/2014/main" id="{7B5750AF-875F-4A36-AEC5-025A79A65C03}"/>
              </a:ext>
            </a:extLst>
          </p:cNvPr>
          <p:cNvSpPr>
            <a:spLocks noGrp="1"/>
          </p:cNvSpPr>
          <p:nvPr/>
        </p:nvSpPr>
        <p:spPr>
          <a:xfrm>
            <a:off x="862584" y="4808728"/>
            <a:ext cx="7543800" cy="482600"/>
          </a:xfrm>
          <a:prstGeom prst="roundRect">
            <a:avLst/>
          </a:prstGeom>
          <a:noFill/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anchor="ctr">
            <a:noAutofit/>
          </a:bodyPr>
          <a:lstStyle/>
          <a:p>
            <a:pPr algn="ctr">
              <a:buNone/>
            </a:pP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segment delay = (S − 1) + H × L</a:t>
            </a:r>
          </a:p>
        </p:txBody>
      </p:sp>
      <p:sp>
        <p:nvSpPr>
          <p:cNvPr id="28" name="GEN_BOX_027">
            <a:extLst>
              <a:ext uri="{FF2B5EF4-FFF2-40B4-BE49-F238E27FC236}">
                <a16:creationId xmlns:a16="http://schemas.microsoft.com/office/drawing/2014/main" id="{D9D2E63B-937B-46C5-A62C-1468E979D167}"/>
              </a:ext>
            </a:extLst>
          </p:cNvPr>
          <p:cNvSpPr>
            <a:spLocks noGrp="1"/>
          </p:cNvSpPr>
          <p:nvPr/>
        </p:nvSpPr>
        <p:spPr>
          <a:xfrm>
            <a:off x="9080500" y="2202180"/>
            <a:ext cx="1066800" cy="431800"/>
          </a:xfrm>
          <a:prstGeom prst="roundRect">
            <a:avLst/>
          </a:prstGeom>
          <a:noFill/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anchor="ctr">
            <a:noAutofit/>
          </a:bodyPr>
          <a:lstStyle/>
          <a:p>
            <a:pPr algn="ctr">
              <a:buNone/>
            </a:pPr>
            <a:r>
              <a:rPr sz="14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512 B</a:t>
            </a:r>
          </a:p>
        </p:txBody>
      </p:sp>
      <p:sp>
        <p:nvSpPr>
          <p:cNvPr id="29" name="GEN_BOX_028">
            <a:extLst>
              <a:ext uri="{FF2B5EF4-FFF2-40B4-BE49-F238E27FC236}">
                <a16:creationId xmlns:a16="http://schemas.microsoft.com/office/drawing/2014/main" id="{4705F944-51E9-4C62-ADF0-95D487B21C87}"/>
              </a:ext>
            </a:extLst>
          </p:cNvPr>
          <p:cNvSpPr>
            <a:spLocks noGrp="1"/>
          </p:cNvSpPr>
          <p:nvPr/>
        </p:nvSpPr>
        <p:spPr>
          <a:xfrm>
            <a:off x="10287000" y="2202180"/>
            <a:ext cx="1143000" cy="431800"/>
          </a:xfrm>
          <a:prstGeom prst="roundRect">
            <a:avLst/>
          </a:prstGeom>
          <a:noFill/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anchor="ctr">
            <a:noAutofit/>
          </a:bodyPr>
          <a:lstStyle/>
          <a:p>
            <a:pPr algn="ctr">
              <a:buNone/>
            </a:pPr>
            <a:r>
              <a:rPr sz="14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128 B/cycle</a:t>
            </a:r>
          </a:p>
        </p:txBody>
      </p:sp>
      <p:sp>
        <p:nvSpPr>
          <p:cNvPr id="30" name="GEN_BOX_029">
            <a:extLst>
              <a:ext uri="{FF2B5EF4-FFF2-40B4-BE49-F238E27FC236}">
                <a16:creationId xmlns:a16="http://schemas.microsoft.com/office/drawing/2014/main" id="{3F22935A-5205-438F-9DFF-8BA2FB8C8933}"/>
              </a:ext>
            </a:extLst>
          </p:cNvPr>
          <p:cNvSpPr>
            <a:spLocks noGrp="1"/>
          </p:cNvSpPr>
          <p:nvPr/>
        </p:nvSpPr>
        <p:spPr>
          <a:xfrm>
            <a:off x="9080500" y="2760980"/>
            <a:ext cx="698500" cy="381000"/>
          </a:xfrm>
          <a:prstGeom prst="roundRect">
            <a:avLst/>
          </a:prstGeom>
          <a:noFill/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anchor="ctr">
            <a:noAutofit/>
          </a:bodyPr>
          <a:lstStyle/>
          <a:p>
            <a:pPr algn="ctr">
              <a:buNone/>
            </a:pPr>
            <a:r>
              <a:rPr sz="14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 = 4</a:t>
            </a:r>
          </a:p>
        </p:txBody>
      </p:sp>
      <p:sp>
        <p:nvSpPr>
          <p:cNvPr id="31" name="GEN_BOX_030">
            <a:extLst>
              <a:ext uri="{FF2B5EF4-FFF2-40B4-BE49-F238E27FC236}">
                <a16:creationId xmlns:a16="http://schemas.microsoft.com/office/drawing/2014/main" id="{A43DFF11-515D-4AAF-8346-BA1172305D41}"/>
              </a:ext>
            </a:extLst>
          </p:cNvPr>
          <p:cNvSpPr>
            <a:spLocks noGrp="1"/>
          </p:cNvSpPr>
          <p:nvPr/>
        </p:nvSpPr>
        <p:spPr>
          <a:xfrm>
            <a:off x="9880600" y="2760980"/>
            <a:ext cx="698500" cy="381000"/>
          </a:xfrm>
          <a:prstGeom prst="roundRect">
            <a:avLst/>
          </a:prstGeom>
          <a:noFill/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anchor="ctr">
            <a:noAutofit/>
          </a:bodyPr>
          <a:lstStyle/>
          <a:p>
            <a:pPr algn="ctr">
              <a:buNone/>
            </a:pPr>
            <a:r>
              <a:rPr sz="14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L = 1</a:t>
            </a:r>
          </a:p>
        </p:txBody>
      </p:sp>
      <p:sp>
        <p:nvSpPr>
          <p:cNvPr id="32" name="GEN_BOX_031">
            <a:extLst>
              <a:ext uri="{FF2B5EF4-FFF2-40B4-BE49-F238E27FC236}">
                <a16:creationId xmlns:a16="http://schemas.microsoft.com/office/drawing/2014/main" id="{C0EE7FC3-0825-4C43-BE1E-3AA9DB4BFF28}"/>
              </a:ext>
            </a:extLst>
          </p:cNvPr>
          <p:cNvSpPr>
            <a:spLocks noGrp="1"/>
          </p:cNvSpPr>
          <p:nvPr/>
        </p:nvSpPr>
        <p:spPr>
          <a:xfrm>
            <a:off x="10680700" y="2760980"/>
            <a:ext cx="749300" cy="381000"/>
          </a:xfrm>
          <a:prstGeom prst="roundRect">
            <a:avLst/>
          </a:prstGeom>
          <a:noFill/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anchor="ctr">
            <a:noAutofit/>
          </a:bodyPr>
          <a:lstStyle/>
          <a:p>
            <a:pPr algn="ctr">
              <a:buNone/>
            </a:pPr>
            <a:r>
              <a:rPr sz="14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H = 2</a:t>
            </a:r>
          </a:p>
        </p:txBody>
      </p:sp>
      <p:sp>
        <p:nvSpPr>
          <p:cNvPr id="33" name="GEN_BOX_032">
            <a:extLst>
              <a:ext uri="{FF2B5EF4-FFF2-40B4-BE49-F238E27FC236}">
                <a16:creationId xmlns:a16="http://schemas.microsoft.com/office/drawing/2014/main" id="{AEDC8EBF-158C-4DF2-9E57-1C1F66365DAB}"/>
              </a:ext>
            </a:extLst>
          </p:cNvPr>
          <p:cNvSpPr>
            <a:spLocks noGrp="1"/>
          </p:cNvSpPr>
          <p:nvPr/>
        </p:nvSpPr>
        <p:spPr>
          <a:xfrm>
            <a:off x="9080500" y="3319780"/>
            <a:ext cx="2349500" cy="596900"/>
          </a:xfrm>
          <a:prstGeom prst="roundRect">
            <a:avLst/>
          </a:prstGeom>
          <a:noFill/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anchor="ctr">
            <a:noAutofit/>
          </a:bodyPr>
          <a:lstStyle/>
          <a:p>
            <a:pPr algn="ctr">
              <a:buNone/>
            </a:pPr>
            <a:r>
              <a:rPr sz="14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Reg_In 观察点
5 cycles</a:t>
            </a:r>
          </a:p>
        </p:txBody>
      </p:sp>
      <p:sp>
        <p:nvSpPr>
          <p:cNvPr id="34" name="GEN_BOX_033">
            <a:extLst>
              <a:ext uri="{FF2B5EF4-FFF2-40B4-BE49-F238E27FC236}">
                <a16:creationId xmlns:a16="http://schemas.microsoft.com/office/drawing/2014/main" id="{7B14E10F-4C68-4AD7-8D64-150E87F44293}"/>
              </a:ext>
            </a:extLst>
          </p:cNvPr>
          <p:cNvSpPr>
            <a:spLocks noGrp="1"/>
          </p:cNvSpPr>
          <p:nvPr/>
        </p:nvSpPr>
        <p:spPr>
          <a:xfrm>
            <a:off x="9080500" y="4056380"/>
            <a:ext cx="2349500" cy="596900"/>
          </a:xfrm>
          <a:prstGeom prst="roundRect">
            <a:avLst/>
          </a:prstGeom>
          <a:noFill/>
          <a:ln w="1524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anchor="ctr">
            <a:noAutofit/>
          </a:bodyPr>
          <a:lstStyle/>
          <a:p>
            <a:pPr algn="ctr">
              <a:buNone/>
            </a:pP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endpoint </a:t>
            </a:r>
            <a:r>
              <a:rPr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观察点</a:t>
            </a:r>
            <a:r>
              <a:rPr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
6 cycles</a:t>
            </a:r>
          </a:p>
        </p:txBody>
      </p:sp>
      <p:sp>
        <p:nvSpPr>
          <p:cNvPr id="35" name="GEN_RULE_034">
            <a:extLst>
              <a:ext uri="{FF2B5EF4-FFF2-40B4-BE49-F238E27FC236}">
                <a16:creationId xmlns:a16="http://schemas.microsoft.com/office/drawing/2014/main" id="{7DCA3A52-C37D-4EF3-A2B9-381BB0E62907}"/>
              </a:ext>
            </a:extLst>
          </p:cNvPr>
          <p:cNvSpPr>
            <a:spLocks noGrp="1"/>
          </p:cNvSpPr>
          <p:nvPr/>
        </p:nvSpPr>
        <p:spPr>
          <a:xfrm>
            <a:off x="9283700" y="5008880"/>
            <a:ext cx="1981200" cy="0"/>
          </a:xfrm>
          <a:prstGeom prst="line">
            <a:avLst/>
          </a:prstGeom>
          <a:ln w="1778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 sz="140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6" name="GEN_CIRCLE_035">
            <a:extLst>
              <a:ext uri="{FF2B5EF4-FFF2-40B4-BE49-F238E27FC236}">
                <a16:creationId xmlns:a16="http://schemas.microsoft.com/office/drawing/2014/main" id="{499E2526-85BF-4220-B7F3-89DC697F10CF}"/>
              </a:ext>
            </a:extLst>
          </p:cNvPr>
          <p:cNvSpPr>
            <a:spLocks noGrp="1"/>
          </p:cNvSpPr>
          <p:nvPr/>
        </p:nvSpPr>
        <p:spPr>
          <a:xfrm>
            <a:off x="9194800" y="4932680"/>
            <a:ext cx="152400" cy="152400"/>
          </a:xfrm>
          <a:prstGeom prst="ellipse">
            <a:avLst/>
          </a:prstGeom>
          <a:noFill/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anchor="ctr">
            <a:noAutofit/>
          </a:bodyPr>
          <a:lstStyle/>
          <a:p>
            <a:pPr algn="ctr">
              <a:buNone/>
            </a:pPr>
            <a:endParaRPr sz="140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7" name="GEN_TEXT_036">
            <a:extLst>
              <a:ext uri="{FF2B5EF4-FFF2-40B4-BE49-F238E27FC236}">
                <a16:creationId xmlns:a16="http://schemas.microsoft.com/office/drawing/2014/main" id="{CFEB4B54-0537-41A0-ABA2-90B9EACEE16C}"/>
              </a:ext>
            </a:extLst>
          </p:cNvPr>
          <p:cNvSpPr>
            <a:spLocks noGrp="1"/>
          </p:cNvSpPr>
          <p:nvPr/>
        </p:nvSpPr>
        <p:spPr>
          <a:xfrm>
            <a:off x="9093200" y="511048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pPr algn="ctr">
              <a:buNone/>
            </a:pPr>
            <a:r>
              <a:rPr sz="14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t0</a:t>
            </a:r>
          </a:p>
        </p:txBody>
      </p:sp>
      <p:sp>
        <p:nvSpPr>
          <p:cNvPr id="38" name="GEN_CIRCLE_037">
            <a:extLst>
              <a:ext uri="{FF2B5EF4-FFF2-40B4-BE49-F238E27FC236}">
                <a16:creationId xmlns:a16="http://schemas.microsoft.com/office/drawing/2014/main" id="{D43AF39A-17BB-42A8-AE3D-E486AABC62D2}"/>
              </a:ext>
            </a:extLst>
          </p:cNvPr>
          <p:cNvSpPr>
            <a:spLocks noGrp="1"/>
          </p:cNvSpPr>
          <p:nvPr/>
        </p:nvSpPr>
        <p:spPr>
          <a:xfrm>
            <a:off x="9855200" y="4932680"/>
            <a:ext cx="152400" cy="152400"/>
          </a:xfrm>
          <a:prstGeom prst="ellipse">
            <a:avLst/>
          </a:prstGeom>
          <a:noFill/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anchor="ctr">
            <a:noAutofit/>
          </a:bodyPr>
          <a:lstStyle/>
          <a:p>
            <a:pPr algn="ctr">
              <a:buNone/>
            </a:pPr>
            <a:endParaRPr sz="140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9" name="GEN_TEXT_038">
            <a:extLst>
              <a:ext uri="{FF2B5EF4-FFF2-40B4-BE49-F238E27FC236}">
                <a16:creationId xmlns:a16="http://schemas.microsoft.com/office/drawing/2014/main" id="{745CFD36-1514-4FE8-B95E-D93BEEE76FF0}"/>
              </a:ext>
            </a:extLst>
          </p:cNvPr>
          <p:cNvSpPr>
            <a:spLocks noGrp="1"/>
          </p:cNvSpPr>
          <p:nvPr/>
        </p:nvSpPr>
        <p:spPr>
          <a:xfrm>
            <a:off x="9753600" y="511048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pPr algn="ctr">
              <a:buNone/>
            </a:pPr>
            <a:r>
              <a:rPr sz="14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t3</a:t>
            </a:r>
          </a:p>
        </p:txBody>
      </p:sp>
      <p:sp>
        <p:nvSpPr>
          <p:cNvPr id="40" name="GEN_CIRCLE_039">
            <a:extLst>
              <a:ext uri="{FF2B5EF4-FFF2-40B4-BE49-F238E27FC236}">
                <a16:creationId xmlns:a16="http://schemas.microsoft.com/office/drawing/2014/main" id="{1279DB92-DB19-45FB-BC51-C5E4762E58FF}"/>
              </a:ext>
            </a:extLst>
          </p:cNvPr>
          <p:cNvSpPr>
            <a:spLocks noGrp="1"/>
          </p:cNvSpPr>
          <p:nvPr/>
        </p:nvSpPr>
        <p:spPr>
          <a:xfrm>
            <a:off x="10604500" y="4932680"/>
            <a:ext cx="152400" cy="152400"/>
          </a:xfrm>
          <a:prstGeom prst="ellipse">
            <a:avLst/>
          </a:prstGeom>
          <a:noFill/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anchor="ctr">
            <a:noAutofit/>
          </a:bodyPr>
          <a:lstStyle/>
          <a:p>
            <a:pPr algn="ctr">
              <a:buNone/>
            </a:pPr>
            <a:endParaRPr sz="140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1" name="GEN_TEXT_040">
            <a:extLst>
              <a:ext uri="{FF2B5EF4-FFF2-40B4-BE49-F238E27FC236}">
                <a16:creationId xmlns:a16="http://schemas.microsoft.com/office/drawing/2014/main" id="{82FDBBEC-329F-4112-8F9C-9EBDDB222167}"/>
              </a:ext>
            </a:extLst>
          </p:cNvPr>
          <p:cNvSpPr>
            <a:spLocks noGrp="1"/>
          </p:cNvSpPr>
          <p:nvPr/>
        </p:nvSpPr>
        <p:spPr>
          <a:xfrm>
            <a:off x="10502900" y="511048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pPr algn="ctr">
              <a:buNone/>
            </a:pPr>
            <a:r>
              <a:rPr sz="14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t5</a:t>
            </a:r>
          </a:p>
        </p:txBody>
      </p:sp>
      <p:sp>
        <p:nvSpPr>
          <p:cNvPr id="42" name="GEN_CIRCLE_041">
            <a:extLst>
              <a:ext uri="{FF2B5EF4-FFF2-40B4-BE49-F238E27FC236}">
                <a16:creationId xmlns:a16="http://schemas.microsoft.com/office/drawing/2014/main" id="{0DA8FB74-0896-4249-9831-549B16D2B510}"/>
              </a:ext>
            </a:extLst>
          </p:cNvPr>
          <p:cNvSpPr>
            <a:spLocks noGrp="1"/>
          </p:cNvSpPr>
          <p:nvPr/>
        </p:nvSpPr>
        <p:spPr>
          <a:xfrm>
            <a:off x="11176000" y="4932680"/>
            <a:ext cx="152400" cy="152400"/>
          </a:xfrm>
          <a:prstGeom prst="ellipse">
            <a:avLst/>
          </a:prstGeom>
          <a:noFill/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anchor="ctr">
            <a:noAutofit/>
          </a:bodyPr>
          <a:lstStyle/>
          <a:p>
            <a:pPr algn="ctr">
              <a:buNone/>
            </a:pPr>
            <a:endParaRPr sz="140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3" name="GEN_TEXT_042">
            <a:extLst>
              <a:ext uri="{FF2B5EF4-FFF2-40B4-BE49-F238E27FC236}">
                <a16:creationId xmlns:a16="http://schemas.microsoft.com/office/drawing/2014/main" id="{6AB439CD-7E65-4959-8742-FB42F4A862AC}"/>
              </a:ext>
            </a:extLst>
          </p:cNvPr>
          <p:cNvSpPr>
            <a:spLocks noGrp="1"/>
          </p:cNvSpPr>
          <p:nvPr/>
        </p:nvSpPr>
        <p:spPr>
          <a:xfrm>
            <a:off x="11074400" y="5110480"/>
            <a:ext cx="355600" cy="20320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pPr algn="ctr">
              <a:buNone/>
            </a:pPr>
            <a:r>
              <a:rPr sz="14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t6</a:t>
            </a:r>
          </a:p>
        </p:txBody>
      </p:sp>
      <p:sp>
        <p:nvSpPr>
          <p:cNvPr id="44" name="GEN_TEXT_043">
            <a:extLst>
              <a:ext uri="{FF2B5EF4-FFF2-40B4-BE49-F238E27FC236}">
                <a16:creationId xmlns:a16="http://schemas.microsoft.com/office/drawing/2014/main" id="{DFD755CD-8BD5-4166-9A51-3C1F3C620917}"/>
              </a:ext>
            </a:extLst>
          </p:cNvPr>
          <p:cNvSpPr>
            <a:spLocks noGrp="1"/>
          </p:cNvSpPr>
          <p:nvPr/>
        </p:nvSpPr>
        <p:spPr>
          <a:xfrm>
            <a:off x="9029700" y="5339080"/>
            <a:ext cx="698500" cy="20320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pPr algn="ctr">
              <a:buNone/>
            </a:pPr>
            <a:r>
              <a:rPr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accept</a:t>
            </a:r>
          </a:p>
        </p:txBody>
      </p:sp>
      <p:sp>
        <p:nvSpPr>
          <p:cNvPr id="45" name="GEN_TEXT_044">
            <a:extLst>
              <a:ext uri="{FF2B5EF4-FFF2-40B4-BE49-F238E27FC236}">
                <a16:creationId xmlns:a16="http://schemas.microsoft.com/office/drawing/2014/main" id="{22013023-8463-4C52-BC3A-D81A2B6F17B9}"/>
              </a:ext>
            </a:extLst>
          </p:cNvPr>
          <p:cNvSpPr>
            <a:spLocks noGrp="1"/>
          </p:cNvSpPr>
          <p:nvPr/>
        </p:nvSpPr>
        <p:spPr>
          <a:xfrm>
            <a:off x="9563100" y="5345431"/>
            <a:ext cx="889000" cy="20320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pPr algn="ctr">
              <a:buNone/>
            </a:pPr>
            <a:r>
              <a:rPr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first handoff</a:t>
            </a:r>
          </a:p>
        </p:txBody>
      </p:sp>
      <p:sp>
        <p:nvSpPr>
          <p:cNvPr id="46" name="GEN_TEXT_045">
            <a:extLst>
              <a:ext uri="{FF2B5EF4-FFF2-40B4-BE49-F238E27FC236}">
                <a16:creationId xmlns:a16="http://schemas.microsoft.com/office/drawing/2014/main" id="{022206F3-55F6-4EA8-A201-18192AD5F751}"/>
              </a:ext>
            </a:extLst>
          </p:cNvPr>
          <p:cNvSpPr>
            <a:spLocks noGrp="1"/>
          </p:cNvSpPr>
          <p:nvPr/>
        </p:nvSpPr>
        <p:spPr>
          <a:xfrm>
            <a:off x="10344150" y="5347337"/>
            <a:ext cx="698500" cy="20320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pPr algn="ctr">
              <a:buNone/>
            </a:pPr>
            <a:r>
              <a:rPr sz="1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Reg_In</a:t>
            </a:r>
            <a:endParaRPr sz="10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7" name="GEN_TEXT_046">
            <a:extLst>
              <a:ext uri="{FF2B5EF4-FFF2-40B4-BE49-F238E27FC236}">
                <a16:creationId xmlns:a16="http://schemas.microsoft.com/office/drawing/2014/main" id="{A819140E-CFA8-4D29-BAE3-6FC682C70886}"/>
              </a:ext>
            </a:extLst>
          </p:cNvPr>
          <p:cNvSpPr>
            <a:spLocks noGrp="1"/>
          </p:cNvSpPr>
          <p:nvPr/>
        </p:nvSpPr>
        <p:spPr>
          <a:xfrm>
            <a:off x="10922000" y="5358130"/>
            <a:ext cx="571500" cy="20320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pPr algn="ctr">
              <a:buNone/>
            </a:pPr>
            <a:r>
              <a:rPr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endpoint</a:t>
            </a:r>
          </a:p>
        </p:txBody>
      </p:sp>
    </p:spTree>
    <p:extLst>
      <p:ext uri="{BB962C8B-B14F-4D97-AF65-F5344CB8AC3E}">
        <p14:creationId xmlns:p14="http://schemas.microsoft.com/office/powerpoint/2010/main" val="209986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21CD36B-AD9A-4465-AA0F-228A87AEEB2C}"/>
              </a:ext>
            </a:extLst>
          </p:cNvPr>
          <p:cNvSpPr>
            <a:spLocks noGrp="1"/>
          </p:cNvSpPr>
          <p:nvPr/>
        </p:nvSpPr>
        <p:spPr>
          <a:xfrm>
            <a:off x="698500" y="419101"/>
            <a:ext cx="9652000" cy="43180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2250" b="1" dirty="0">
                <a:latin typeface="Microsoft YaHei"/>
                <a:ea typeface="Microsoft YaHei"/>
              </a:rPr>
              <a:t>HA / L2 Cache / HBM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21F0B20F-3280-4ED5-B3E3-ADB836E20C0E}"/>
              </a:ext>
            </a:extLst>
          </p:cNvPr>
          <p:cNvSpPr>
            <a:spLocks noGrp="1"/>
          </p:cNvSpPr>
          <p:nvPr/>
        </p:nvSpPr>
        <p:spPr>
          <a:xfrm>
            <a:off x="558800" y="990600"/>
            <a:ext cx="11074400" cy="0"/>
          </a:xfrm>
          <a:prstGeom prst="line">
            <a:avLst/>
          </a:prstGeom>
          <a:ln w="1778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8411D32-0AEA-4C91-8950-2A544FA3FBED}"/>
              </a:ext>
            </a:extLst>
          </p:cNvPr>
          <p:cNvSpPr>
            <a:spLocks noGrp="1"/>
          </p:cNvSpPr>
          <p:nvPr/>
        </p:nvSpPr>
        <p:spPr>
          <a:xfrm>
            <a:off x="558800" y="1168400"/>
            <a:ext cx="8128000" cy="5105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endParaRPr sz="1600">
              <a:solidFill>
                <a:srgbClr val="1F1F1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EF6B90E-080E-447E-868D-92E72C5279CE}"/>
              </a:ext>
            </a:extLst>
          </p:cNvPr>
          <p:cNvSpPr>
            <a:spLocks noGrp="1"/>
          </p:cNvSpPr>
          <p:nvPr/>
        </p:nvSpPr>
        <p:spPr>
          <a:xfrm>
            <a:off x="8839200" y="1168400"/>
            <a:ext cx="2794000" cy="5105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endParaRPr sz="1600">
              <a:solidFill>
                <a:srgbClr val="1F1F1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16923A5-F9CB-4FC1-8749-65979DA5E73D}"/>
              </a:ext>
            </a:extLst>
          </p:cNvPr>
          <p:cNvSpPr>
            <a:spLocks noGrp="1"/>
          </p:cNvSpPr>
          <p:nvPr/>
        </p:nvSpPr>
        <p:spPr>
          <a:xfrm>
            <a:off x="9017000" y="1295400"/>
            <a:ext cx="1524000" cy="25400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600" b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访问语义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67EB3B9-D67A-4627-861F-5542C093CBBE}"/>
              </a:ext>
            </a:extLst>
          </p:cNvPr>
          <p:cNvSpPr>
            <a:spLocks noGrp="1"/>
          </p:cNvSpPr>
          <p:nvPr/>
        </p:nvSpPr>
        <p:spPr>
          <a:xfrm>
            <a:off x="774700" y="1917700"/>
            <a:ext cx="914400" cy="1524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63500" rIns="63500" bIns="63500" anchor="ctr">
            <a:noAutofit/>
          </a:bodyPr>
          <a:lstStyle/>
          <a:p>
            <a:pPr algn="ctr">
              <a:buNone/>
            </a:pPr>
            <a:r>
              <a:rPr sz="11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H-Ring
REQ
DAT
RSP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3E83F63-5691-4077-B9BF-3107147664EC}"/>
              </a:ext>
            </a:extLst>
          </p:cNvPr>
          <p:cNvSpPr>
            <a:spLocks noGrp="1"/>
          </p:cNvSpPr>
          <p:nvPr/>
        </p:nvSpPr>
        <p:spPr>
          <a:xfrm>
            <a:off x="1968500" y="1917700"/>
            <a:ext cx="1270000" cy="1524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63500" rIns="63500" bIns="63500" anchor="ctr">
            <a:noAutofit/>
          </a:bodyPr>
          <a:lstStyle/>
          <a:p>
            <a:pPr algn="ctr">
              <a:buNone/>
            </a:pPr>
            <a:endParaRPr sz="1600" b="1">
              <a:solidFill>
                <a:srgbClr val="1F4E7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D3C5C38-30EE-422C-A29B-766B8340FFD0}"/>
              </a:ext>
            </a:extLst>
          </p:cNvPr>
          <p:cNvSpPr>
            <a:spLocks noGrp="1"/>
          </p:cNvSpPr>
          <p:nvPr/>
        </p:nvSpPr>
        <p:spPr>
          <a:xfrm>
            <a:off x="2070100" y="2057400"/>
            <a:ext cx="1066800" cy="31750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pPr algn="ctr">
              <a:buNone/>
            </a:pPr>
            <a:r>
              <a:rPr sz="1200" b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Home Agent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2663994-B974-4C65-80DD-B3D727FA4251}"/>
              </a:ext>
            </a:extLst>
          </p:cNvPr>
          <p:cNvSpPr>
            <a:spLocks noGrp="1"/>
          </p:cNvSpPr>
          <p:nvPr/>
        </p:nvSpPr>
        <p:spPr>
          <a:xfrm>
            <a:off x="2108200" y="2476500"/>
            <a:ext cx="990600" cy="81280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pPr algn="ctr">
              <a:buNone/>
            </a:pPr>
            <a:r>
              <a:rPr sz="110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Line table
Waiters
Write hazard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92B675D-D265-47B5-AA36-F016FFCAF848}"/>
              </a:ext>
            </a:extLst>
          </p:cNvPr>
          <p:cNvSpPr>
            <a:spLocks noGrp="1"/>
          </p:cNvSpPr>
          <p:nvPr/>
        </p:nvSpPr>
        <p:spPr>
          <a:xfrm>
            <a:off x="3568700" y="1917700"/>
            <a:ext cx="1651000" cy="1524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63500" rIns="63500" bIns="63500" anchor="ctr">
            <a:noAutofit/>
          </a:bodyPr>
          <a:lstStyle/>
          <a:p>
            <a:pPr algn="ctr">
              <a:buNone/>
            </a:pPr>
            <a:endParaRPr sz="1600" b="1">
              <a:solidFill>
                <a:srgbClr val="1F4E7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672D0D4-E5C6-42AA-A9DE-A944A63CDEB6}"/>
              </a:ext>
            </a:extLst>
          </p:cNvPr>
          <p:cNvSpPr>
            <a:spLocks noGrp="1"/>
          </p:cNvSpPr>
          <p:nvPr/>
        </p:nvSpPr>
        <p:spPr>
          <a:xfrm>
            <a:off x="3670300" y="2019300"/>
            <a:ext cx="1447800" cy="27940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pPr algn="ctr">
              <a:buNone/>
            </a:pPr>
            <a:r>
              <a:rPr sz="1200" b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L2 Cache（目标层）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8D07DCB-8F90-4576-9F0A-9F84B879ED05}"/>
              </a:ext>
            </a:extLst>
          </p:cNvPr>
          <p:cNvSpPr>
            <a:spLocks noGrp="1"/>
          </p:cNvSpPr>
          <p:nvPr/>
        </p:nvSpPr>
        <p:spPr>
          <a:xfrm>
            <a:off x="3746500" y="2387600"/>
            <a:ext cx="1295400" cy="241300"/>
          </a:xfrm>
          <a:prstGeom prst="rect">
            <a:avLst/>
          </a:prstGeom>
          <a:solidFill>
            <a:srgbClr val="FFFFFF"/>
          </a:solidFill>
          <a:ln w="889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" tIns="12700" rIns="12700" bIns="12700" anchor="ctr">
            <a:noAutofit/>
          </a:bodyPr>
          <a:lstStyle/>
          <a:p>
            <a:pPr algn="ctr">
              <a:buNone/>
            </a:pPr>
            <a:r>
              <a:rPr sz="100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Tag array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E213E9E-1CD3-4FD9-8A0E-3B553A7B3BA7}"/>
              </a:ext>
            </a:extLst>
          </p:cNvPr>
          <p:cNvSpPr>
            <a:spLocks noGrp="1"/>
          </p:cNvSpPr>
          <p:nvPr/>
        </p:nvSpPr>
        <p:spPr>
          <a:xfrm>
            <a:off x="3746500" y="2692400"/>
            <a:ext cx="1295400" cy="241300"/>
          </a:xfrm>
          <a:prstGeom prst="rect">
            <a:avLst/>
          </a:prstGeom>
          <a:solidFill>
            <a:srgbClr val="FFFFFF"/>
          </a:solidFill>
          <a:ln w="889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" tIns="12700" rIns="12700" bIns="12700" anchor="ctr">
            <a:noAutofit/>
          </a:bodyPr>
          <a:lstStyle/>
          <a:p>
            <a:pPr algn="ctr">
              <a:buNone/>
            </a:pPr>
            <a:r>
              <a:rPr sz="100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Data array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FB7C38E-87DB-4B10-884B-698C11FEB9FF}"/>
              </a:ext>
            </a:extLst>
          </p:cNvPr>
          <p:cNvSpPr>
            <a:spLocks noGrp="1"/>
          </p:cNvSpPr>
          <p:nvPr/>
        </p:nvSpPr>
        <p:spPr>
          <a:xfrm>
            <a:off x="3746500" y="2997200"/>
            <a:ext cx="1295400" cy="241300"/>
          </a:xfrm>
          <a:prstGeom prst="rect">
            <a:avLst/>
          </a:prstGeom>
          <a:solidFill>
            <a:srgbClr val="FFFFFF"/>
          </a:solidFill>
          <a:ln w="889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" tIns="12700" rIns="12700" bIns="12700" anchor="ctr">
            <a:noAutofit/>
          </a:bodyPr>
          <a:lstStyle/>
          <a:p>
            <a:pPr algn="ctr">
              <a:buNone/>
            </a:pPr>
            <a:r>
              <a:rPr sz="100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Replace / Fill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398442B3-D5B4-4D7A-99C7-DE648CFE35B0}"/>
              </a:ext>
            </a:extLst>
          </p:cNvPr>
          <p:cNvSpPr>
            <a:spLocks noGrp="1"/>
          </p:cNvSpPr>
          <p:nvPr/>
        </p:nvSpPr>
        <p:spPr>
          <a:xfrm>
            <a:off x="5549900" y="1917700"/>
            <a:ext cx="1295400" cy="1524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63500" rIns="63500" bIns="63500" anchor="ctr">
            <a:noAutofit/>
          </a:bodyPr>
          <a:lstStyle/>
          <a:p>
            <a:pPr algn="ctr">
              <a:buNone/>
            </a:pPr>
            <a:endParaRPr sz="1400" b="1">
              <a:solidFill>
                <a:srgbClr val="1F4E7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F013595-3DDA-4AB5-A9D8-CEA74D96043A}"/>
              </a:ext>
            </a:extLst>
          </p:cNvPr>
          <p:cNvSpPr>
            <a:spLocks noGrp="1"/>
          </p:cNvSpPr>
          <p:nvPr/>
        </p:nvSpPr>
        <p:spPr>
          <a:xfrm>
            <a:off x="5651500" y="2044700"/>
            <a:ext cx="1092200" cy="53340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pPr algn="ctr">
              <a:buNone/>
            </a:pPr>
            <a:r>
              <a:rPr sz="1100" b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HBM Controller
（抽象边界）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359E1FB-0127-411C-B844-3A7CBC6A85F7}"/>
              </a:ext>
            </a:extLst>
          </p:cNvPr>
          <p:cNvSpPr>
            <a:spLocks noGrp="1"/>
          </p:cNvSpPr>
          <p:nvPr/>
        </p:nvSpPr>
        <p:spPr>
          <a:xfrm>
            <a:off x="5676900" y="2768600"/>
            <a:ext cx="1041400" cy="45720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pPr algn="ctr">
              <a:buNone/>
            </a:pPr>
            <a:r>
              <a:rPr sz="105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调度 · 带宽
Credit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0CD39A13-8AFA-4CBC-BC39-AD1B47704E7A}"/>
              </a:ext>
            </a:extLst>
          </p:cNvPr>
          <p:cNvSpPr>
            <a:spLocks noGrp="1"/>
          </p:cNvSpPr>
          <p:nvPr/>
        </p:nvSpPr>
        <p:spPr>
          <a:xfrm>
            <a:off x="7175500" y="1917700"/>
            <a:ext cx="1270000" cy="152400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3500" tIns="63500" rIns="63500" bIns="63500" anchor="ctr">
            <a:noAutofit/>
          </a:bodyPr>
          <a:lstStyle/>
          <a:p>
            <a:pPr algn="ctr">
              <a:buNone/>
            </a:pPr>
            <a:endParaRPr sz="1600" b="1">
              <a:solidFill>
                <a:srgbClr val="1F4E7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52E3028-BDC0-4180-92CA-CF8D185707CF}"/>
              </a:ext>
            </a:extLst>
          </p:cNvPr>
          <p:cNvSpPr>
            <a:spLocks noGrp="1"/>
          </p:cNvSpPr>
          <p:nvPr/>
        </p:nvSpPr>
        <p:spPr>
          <a:xfrm>
            <a:off x="7277100" y="2032000"/>
            <a:ext cx="1066800" cy="27940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pPr algn="ctr">
              <a:buNone/>
            </a:pPr>
            <a:r>
              <a:rPr sz="1200" b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HBM / DRAM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BC2164B-1F90-4E2C-8661-819CA927C84A}"/>
              </a:ext>
            </a:extLst>
          </p:cNvPr>
          <p:cNvSpPr>
            <a:spLocks noGrp="1"/>
          </p:cNvSpPr>
          <p:nvPr/>
        </p:nvSpPr>
        <p:spPr>
          <a:xfrm>
            <a:off x="7353300" y="2413000"/>
            <a:ext cx="914400" cy="215900"/>
          </a:xfrm>
          <a:prstGeom prst="rect">
            <a:avLst/>
          </a:prstGeom>
          <a:solidFill>
            <a:srgbClr val="FFFFFF"/>
          </a:solidFill>
          <a:ln w="889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" tIns="12700" rIns="12700" bIns="12700" anchor="ctr">
            <a:noAutofit/>
          </a:bodyPr>
          <a:lstStyle/>
          <a:p>
            <a:pPr algn="ctr">
              <a:buNone/>
            </a:pPr>
            <a:r>
              <a:rPr sz="100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Bank 0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A613EEC-73D4-4E04-88AF-DE9A29B5DEB1}"/>
              </a:ext>
            </a:extLst>
          </p:cNvPr>
          <p:cNvSpPr>
            <a:spLocks noGrp="1"/>
          </p:cNvSpPr>
          <p:nvPr/>
        </p:nvSpPr>
        <p:spPr>
          <a:xfrm>
            <a:off x="7353300" y="2705100"/>
            <a:ext cx="914400" cy="215900"/>
          </a:xfrm>
          <a:prstGeom prst="rect">
            <a:avLst/>
          </a:prstGeom>
          <a:solidFill>
            <a:srgbClr val="FFFFFF"/>
          </a:solidFill>
          <a:ln w="889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" tIns="12700" rIns="12700" bIns="12700" anchor="ctr">
            <a:noAutofit/>
          </a:bodyPr>
          <a:lstStyle/>
          <a:p>
            <a:pPr algn="ctr">
              <a:buNone/>
            </a:pPr>
            <a:r>
              <a:rPr sz="100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Bank 1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BBD0C3A-67B5-4B0B-9F55-0F0733C620BE}"/>
              </a:ext>
            </a:extLst>
          </p:cNvPr>
          <p:cNvSpPr>
            <a:spLocks noGrp="1"/>
          </p:cNvSpPr>
          <p:nvPr/>
        </p:nvSpPr>
        <p:spPr>
          <a:xfrm>
            <a:off x="7353300" y="2997200"/>
            <a:ext cx="914400" cy="215900"/>
          </a:xfrm>
          <a:prstGeom prst="rect">
            <a:avLst/>
          </a:prstGeom>
          <a:solidFill>
            <a:srgbClr val="FFFFFF"/>
          </a:solidFill>
          <a:ln w="889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" tIns="12700" rIns="12700" bIns="12700" anchor="ctr">
            <a:noAutofit/>
          </a:bodyPr>
          <a:lstStyle/>
          <a:p>
            <a:pPr algn="ctr">
              <a:buNone/>
            </a:pPr>
            <a:r>
              <a:rPr sz="100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Bank N</a:t>
            </a:r>
          </a:p>
        </p:txBody>
      </p:sp>
      <p:sp>
        <p:nvSpPr>
          <p:cNvPr id="27" name="直接连接符 26">
            <a:extLst>
              <a:ext uri="{FF2B5EF4-FFF2-40B4-BE49-F238E27FC236}">
                <a16:creationId xmlns:a16="http://schemas.microsoft.com/office/drawing/2014/main" id="{04247660-DEA4-4A0F-9543-260A53BBB62F}"/>
              </a:ext>
            </a:extLst>
          </p:cNvPr>
          <p:cNvSpPr>
            <a:spLocks noGrp="1"/>
          </p:cNvSpPr>
          <p:nvPr/>
        </p:nvSpPr>
        <p:spPr>
          <a:xfrm>
            <a:off x="1714500" y="2463800"/>
            <a:ext cx="228600" cy="0"/>
          </a:xfrm>
          <a:prstGeom prst="line">
            <a:avLst/>
          </a:prstGeom>
          <a:ln w="2286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F8DE3EB4-A480-4C5B-AF5C-71DA111BE060}"/>
              </a:ext>
            </a:extLst>
          </p:cNvPr>
          <p:cNvSpPr>
            <a:spLocks noGrp="1"/>
          </p:cNvSpPr>
          <p:nvPr/>
        </p:nvSpPr>
        <p:spPr>
          <a:xfrm flipH="1">
            <a:off x="1714500" y="3035300"/>
            <a:ext cx="228600" cy="0"/>
          </a:xfrm>
          <a:prstGeom prst="line">
            <a:avLst/>
          </a:prstGeom>
          <a:ln w="2286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9" name="直接连接符 28">
            <a:extLst>
              <a:ext uri="{FF2B5EF4-FFF2-40B4-BE49-F238E27FC236}">
                <a16:creationId xmlns:a16="http://schemas.microsoft.com/office/drawing/2014/main" id="{2C9FC07F-E06E-49D4-A5DA-28D4DE76F6DA}"/>
              </a:ext>
            </a:extLst>
          </p:cNvPr>
          <p:cNvSpPr>
            <a:spLocks noGrp="1"/>
          </p:cNvSpPr>
          <p:nvPr/>
        </p:nvSpPr>
        <p:spPr>
          <a:xfrm>
            <a:off x="3263900" y="2463800"/>
            <a:ext cx="279400" cy="0"/>
          </a:xfrm>
          <a:prstGeom prst="line">
            <a:avLst/>
          </a:prstGeom>
          <a:ln w="2286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30" name="直接连接符 29">
            <a:extLst>
              <a:ext uri="{FF2B5EF4-FFF2-40B4-BE49-F238E27FC236}">
                <a16:creationId xmlns:a16="http://schemas.microsoft.com/office/drawing/2014/main" id="{3C63D318-4A60-4794-AB89-43253D95B6F8}"/>
              </a:ext>
            </a:extLst>
          </p:cNvPr>
          <p:cNvSpPr>
            <a:spLocks noGrp="1"/>
          </p:cNvSpPr>
          <p:nvPr/>
        </p:nvSpPr>
        <p:spPr>
          <a:xfrm flipH="1">
            <a:off x="3263900" y="3035300"/>
            <a:ext cx="279400" cy="0"/>
          </a:xfrm>
          <a:prstGeom prst="line">
            <a:avLst/>
          </a:prstGeom>
          <a:ln w="2286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31" name="直接连接符 30">
            <a:extLst>
              <a:ext uri="{FF2B5EF4-FFF2-40B4-BE49-F238E27FC236}">
                <a16:creationId xmlns:a16="http://schemas.microsoft.com/office/drawing/2014/main" id="{A565A90E-19AA-4C57-B33C-A75511FB69A3}"/>
              </a:ext>
            </a:extLst>
          </p:cNvPr>
          <p:cNvSpPr>
            <a:spLocks noGrp="1"/>
          </p:cNvSpPr>
          <p:nvPr/>
        </p:nvSpPr>
        <p:spPr>
          <a:xfrm>
            <a:off x="5245100" y="2463800"/>
            <a:ext cx="279400" cy="0"/>
          </a:xfrm>
          <a:prstGeom prst="line">
            <a:avLst/>
          </a:prstGeom>
          <a:ln w="2286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32" name="直接连接符 31">
            <a:extLst>
              <a:ext uri="{FF2B5EF4-FFF2-40B4-BE49-F238E27FC236}">
                <a16:creationId xmlns:a16="http://schemas.microsoft.com/office/drawing/2014/main" id="{CAA2D268-2086-4840-A191-CB6506C5CD20}"/>
              </a:ext>
            </a:extLst>
          </p:cNvPr>
          <p:cNvSpPr>
            <a:spLocks noGrp="1"/>
          </p:cNvSpPr>
          <p:nvPr/>
        </p:nvSpPr>
        <p:spPr>
          <a:xfrm flipH="1">
            <a:off x="5245100" y="3035300"/>
            <a:ext cx="279400" cy="0"/>
          </a:xfrm>
          <a:prstGeom prst="line">
            <a:avLst/>
          </a:prstGeom>
          <a:ln w="2286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33" name="直接连接符 32">
            <a:extLst>
              <a:ext uri="{FF2B5EF4-FFF2-40B4-BE49-F238E27FC236}">
                <a16:creationId xmlns:a16="http://schemas.microsoft.com/office/drawing/2014/main" id="{654380B3-C5C4-4F68-9106-838A347D575E}"/>
              </a:ext>
            </a:extLst>
          </p:cNvPr>
          <p:cNvSpPr>
            <a:spLocks noGrp="1"/>
          </p:cNvSpPr>
          <p:nvPr/>
        </p:nvSpPr>
        <p:spPr>
          <a:xfrm>
            <a:off x="6870700" y="2463800"/>
            <a:ext cx="279400" cy="0"/>
          </a:xfrm>
          <a:prstGeom prst="line">
            <a:avLst/>
          </a:prstGeom>
          <a:ln w="2286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34" name="直接连接符 33">
            <a:extLst>
              <a:ext uri="{FF2B5EF4-FFF2-40B4-BE49-F238E27FC236}">
                <a16:creationId xmlns:a16="http://schemas.microsoft.com/office/drawing/2014/main" id="{71B7D07F-36C9-489D-92C1-8878095E89A6}"/>
              </a:ext>
            </a:extLst>
          </p:cNvPr>
          <p:cNvSpPr>
            <a:spLocks noGrp="1"/>
          </p:cNvSpPr>
          <p:nvPr/>
        </p:nvSpPr>
        <p:spPr>
          <a:xfrm flipH="1">
            <a:off x="6870700" y="3035300"/>
            <a:ext cx="279400" cy="0"/>
          </a:xfrm>
          <a:prstGeom prst="line">
            <a:avLst/>
          </a:prstGeom>
          <a:ln w="2286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7A12C9B0-78C3-4D22-A4C2-3BB3C02CD825}"/>
              </a:ext>
            </a:extLst>
          </p:cNvPr>
          <p:cNvSpPr>
            <a:spLocks noGrp="1"/>
          </p:cNvSpPr>
          <p:nvPr/>
        </p:nvSpPr>
        <p:spPr>
          <a:xfrm>
            <a:off x="889000" y="1625600"/>
            <a:ext cx="3556000" cy="21590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pPr algn="ctr">
              <a:buNone/>
            </a:pPr>
            <a:r>
              <a:rPr sz="105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105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05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未命中</a:t>
            </a:r>
            <a:r>
              <a:rPr sz="105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  →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EF26FEF-8D9F-440A-A9EE-E6EAD010FF4D}"/>
              </a:ext>
            </a:extLst>
          </p:cNvPr>
          <p:cNvSpPr>
            <a:spLocks noGrp="1"/>
          </p:cNvSpPr>
          <p:nvPr/>
        </p:nvSpPr>
        <p:spPr>
          <a:xfrm>
            <a:off x="4775200" y="3505200"/>
            <a:ext cx="3429000" cy="21590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pPr algn="ctr">
              <a:buNone/>
            </a:pPr>
            <a:r>
              <a:rPr sz="105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←  </a:t>
            </a:r>
            <a:r>
              <a:rPr sz="105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数据返回</a:t>
            </a:r>
            <a:r>
              <a:rPr sz="105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05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回填</a:t>
            </a:r>
            <a:endParaRPr sz="1050" b="1" dirty="0">
              <a:solidFill>
                <a:schemeClr val="tx1">
                  <a:lumMod val="95000"/>
                  <a:lumOff val="5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4FA22AF-543E-4E96-913D-D4547F616682}"/>
              </a:ext>
            </a:extLst>
          </p:cNvPr>
          <p:cNvSpPr>
            <a:spLocks noGrp="1"/>
          </p:cNvSpPr>
          <p:nvPr/>
        </p:nvSpPr>
        <p:spPr>
          <a:xfrm>
            <a:off x="3505200" y="3568700"/>
            <a:ext cx="1752600" cy="21590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pPr algn="ctr">
              <a:buNone/>
            </a:pPr>
            <a:r>
              <a:rPr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L2 </a:t>
            </a:r>
            <a:r>
              <a:rPr sz="1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hit：无需访问</a:t>
            </a:r>
            <a:r>
              <a:rPr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 HBM/DRAM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8EB549A7-BBDB-48FD-91D9-957E74529DC1}"/>
              </a:ext>
            </a:extLst>
          </p:cNvPr>
          <p:cNvSpPr>
            <a:spLocks noGrp="1"/>
          </p:cNvSpPr>
          <p:nvPr/>
        </p:nvSpPr>
        <p:spPr>
          <a:xfrm>
            <a:off x="736600" y="4178300"/>
            <a:ext cx="2438400" cy="177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endParaRPr sz="1600">
              <a:solidFill>
                <a:srgbClr val="1F1F1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544D7F7A-3997-4E85-8B7B-D82ECF08C2A9}"/>
              </a:ext>
            </a:extLst>
          </p:cNvPr>
          <p:cNvSpPr>
            <a:spLocks noGrp="1"/>
          </p:cNvSpPr>
          <p:nvPr/>
        </p:nvSpPr>
        <p:spPr>
          <a:xfrm>
            <a:off x="939800" y="4267200"/>
            <a:ext cx="1422400" cy="27940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Home Agent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704599CD-9B2D-4D38-8D4D-6E30538BDEF5}"/>
              </a:ext>
            </a:extLst>
          </p:cNvPr>
          <p:cNvSpPr>
            <a:spLocks noGrp="1"/>
          </p:cNvSpPr>
          <p:nvPr/>
        </p:nvSpPr>
        <p:spPr>
          <a:xfrm>
            <a:off x="889000" y="4584700"/>
            <a:ext cx="2133600" cy="12954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cache line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合并同线读请求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，记录合并等待请求；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管理 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Hit/Miss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、后端在途及响应状态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支持容量反压、同地址写冲突保护及发送成功后再更新状态。</a:t>
            </a: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A46D53D8-556E-4F5E-8929-FEA3E1DD228B}"/>
              </a:ext>
            </a:extLst>
          </p:cNvPr>
          <p:cNvSpPr>
            <a:spLocks noGrp="1"/>
          </p:cNvSpPr>
          <p:nvPr/>
        </p:nvSpPr>
        <p:spPr>
          <a:xfrm>
            <a:off x="3302000" y="4178300"/>
            <a:ext cx="2540000" cy="177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endParaRPr sz="1600">
              <a:solidFill>
                <a:srgbClr val="1F1F1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21F6683B-7DBC-420C-AAAA-A59EB1A35BC3}"/>
              </a:ext>
            </a:extLst>
          </p:cNvPr>
          <p:cNvSpPr>
            <a:spLocks noGrp="1"/>
          </p:cNvSpPr>
          <p:nvPr/>
        </p:nvSpPr>
        <p:spPr>
          <a:xfrm>
            <a:off x="3619500" y="4279899"/>
            <a:ext cx="1524000" cy="27940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L2 Cache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7FDF733C-BF9B-4486-AFD0-A94EB1F5D977}"/>
              </a:ext>
            </a:extLst>
          </p:cNvPr>
          <p:cNvSpPr>
            <a:spLocks noGrp="1"/>
          </p:cNvSpPr>
          <p:nvPr/>
        </p:nvSpPr>
        <p:spPr>
          <a:xfrm>
            <a:off x="3454400" y="4584700"/>
            <a:ext cx="2235200" cy="12954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负责数据响应暂存、延迟控制、单播、多播及分散发送。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命中仍采用配置化模拟。</a:t>
            </a:r>
            <a:endParaRPr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6119F36C-7A0F-4815-9B01-6C5997FBA7A3}"/>
              </a:ext>
            </a:extLst>
          </p:cNvPr>
          <p:cNvSpPr>
            <a:spLocks noGrp="1"/>
          </p:cNvSpPr>
          <p:nvPr/>
        </p:nvSpPr>
        <p:spPr>
          <a:xfrm>
            <a:off x="5969000" y="4178300"/>
            <a:ext cx="2514600" cy="177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endParaRPr sz="1600">
              <a:solidFill>
                <a:srgbClr val="1F1F1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36526B98-4631-4737-89EB-D6545DB76C17}"/>
              </a:ext>
            </a:extLst>
          </p:cNvPr>
          <p:cNvSpPr>
            <a:spLocks noGrp="1"/>
          </p:cNvSpPr>
          <p:nvPr/>
        </p:nvSpPr>
        <p:spPr>
          <a:xfrm>
            <a:off x="6242050" y="4267200"/>
            <a:ext cx="1498600" cy="27940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HBM / DRAM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48E014B1-B1EF-4904-8886-3ADC2519F060}"/>
              </a:ext>
            </a:extLst>
          </p:cNvPr>
          <p:cNvSpPr>
            <a:spLocks noGrp="1"/>
          </p:cNvSpPr>
          <p:nvPr/>
        </p:nvSpPr>
        <p:spPr>
          <a:xfrm>
            <a:off x="6121400" y="4584700"/>
            <a:ext cx="2209800" cy="12954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当前由 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TmMem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统一模拟内存后端，支持参数化读写延迟、队列、带宽、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credit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和功能数据存取；</a:t>
            </a:r>
            <a:endParaRPr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0347043A-6A6A-46E2-9097-D64828B3C4B5}"/>
              </a:ext>
            </a:extLst>
          </p:cNvPr>
          <p:cNvSpPr>
            <a:spLocks noGrp="1"/>
          </p:cNvSpPr>
          <p:nvPr/>
        </p:nvSpPr>
        <p:spPr>
          <a:xfrm>
            <a:off x="9017000" y="1765300"/>
            <a:ext cx="355600" cy="35560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" tIns="12700" rIns="12700" bIns="12700" anchor="ctr">
            <a:noAutofit/>
          </a:bodyPr>
          <a:lstStyle/>
          <a:p>
            <a:pPr algn="ctr">
              <a:buNone/>
            </a:pP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0A03C6AC-E6B9-44DF-A290-602BFB677AAB}"/>
              </a:ext>
            </a:extLst>
          </p:cNvPr>
          <p:cNvSpPr>
            <a:spLocks noGrp="1"/>
          </p:cNvSpPr>
          <p:nvPr/>
        </p:nvSpPr>
        <p:spPr>
          <a:xfrm>
            <a:off x="9499600" y="1739900"/>
            <a:ext cx="1905000" cy="27940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HA </a:t>
            </a:r>
            <a:r>
              <a:rPr sz="14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聚合事务</a:t>
            </a:r>
            <a:endParaRPr sz="1400" b="1" dirty="0">
              <a:solidFill>
                <a:schemeClr val="tx1">
                  <a:lumMod val="95000"/>
                  <a:lumOff val="5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67F99936-7508-48BE-8480-193646E21B1E}"/>
              </a:ext>
            </a:extLst>
          </p:cNvPr>
          <p:cNvSpPr>
            <a:spLocks noGrp="1"/>
          </p:cNvSpPr>
          <p:nvPr/>
        </p:nvSpPr>
        <p:spPr>
          <a:xfrm>
            <a:off x="9017000" y="2159000"/>
            <a:ext cx="2387600" cy="7112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105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同一</a:t>
            </a:r>
            <a:r>
              <a:rPr sz="105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 cache line / sector </a:t>
            </a:r>
            <a:r>
              <a:rPr sz="105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的读取共享后端访问；写未完成时阻塞同</a:t>
            </a:r>
            <a:r>
              <a:rPr sz="105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 line 读。</a:t>
            </a: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B61905F7-9C47-4D70-9682-21E98483F71E}"/>
              </a:ext>
            </a:extLst>
          </p:cNvPr>
          <p:cNvSpPr>
            <a:spLocks noGrp="1"/>
          </p:cNvSpPr>
          <p:nvPr/>
        </p:nvSpPr>
        <p:spPr>
          <a:xfrm>
            <a:off x="9017000" y="2933700"/>
            <a:ext cx="355600" cy="35560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" tIns="12700" rIns="12700" bIns="12700" anchor="ctr">
            <a:noAutofit/>
          </a:bodyPr>
          <a:lstStyle/>
          <a:p>
            <a:pPr algn="ctr">
              <a:buNone/>
            </a:pP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6FFC930F-2AB2-441E-92B7-7259B21B9C0A}"/>
              </a:ext>
            </a:extLst>
          </p:cNvPr>
          <p:cNvSpPr>
            <a:spLocks noGrp="1"/>
          </p:cNvSpPr>
          <p:nvPr/>
        </p:nvSpPr>
        <p:spPr>
          <a:xfrm>
            <a:off x="9499600" y="2908300"/>
            <a:ext cx="1905000" cy="27940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400" b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L2 命中 / 未命中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BA227FBC-C3D2-43F3-B7CF-7C73C689DEBB}"/>
              </a:ext>
            </a:extLst>
          </p:cNvPr>
          <p:cNvSpPr>
            <a:spLocks noGrp="1"/>
          </p:cNvSpPr>
          <p:nvPr/>
        </p:nvSpPr>
        <p:spPr>
          <a:xfrm>
            <a:off x="9017000" y="3327400"/>
            <a:ext cx="2387600" cy="6350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105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目标架构中，命中直接返回；未命中访问后端并回填</a:t>
            </a:r>
            <a:r>
              <a:rPr sz="105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 L2 Cache。</a:t>
            </a: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3BFB74F9-E483-4DA2-9DCE-3DE8C7CF3667}"/>
              </a:ext>
            </a:extLst>
          </p:cNvPr>
          <p:cNvSpPr>
            <a:spLocks noGrp="1"/>
          </p:cNvSpPr>
          <p:nvPr/>
        </p:nvSpPr>
        <p:spPr>
          <a:xfrm>
            <a:off x="9017000" y="4051300"/>
            <a:ext cx="355600" cy="35560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" tIns="12700" rIns="12700" bIns="12700" anchor="ctr">
            <a:noAutofit/>
          </a:bodyPr>
          <a:lstStyle/>
          <a:p>
            <a:pPr algn="ctr">
              <a:buNone/>
            </a:pPr>
            <a:r>
              <a:rPr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F94F3B6-981D-434A-9223-4E8F360B305A}"/>
              </a:ext>
            </a:extLst>
          </p:cNvPr>
          <p:cNvSpPr>
            <a:spLocks noGrp="1"/>
          </p:cNvSpPr>
          <p:nvPr/>
        </p:nvSpPr>
        <p:spPr>
          <a:xfrm>
            <a:off x="9499600" y="4025900"/>
            <a:ext cx="1905000" cy="279400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r>
              <a:rPr sz="1400" b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HBM / DRAM 后端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EF44D5EE-A82E-49BD-AB3F-0D234D31C769}"/>
              </a:ext>
            </a:extLst>
          </p:cNvPr>
          <p:cNvSpPr>
            <a:spLocks noGrp="1"/>
          </p:cNvSpPr>
          <p:nvPr/>
        </p:nvSpPr>
        <p:spPr>
          <a:xfrm>
            <a:off x="9017000" y="4445000"/>
            <a:ext cx="2387600" cy="685800"/>
          </a:xfrm>
          <a:prstGeom prst="rect">
            <a:avLst/>
          </a:prstGeom>
          <a:noFill/>
        </p:spPr>
        <p:txBody>
          <a:bodyPr vert="horz" wrap="square" lIns="0" tIns="0" rIns="0" bIns="0" anchor="t">
            <a:noAutofit/>
          </a:bodyPr>
          <a:lstStyle/>
          <a:p>
            <a:r>
              <a:rPr sz="105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当前由</a:t>
            </a:r>
            <a:r>
              <a:rPr sz="105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TmMem</a:t>
            </a:r>
            <a:r>
              <a:rPr sz="105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统一表达功能数据与</a:t>
            </a:r>
            <a:r>
              <a:rPr sz="105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 timing </a:t>
            </a:r>
            <a:r>
              <a:rPr sz="1050" dirty="0" err="1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约束，便于先验证系统级事务路径</a:t>
            </a:r>
            <a:r>
              <a:rPr sz="1050" dirty="0">
                <a:solidFill>
                  <a:srgbClr val="1F1F1F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059835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B927864-139D-4FB6-85A7-12882E1D00F5}"/>
              </a:ext>
            </a:extLst>
          </p:cNvPr>
          <p:cNvSpPr>
            <a:spLocks noGrp="1"/>
          </p:cNvSpPr>
          <p:nvPr/>
        </p:nvSpPr>
        <p:spPr>
          <a:xfrm>
            <a:off x="749808" y="480671"/>
            <a:ext cx="8138160" cy="3462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1" dirty="0">
                <a:latin typeface="Microsoft YaHei"/>
                <a:ea typeface="Microsoft YaHei"/>
              </a:rPr>
              <a:t>HA / L2 Buffer / </a:t>
            </a:r>
            <a:r>
              <a:rPr sz="2250" b="1" dirty="0" err="1">
                <a:latin typeface="Microsoft YaHei"/>
                <a:ea typeface="Microsoft YaHei"/>
              </a:rPr>
              <a:t>TmMem</a:t>
            </a:r>
            <a:r>
              <a:rPr sz="2250" b="1" dirty="0">
                <a:latin typeface="Microsoft YaHei"/>
                <a:ea typeface="Microsoft YaHei"/>
              </a:rPr>
              <a:t> </a:t>
            </a:r>
            <a:r>
              <a:rPr sz="2250" b="1" dirty="0" err="1">
                <a:latin typeface="Microsoft YaHei"/>
                <a:ea typeface="Microsoft YaHei"/>
              </a:rPr>
              <a:t>与跨</a:t>
            </a:r>
            <a:r>
              <a:rPr sz="2250" b="1" dirty="0">
                <a:latin typeface="Microsoft YaHei"/>
                <a:ea typeface="Microsoft YaHei"/>
              </a:rPr>
              <a:t> V-Ring fanout</a:t>
            </a:r>
          </a:p>
        </p:txBody>
      </p:sp>
      <p:sp>
        <p:nvSpPr>
          <p:cNvPr id="5" name="Connector 4">
            <a:extLst>
              <a:ext uri="{FF2B5EF4-FFF2-40B4-BE49-F238E27FC236}">
                <a16:creationId xmlns:a16="http://schemas.microsoft.com/office/drawing/2014/main" id="{0C51EFCC-7C6E-41FA-AC34-36F06A562422}"/>
              </a:ext>
            </a:extLst>
          </p:cNvPr>
          <p:cNvSpPr>
            <a:spLocks noGrp="1"/>
          </p:cNvSpPr>
          <p:nvPr/>
        </p:nvSpPr>
        <p:spPr>
          <a:xfrm>
            <a:off x="576072" y="1005840"/>
            <a:ext cx="11036808" cy="0"/>
          </a:xfrm>
          <a:prstGeom prst="line">
            <a:avLst/>
          </a:prstGeom>
          <a:ln w="12700">
            <a:solidFill>
              <a:srgbClr val="1F4A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B3BA6B-BD74-4B85-A84F-3FBBE735D840}"/>
              </a:ext>
            </a:extLst>
          </p:cNvPr>
          <p:cNvSpPr>
            <a:spLocks noGrp="1"/>
          </p:cNvSpPr>
          <p:nvPr/>
        </p:nvSpPr>
        <p:spPr>
          <a:xfrm>
            <a:off x="594360" y="1305463"/>
            <a:ext cx="10991088" cy="4553712"/>
          </a:xfrm>
          <a:prstGeom prst="rect">
            <a:avLst/>
          </a:prstGeom>
          <a:noFill/>
          <a:ln w="10160">
            <a:solidFill>
              <a:srgbClr val="70777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DEA8AF-176C-4D29-A211-6DDDBEB22DFD}"/>
              </a:ext>
            </a:extLst>
          </p:cNvPr>
          <p:cNvSpPr>
            <a:spLocks noGrp="1"/>
          </p:cNvSpPr>
          <p:nvPr/>
        </p:nvSpPr>
        <p:spPr>
          <a:xfrm>
            <a:off x="758952" y="1378615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9" b="1" i="0">
                <a:solidFill>
                  <a:srgbClr val="5C646E"/>
                </a:solidFill>
                <a:latin typeface="Arial"/>
                <a:ea typeface="Arial"/>
                <a:cs typeface="Arial"/>
              </a:rPr>
              <a:t>TWO-STAGE AGGREGATION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3ED592-4522-440A-B6E1-85676F5E8E1A}"/>
              </a:ext>
            </a:extLst>
          </p:cNvPr>
          <p:cNvSpPr>
            <a:spLocks noGrp="1"/>
          </p:cNvSpPr>
          <p:nvPr/>
        </p:nvSpPr>
        <p:spPr>
          <a:xfrm>
            <a:off x="850392" y="1730992"/>
            <a:ext cx="242316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dirty="0">
                <a:latin typeface="Microsoft YaHei"/>
                <a:ea typeface="Microsoft YaHei"/>
                <a:cs typeface="Microsoft YaHei"/>
              </a:rPr>
              <a:t>① </a:t>
            </a:r>
            <a:r>
              <a:rPr sz="1600" b="1" i="0" dirty="0" err="1">
                <a:latin typeface="Microsoft YaHei"/>
                <a:ea typeface="Microsoft YaHei"/>
                <a:cs typeface="Microsoft YaHei"/>
              </a:rPr>
              <a:t>HA：合并后端读取</a:t>
            </a:r>
            <a:endParaRPr sz="1600" b="1" i="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FB31E7E-61F0-4CA1-9F9E-5CBB0E763595}"/>
              </a:ext>
            </a:extLst>
          </p:cNvPr>
          <p:cNvSpPr>
            <a:spLocks noGrp="1"/>
          </p:cNvSpPr>
          <p:nvPr/>
        </p:nvSpPr>
        <p:spPr>
          <a:xfrm>
            <a:off x="859536" y="2201575"/>
            <a:ext cx="658368" cy="310896"/>
          </a:xfrm>
          <a:prstGeom prst="roundRect">
            <a:avLst/>
          </a:prstGeom>
          <a:solidFill>
            <a:srgbClr val="D8EACA"/>
          </a:solidFill>
          <a:ln w="11430">
            <a:solidFill>
              <a:srgbClr val="707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0" dirty="0">
                <a:solidFill>
                  <a:srgbClr val="202730"/>
                </a:solidFill>
                <a:latin typeface="Arial"/>
                <a:ea typeface="Arial"/>
                <a:cs typeface="Arial"/>
              </a:rPr>
              <a:t>RD₀</a:t>
            </a:r>
          </a:p>
        </p:txBody>
      </p:sp>
      <p:sp>
        <p:nvSpPr>
          <p:cNvPr id="10" name="Connector 9">
            <a:extLst>
              <a:ext uri="{FF2B5EF4-FFF2-40B4-BE49-F238E27FC236}">
                <a16:creationId xmlns:a16="http://schemas.microsoft.com/office/drawing/2014/main" id="{D6E35DF4-3889-435A-B1C0-8FB42C8EED5F}"/>
              </a:ext>
            </a:extLst>
          </p:cNvPr>
          <p:cNvSpPr>
            <a:spLocks noGrp="1"/>
          </p:cNvSpPr>
          <p:nvPr/>
        </p:nvSpPr>
        <p:spPr>
          <a:xfrm>
            <a:off x="1517904" y="2357023"/>
            <a:ext cx="429768" cy="621792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63046CC-9AD5-4697-879C-E266829D884B}"/>
              </a:ext>
            </a:extLst>
          </p:cNvPr>
          <p:cNvSpPr>
            <a:spLocks noGrp="1"/>
          </p:cNvSpPr>
          <p:nvPr/>
        </p:nvSpPr>
        <p:spPr>
          <a:xfrm>
            <a:off x="859536" y="2704495"/>
            <a:ext cx="658368" cy="310896"/>
          </a:xfrm>
          <a:prstGeom prst="roundRect">
            <a:avLst/>
          </a:prstGeom>
          <a:solidFill>
            <a:srgbClr val="D8EACA"/>
          </a:solidFill>
          <a:ln w="11430">
            <a:solidFill>
              <a:srgbClr val="707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0" dirty="0">
                <a:solidFill>
                  <a:srgbClr val="202730"/>
                </a:solidFill>
                <a:latin typeface="Arial"/>
                <a:ea typeface="Arial"/>
                <a:cs typeface="Arial"/>
              </a:rPr>
              <a:t>RD₁</a:t>
            </a:r>
          </a:p>
        </p:txBody>
      </p:sp>
      <p:sp>
        <p:nvSpPr>
          <p:cNvPr id="12" name="Connector 11">
            <a:extLst>
              <a:ext uri="{FF2B5EF4-FFF2-40B4-BE49-F238E27FC236}">
                <a16:creationId xmlns:a16="http://schemas.microsoft.com/office/drawing/2014/main" id="{EEB639B1-4C6F-4308-B89F-DC53481A2A12}"/>
              </a:ext>
            </a:extLst>
          </p:cNvPr>
          <p:cNvSpPr>
            <a:spLocks noGrp="1"/>
          </p:cNvSpPr>
          <p:nvPr/>
        </p:nvSpPr>
        <p:spPr>
          <a:xfrm>
            <a:off x="1517904" y="2859943"/>
            <a:ext cx="429768" cy="118872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9E9C1C7-28BA-4389-B675-7C27D5298836}"/>
              </a:ext>
            </a:extLst>
          </p:cNvPr>
          <p:cNvSpPr>
            <a:spLocks noGrp="1"/>
          </p:cNvSpPr>
          <p:nvPr/>
        </p:nvSpPr>
        <p:spPr>
          <a:xfrm>
            <a:off x="859536" y="3207415"/>
            <a:ext cx="658368" cy="310896"/>
          </a:xfrm>
          <a:prstGeom prst="roundRect">
            <a:avLst/>
          </a:prstGeom>
          <a:solidFill>
            <a:srgbClr val="D8EACA"/>
          </a:solidFill>
          <a:ln w="11430">
            <a:solidFill>
              <a:srgbClr val="707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202730"/>
                </a:solidFill>
                <a:latin typeface="Arial"/>
                <a:ea typeface="Arial"/>
                <a:cs typeface="Arial"/>
              </a:rPr>
              <a:t>RD₂</a:t>
            </a:r>
          </a:p>
        </p:txBody>
      </p:sp>
      <p:sp>
        <p:nvSpPr>
          <p:cNvPr id="14" name="Connector 13">
            <a:extLst>
              <a:ext uri="{FF2B5EF4-FFF2-40B4-BE49-F238E27FC236}">
                <a16:creationId xmlns:a16="http://schemas.microsoft.com/office/drawing/2014/main" id="{BD586D3E-CA04-46FB-987F-ECAF5D7E8A06}"/>
              </a:ext>
            </a:extLst>
          </p:cNvPr>
          <p:cNvSpPr>
            <a:spLocks noGrp="1"/>
          </p:cNvSpPr>
          <p:nvPr/>
        </p:nvSpPr>
        <p:spPr>
          <a:xfrm flipV="1">
            <a:off x="1517904" y="2978815"/>
            <a:ext cx="429768" cy="384048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3D6ED00-213C-4EDF-992D-B5E35237F4E6}"/>
              </a:ext>
            </a:extLst>
          </p:cNvPr>
          <p:cNvSpPr>
            <a:spLocks noGrp="1"/>
          </p:cNvSpPr>
          <p:nvPr/>
        </p:nvSpPr>
        <p:spPr>
          <a:xfrm>
            <a:off x="859536" y="3710335"/>
            <a:ext cx="658368" cy="310896"/>
          </a:xfrm>
          <a:prstGeom prst="roundRect">
            <a:avLst/>
          </a:prstGeom>
          <a:solidFill>
            <a:srgbClr val="D8EACA"/>
          </a:solidFill>
          <a:ln w="11430">
            <a:solidFill>
              <a:srgbClr val="707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202730"/>
                </a:solidFill>
                <a:latin typeface="Arial"/>
                <a:ea typeface="Arial"/>
                <a:cs typeface="Arial"/>
              </a:rPr>
              <a:t>RDₙ</a:t>
            </a:r>
          </a:p>
        </p:txBody>
      </p:sp>
      <p:sp>
        <p:nvSpPr>
          <p:cNvPr id="16" name="Connector 15">
            <a:extLst>
              <a:ext uri="{FF2B5EF4-FFF2-40B4-BE49-F238E27FC236}">
                <a16:creationId xmlns:a16="http://schemas.microsoft.com/office/drawing/2014/main" id="{ED9445E8-33B0-46F7-9ACA-934F166ECE8D}"/>
              </a:ext>
            </a:extLst>
          </p:cNvPr>
          <p:cNvSpPr>
            <a:spLocks noGrp="1"/>
          </p:cNvSpPr>
          <p:nvPr/>
        </p:nvSpPr>
        <p:spPr>
          <a:xfrm flipV="1">
            <a:off x="1517904" y="2978815"/>
            <a:ext cx="429768" cy="886968"/>
          </a:xfrm>
          <a:prstGeom prst="line">
            <a:avLst/>
          </a:prstGeom>
          <a:ln w="1905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7AB865A-E913-4BCD-9013-D63AD62A59C3}"/>
              </a:ext>
            </a:extLst>
          </p:cNvPr>
          <p:cNvSpPr>
            <a:spLocks noGrp="1"/>
          </p:cNvSpPr>
          <p:nvPr/>
        </p:nvSpPr>
        <p:spPr>
          <a:xfrm>
            <a:off x="1947672" y="2539903"/>
            <a:ext cx="1554480" cy="859536"/>
          </a:xfrm>
          <a:prstGeom prst="roundRect">
            <a:avLst/>
          </a:prstGeom>
          <a:solidFill>
            <a:srgbClr val="F6DAB2"/>
          </a:solidFill>
          <a:ln w="11430">
            <a:solidFill>
              <a:srgbClr val="707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 dirty="0">
                <a:solidFill>
                  <a:srgbClr val="202730"/>
                </a:solidFill>
                <a:latin typeface="Arial"/>
                <a:ea typeface="Arial"/>
                <a:cs typeface="Arial"/>
              </a:rPr>
              <a:t>HA </a:t>
            </a:r>
            <a:r>
              <a:rPr lang="zh-CN" altLang="en-US" sz="1200" b="1" dirty="0">
                <a:solidFill>
                  <a:srgbClr val="202730"/>
                </a:solidFill>
                <a:latin typeface="Arial"/>
                <a:ea typeface="Arial"/>
                <a:cs typeface="Arial"/>
              </a:rPr>
              <a:t>查找表</a:t>
            </a:r>
            <a:r>
              <a:rPr sz="1200" b="1" dirty="0">
                <a:solidFill>
                  <a:srgbClr val="202730"/>
                </a:solidFill>
                <a:latin typeface="Arial"/>
                <a:ea typeface="Arial"/>
                <a:cs typeface="Arial"/>
              </a:rPr>
              <a:t>
(</a:t>
            </a:r>
            <a:r>
              <a:rPr sz="1200" b="1" dirty="0" err="1">
                <a:solidFill>
                  <a:srgbClr val="202730"/>
                </a:solidFill>
                <a:latin typeface="Arial"/>
                <a:ea typeface="Arial"/>
                <a:cs typeface="Arial"/>
              </a:rPr>
              <a:t>line_base</a:t>
            </a:r>
            <a:r>
              <a:rPr sz="1200" b="1" dirty="0">
                <a:solidFill>
                  <a:srgbClr val="202730"/>
                </a:solidFill>
                <a:latin typeface="Arial"/>
                <a:ea typeface="Arial"/>
                <a:cs typeface="Arial"/>
              </a:rPr>
              <a:t>, </a:t>
            </a:r>
            <a:r>
              <a:rPr sz="1200" b="1" dirty="0" err="1">
                <a:solidFill>
                  <a:srgbClr val="202730"/>
                </a:solidFill>
                <a:latin typeface="Arial"/>
                <a:ea typeface="Arial"/>
                <a:cs typeface="Arial"/>
              </a:rPr>
              <a:t>sector_id</a:t>
            </a:r>
            <a:r>
              <a:rPr sz="1200" b="1" dirty="0">
                <a:solidFill>
                  <a:srgbClr val="202730"/>
                </a:solidFill>
                <a:latin typeface="Arial"/>
                <a:ea typeface="Arial"/>
                <a:cs typeface="Arial"/>
              </a:rPr>
              <a:t>)</a:t>
            </a:r>
          </a:p>
        </p:txBody>
      </p:sp>
      <p:sp>
        <p:nvSpPr>
          <p:cNvPr id="18" name="Connector 17">
            <a:extLst>
              <a:ext uri="{FF2B5EF4-FFF2-40B4-BE49-F238E27FC236}">
                <a16:creationId xmlns:a16="http://schemas.microsoft.com/office/drawing/2014/main" id="{E89BB356-402A-4DEC-A388-B6083B7EBD6A}"/>
              </a:ext>
            </a:extLst>
          </p:cNvPr>
          <p:cNvSpPr>
            <a:spLocks noGrp="1"/>
          </p:cNvSpPr>
          <p:nvPr/>
        </p:nvSpPr>
        <p:spPr>
          <a:xfrm>
            <a:off x="3502152" y="2969671"/>
            <a:ext cx="338328" cy="0"/>
          </a:xfrm>
          <a:prstGeom prst="line">
            <a:avLst/>
          </a:prstGeom>
          <a:ln w="15240">
            <a:solidFill>
              <a:srgbClr val="D73A3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63759E4B-7A99-4C38-B0C5-D14AB9A118DC}"/>
              </a:ext>
            </a:extLst>
          </p:cNvPr>
          <p:cNvSpPr>
            <a:spLocks noGrp="1"/>
          </p:cNvSpPr>
          <p:nvPr/>
        </p:nvSpPr>
        <p:spPr>
          <a:xfrm>
            <a:off x="3840480" y="2567335"/>
            <a:ext cx="1664208" cy="804672"/>
          </a:xfrm>
          <a:prstGeom prst="roundRect">
            <a:avLst/>
          </a:prstGeom>
          <a:solidFill>
            <a:srgbClr val="EBEDEF"/>
          </a:solidFill>
          <a:ln w="11430">
            <a:solidFill>
              <a:srgbClr val="707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0" dirty="0" err="1">
                <a:solidFill>
                  <a:srgbClr val="202730"/>
                </a:solidFill>
                <a:latin typeface="Arial"/>
                <a:ea typeface="Arial"/>
                <a:cs typeface="Arial"/>
              </a:rPr>
              <a:t>hit：functional</a:t>
            </a:r>
            <a:r>
              <a:rPr sz="1200" b="0" dirty="0">
                <a:solidFill>
                  <a:srgbClr val="202730"/>
                </a:solidFill>
                <a:latin typeface="Arial"/>
                <a:ea typeface="Arial"/>
                <a:cs typeface="Arial"/>
              </a:rPr>
              <a:t> read
miss：1× </a:t>
            </a:r>
            <a:r>
              <a:rPr lang="en-US" altLang="zh-CN" sz="1200" b="0" dirty="0">
                <a:solidFill>
                  <a:srgbClr val="202730"/>
                </a:solidFill>
                <a:latin typeface="Arial"/>
                <a:ea typeface="Arial"/>
                <a:cs typeface="Arial"/>
              </a:rPr>
              <a:t>HBM</a:t>
            </a:r>
            <a:r>
              <a:rPr lang="zh-CN" altLang="en-US" sz="1200" dirty="0">
                <a:solidFill>
                  <a:srgbClr val="202730"/>
                </a:solidFill>
                <a:latin typeface="Arial"/>
                <a:ea typeface="Arial"/>
                <a:cs typeface="Arial"/>
              </a:rPr>
              <a:t>读</a:t>
            </a:r>
            <a:endParaRPr sz="1200" b="0" dirty="0">
              <a:solidFill>
                <a:srgbClr val="20273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B438FE-380B-4BDF-B1CA-A762E2E6A9CF}"/>
              </a:ext>
            </a:extLst>
          </p:cNvPr>
          <p:cNvSpPr>
            <a:spLocks noGrp="1"/>
          </p:cNvSpPr>
          <p:nvPr/>
        </p:nvSpPr>
        <p:spPr>
          <a:xfrm>
            <a:off x="2116836" y="3774343"/>
            <a:ext cx="3310128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同一事务的合并等待请求共享一份返回数据</a:t>
            </a:r>
            <a:endParaRPr sz="1050" b="0" i="0" dirty="0">
              <a:solidFill>
                <a:srgbClr val="5C646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C9552D1-E5FB-497A-ABC8-774BADE691D2}"/>
              </a:ext>
            </a:extLst>
          </p:cNvPr>
          <p:cNvSpPr>
            <a:spLocks noGrp="1"/>
          </p:cNvSpPr>
          <p:nvPr/>
        </p:nvSpPr>
        <p:spPr>
          <a:xfrm>
            <a:off x="5769864" y="1809050"/>
            <a:ext cx="369417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 dirty="0">
                <a:latin typeface="Microsoft YaHei"/>
                <a:ea typeface="Microsoft YaHei"/>
                <a:cs typeface="Microsoft YaHei"/>
              </a:rPr>
              <a:t>② L2：按目标 V-Ring </a:t>
            </a:r>
            <a:r>
              <a:rPr sz="1600" b="1" i="0" dirty="0" err="1">
                <a:latin typeface="Microsoft YaHei"/>
                <a:ea typeface="Microsoft YaHei"/>
                <a:cs typeface="Microsoft YaHei"/>
              </a:rPr>
              <a:t>生成</a:t>
            </a:r>
            <a:r>
              <a:rPr sz="1600" b="1" i="0" dirty="0">
                <a:latin typeface="Microsoft YaHei"/>
                <a:ea typeface="Microsoft YaHei"/>
                <a:cs typeface="Microsoft YaHei"/>
              </a:rPr>
              <a:t> </a:t>
            </a:r>
            <a:r>
              <a:rPr lang="en-US" sz="1600" b="1" i="0" dirty="0">
                <a:latin typeface="Microsoft YaHei"/>
                <a:ea typeface="Microsoft YaHei"/>
                <a:cs typeface="Microsoft YaHei"/>
              </a:rPr>
              <a:t>carrier</a:t>
            </a:r>
            <a:endParaRPr sz="1600" b="1" i="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4608D432-E9CF-4705-91FB-3351FE666477}"/>
              </a:ext>
            </a:extLst>
          </p:cNvPr>
          <p:cNvSpPr>
            <a:spLocks noGrp="1"/>
          </p:cNvSpPr>
          <p:nvPr/>
        </p:nvSpPr>
        <p:spPr>
          <a:xfrm>
            <a:off x="5806440" y="2411887"/>
            <a:ext cx="1517904" cy="786384"/>
          </a:xfrm>
          <a:prstGeom prst="roundRect">
            <a:avLst/>
          </a:prstGeom>
          <a:solidFill>
            <a:srgbClr val="F6DAB2"/>
          </a:solidFill>
          <a:ln w="11430">
            <a:solidFill>
              <a:srgbClr val="707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 dirty="0">
                <a:solidFill>
                  <a:srgbClr val="202730"/>
                </a:solidFill>
                <a:latin typeface="Arial"/>
                <a:ea typeface="Arial"/>
                <a:cs typeface="Arial"/>
              </a:rPr>
              <a:t>L2 fanout group
</a:t>
            </a:r>
            <a:r>
              <a:rPr lang="en-US" sz="1200" b="1" dirty="0">
                <a:solidFill>
                  <a:srgbClr val="202730"/>
                </a:solidFill>
                <a:latin typeface="Arial"/>
                <a:ea typeface="Arial"/>
                <a:cs typeface="Arial"/>
              </a:rPr>
              <a:t>N</a:t>
            </a:r>
            <a:r>
              <a:rPr lang="zh-CN" altLang="en-US" sz="1200" b="1" dirty="0">
                <a:solidFill>
                  <a:srgbClr val="202730"/>
                </a:solidFill>
                <a:latin typeface="Arial"/>
                <a:ea typeface="Arial"/>
                <a:cs typeface="Arial"/>
              </a:rPr>
              <a:t>个接收端</a:t>
            </a:r>
            <a:endParaRPr sz="1200" b="1" dirty="0">
              <a:solidFill>
                <a:srgbClr val="20273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Connector 22">
            <a:extLst>
              <a:ext uri="{FF2B5EF4-FFF2-40B4-BE49-F238E27FC236}">
                <a16:creationId xmlns:a16="http://schemas.microsoft.com/office/drawing/2014/main" id="{D3F0AD74-C164-4E35-88FE-7F5E6FF7EB1F}"/>
              </a:ext>
            </a:extLst>
          </p:cNvPr>
          <p:cNvSpPr>
            <a:spLocks noGrp="1"/>
          </p:cNvSpPr>
          <p:nvPr/>
        </p:nvSpPr>
        <p:spPr>
          <a:xfrm>
            <a:off x="7324344" y="2805079"/>
            <a:ext cx="420624" cy="0"/>
          </a:xfrm>
          <a:prstGeom prst="line">
            <a:avLst/>
          </a:prstGeom>
          <a:ln w="15240">
            <a:solidFill>
              <a:srgbClr val="D73A3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3794050-BAB6-4B10-8934-F6FA6247F6A5}"/>
              </a:ext>
            </a:extLst>
          </p:cNvPr>
          <p:cNvSpPr>
            <a:spLocks noGrp="1"/>
          </p:cNvSpPr>
          <p:nvPr/>
        </p:nvSpPr>
        <p:spPr>
          <a:xfrm>
            <a:off x="7744968" y="2411887"/>
            <a:ext cx="1591056" cy="786384"/>
          </a:xfrm>
          <a:prstGeom prst="roundRect">
            <a:avLst/>
          </a:prstGeom>
          <a:solidFill>
            <a:srgbClr val="DAEBF3"/>
          </a:solidFill>
          <a:ln w="11430">
            <a:solidFill>
              <a:srgbClr val="1F4A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 dirty="0">
                <a:solidFill>
                  <a:srgbClr val="202730"/>
                </a:solidFill>
                <a:latin typeface="Microsoft YaHei"/>
                <a:ea typeface="Microsoft YaHei"/>
                <a:cs typeface="Microsoft YaHei"/>
              </a:rPr>
              <a:t>H-Ring carriers
K = </a:t>
            </a:r>
            <a:r>
              <a:rPr sz="1200" b="1" dirty="0" err="1">
                <a:solidFill>
                  <a:srgbClr val="202730"/>
                </a:solidFill>
                <a:latin typeface="Microsoft YaHei"/>
                <a:ea typeface="Microsoft YaHei"/>
                <a:cs typeface="Microsoft YaHei"/>
              </a:rPr>
              <a:t>目标</a:t>
            </a:r>
            <a:r>
              <a:rPr sz="1200" b="1" dirty="0">
                <a:solidFill>
                  <a:srgbClr val="202730"/>
                </a:solidFill>
                <a:latin typeface="Microsoft YaHei"/>
                <a:ea typeface="Microsoft YaHei"/>
                <a:cs typeface="Microsoft YaHei"/>
              </a:rPr>
              <a:t> V-Ring 数</a:t>
            </a:r>
          </a:p>
        </p:txBody>
      </p:sp>
      <p:sp>
        <p:nvSpPr>
          <p:cNvPr id="25" name="Connector 24">
            <a:extLst>
              <a:ext uri="{FF2B5EF4-FFF2-40B4-BE49-F238E27FC236}">
                <a16:creationId xmlns:a16="http://schemas.microsoft.com/office/drawing/2014/main" id="{8A7DFB0E-FC78-4E71-9AEC-BD720F9A9D47}"/>
              </a:ext>
            </a:extLst>
          </p:cNvPr>
          <p:cNvSpPr>
            <a:spLocks noGrp="1"/>
          </p:cNvSpPr>
          <p:nvPr/>
        </p:nvSpPr>
        <p:spPr>
          <a:xfrm flipV="1">
            <a:off x="9336024" y="2238151"/>
            <a:ext cx="384048" cy="566928"/>
          </a:xfrm>
          <a:prstGeom prst="line">
            <a:avLst/>
          </a:prstGeom>
          <a:ln w="12700">
            <a:solidFill>
              <a:srgbClr val="2A70A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8565A119-B3D0-4871-ACA8-D84AF2D0BD8B}"/>
              </a:ext>
            </a:extLst>
          </p:cNvPr>
          <p:cNvSpPr>
            <a:spLocks noGrp="1"/>
          </p:cNvSpPr>
          <p:nvPr/>
        </p:nvSpPr>
        <p:spPr>
          <a:xfrm>
            <a:off x="9720072" y="1982118"/>
            <a:ext cx="978408" cy="512064"/>
          </a:xfrm>
          <a:prstGeom prst="roundRect">
            <a:avLst/>
          </a:prstGeom>
          <a:solidFill>
            <a:srgbClr val="DAEBF3"/>
          </a:solidFill>
          <a:ln w="11430">
            <a:solidFill>
              <a:srgbClr val="707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80" b="1">
                <a:solidFill>
                  <a:srgbClr val="202730"/>
                </a:solidFill>
                <a:latin typeface="Arial"/>
                <a:ea typeface="Arial"/>
                <a:cs typeface="Arial"/>
              </a:rPr>
              <a:t>V-Ring 0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38C41C31-A1A3-4D1B-89A1-CF8A42DF4ACE}"/>
              </a:ext>
            </a:extLst>
          </p:cNvPr>
          <p:cNvSpPr>
            <a:spLocks noGrp="1"/>
          </p:cNvSpPr>
          <p:nvPr/>
        </p:nvSpPr>
        <p:spPr>
          <a:xfrm>
            <a:off x="10771632" y="1982118"/>
            <a:ext cx="557784" cy="512064"/>
          </a:xfrm>
          <a:prstGeom prst="roundRect">
            <a:avLst/>
          </a:prstGeom>
          <a:solidFill>
            <a:srgbClr val="EBEDEF"/>
          </a:solidFill>
          <a:ln w="11430">
            <a:solidFill>
              <a:srgbClr val="707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dirty="0">
                <a:solidFill>
                  <a:srgbClr val="202730"/>
                </a:solidFill>
                <a:latin typeface="Arial"/>
                <a:ea typeface="Arial"/>
                <a:cs typeface="Arial"/>
              </a:rPr>
              <a:t>unicast</a:t>
            </a:r>
          </a:p>
        </p:txBody>
      </p:sp>
      <p:sp>
        <p:nvSpPr>
          <p:cNvPr id="28" name="Connector 27">
            <a:extLst>
              <a:ext uri="{FF2B5EF4-FFF2-40B4-BE49-F238E27FC236}">
                <a16:creationId xmlns:a16="http://schemas.microsoft.com/office/drawing/2014/main" id="{C7167F9B-2BB5-40CB-99F7-91D19296DE1A}"/>
              </a:ext>
            </a:extLst>
          </p:cNvPr>
          <p:cNvSpPr>
            <a:spLocks noGrp="1"/>
          </p:cNvSpPr>
          <p:nvPr/>
        </p:nvSpPr>
        <p:spPr>
          <a:xfrm>
            <a:off x="9336024" y="2805079"/>
            <a:ext cx="384048" cy="402335"/>
          </a:xfrm>
          <a:prstGeom prst="line">
            <a:avLst/>
          </a:prstGeom>
          <a:ln w="12700">
            <a:solidFill>
              <a:srgbClr val="2A70A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2D326805-A644-459E-872F-282FB6E1B72A}"/>
              </a:ext>
            </a:extLst>
          </p:cNvPr>
          <p:cNvSpPr>
            <a:spLocks noGrp="1"/>
          </p:cNvSpPr>
          <p:nvPr/>
        </p:nvSpPr>
        <p:spPr>
          <a:xfrm>
            <a:off x="9720072" y="2951383"/>
            <a:ext cx="978408" cy="512064"/>
          </a:xfrm>
          <a:prstGeom prst="roundRect">
            <a:avLst/>
          </a:prstGeom>
          <a:solidFill>
            <a:srgbClr val="DAEBF3"/>
          </a:solidFill>
          <a:ln w="11430">
            <a:solidFill>
              <a:srgbClr val="707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80" b="1">
                <a:solidFill>
                  <a:srgbClr val="202730"/>
                </a:solidFill>
                <a:latin typeface="Arial"/>
                <a:ea typeface="Arial"/>
                <a:cs typeface="Arial"/>
              </a:rPr>
              <a:t>V-Ring 1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A6CB4FAB-1E0A-452B-94C7-9E057EE2A3CA}"/>
              </a:ext>
            </a:extLst>
          </p:cNvPr>
          <p:cNvSpPr>
            <a:spLocks noGrp="1"/>
          </p:cNvSpPr>
          <p:nvPr/>
        </p:nvSpPr>
        <p:spPr>
          <a:xfrm>
            <a:off x="10771632" y="2951383"/>
            <a:ext cx="557784" cy="512064"/>
          </a:xfrm>
          <a:prstGeom prst="roundRect">
            <a:avLst/>
          </a:prstGeom>
          <a:solidFill>
            <a:srgbClr val="D8EACA"/>
          </a:solidFill>
          <a:ln w="11430">
            <a:solidFill>
              <a:srgbClr val="707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00" b="0" dirty="0">
                <a:solidFill>
                  <a:srgbClr val="202730"/>
                </a:solidFill>
                <a:latin typeface="Arial"/>
                <a:ea typeface="Arial"/>
                <a:cs typeface="Arial"/>
              </a:rPr>
              <a:t>multicast</a:t>
            </a:r>
          </a:p>
        </p:txBody>
      </p:sp>
      <p:sp>
        <p:nvSpPr>
          <p:cNvPr id="31" name="Connector 30">
            <a:extLst>
              <a:ext uri="{FF2B5EF4-FFF2-40B4-BE49-F238E27FC236}">
                <a16:creationId xmlns:a16="http://schemas.microsoft.com/office/drawing/2014/main" id="{63B2EABE-AAEB-4E6F-87F6-C7097F8CE159}"/>
              </a:ext>
            </a:extLst>
          </p:cNvPr>
          <p:cNvSpPr>
            <a:spLocks noGrp="1"/>
          </p:cNvSpPr>
          <p:nvPr/>
        </p:nvSpPr>
        <p:spPr>
          <a:xfrm>
            <a:off x="9336024" y="2805079"/>
            <a:ext cx="384048" cy="1371600"/>
          </a:xfrm>
          <a:prstGeom prst="line">
            <a:avLst/>
          </a:prstGeom>
          <a:ln w="12700">
            <a:solidFill>
              <a:srgbClr val="2A70A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1001C1CA-2D97-4EAD-9684-1FDB62FBF7CD}"/>
              </a:ext>
            </a:extLst>
          </p:cNvPr>
          <p:cNvSpPr>
            <a:spLocks noGrp="1"/>
          </p:cNvSpPr>
          <p:nvPr/>
        </p:nvSpPr>
        <p:spPr>
          <a:xfrm>
            <a:off x="9720072" y="3920647"/>
            <a:ext cx="978408" cy="512064"/>
          </a:xfrm>
          <a:prstGeom prst="roundRect">
            <a:avLst/>
          </a:prstGeom>
          <a:solidFill>
            <a:srgbClr val="DAEBF3"/>
          </a:solidFill>
          <a:ln w="11430">
            <a:solidFill>
              <a:srgbClr val="707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880" b="1">
                <a:solidFill>
                  <a:srgbClr val="202730"/>
                </a:solidFill>
                <a:latin typeface="Arial"/>
                <a:ea typeface="Arial"/>
                <a:cs typeface="Arial"/>
              </a:rPr>
              <a:t>V-Ring N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A0298B7A-8FA8-4BF8-A645-99B83330DBB0}"/>
              </a:ext>
            </a:extLst>
          </p:cNvPr>
          <p:cNvSpPr>
            <a:spLocks noGrp="1"/>
          </p:cNvSpPr>
          <p:nvPr/>
        </p:nvSpPr>
        <p:spPr>
          <a:xfrm>
            <a:off x="10771632" y="3920647"/>
            <a:ext cx="557784" cy="512064"/>
          </a:xfrm>
          <a:prstGeom prst="roundRect">
            <a:avLst/>
          </a:prstGeom>
          <a:solidFill>
            <a:srgbClr val="F9EFCA"/>
          </a:solidFill>
          <a:ln w="11430">
            <a:solidFill>
              <a:srgbClr val="707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分段分发</a:t>
            </a:r>
            <a:endParaRPr sz="780" b="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383000F-E541-4832-BE6E-5B1822D2F7F3}"/>
              </a:ext>
            </a:extLst>
          </p:cNvPr>
          <p:cNvSpPr>
            <a:spLocks noGrp="1"/>
          </p:cNvSpPr>
          <p:nvPr/>
        </p:nvSpPr>
        <p:spPr>
          <a:xfrm>
            <a:off x="6172200" y="4645068"/>
            <a:ext cx="5157216" cy="74571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285750" indent="-28575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请求地址和长度相同，采用多播；</a:t>
            </a:r>
            <a:endParaRPr lang="en-US" altLang="zh-CN" sz="140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请求扇区或行内偏移不同，采用分段分发；</a:t>
            </a:r>
            <a:endParaRPr lang="en-US" altLang="zh-CN" sz="140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最后一个接收端取出数据后，释放物理承载包占用的环网槽位。</a:t>
            </a:r>
            <a:endParaRPr lang="en-US" sz="1400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29917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BAD5DD-152D-4F36-9218-327ED9784387}"/>
              </a:ext>
            </a:extLst>
          </p:cNvPr>
          <p:cNvSpPr>
            <a:spLocks noGrp="1"/>
          </p:cNvSpPr>
          <p:nvPr/>
        </p:nvSpPr>
        <p:spPr>
          <a:xfrm>
            <a:off x="453390" y="242964"/>
            <a:ext cx="81381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dirty="0" err="1">
                <a:latin typeface="Microsoft YaHei"/>
                <a:ea typeface="Microsoft YaHei"/>
              </a:rPr>
              <a:t>四种地址分配方式决定合并与物理流量</a:t>
            </a:r>
            <a:endParaRPr sz="2000" b="1" dirty="0">
              <a:latin typeface="Microsoft YaHei"/>
              <a:ea typeface="Microsoft YaHe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B9989F-1FAF-4725-B584-E2C812324FC8}"/>
              </a:ext>
            </a:extLst>
          </p:cNvPr>
          <p:cNvSpPr>
            <a:spLocks noGrp="1"/>
          </p:cNvSpPr>
          <p:nvPr/>
        </p:nvSpPr>
        <p:spPr>
          <a:xfrm>
            <a:off x="1088136" y="721483"/>
            <a:ext cx="987552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dirty="0" err="1">
                <a:latin typeface="Microsoft YaHei"/>
                <a:ea typeface="Microsoft YaHei"/>
                <a:cs typeface="Microsoft YaHei"/>
              </a:rPr>
              <a:t>固定</a:t>
            </a:r>
            <a:r>
              <a:rPr sz="1200" b="0" i="0" dirty="0">
                <a:latin typeface="Microsoft YaHei"/>
                <a:ea typeface="Microsoft YaHei"/>
                <a:cs typeface="Microsoft YaHei"/>
              </a:rPr>
              <a:t> 512B Cache </a:t>
            </a:r>
            <a:r>
              <a:rPr sz="1200" b="0" i="0" dirty="0" err="1">
                <a:latin typeface="Microsoft YaHei"/>
                <a:ea typeface="Microsoft YaHei"/>
                <a:cs typeface="Microsoft YaHei"/>
              </a:rPr>
              <a:t>Line；B</a:t>
            </a:r>
            <a:r>
              <a:rPr sz="1200" b="0" i="0" dirty="0">
                <a:latin typeface="Microsoft YaHei"/>
                <a:ea typeface="Microsoft YaHei"/>
                <a:cs typeface="Microsoft YaHei"/>
              </a:rPr>
              <a:t> </a:t>
            </a:r>
            <a:r>
              <a:rPr sz="1200" b="0" i="0" dirty="0" err="1">
                <a:latin typeface="Microsoft YaHei"/>
                <a:ea typeface="Microsoft YaHei"/>
                <a:cs typeface="Microsoft YaHei"/>
              </a:rPr>
              <a:t>为请求大小；地址关系决定</a:t>
            </a:r>
            <a:r>
              <a:rPr sz="1200" b="0" i="0" dirty="0">
                <a:latin typeface="Microsoft YaHei"/>
                <a:ea typeface="Microsoft YaHei"/>
                <a:cs typeface="Microsoft YaHei"/>
              </a:rPr>
              <a:t> HA </a:t>
            </a:r>
            <a:r>
              <a:rPr sz="1200" b="0" i="0" dirty="0" err="1">
                <a:latin typeface="Microsoft YaHei"/>
                <a:ea typeface="Microsoft YaHei"/>
                <a:cs typeface="Microsoft YaHei"/>
              </a:rPr>
              <a:t>合并、Scatter</a:t>
            </a:r>
            <a:r>
              <a:rPr sz="1200" b="0" i="0" dirty="0">
                <a:latin typeface="Microsoft YaHei"/>
                <a:ea typeface="Microsoft YaHei"/>
                <a:cs typeface="Microsoft YaHei"/>
              </a:rPr>
              <a:t> 与 Multicast</a:t>
            </a:r>
          </a:p>
        </p:txBody>
      </p:sp>
      <p:sp>
        <p:nvSpPr>
          <p:cNvPr id="5" name="Connector 4">
            <a:extLst>
              <a:ext uri="{FF2B5EF4-FFF2-40B4-BE49-F238E27FC236}">
                <a16:creationId xmlns:a16="http://schemas.microsoft.com/office/drawing/2014/main" id="{9D899323-E223-4C4D-BB2C-B2B2632EB791}"/>
              </a:ext>
            </a:extLst>
          </p:cNvPr>
          <p:cNvSpPr>
            <a:spLocks noGrp="1"/>
          </p:cNvSpPr>
          <p:nvPr/>
        </p:nvSpPr>
        <p:spPr>
          <a:xfrm>
            <a:off x="576072" y="1005840"/>
            <a:ext cx="11036808" cy="0"/>
          </a:xfrm>
          <a:prstGeom prst="line">
            <a:avLst/>
          </a:prstGeom>
          <a:ln w="12700">
            <a:solidFill>
              <a:srgbClr val="1F4A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6" name="ADDRPAT:comparison-frame">
            <a:extLst>
              <a:ext uri="{FF2B5EF4-FFF2-40B4-BE49-F238E27FC236}">
                <a16:creationId xmlns:a16="http://schemas.microsoft.com/office/drawing/2014/main" id="{76450034-E0C4-44BA-9F7F-E100E6729D9D}"/>
              </a:ext>
            </a:extLst>
          </p:cNvPr>
          <p:cNvSpPr>
            <a:spLocks noGrp="1"/>
          </p:cNvSpPr>
          <p:nvPr/>
        </p:nvSpPr>
        <p:spPr>
          <a:xfrm>
            <a:off x="571500" y="1847850"/>
            <a:ext cx="10953750" cy="3733800"/>
          </a:xfrm>
          <a:prstGeom prst="rect">
            <a:avLst/>
          </a:prstGeom>
          <a:noFill/>
          <a:ln w="9525">
            <a:solidFill>
              <a:srgbClr val="87919C"/>
            </a:solidFill>
            <a:prstDash val="dash"/>
          </a:ln>
        </p:spPr>
      </p:sp>
      <p:sp>
        <p:nvSpPr>
          <p:cNvPr id="7" name="ADDRPAT:separator:345">
            <a:extLst>
              <a:ext uri="{FF2B5EF4-FFF2-40B4-BE49-F238E27FC236}">
                <a16:creationId xmlns:a16="http://schemas.microsoft.com/office/drawing/2014/main" id="{FBC904F6-F90F-448D-8B65-BBFCDB6BB055}"/>
              </a:ext>
            </a:extLst>
          </p:cNvPr>
          <p:cNvSpPr>
            <a:spLocks noGrp="1"/>
          </p:cNvSpPr>
          <p:nvPr/>
        </p:nvSpPr>
        <p:spPr>
          <a:xfrm>
            <a:off x="3286125" y="1847850"/>
            <a:ext cx="0" cy="3733800"/>
          </a:xfrm>
          <a:prstGeom prst="line">
            <a:avLst/>
          </a:prstGeom>
          <a:noFill/>
          <a:ln w="9525">
            <a:solidFill>
              <a:srgbClr val="C5CBD1"/>
            </a:solidFill>
            <a:prstDash val="solid"/>
          </a:ln>
        </p:spPr>
      </p:sp>
      <p:sp>
        <p:nvSpPr>
          <p:cNvPr id="8" name="ADDRPAT:separator:635">
            <a:extLst>
              <a:ext uri="{FF2B5EF4-FFF2-40B4-BE49-F238E27FC236}">
                <a16:creationId xmlns:a16="http://schemas.microsoft.com/office/drawing/2014/main" id="{35930484-A869-446A-BA86-365241E5FA00}"/>
              </a:ext>
            </a:extLst>
          </p:cNvPr>
          <p:cNvSpPr>
            <a:spLocks noGrp="1"/>
          </p:cNvSpPr>
          <p:nvPr/>
        </p:nvSpPr>
        <p:spPr>
          <a:xfrm>
            <a:off x="6048375" y="1847850"/>
            <a:ext cx="0" cy="3733800"/>
          </a:xfrm>
          <a:prstGeom prst="line">
            <a:avLst/>
          </a:prstGeom>
          <a:noFill/>
          <a:ln w="9525">
            <a:solidFill>
              <a:srgbClr val="C5CBD1"/>
            </a:solidFill>
            <a:prstDash val="solid"/>
          </a:ln>
        </p:spPr>
      </p:sp>
      <p:sp>
        <p:nvSpPr>
          <p:cNvPr id="9" name="ADDRPAT:separator:925">
            <a:extLst>
              <a:ext uri="{FF2B5EF4-FFF2-40B4-BE49-F238E27FC236}">
                <a16:creationId xmlns:a16="http://schemas.microsoft.com/office/drawing/2014/main" id="{C1FC49A2-C724-4F5E-BB57-4792B50E3532}"/>
              </a:ext>
            </a:extLst>
          </p:cNvPr>
          <p:cNvSpPr>
            <a:spLocks noGrp="1"/>
          </p:cNvSpPr>
          <p:nvPr/>
        </p:nvSpPr>
        <p:spPr>
          <a:xfrm>
            <a:off x="8810625" y="1847850"/>
            <a:ext cx="0" cy="3733800"/>
          </a:xfrm>
          <a:prstGeom prst="line">
            <a:avLst/>
          </a:prstGeom>
          <a:noFill/>
          <a:ln w="9525">
            <a:solidFill>
              <a:srgbClr val="C5CBD1"/>
            </a:solidFill>
            <a:prstDash val="solid"/>
          </a:ln>
        </p:spPr>
      </p:sp>
      <p:sp>
        <p:nvSpPr>
          <p:cNvPr id="10" name="ADDRPAT:common-definition">
            <a:extLst>
              <a:ext uri="{FF2B5EF4-FFF2-40B4-BE49-F238E27FC236}">
                <a16:creationId xmlns:a16="http://schemas.microsoft.com/office/drawing/2014/main" id="{A46E2C2F-0D96-40F5-8328-FEB4851429DD}"/>
              </a:ext>
            </a:extLst>
          </p:cNvPr>
          <p:cNvSpPr>
            <a:spLocks noGrp="1"/>
          </p:cNvSpPr>
          <p:nvPr/>
        </p:nvSpPr>
        <p:spPr>
          <a:xfrm>
            <a:off x="571500" y="1257300"/>
            <a:ext cx="1095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buNone/>
              <a:defRPr sz="990" b="1">
                <a:solidFill>
                  <a:srgbClr val="1F4E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共用定义：Q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 = 512 /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B（每条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 Cache Line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可容纳的非重叠请求数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）；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当前配置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 8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Masters，Scatter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图以</a:t>
            </a:r>
            <a:r>
              <a:rPr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 B=128B、Q=4 </a:t>
            </a:r>
            <a:r>
              <a:rPr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示意</a:t>
            </a:r>
            <a:endParaRPr sz="1200" dirty="0">
              <a:solidFill>
                <a:schemeClr val="tx1">
                  <a:lumMod val="95000"/>
                  <a:lumOff val="5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ADDRPAT:NoMerge:header">
            <a:extLst>
              <a:ext uri="{FF2B5EF4-FFF2-40B4-BE49-F238E27FC236}">
                <a16:creationId xmlns:a16="http://schemas.microsoft.com/office/drawing/2014/main" id="{56D65C9B-B754-484E-B2E9-B40BB299B53A}"/>
              </a:ext>
            </a:extLst>
          </p:cNvPr>
          <p:cNvSpPr>
            <a:spLocks noGrp="1"/>
          </p:cNvSpPr>
          <p:nvPr/>
        </p:nvSpPr>
        <p:spPr>
          <a:xfrm>
            <a:off x="571500" y="1847850"/>
            <a:ext cx="2667000" cy="514350"/>
          </a:xfrm>
          <a:prstGeom prst="roundRect">
            <a:avLst>
              <a:gd name="adj" fmla="val 14815"/>
            </a:avLst>
          </a:prstGeom>
          <a:solidFill>
            <a:srgbClr val="FDE9E7"/>
          </a:solidFill>
          <a:ln w="0">
            <a:solidFill>
              <a:srgbClr val="FDE9E7"/>
            </a:solidFill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buNone/>
              <a:defRPr sz="1238" b="1">
                <a:solidFill>
                  <a:srgbClr val="D645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64541"/>
                </a:solidFill>
                <a:latin typeface="Microsoft YaHei"/>
                <a:ea typeface="Microsoft YaHei"/>
                <a:cs typeface="Microsoft YaHei"/>
              </a:rPr>
              <a:t>NoMerge</a:t>
            </a:r>
          </a:p>
          <a:p>
            <a:pPr algn="ctr">
              <a:buNone/>
              <a:defRPr sz="1238" b="1">
                <a:solidFill>
                  <a:srgbClr val="D645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64541"/>
                </a:solidFill>
                <a:latin typeface="Microsoft YaHei"/>
                <a:ea typeface="Microsoft YaHei"/>
                <a:cs typeface="Microsoft YaHei"/>
              </a:rPr>
              <a:t>每笔请求访问新 Line</a:t>
            </a:r>
          </a:p>
        </p:txBody>
      </p:sp>
      <p:sp>
        <p:nvSpPr>
          <p:cNvPr id="12" name="ADDRPAT:NoMerge:accent">
            <a:extLst>
              <a:ext uri="{FF2B5EF4-FFF2-40B4-BE49-F238E27FC236}">
                <a16:creationId xmlns:a16="http://schemas.microsoft.com/office/drawing/2014/main" id="{1D042E89-8216-4DA8-B324-51F6D4E0189C}"/>
              </a:ext>
            </a:extLst>
          </p:cNvPr>
          <p:cNvSpPr>
            <a:spLocks noGrp="1"/>
          </p:cNvSpPr>
          <p:nvPr/>
        </p:nvSpPr>
        <p:spPr>
          <a:xfrm>
            <a:off x="571500" y="1847850"/>
            <a:ext cx="2667000" cy="0"/>
          </a:xfrm>
          <a:prstGeom prst="line">
            <a:avLst/>
          </a:prstGeom>
          <a:noFill/>
          <a:ln w="28575">
            <a:solidFill>
              <a:srgbClr val="D64541"/>
            </a:solidFill>
            <a:prstDash val="solid"/>
          </a:ln>
        </p:spPr>
      </p:sp>
      <p:sp>
        <p:nvSpPr>
          <p:cNvPr id="13" name="ADDRPAT:Private:header">
            <a:extLst>
              <a:ext uri="{FF2B5EF4-FFF2-40B4-BE49-F238E27FC236}">
                <a16:creationId xmlns:a16="http://schemas.microsoft.com/office/drawing/2014/main" id="{A24FAE9F-0BCD-438A-B582-45267603DC8A}"/>
              </a:ext>
            </a:extLst>
          </p:cNvPr>
          <p:cNvSpPr>
            <a:spLocks noGrp="1"/>
          </p:cNvSpPr>
          <p:nvPr/>
        </p:nvSpPr>
        <p:spPr>
          <a:xfrm>
            <a:off x="3333750" y="1847850"/>
            <a:ext cx="2667000" cy="514350"/>
          </a:xfrm>
          <a:prstGeom prst="roundRect">
            <a:avLst>
              <a:gd name="adj" fmla="val 14815"/>
            </a:avLst>
          </a:prstGeom>
          <a:solidFill>
            <a:srgbClr val="DCEAF5"/>
          </a:solidFill>
          <a:ln w="0">
            <a:solidFill>
              <a:srgbClr val="DCEAF5"/>
            </a:solidFill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buNone/>
              <a:defRPr sz="1238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Private</a:t>
            </a:r>
          </a:p>
          <a:p>
            <a:pPr algn="ctr">
              <a:buNone/>
              <a:defRPr sz="1238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每个 Master 独立窗口</a:t>
            </a:r>
          </a:p>
        </p:txBody>
      </p:sp>
      <p:sp>
        <p:nvSpPr>
          <p:cNvPr id="14" name="ADDRPAT:Private:accent">
            <a:extLst>
              <a:ext uri="{FF2B5EF4-FFF2-40B4-BE49-F238E27FC236}">
                <a16:creationId xmlns:a16="http://schemas.microsoft.com/office/drawing/2014/main" id="{1A9630D6-9C59-4496-9F10-623972928695}"/>
              </a:ext>
            </a:extLst>
          </p:cNvPr>
          <p:cNvSpPr>
            <a:spLocks noGrp="1"/>
          </p:cNvSpPr>
          <p:nvPr/>
        </p:nvSpPr>
        <p:spPr>
          <a:xfrm>
            <a:off x="3333750" y="1847850"/>
            <a:ext cx="2667000" cy="0"/>
          </a:xfrm>
          <a:prstGeom prst="line">
            <a:avLst/>
          </a:prstGeom>
          <a:noFill/>
          <a:ln w="28575">
            <a:solidFill>
              <a:srgbClr val="2F75B5"/>
            </a:solidFill>
            <a:prstDash val="solid"/>
          </a:ln>
        </p:spPr>
      </p:sp>
      <p:sp>
        <p:nvSpPr>
          <p:cNvPr id="15" name="ADDRPAT:Scatter:header">
            <a:extLst>
              <a:ext uri="{FF2B5EF4-FFF2-40B4-BE49-F238E27FC236}">
                <a16:creationId xmlns:a16="http://schemas.microsoft.com/office/drawing/2014/main" id="{756A9374-D002-4E8E-A163-00DB10E58915}"/>
              </a:ext>
            </a:extLst>
          </p:cNvPr>
          <p:cNvSpPr>
            <a:spLocks noGrp="1"/>
          </p:cNvSpPr>
          <p:nvPr/>
        </p:nvSpPr>
        <p:spPr>
          <a:xfrm>
            <a:off x="6096000" y="1847850"/>
            <a:ext cx="2667000" cy="514350"/>
          </a:xfrm>
          <a:prstGeom prst="roundRect">
            <a:avLst>
              <a:gd name="adj" fmla="val 14815"/>
            </a:avLst>
          </a:prstGeom>
          <a:solidFill>
            <a:srgbClr val="FFF3CD"/>
          </a:solidFill>
          <a:ln w="0">
            <a:solidFill>
              <a:srgbClr val="FFF3CD"/>
            </a:solidFill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buNone/>
              <a:defRPr sz="1238" b="1">
                <a:solidFill>
                  <a:srgbClr val="B889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>
                <a:solidFill>
                  <a:srgbClr val="B88900"/>
                </a:solidFill>
                <a:latin typeface="Microsoft YaHei"/>
                <a:ea typeface="Microsoft YaHei"/>
                <a:cs typeface="Microsoft YaHei"/>
              </a:rPr>
              <a:t>Scatter</a:t>
            </a:r>
          </a:p>
          <a:p>
            <a:pPr algn="ctr">
              <a:buNone/>
              <a:defRPr sz="1238" b="1">
                <a:solidFill>
                  <a:srgbClr val="B889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>
                <a:solidFill>
                  <a:srgbClr val="B88900"/>
                </a:solidFill>
                <a:latin typeface="Microsoft YaHei"/>
                <a:ea typeface="Microsoft YaHei"/>
                <a:cs typeface="Microsoft YaHei"/>
              </a:rPr>
              <a:t>同 </a:t>
            </a:r>
            <a:r>
              <a:rPr sz="1200" b="1" dirty="0" err="1">
                <a:solidFill>
                  <a:srgbClr val="B88900"/>
                </a:solidFill>
                <a:latin typeface="Microsoft YaHei"/>
                <a:ea typeface="Microsoft YaHei"/>
                <a:cs typeface="Microsoft YaHei"/>
              </a:rPr>
              <a:t>Line、不同</a:t>
            </a:r>
            <a:r>
              <a:rPr sz="1200" b="1" dirty="0">
                <a:solidFill>
                  <a:srgbClr val="B88900"/>
                </a:solidFill>
                <a:latin typeface="Microsoft YaHei"/>
                <a:ea typeface="Microsoft YaHei"/>
                <a:cs typeface="Microsoft YaHei"/>
              </a:rPr>
              <a:t> Offset</a:t>
            </a:r>
          </a:p>
        </p:txBody>
      </p:sp>
      <p:sp>
        <p:nvSpPr>
          <p:cNvPr id="16" name="ADDRPAT:Scatter:accent">
            <a:extLst>
              <a:ext uri="{FF2B5EF4-FFF2-40B4-BE49-F238E27FC236}">
                <a16:creationId xmlns:a16="http://schemas.microsoft.com/office/drawing/2014/main" id="{D13F7B15-DDC9-47F4-A881-F05298CBFDAC}"/>
              </a:ext>
            </a:extLst>
          </p:cNvPr>
          <p:cNvSpPr>
            <a:spLocks noGrp="1"/>
          </p:cNvSpPr>
          <p:nvPr/>
        </p:nvSpPr>
        <p:spPr>
          <a:xfrm>
            <a:off x="6096000" y="1847850"/>
            <a:ext cx="2667000" cy="0"/>
          </a:xfrm>
          <a:prstGeom prst="line">
            <a:avLst/>
          </a:prstGeom>
          <a:noFill/>
          <a:ln w="28575">
            <a:solidFill>
              <a:srgbClr val="B88900"/>
            </a:solidFill>
            <a:prstDash val="solid"/>
          </a:ln>
        </p:spPr>
      </p:sp>
      <p:sp>
        <p:nvSpPr>
          <p:cNvPr id="17" name="ADDRPAT:Shared:header">
            <a:extLst>
              <a:ext uri="{FF2B5EF4-FFF2-40B4-BE49-F238E27FC236}">
                <a16:creationId xmlns:a16="http://schemas.microsoft.com/office/drawing/2014/main" id="{7EFC76CD-2662-4FC9-B39D-E3528B9A1AA1}"/>
              </a:ext>
            </a:extLst>
          </p:cNvPr>
          <p:cNvSpPr>
            <a:spLocks noGrp="1"/>
          </p:cNvSpPr>
          <p:nvPr/>
        </p:nvSpPr>
        <p:spPr>
          <a:xfrm>
            <a:off x="8858250" y="1847850"/>
            <a:ext cx="2667000" cy="514350"/>
          </a:xfrm>
          <a:prstGeom prst="roundRect">
            <a:avLst>
              <a:gd name="adj" fmla="val 14815"/>
            </a:avLst>
          </a:prstGeom>
          <a:solidFill>
            <a:srgbClr val="E2F0D9"/>
          </a:solidFill>
          <a:ln w="0">
            <a:solidFill>
              <a:srgbClr val="E2F0D9"/>
            </a:solidFill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buNone/>
              <a:defRPr sz="1238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Shared</a:t>
            </a:r>
          </a:p>
          <a:p>
            <a:pPr algn="ctr">
              <a:buNone/>
              <a:defRPr sz="1238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同 Line、同一地址</a:t>
            </a:r>
          </a:p>
        </p:txBody>
      </p:sp>
      <p:sp>
        <p:nvSpPr>
          <p:cNvPr id="18" name="ADDRPAT:Shared:accent">
            <a:extLst>
              <a:ext uri="{FF2B5EF4-FFF2-40B4-BE49-F238E27FC236}">
                <a16:creationId xmlns:a16="http://schemas.microsoft.com/office/drawing/2014/main" id="{FFC87C42-25EA-4F55-B470-67CD773F56EC}"/>
              </a:ext>
            </a:extLst>
          </p:cNvPr>
          <p:cNvSpPr>
            <a:spLocks noGrp="1"/>
          </p:cNvSpPr>
          <p:nvPr/>
        </p:nvSpPr>
        <p:spPr>
          <a:xfrm>
            <a:off x="8858250" y="1847850"/>
            <a:ext cx="2667000" cy="0"/>
          </a:xfrm>
          <a:prstGeom prst="line">
            <a:avLst/>
          </a:prstGeom>
          <a:noFill/>
          <a:ln w="28575">
            <a:solidFill>
              <a:srgbClr val="2E8B57"/>
            </a:solidFill>
            <a:prstDash val="solid"/>
          </a:ln>
        </p:spPr>
      </p:sp>
      <p:sp>
        <p:nvSpPr>
          <p:cNvPr id="19" name="ADDRPAT:NoMerge:formula">
            <a:extLst>
              <a:ext uri="{FF2B5EF4-FFF2-40B4-BE49-F238E27FC236}">
                <a16:creationId xmlns:a16="http://schemas.microsoft.com/office/drawing/2014/main" id="{15E75227-F5A4-4CAB-BBC5-AE7D9F52FEEF}"/>
              </a:ext>
            </a:extLst>
          </p:cNvPr>
          <p:cNvSpPr>
            <a:spLocks noGrp="1"/>
          </p:cNvSpPr>
          <p:nvPr/>
        </p:nvSpPr>
        <p:spPr>
          <a:xfrm>
            <a:off x="685800" y="2438400"/>
            <a:ext cx="2438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buNone/>
              <a:defRPr sz="907" b="1">
                <a:solidFill>
                  <a:srgbClr val="D645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64541"/>
                </a:solidFill>
                <a:latin typeface="Microsoft YaHei"/>
                <a:ea typeface="Microsoft YaHei"/>
                <a:cs typeface="Microsoft YaHei"/>
              </a:rPr>
              <a:t>addr(m,k) = master_base[m] + k×512</a:t>
            </a:r>
          </a:p>
        </p:txBody>
      </p:sp>
      <p:sp>
        <p:nvSpPr>
          <p:cNvPr id="20" name="ADDRPAT:NoMerge:example-label">
            <a:extLst>
              <a:ext uri="{FF2B5EF4-FFF2-40B4-BE49-F238E27FC236}">
                <a16:creationId xmlns:a16="http://schemas.microsoft.com/office/drawing/2014/main" id="{25761B70-EBE2-44D8-BF40-E763E5153D7A}"/>
              </a:ext>
            </a:extLst>
          </p:cNvPr>
          <p:cNvSpPr>
            <a:spLocks noGrp="1"/>
          </p:cNvSpPr>
          <p:nvPr/>
        </p:nvSpPr>
        <p:spPr>
          <a:xfrm>
            <a:off x="742950" y="3000375"/>
            <a:ext cx="2324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ctr">
              <a:buNone/>
              <a:defRPr sz="795" b="1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地址关系示意</a:t>
            </a:r>
          </a:p>
        </p:txBody>
      </p:sp>
      <p:sp>
        <p:nvSpPr>
          <p:cNvPr id="21" name="ADDRPAT:Private:formula">
            <a:extLst>
              <a:ext uri="{FF2B5EF4-FFF2-40B4-BE49-F238E27FC236}">
                <a16:creationId xmlns:a16="http://schemas.microsoft.com/office/drawing/2014/main" id="{C3F61AC2-B415-4C98-81E8-2F7C4F249C55}"/>
              </a:ext>
            </a:extLst>
          </p:cNvPr>
          <p:cNvSpPr>
            <a:spLocks noGrp="1"/>
          </p:cNvSpPr>
          <p:nvPr/>
        </p:nvSpPr>
        <p:spPr>
          <a:xfrm>
            <a:off x="3448050" y="2438400"/>
            <a:ext cx="2438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buNone/>
              <a:defRPr sz="907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addr(m,k) = master_base[m] + k×B</a:t>
            </a:r>
          </a:p>
        </p:txBody>
      </p:sp>
      <p:sp>
        <p:nvSpPr>
          <p:cNvPr id="22" name="ADDRPAT:Private:example-label">
            <a:extLst>
              <a:ext uri="{FF2B5EF4-FFF2-40B4-BE49-F238E27FC236}">
                <a16:creationId xmlns:a16="http://schemas.microsoft.com/office/drawing/2014/main" id="{C8B1931F-9010-4C80-8D9F-44D42CAAC36B}"/>
              </a:ext>
            </a:extLst>
          </p:cNvPr>
          <p:cNvSpPr>
            <a:spLocks noGrp="1"/>
          </p:cNvSpPr>
          <p:nvPr/>
        </p:nvSpPr>
        <p:spPr>
          <a:xfrm>
            <a:off x="3505200" y="3000375"/>
            <a:ext cx="2324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ctr">
              <a:buNone/>
              <a:defRPr sz="795" b="1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地址关系示意</a:t>
            </a:r>
            <a:endParaRPr sz="1200" b="1" dirty="0">
              <a:solidFill>
                <a:schemeClr val="tx1">
                  <a:lumMod val="95000"/>
                  <a:lumOff val="5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ADDRPAT:Scatter:formula">
            <a:extLst>
              <a:ext uri="{FF2B5EF4-FFF2-40B4-BE49-F238E27FC236}">
                <a16:creationId xmlns:a16="http://schemas.microsoft.com/office/drawing/2014/main" id="{D5326127-4DD6-4064-8495-2C27FE98E70D}"/>
              </a:ext>
            </a:extLst>
          </p:cNvPr>
          <p:cNvSpPr>
            <a:spLocks noGrp="1"/>
          </p:cNvSpPr>
          <p:nvPr/>
        </p:nvSpPr>
        <p:spPr>
          <a:xfrm>
            <a:off x="6210300" y="2438400"/>
            <a:ext cx="2438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buNone/>
              <a:defRPr sz="907" b="1">
                <a:solidFill>
                  <a:srgbClr val="B889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88900"/>
                </a:solidFill>
                <a:latin typeface="Microsoft YaHei"/>
                <a:ea typeface="Microsoft YaHei"/>
                <a:cs typeface="Microsoft YaHei"/>
              </a:rPr>
              <a:t>offset = (m mod Q)·B</a:t>
            </a:r>
          </a:p>
          <a:p>
            <a:pPr algn="ctr">
              <a:buNone/>
              <a:defRPr sz="907" b="1">
                <a:solidFill>
                  <a:srgbClr val="B889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88900"/>
                </a:solidFill>
                <a:latin typeface="Microsoft YaHei"/>
                <a:ea typeface="Microsoft YaHei"/>
                <a:cs typeface="Microsoft YaHei"/>
              </a:rPr>
              <a:t>Q = 512 / B</a:t>
            </a:r>
          </a:p>
        </p:txBody>
      </p:sp>
      <p:sp>
        <p:nvSpPr>
          <p:cNvPr id="24" name="ADDRPAT:Scatter:example-label">
            <a:extLst>
              <a:ext uri="{FF2B5EF4-FFF2-40B4-BE49-F238E27FC236}">
                <a16:creationId xmlns:a16="http://schemas.microsoft.com/office/drawing/2014/main" id="{43144356-0E67-42B5-A17D-51F3E6DE367F}"/>
              </a:ext>
            </a:extLst>
          </p:cNvPr>
          <p:cNvSpPr>
            <a:spLocks noGrp="1"/>
          </p:cNvSpPr>
          <p:nvPr/>
        </p:nvSpPr>
        <p:spPr>
          <a:xfrm>
            <a:off x="6267450" y="3000375"/>
            <a:ext cx="2324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ctr">
              <a:buNone/>
              <a:defRPr sz="795" b="1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地址关系示意</a:t>
            </a:r>
            <a:endParaRPr sz="1200" b="1" dirty="0">
              <a:solidFill>
                <a:schemeClr val="tx1">
                  <a:lumMod val="95000"/>
                  <a:lumOff val="5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ADDRPAT:Shared:formula">
            <a:extLst>
              <a:ext uri="{FF2B5EF4-FFF2-40B4-BE49-F238E27FC236}">
                <a16:creationId xmlns:a16="http://schemas.microsoft.com/office/drawing/2014/main" id="{267098B2-68AD-4F00-8300-BC5703911A08}"/>
              </a:ext>
            </a:extLst>
          </p:cNvPr>
          <p:cNvSpPr>
            <a:spLocks noGrp="1"/>
          </p:cNvSpPr>
          <p:nvPr/>
        </p:nvSpPr>
        <p:spPr>
          <a:xfrm>
            <a:off x="8972550" y="2438400"/>
            <a:ext cx="2438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buNone/>
              <a:defRPr sz="907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addr(m,k) = base + k×512</a:t>
            </a:r>
          </a:p>
          <a:p>
            <a:pPr algn="ctr">
              <a:buNone/>
              <a:defRPr sz="907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所有 m 取同一地址</a:t>
            </a:r>
          </a:p>
        </p:txBody>
      </p:sp>
      <p:sp>
        <p:nvSpPr>
          <p:cNvPr id="26" name="ADDRPAT:Shared:example-label">
            <a:extLst>
              <a:ext uri="{FF2B5EF4-FFF2-40B4-BE49-F238E27FC236}">
                <a16:creationId xmlns:a16="http://schemas.microsoft.com/office/drawing/2014/main" id="{34BB5B6A-8111-4300-8B06-315099A7F9F6}"/>
              </a:ext>
            </a:extLst>
          </p:cNvPr>
          <p:cNvSpPr>
            <a:spLocks noGrp="1"/>
          </p:cNvSpPr>
          <p:nvPr/>
        </p:nvSpPr>
        <p:spPr>
          <a:xfrm>
            <a:off x="9029700" y="3000375"/>
            <a:ext cx="2324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ctr">
              <a:buNone/>
              <a:defRPr sz="795" b="1">
                <a:solidFill>
                  <a:srgbClr val="5B65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地址关系示意</a:t>
            </a:r>
          </a:p>
        </p:txBody>
      </p:sp>
      <p:sp>
        <p:nvSpPr>
          <p:cNvPr id="27" name="ADDRPAT:row:60:0">
            <a:extLst>
              <a:ext uri="{FF2B5EF4-FFF2-40B4-BE49-F238E27FC236}">
                <a16:creationId xmlns:a16="http://schemas.microsoft.com/office/drawing/2014/main" id="{53FED1DE-D3D7-4535-B2E1-BD79F9297E08}"/>
              </a:ext>
            </a:extLst>
          </p:cNvPr>
          <p:cNvSpPr>
            <a:spLocks noGrp="1"/>
          </p:cNvSpPr>
          <p:nvPr/>
        </p:nvSpPr>
        <p:spPr>
          <a:xfrm>
            <a:off x="800100" y="3238500"/>
            <a:ext cx="2209800" cy="228600"/>
          </a:xfrm>
          <a:prstGeom prst="roundRect">
            <a:avLst>
              <a:gd name="adj" fmla="val 33333"/>
            </a:avLst>
          </a:prstGeom>
          <a:solidFill>
            <a:srgbClr val="FDE9E7"/>
          </a:solidFill>
          <a:ln w="7620">
            <a:solidFill>
              <a:srgbClr val="D64541"/>
            </a:solidFill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l">
              <a:buNone/>
              <a:defRPr sz="885" b="1">
                <a:solidFill>
                  <a:srgbClr val="25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313F"/>
                </a:solidFill>
                <a:latin typeface="Microsoft YaHei"/>
                <a:ea typeface="Microsoft YaHei"/>
                <a:cs typeface="Microsoft YaHei"/>
              </a:rPr>
              <a:t>M0 → Line 0 : S0</a:t>
            </a:r>
          </a:p>
        </p:txBody>
      </p:sp>
      <p:sp>
        <p:nvSpPr>
          <p:cNvPr id="28" name="ADDRPAT:row:60:1">
            <a:extLst>
              <a:ext uri="{FF2B5EF4-FFF2-40B4-BE49-F238E27FC236}">
                <a16:creationId xmlns:a16="http://schemas.microsoft.com/office/drawing/2014/main" id="{91F426B0-63E1-44A7-A3F4-1884C103C8CF}"/>
              </a:ext>
            </a:extLst>
          </p:cNvPr>
          <p:cNvSpPr>
            <a:spLocks noGrp="1"/>
          </p:cNvSpPr>
          <p:nvPr/>
        </p:nvSpPr>
        <p:spPr>
          <a:xfrm>
            <a:off x="800100" y="3514725"/>
            <a:ext cx="2209800" cy="228600"/>
          </a:xfrm>
          <a:prstGeom prst="roundRect">
            <a:avLst>
              <a:gd name="adj" fmla="val 33333"/>
            </a:avLst>
          </a:prstGeom>
          <a:solidFill>
            <a:srgbClr val="FDE9E7"/>
          </a:solidFill>
          <a:ln w="7620">
            <a:solidFill>
              <a:srgbClr val="D64541"/>
            </a:solidFill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l">
              <a:buNone/>
              <a:defRPr sz="885" b="1">
                <a:solidFill>
                  <a:srgbClr val="25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313F"/>
                </a:solidFill>
                <a:latin typeface="Microsoft YaHei"/>
                <a:ea typeface="Microsoft YaHei"/>
                <a:cs typeface="Microsoft YaHei"/>
              </a:rPr>
              <a:t>M1 → Line 1 : S0</a:t>
            </a:r>
          </a:p>
        </p:txBody>
      </p:sp>
      <p:sp>
        <p:nvSpPr>
          <p:cNvPr id="29" name="ADDRPAT:row:60:2">
            <a:extLst>
              <a:ext uri="{FF2B5EF4-FFF2-40B4-BE49-F238E27FC236}">
                <a16:creationId xmlns:a16="http://schemas.microsoft.com/office/drawing/2014/main" id="{686493AC-976A-43D8-A2A7-6623259D392B}"/>
              </a:ext>
            </a:extLst>
          </p:cNvPr>
          <p:cNvSpPr>
            <a:spLocks noGrp="1"/>
          </p:cNvSpPr>
          <p:nvPr/>
        </p:nvSpPr>
        <p:spPr>
          <a:xfrm>
            <a:off x="800100" y="3790950"/>
            <a:ext cx="2209800" cy="228600"/>
          </a:xfrm>
          <a:prstGeom prst="roundRect">
            <a:avLst>
              <a:gd name="adj" fmla="val 33333"/>
            </a:avLst>
          </a:prstGeom>
          <a:solidFill>
            <a:srgbClr val="FDE9E7"/>
          </a:solidFill>
          <a:ln w="7620">
            <a:solidFill>
              <a:srgbClr val="D64541"/>
            </a:solidFill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l">
              <a:buNone/>
              <a:defRPr sz="885" b="1">
                <a:solidFill>
                  <a:srgbClr val="25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313F"/>
                </a:solidFill>
                <a:latin typeface="Microsoft YaHei"/>
                <a:ea typeface="Microsoft YaHei"/>
                <a:cs typeface="Microsoft YaHei"/>
              </a:rPr>
              <a:t>M2 → Line 2 : S0</a:t>
            </a:r>
          </a:p>
        </p:txBody>
      </p:sp>
      <p:sp>
        <p:nvSpPr>
          <p:cNvPr id="30" name="ADDRPAT:row:60:3">
            <a:extLst>
              <a:ext uri="{FF2B5EF4-FFF2-40B4-BE49-F238E27FC236}">
                <a16:creationId xmlns:a16="http://schemas.microsoft.com/office/drawing/2014/main" id="{9617619D-642B-4C52-B589-1E7577C3B5A2}"/>
              </a:ext>
            </a:extLst>
          </p:cNvPr>
          <p:cNvSpPr>
            <a:spLocks noGrp="1"/>
          </p:cNvSpPr>
          <p:nvPr/>
        </p:nvSpPr>
        <p:spPr>
          <a:xfrm>
            <a:off x="800100" y="4067175"/>
            <a:ext cx="2209800" cy="228600"/>
          </a:xfrm>
          <a:prstGeom prst="roundRect">
            <a:avLst>
              <a:gd name="adj" fmla="val 33333"/>
            </a:avLst>
          </a:prstGeom>
          <a:solidFill>
            <a:srgbClr val="FDE9E7"/>
          </a:solidFill>
          <a:ln w="7620">
            <a:solidFill>
              <a:srgbClr val="D64541"/>
            </a:solidFill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l">
              <a:buNone/>
              <a:defRPr sz="885" b="1">
                <a:solidFill>
                  <a:srgbClr val="25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313F"/>
                </a:solidFill>
                <a:latin typeface="Microsoft YaHei"/>
                <a:ea typeface="Microsoft YaHei"/>
                <a:cs typeface="Microsoft YaHei"/>
              </a:rPr>
              <a:t>M3 → Line 3 : S0</a:t>
            </a:r>
          </a:p>
        </p:txBody>
      </p:sp>
      <p:sp>
        <p:nvSpPr>
          <p:cNvPr id="31" name="ADDRPAT:row:350:0">
            <a:extLst>
              <a:ext uri="{FF2B5EF4-FFF2-40B4-BE49-F238E27FC236}">
                <a16:creationId xmlns:a16="http://schemas.microsoft.com/office/drawing/2014/main" id="{6F9FD633-5F6D-4BD7-A571-5C6005EE2E6F}"/>
              </a:ext>
            </a:extLst>
          </p:cNvPr>
          <p:cNvSpPr>
            <a:spLocks noGrp="1"/>
          </p:cNvSpPr>
          <p:nvPr/>
        </p:nvSpPr>
        <p:spPr>
          <a:xfrm>
            <a:off x="3562350" y="3238500"/>
            <a:ext cx="2209800" cy="228600"/>
          </a:xfrm>
          <a:prstGeom prst="roundRect">
            <a:avLst>
              <a:gd name="adj" fmla="val 33333"/>
            </a:avLst>
          </a:prstGeom>
          <a:solidFill>
            <a:srgbClr val="DCEAF5"/>
          </a:solidFill>
          <a:ln w="7620">
            <a:solidFill>
              <a:srgbClr val="2F75B5"/>
            </a:solidFill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l">
              <a:buNone/>
              <a:defRPr sz="885" b="1">
                <a:solidFill>
                  <a:srgbClr val="25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313F"/>
                </a:solidFill>
                <a:latin typeface="Microsoft YaHei"/>
                <a:ea typeface="Microsoft YaHei"/>
                <a:cs typeface="Microsoft YaHei"/>
              </a:rPr>
              <a:t>M0：Window 0 → S0,S1,…</a:t>
            </a:r>
          </a:p>
        </p:txBody>
      </p:sp>
      <p:sp>
        <p:nvSpPr>
          <p:cNvPr id="32" name="ADDRPAT:row:350:1">
            <a:extLst>
              <a:ext uri="{FF2B5EF4-FFF2-40B4-BE49-F238E27FC236}">
                <a16:creationId xmlns:a16="http://schemas.microsoft.com/office/drawing/2014/main" id="{C982A4CC-B942-4568-ABC2-4F4ED0CB6203}"/>
              </a:ext>
            </a:extLst>
          </p:cNvPr>
          <p:cNvSpPr>
            <a:spLocks noGrp="1"/>
          </p:cNvSpPr>
          <p:nvPr/>
        </p:nvSpPr>
        <p:spPr>
          <a:xfrm>
            <a:off x="3562350" y="3514725"/>
            <a:ext cx="2209800" cy="228600"/>
          </a:xfrm>
          <a:prstGeom prst="roundRect">
            <a:avLst>
              <a:gd name="adj" fmla="val 33333"/>
            </a:avLst>
          </a:prstGeom>
          <a:solidFill>
            <a:srgbClr val="DCEAF5"/>
          </a:solidFill>
          <a:ln w="7620">
            <a:solidFill>
              <a:srgbClr val="2F75B5"/>
            </a:solidFill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l">
              <a:buNone/>
              <a:defRPr sz="885" b="1">
                <a:solidFill>
                  <a:srgbClr val="25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313F"/>
                </a:solidFill>
                <a:latin typeface="Microsoft YaHei"/>
                <a:ea typeface="Microsoft YaHei"/>
                <a:cs typeface="Microsoft YaHei"/>
              </a:rPr>
              <a:t>M1：Window 1 → S0,S1,…</a:t>
            </a:r>
          </a:p>
        </p:txBody>
      </p:sp>
      <p:sp>
        <p:nvSpPr>
          <p:cNvPr id="33" name="ADDRPAT:row:350:2">
            <a:extLst>
              <a:ext uri="{FF2B5EF4-FFF2-40B4-BE49-F238E27FC236}">
                <a16:creationId xmlns:a16="http://schemas.microsoft.com/office/drawing/2014/main" id="{29AB11DC-437D-40C6-B68D-7597B1833991}"/>
              </a:ext>
            </a:extLst>
          </p:cNvPr>
          <p:cNvSpPr>
            <a:spLocks noGrp="1"/>
          </p:cNvSpPr>
          <p:nvPr/>
        </p:nvSpPr>
        <p:spPr>
          <a:xfrm>
            <a:off x="3562350" y="3790950"/>
            <a:ext cx="2209800" cy="228600"/>
          </a:xfrm>
          <a:prstGeom prst="roundRect">
            <a:avLst>
              <a:gd name="adj" fmla="val 33333"/>
            </a:avLst>
          </a:prstGeom>
          <a:solidFill>
            <a:srgbClr val="DCEAF5"/>
          </a:solidFill>
          <a:ln w="7620">
            <a:solidFill>
              <a:srgbClr val="2F75B5"/>
            </a:solidFill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l">
              <a:buNone/>
              <a:defRPr sz="885" b="1">
                <a:solidFill>
                  <a:srgbClr val="25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313F"/>
                </a:solidFill>
                <a:latin typeface="Microsoft YaHei"/>
                <a:ea typeface="Microsoft YaHei"/>
                <a:cs typeface="Microsoft YaHei"/>
              </a:rPr>
              <a:t>M2：Window 2 → S0,S1,…</a:t>
            </a:r>
          </a:p>
        </p:txBody>
      </p:sp>
      <p:sp>
        <p:nvSpPr>
          <p:cNvPr id="34" name="ADDRPAT:row:350:3">
            <a:extLst>
              <a:ext uri="{FF2B5EF4-FFF2-40B4-BE49-F238E27FC236}">
                <a16:creationId xmlns:a16="http://schemas.microsoft.com/office/drawing/2014/main" id="{7346327E-9F45-44C2-B414-B83C4645F11F}"/>
              </a:ext>
            </a:extLst>
          </p:cNvPr>
          <p:cNvSpPr>
            <a:spLocks noGrp="1"/>
          </p:cNvSpPr>
          <p:nvPr/>
        </p:nvSpPr>
        <p:spPr>
          <a:xfrm>
            <a:off x="3562350" y="4067175"/>
            <a:ext cx="2209800" cy="228600"/>
          </a:xfrm>
          <a:prstGeom prst="roundRect">
            <a:avLst>
              <a:gd name="adj" fmla="val 33333"/>
            </a:avLst>
          </a:prstGeom>
          <a:solidFill>
            <a:srgbClr val="DCEAF5"/>
          </a:solidFill>
          <a:ln w="7620">
            <a:solidFill>
              <a:srgbClr val="2F75B5"/>
            </a:solidFill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l">
              <a:buNone/>
              <a:defRPr sz="885" b="1">
                <a:solidFill>
                  <a:srgbClr val="25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313F"/>
                </a:solidFill>
                <a:latin typeface="Microsoft YaHei"/>
                <a:ea typeface="Microsoft YaHei"/>
                <a:cs typeface="Microsoft YaHei"/>
              </a:rPr>
              <a:t>M3：Window 3 → S0,S1,…</a:t>
            </a:r>
          </a:p>
        </p:txBody>
      </p:sp>
      <p:sp>
        <p:nvSpPr>
          <p:cNvPr id="35" name="ADDRPAT:Scatter:lineA">
            <a:extLst>
              <a:ext uri="{FF2B5EF4-FFF2-40B4-BE49-F238E27FC236}">
                <a16:creationId xmlns:a16="http://schemas.microsoft.com/office/drawing/2014/main" id="{62307DCD-CC2D-45B4-9338-A3A080BBA596}"/>
              </a:ext>
            </a:extLst>
          </p:cNvPr>
          <p:cNvSpPr>
            <a:spLocks noGrp="1"/>
          </p:cNvSpPr>
          <p:nvPr/>
        </p:nvSpPr>
        <p:spPr>
          <a:xfrm>
            <a:off x="6267450" y="3276600"/>
            <a:ext cx="2324100" cy="438150"/>
          </a:xfrm>
          <a:prstGeom prst="roundRect">
            <a:avLst>
              <a:gd name="adj" fmla="val 17391"/>
            </a:avLst>
          </a:prstGeom>
          <a:solidFill>
            <a:srgbClr val="FFF3CD"/>
          </a:solidFill>
          <a:ln w="9525">
            <a:solidFill>
              <a:srgbClr val="B88900"/>
            </a:solidFill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ctr">
              <a:buNone/>
              <a:defRPr sz="810" b="1">
                <a:solidFill>
                  <a:srgbClr val="25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dirty="0">
                <a:solidFill>
                  <a:srgbClr val="25313F"/>
                </a:solidFill>
                <a:latin typeface="Microsoft YaHei"/>
                <a:ea typeface="Microsoft YaHei"/>
                <a:cs typeface="Microsoft YaHei"/>
              </a:rPr>
              <a:t>Line A</a:t>
            </a:r>
          </a:p>
          <a:p>
            <a:pPr algn="ctr">
              <a:buNone/>
              <a:defRPr sz="810" b="1">
                <a:solidFill>
                  <a:srgbClr val="25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dirty="0">
                <a:solidFill>
                  <a:srgbClr val="25313F"/>
                </a:solidFill>
                <a:latin typeface="Microsoft YaHei"/>
                <a:ea typeface="Microsoft YaHei"/>
                <a:cs typeface="Microsoft YaHei"/>
              </a:rPr>
              <a:t>M0@S0 · M1@S1 · M2@S2 · M3@S3</a:t>
            </a:r>
          </a:p>
        </p:txBody>
      </p:sp>
      <p:sp>
        <p:nvSpPr>
          <p:cNvPr id="36" name="ADDRPAT:Scatter:lineB">
            <a:extLst>
              <a:ext uri="{FF2B5EF4-FFF2-40B4-BE49-F238E27FC236}">
                <a16:creationId xmlns:a16="http://schemas.microsoft.com/office/drawing/2014/main" id="{4283904C-B96B-4952-B27B-CA9B02677FB1}"/>
              </a:ext>
            </a:extLst>
          </p:cNvPr>
          <p:cNvSpPr>
            <a:spLocks noGrp="1"/>
          </p:cNvSpPr>
          <p:nvPr/>
        </p:nvSpPr>
        <p:spPr>
          <a:xfrm>
            <a:off x="6267450" y="3819525"/>
            <a:ext cx="2324100" cy="438150"/>
          </a:xfrm>
          <a:prstGeom prst="roundRect">
            <a:avLst>
              <a:gd name="adj" fmla="val 17391"/>
            </a:avLst>
          </a:prstGeom>
          <a:solidFill>
            <a:srgbClr val="FFF3CD"/>
          </a:solidFill>
          <a:ln w="9525">
            <a:solidFill>
              <a:srgbClr val="B88900"/>
            </a:solidFill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ctr">
              <a:buNone/>
              <a:defRPr sz="810" b="1">
                <a:solidFill>
                  <a:srgbClr val="25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dirty="0">
                <a:solidFill>
                  <a:srgbClr val="25313F"/>
                </a:solidFill>
                <a:latin typeface="Microsoft YaHei"/>
                <a:ea typeface="Microsoft YaHei"/>
                <a:cs typeface="Microsoft YaHei"/>
              </a:rPr>
              <a:t>Line B</a:t>
            </a:r>
          </a:p>
          <a:p>
            <a:pPr algn="ctr">
              <a:buNone/>
              <a:defRPr sz="810" b="1">
                <a:solidFill>
                  <a:srgbClr val="25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dirty="0">
                <a:solidFill>
                  <a:srgbClr val="25313F"/>
                </a:solidFill>
                <a:latin typeface="Microsoft YaHei"/>
                <a:ea typeface="Microsoft YaHei"/>
                <a:cs typeface="Microsoft YaHei"/>
              </a:rPr>
              <a:t>M4@S0 · M5@S1 · M6@S2 · M7@S3</a:t>
            </a:r>
          </a:p>
        </p:txBody>
      </p:sp>
      <p:sp>
        <p:nvSpPr>
          <p:cNvPr id="37" name="ADDRPAT:Shared:masters">
            <a:extLst>
              <a:ext uri="{FF2B5EF4-FFF2-40B4-BE49-F238E27FC236}">
                <a16:creationId xmlns:a16="http://schemas.microsoft.com/office/drawing/2014/main" id="{A78BAD8D-D089-46BB-A7B0-A168DE58DF2E}"/>
              </a:ext>
            </a:extLst>
          </p:cNvPr>
          <p:cNvSpPr>
            <a:spLocks noGrp="1"/>
          </p:cNvSpPr>
          <p:nvPr/>
        </p:nvSpPr>
        <p:spPr>
          <a:xfrm>
            <a:off x="9467850" y="3295650"/>
            <a:ext cx="1447800" cy="323850"/>
          </a:xfrm>
          <a:prstGeom prst="roundRect">
            <a:avLst>
              <a:gd name="adj" fmla="val 23529"/>
            </a:avLst>
          </a:prstGeom>
          <a:solidFill>
            <a:srgbClr val="E2F0D9"/>
          </a:solidFill>
          <a:ln w="9525">
            <a:solidFill>
              <a:srgbClr val="2E8B57"/>
            </a:solidFill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ctr">
              <a:buNone/>
              <a:defRPr sz="923" b="1">
                <a:solidFill>
                  <a:srgbClr val="25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dirty="0">
                <a:solidFill>
                  <a:srgbClr val="25313F"/>
                </a:solidFill>
                <a:latin typeface="Microsoft YaHei"/>
                <a:ea typeface="Microsoft YaHei"/>
                <a:cs typeface="Microsoft YaHei"/>
              </a:rPr>
              <a:t>M0 · M1 · … · M7</a:t>
            </a:r>
          </a:p>
        </p:txBody>
      </p:sp>
      <p:sp>
        <p:nvSpPr>
          <p:cNvPr id="38" name="ADDRPAT:Shared:down">
            <a:extLst>
              <a:ext uri="{FF2B5EF4-FFF2-40B4-BE49-F238E27FC236}">
                <a16:creationId xmlns:a16="http://schemas.microsoft.com/office/drawing/2014/main" id="{1261ADC4-A23A-4EF5-A6DC-29F30B26B61B}"/>
              </a:ext>
            </a:extLst>
          </p:cNvPr>
          <p:cNvSpPr>
            <a:spLocks noGrp="1"/>
          </p:cNvSpPr>
          <p:nvPr/>
        </p:nvSpPr>
        <p:spPr>
          <a:xfrm>
            <a:off x="9867899" y="3638550"/>
            <a:ext cx="914399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ctr">
              <a:buNone/>
              <a:defRPr sz="863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↓ </a:t>
            </a:r>
            <a:r>
              <a:rPr sz="1200" b="1" dirty="0" err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同一地址</a:t>
            </a:r>
            <a:endParaRPr sz="1200" b="1" dirty="0">
              <a:solidFill>
                <a:srgbClr val="2E8B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9" name="ADDRPAT:Shared:line">
            <a:extLst>
              <a:ext uri="{FF2B5EF4-FFF2-40B4-BE49-F238E27FC236}">
                <a16:creationId xmlns:a16="http://schemas.microsoft.com/office/drawing/2014/main" id="{4D8FA0D1-92D0-4FFE-BEDA-855E74C89CE7}"/>
              </a:ext>
            </a:extLst>
          </p:cNvPr>
          <p:cNvSpPr>
            <a:spLocks noGrp="1"/>
          </p:cNvSpPr>
          <p:nvPr/>
        </p:nvSpPr>
        <p:spPr>
          <a:xfrm>
            <a:off x="9467850" y="3905250"/>
            <a:ext cx="1447800" cy="361950"/>
          </a:xfrm>
          <a:prstGeom prst="roundRect">
            <a:avLst>
              <a:gd name="adj" fmla="val 21053"/>
            </a:avLst>
          </a:prstGeom>
          <a:solidFill>
            <a:srgbClr val="E2F0D9"/>
          </a:solidFill>
          <a:ln w="9525">
            <a:solidFill>
              <a:srgbClr val="2E8B57"/>
            </a:solidFill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buNone/>
              <a:defRPr sz="990" b="1">
                <a:solidFill>
                  <a:srgbClr val="25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5313F"/>
                </a:solidFill>
                <a:latin typeface="Microsoft YaHei"/>
                <a:ea typeface="Microsoft YaHei"/>
                <a:cs typeface="Microsoft YaHei"/>
              </a:rPr>
              <a:t>Line A : S0</a:t>
            </a:r>
          </a:p>
        </p:txBody>
      </p:sp>
      <p:sp>
        <p:nvSpPr>
          <p:cNvPr id="40" name="ADDRPAT:summary-title:60">
            <a:extLst>
              <a:ext uri="{FF2B5EF4-FFF2-40B4-BE49-F238E27FC236}">
                <a16:creationId xmlns:a16="http://schemas.microsoft.com/office/drawing/2014/main" id="{6BD5A1F1-32E0-45A1-A69C-C85D79E020DC}"/>
              </a:ext>
            </a:extLst>
          </p:cNvPr>
          <p:cNvSpPr>
            <a:spLocks noGrp="1"/>
          </p:cNvSpPr>
          <p:nvPr/>
        </p:nvSpPr>
        <p:spPr>
          <a:xfrm>
            <a:off x="742950" y="4495800"/>
            <a:ext cx="2324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l">
              <a:buNone/>
              <a:defRPr sz="840" b="1">
                <a:solidFill>
                  <a:srgbClr val="D645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64541"/>
                </a:solidFill>
                <a:latin typeface="Microsoft YaHei"/>
                <a:ea typeface="Microsoft YaHei"/>
                <a:cs typeface="Microsoft YaHei"/>
              </a:rPr>
              <a:t>物理含义</a:t>
            </a:r>
          </a:p>
        </p:txBody>
      </p:sp>
      <p:sp>
        <p:nvSpPr>
          <p:cNvPr id="41" name="ADDRPAT:summary:60">
            <a:extLst>
              <a:ext uri="{FF2B5EF4-FFF2-40B4-BE49-F238E27FC236}">
                <a16:creationId xmlns:a16="http://schemas.microsoft.com/office/drawing/2014/main" id="{10655531-F05D-445B-A1AC-2118117CEA7B}"/>
              </a:ext>
            </a:extLst>
          </p:cNvPr>
          <p:cNvSpPr>
            <a:spLocks noGrp="1"/>
          </p:cNvSpPr>
          <p:nvPr/>
        </p:nvSpPr>
        <p:spPr>
          <a:xfrm>
            <a:off x="742949" y="4705350"/>
            <a:ext cx="2624139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l">
              <a:buNone/>
              <a:defRPr sz="840" b="0">
                <a:solidFill>
                  <a:srgbClr val="25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无合并基线</a:t>
            </a:r>
            <a:endParaRPr sz="1200" b="0" dirty="0">
              <a:solidFill>
                <a:schemeClr val="tx1">
                  <a:lumMod val="95000"/>
                  <a:lumOff val="5000"/>
                </a:schemeClr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  <a:defRPr sz="840" b="0">
                <a:solidFill>
                  <a:srgbClr val="25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L2 miss 时，128 / 256 / 512B </a:t>
            </a:r>
            <a:r>
              <a:rPr sz="12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请求</a:t>
            </a:r>
            <a:endParaRPr sz="1200" b="0" dirty="0">
              <a:solidFill>
                <a:schemeClr val="tx1">
                  <a:lumMod val="95000"/>
                  <a:lumOff val="5000"/>
                </a:schemeClr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  <a:defRPr sz="840" b="0">
                <a:solidFill>
                  <a:srgbClr val="25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HBM Line </a:t>
            </a:r>
            <a:r>
              <a:rPr sz="12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放大</a:t>
            </a:r>
            <a:r>
              <a:rPr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 4× / 2× / 1×</a:t>
            </a:r>
          </a:p>
        </p:txBody>
      </p:sp>
      <p:sp>
        <p:nvSpPr>
          <p:cNvPr id="42" name="ADDRPAT:summary-title:350">
            <a:extLst>
              <a:ext uri="{FF2B5EF4-FFF2-40B4-BE49-F238E27FC236}">
                <a16:creationId xmlns:a16="http://schemas.microsoft.com/office/drawing/2014/main" id="{5858D6C0-DB37-4FA4-89E1-3CD62A58FF6D}"/>
              </a:ext>
            </a:extLst>
          </p:cNvPr>
          <p:cNvSpPr>
            <a:spLocks noGrp="1"/>
          </p:cNvSpPr>
          <p:nvPr/>
        </p:nvSpPr>
        <p:spPr>
          <a:xfrm>
            <a:off x="3505200" y="4495800"/>
            <a:ext cx="2324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l">
              <a:buNone/>
              <a:defRPr sz="84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75B5"/>
                </a:solidFill>
                <a:latin typeface="Microsoft YaHei"/>
                <a:ea typeface="Microsoft YaHei"/>
                <a:cs typeface="Microsoft YaHei"/>
              </a:rPr>
              <a:t>物理含义</a:t>
            </a:r>
          </a:p>
        </p:txBody>
      </p:sp>
      <p:sp>
        <p:nvSpPr>
          <p:cNvPr id="43" name="ADDRPAT:summary:350">
            <a:extLst>
              <a:ext uri="{FF2B5EF4-FFF2-40B4-BE49-F238E27FC236}">
                <a16:creationId xmlns:a16="http://schemas.microsoft.com/office/drawing/2014/main" id="{9135D156-3FAD-4478-9963-9253B801BD30}"/>
              </a:ext>
            </a:extLst>
          </p:cNvPr>
          <p:cNvSpPr>
            <a:spLocks noGrp="1"/>
          </p:cNvSpPr>
          <p:nvPr/>
        </p:nvSpPr>
        <p:spPr>
          <a:xfrm>
            <a:off x="3505200" y="4705350"/>
            <a:ext cx="23241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buNone/>
              <a:defRPr sz="840" b="0">
                <a:solidFill>
                  <a:srgbClr val="25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无跨 Master 共享</a:t>
            </a:r>
          </a:p>
          <a:p>
            <a:pPr algn="l">
              <a:buNone/>
              <a:defRPr sz="840" b="0">
                <a:solidFill>
                  <a:srgbClr val="25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同一 Master 的相邻请求仍可能</a:t>
            </a:r>
          </a:p>
          <a:p>
            <a:pPr algn="l">
              <a:buNone/>
              <a:defRPr sz="840" b="0">
                <a:solidFill>
                  <a:srgbClr val="25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复用同一条 512B Line</a:t>
            </a:r>
          </a:p>
        </p:txBody>
      </p:sp>
      <p:sp>
        <p:nvSpPr>
          <p:cNvPr id="44" name="ADDRPAT:summary-title:640">
            <a:extLst>
              <a:ext uri="{FF2B5EF4-FFF2-40B4-BE49-F238E27FC236}">
                <a16:creationId xmlns:a16="http://schemas.microsoft.com/office/drawing/2014/main" id="{983A65C9-327F-4CC6-B6B1-5089615C1F69}"/>
              </a:ext>
            </a:extLst>
          </p:cNvPr>
          <p:cNvSpPr>
            <a:spLocks noGrp="1"/>
          </p:cNvSpPr>
          <p:nvPr/>
        </p:nvSpPr>
        <p:spPr>
          <a:xfrm>
            <a:off x="6267450" y="4495800"/>
            <a:ext cx="2324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l">
              <a:buNone/>
              <a:defRPr sz="840" b="1">
                <a:solidFill>
                  <a:srgbClr val="B889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88900"/>
                </a:solidFill>
                <a:latin typeface="Microsoft YaHei"/>
                <a:ea typeface="Microsoft YaHei"/>
                <a:cs typeface="Microsoft YaHei"/>
              </a:rPr>
              <a:t>物理含义</a:t>
            </a:r>
          </a:p>
        </p:txBody>
      </p:sp>
      <p:sp>
        <p:nvSpPr>
          <p:cNvPr id="45" name="ADDRPAT:summary:640">
            <a:extLst>
              <a:ext uri="{FF2B5EF4-FFF2-40B4-BE49-F238E27FC236}">
                <a16:creationId xmlns:a16="http://schemas.microsoft.com/office/drawing/2014/main" id="{9F9FF308-DD86-456B-819B-186390D7A328}"/>
              </a:ext>
            </a:extLst>
          </p:cNvPr>
          <p:cNvSpPr>
            <a:spLocks noGrp="1"/>
          </p:cNvSpPr>
          <p:nvPr/>
        </p:nvSpPr>
        <p:spPr>
          <a:xfrm>
            <a:off x="6186487" y="4714875"/>
            <a:ext cx="2543176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l">
              <a:buNone/>
              <a:defRPr sz="840" b="0">
                <a:solidFill>
                  <a:srgbClr val="25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一次后端</a:t>
            </a:r>
            <a:r>
              <a:rPr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 Line </a:t>
            </a:r>
            <a:r>
              <a:rPr sz="12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读取服务不同</a:t>
            </a:r>
            <a:r>
              <a:rPr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 Sector</a:t>
            </a:r>
          </a:p>
          <a:p>
            <a:pPr algn="l">
              <a:buNone/>
              <a:defRPr sz="840" b="0">
                <a:solidFill>
                  <a:srgbClr val="25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返回采用</a:t>
            </a:r>
            <a:r>
              <a:rPr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Scatter，而不是</a:t>
            </a:r>
            <a:r>
              <a:rPr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 Multicast</a:t>
            </a:r>
          </a:p>
          <a:p>
            <a:pPr algn="l">
              <a:buNone/>
              <a:defRPr sz="840" b="0">
                <a:solidFill>
                  <a:srgbClr val="25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B=512B 时 Q=1，无 Scatter </a:t>
            </a:r>
            <a:r>
              <a:rPr sz="12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空间</a:t>
            </a:r>
            <a:endParaRPr sz="1200" b="0" dirty="0">
              <a:solidFill>
                <a:schemeClr val="tx1">
                  <a:lumMod val="95000"/>
                  <a:lumOff val="5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6" name="ADDRPAT:summary-title:930">
            <a:extLst>
              <a:ext uri="{FF2B5EF4-FFF2-40B4-BE49-F238E27FC236}">
                <a16:creationId xmlns:a16="http://schemas.microsoft.com/office/drawing/2014/main" id="{E5FF8441-0377-4A01-93F5-E34FFE9E1DE8}"/>
              </a:ext>
            </a:extLst>
          </p:cNvPr>
          <p:cNvSpPr>
            <a:spLocks noGrp="1"/>
          </p:cNvSpPr>
          <p:nvPr/>
        </p:nvSpPr>
        <p:spPr>
          <a:xfrm>
            <a:off x="9029700" y="4495800"/>
            <a:ext cx="2324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l">
              <a:buNone/>
              <a:defRPr sz="84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物理含义</a:t>
            </a:r>
          </a:p>
        </p:txBody>
      </p:sp>
      <p:sp>
        <p:nvSpPr>
          <p:cNvPr id="47" name="ADDRPAT:summary:930">
            <a:extLst>
              <a:ext uri="{FF2B5EF4-FFF2-40B4-BE49-F238E27FC236}">
                <a16:creationId xmlns:a16="http://schemas.microsoft.com/office/drawing/2014/main" id="{DAC9DA8D-D1FD-407B-80F2-9A43B2C8A553}"/>
              </a:ext>
            </a:extLst>
          </p:cNvPr>
          <p:cNvSpPr>
            <a:spLocks noGrp="1"/>
          </p:cNvSpPr>
          <p:nvPr/>
        </p:nvSpPr>
        <p:spPr>
          <a:xfrm>
            <a:off x="9029700" y="4705350"/>
            <a:ext cx="23241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l">
              <a:buNone/>
              <a:defRPr sz="840" b="0">
                <a:solidFill>
                  <a:srgbClr val="25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HA </a:t>
            </a:r>
            <a:r>
              <a:rPr sz="12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合并同一地址的</a:t>
            </a:r>
            <a:r>
              <a:rPr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 Waiter</a:t>
            </a:r>
          </a:p>
          <a:p>
            <a:pPr algn="l">
              <a:buNone/>
              <a:defRPr sz="840" b="0">
                <a:solidFill>
                  <a:srgbClr val="25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一份物理</a:t>
            </a:r>
            <a:r>
              <a:rPr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 DAT </a:t>
            </a:r>
            <a:r>
              <a:rPr sz="12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通过</a:t>
            </a:r>
            <a:r>
              <a:rPr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 Multicast</a:t>
            </a:r>
          </a:p>
          <a:p>
            <a:pPr algn="l">
              <a:buNone/>
              <a:defRPr sz="840" b="0">
                <a:solidFill>
                  <a:srgbClr val="2531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同时服务多个</a:t>
            </a:r>
            <a:r>
              <a:rPr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 Master</a:t>
            </a:r>
          </a:p>
        </p:txBody>
      </p:sp>
    </p:spTree>
    <p:extLst>
      <p:ext uri="{BB962C8B-B14F-4D97-AF65-F5344CB8AC3E}">
        <p14:creationId xmlns:p14="http://schemas.microsoft.com/office/powerpoint/2010/main" val="1696432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B9989F-1FAF-4725-B584-E2C812324FC8}"/>
              </a:ext>
            </a:extLst>
          </p:cNvPr>
          <p:cNvSpPr>
            <a:spLocks noGrp="1"/>
          </p:cNvSpPr>
          <p:nvPr/>
        </p:nvSpPr>
        <p:spPr>
          <a:xfrm>
            <a:off x="1088136" y="721483"/>
            <a:ext cx="987552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80">
                <a:solidFill>
                  <a:srgbClr val="5C6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256B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请求；四种地址模式；仅分析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 E2E 与 HBM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物理带宽</a:t>
            </a:r>
            <a:endParaRPr sz="1200" b="0" i="0" dirty="0">
              <a:solidFill>
                <a:schemeClr val="tx1">
                  <a:lumMod val="95000"/>
                  <a:lumOff val="5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Connector 4">
            <a:extLst>
              <a:ext uri="{FF2B5EF4-FFF2-40B4-BE49-F238E27FC236}">
                <a16:creationId xmlns:a16="http://schemas.microsoft.com/office/drawing/2014/main" id="{9D899323-E223-4C4D-BB2C-B2B2632EB791}"/>
              </a:ext>
            </a:extLst>
          </p:cNvPr>
          <p:cNvSpPr>
            <a:spLocks noGrp="1"/>
          </p:cNvSpPr>
          <p:nvPr/>
        </p:nvSpPr>
        <p:spPr>
          <a:xfrm>
            <a:off x="576072" y="1005840"/>
            <a:ext cx="11036808" cy="0"/>
          </a:xfrm>
          <a:prstGeom prst="line">
            <a:avLst/>
          </a:prstGeom>
          <a:ln w="12700">
            <a:solidFill>
              <a:srgbClr val="1F4A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pic>
        <p:nvPicPr>
          <p:cNvPr id="22" name="图片 4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0550" y="1343921"/>
            <a:ext cx="5353050" cy="3274807"/>
          </a:xfrm>
          <a:prstGeom prst="rect">
            <a:avLst/>
          </a:prstGeom>
        </p:spPr>
      </p:pic>
      <p:pic>
        <p:nvPicPr>
          <p:cNvPr id="23" name="图片 4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191250" y="1332267"/>
            <a:ext cx="5391150" cy="3298115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C87A13C2-798F-47FE-816A-A8EAA3DDCC7B}"/>
              </a:ext>
            </a:extLst>
          </p:cNvPr>
          <p:cNvSpPr>
            <a:spLocks noGrp="1"/>
          </p:cNvSpPr>
          <p:nvPr/>
        </p:nvSpPr>
        <p:spPr>
          <a:xfrm>
            <a:off x="3120150" y="4862309"/>
            <a:ext cx="60970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/>
              <a:t>L2 命中率扫描：</a:t>
            </a:r>
            <a:r>
              <a:t> 提高 L2 命中率能够显著降低 HBM 压力，但带宽在约 50% 命中后趋于饱和，表明瓶颈逐渐转移至 Ring、L2 输出或注入路径。</a:t>
            </a: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EA72DDE1-495E-4571-B213-09F1D1537811}"/>
              </a:ext>
            </a:extLst>
          </p:cNvPr>
          <p:cNvSpPr>
            <a:spLocks noGrp="1"/>
          </p:cNvSpPr>
          <p:nvPr/>
        </p:nvSpPr>
        <p:spPr>
          <a:xfrm>
            <a:off x="590550" y="347720"/>
            <a:ext cx="81381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altLang="zh-CN" sz="2000" b="1" dirty="0">
                <a:latin typeface="Microsoft YaHei"/>
                <a:ea typeface="Microsoft YaHei"/>
              </a:rPr>
              <a:t>L2 </a:t>
            </a:r>
            <a:r>
              <a:rPr lang="zh-CN" altLang="en-US" sz="2000" b="1" dirty="0">
                <a:latin typeface="Microsoft YaHei"/>
                <a:ea typeface="Microsoft YaHei"/>
              </a:rPr>
              <a:t>命中率提高后，瓶颈从 </a:t>
            </a:r>
            <a:r>
              <a:rPr lang="en-US" altLang="zh-CN" sz="2000" b="1" dirty="0">
                <a:latin typeface="Microsoft YaHei"/>
                <a:ea typeface="Microsoft YaHei"/>
              </a:rPr>
              <a:t>HBM </a:t>
            </a:r>
            <a:r>
              <a:rPr lang="zh-CN" altLang="en-US" sz="2000" b="1" dirty="0">
                <a:latin typeface="Microsoft YaHei"/>
                <a:ea typeface="Microsoft YaHei"/>
              </a:rPr>
              <a:t>转向 </a:t>
            </a:r>
            <a:r>
              <a:rPr lang="en-US" altLang="zh-CN" sz="2000" b="1" dirty="0">
                <a:latin typeface="Microsoft YaHei"/>
                <a:ea typeface="Microsoft YaHei"/>
              </a:rPr>
              <a:t>Ring/L2 </a:t>
            </a:r>
            <a:r>
              <a:rPr lang="zh-CN" altLang="en-US" sz="2000" b="1" dirty="0">
                <a:latin typeface="Microsoft YaHei"/>
                <a:ea typeface="Microsoft YaHei"/>
              </a:rPr>
              <a:t>输出</a:t>
            </a:r>
          </a:p>
        </p:txBody>
      </p:sp>
    </p:spTree>
    <p:extLst>
      <p:ext uri="{BB962C8B-B14F-4D97-AF65-F5344CB8AC3E}">
        <p14:creationId xmlns:p14="http://schemas.microsoft.com/office/powerpoint/2010/main" val="16964321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B9989F-1FAF-4725-B584-E2C812324FC8}"/>
              </a:ext>
            </a:extLst>
          </p:cNvPr>
          <p:cNvSpPr>
            <a:spLocks noGrp="1"/>
          </p:cNvSpPr>
          <p:nvPr/>
        </p:nvSpPr>
        <p:spPr>
          <a:xfrm>
            <a:off x="1088136" y="721483"/>
            <a:ext cx="987552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80">
                <a:solidFill>
                  <a:srgbClr val="5C6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NoMerge</a:t>
            </a: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 · 256B · L2 hit=0%；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吞吐增长停止后，并发转化为排队压力</a:t>
            </a:r>
            <a:endParaRPr sz="1200" b="0" i="0" dirty="0">
              <a:solidFill>
                <a:schemeClr val="tx1">
                  <a:lumMod val="95000"/>
                  <a:lumOff val="5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Connector 4">
            <a:extLst>
              <a:ext uri="{FF2B5EF4-FFF2-40B4-BE49-F238E27FC236}">
                <a16:creationId xmlns:a16="http://schemas.microsoft.com/office/drawing/2014/main" id="{9D899323-E223-4C4D-BB2C-B2B2632EB791}"/>
              </a:ext>
            </a:extLst>
          </p:cNvPr>
          <p:cNvSpPr>
            <a:spLocks noGrp="1"/>
          </p:cNvSpPr>
          <p:nvPr/>
        </p:nvSpPr>
        <p:spPr>
          <a:xfrm>
            <a:off x="576072" y="1005840"/>
            <a:ext cx="11036808" cy="0"/>
          </a:xfrm>
          <a:prstGeom prst="line">
            <a:avLst/>
          </a:prstGeom>
          <a:ln w="12700">
            <a:solidFill>
              <a:srgbClr val="1F4A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2" name="Connector 4">
            <a:extLst>
              <a:ext uri="{FF2B5EF4-FFF2-40B4-BE49-F238E27FC236}">
                <a16:creationId xmlns:a16="http://schemas.microsoft.com/office/drawing/2014/main" id="{E620982A-E3E9-4606-BE1A-B502DCA11605}"/>
              </a:ext>
            </a:extLst>
          </p:cNvPr>
          <p:cNvSpPr>
            <a:spLocks noGrp="1"/>
          </p:cNvSpPr>
          <p:nvPr/>
        </p:nvSpPr>
        <p:spPr>
          <a:xfrm>
            <a:off x="576072" y="1005840"/>
            <a:ext cx="11036808" cy="0"/>
          </a:xfrm>
          <a:prstGeom prst="line">
            <a:avLst/>
          </a:prstGeom>
          <a:ln w="12700">
            <a:solidFill>
              <a:srgbClr val="1F4A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pic>
        <p:nvPicPr>
          <p:cNvPr id="25" name="图片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55622" y="1344169"/>
            <a:ext cx="5217130" cy="3191656"/>
          </a:xfrm>
          <a:prstGeom prst="rect">
            <a:avLst/>
          </a:prstGeom>
        </p:spPr>
      </p:pic>
      <p:pic>
        <p:nvPicPr>
          <p:cNvPr id="2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5870" y="1280160"/>
            <a:ext cx="5544402" cy="3391870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852143A3-E961-4E0D-9E70-FFBE335723BA}"/>
              </a:ext>
            </a:extLst>
          </p:cNvPr>
          <p:cNvSpPr>
            <a:spLocks noGrp="1"/>
          </p:cNvSpPr>
          <p:nvPr/>
        </p:nvSpPr>
        <p:spPr>
          <a:xfrm>
            <a:off x="2600526" y="4968462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/>
              <a:t>Outstanding </a:t>
            </a:r>
            <a:r>
              <a:rPr b="1" dirty="0" err="1"/>
              <a:t>扫描</a:t>
            </a:r>
            <a:r>
              <a:rPr b="1" dirty="0"/>
              <a:t>：</a:t>
            </a:r>
            <a:r>
              <a:rPr dirty="0"/>
              <a:t> Outstanding </a:t>
            </a:r>
            <a:r>
              <a:rPr dirty="0" err="1"/>
              <a:t>增至</a:t>
            </a:r>
            <a:r>
              <a:rPr dirty="0"/>
              <a:t> 256 </a:t>
            </a:r>
            <a:r>
              <a:rPr dirty="0" err="1"/>
              <a:t>时吞吐达到峰值</a:t>
            </a:r>
            <a:r>
              <a:rPr dirty="0"/>
              <a:t> 488.88 B/</a:t>
            </a:r>
            <a:r>
              <a:rPr dirty="0" err="1"/>
              <a:t>cycle，继续增至</a:t>
            </a:r>
            <a:r>
              <a:rPr dirty="0"/>
              <a:t> 512 </a:t>
            </a:r>
            <a:r>
              <a:rPr dirty="0" err="1"/>
              <a:t>只会加剧</a:t>
            </a:r>
            <a:r>
              <a:rPr dirty="0"/>
              <a:t> Credit </a:t>
            </a:r>
            <a:r>
              <a:rPr dirty="0" err="1"/>
              <a:t>反压，说明最佳拐点约为</a:t>
            </a:r>
            <a:r>
              <a:rPr dirty="0"/>
              <a:t> 256。</a:t>
            </a: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F097EEAE-7FFB-4332-8D0D-E3299E95482D}"/>
              </a:ext>
            </a:extLst>
          </p:cNvPr>
          <p:cNvSpPr>
            <a:spLocks noGrp="1"/>
          </p:cNvSpPr>
          <p:nvPr/>
        </p:nvSpPr>
        <p:spPr>
          <a:xfrm>
            <a:off x="590550" y="347720"/>
            <a:ext cx="81381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altLang="zh-CN" sz="2000" b="1" dirty="0">
                <a:latin typeface="Microsoft YaHei"/>
                <a:ea typeface="Microsoft YaHei"/>
              </a:rPr>
              <a:t>Outstanding </a:t>
            </a:r>
            <a:r>
              <a:rPr lang="zh-CN" altLang="en-US" sz="2000" b="1" dirty="0">
                <a:latin typeface="Microsoft YaHei"/>
                <a:ea typeface="Microsoft YaHei"/>
              </a:rPr>
              <a:t>在 </a:t>
            </a:r>
            <a:r>
              <a:rPr lang="en-US" altLang="zh-CN" sz="2000" b="1" dirty="0">
                <a:latin typeface="Microsoft YaHei"/>
                <a:ea typeface="Microsoft YaHei"/>
              </a:rPr>
              <a:t>256 </a:t>
            </a:r>
            <a:r>
              <a:rPr lang="zh-CN" altLang="en-US" sz="2000" b="1" dirty="0">
                <a:latin typeface="Microsoft YaHei"/>
                <a:ea typeface="Microsoft YaHei"/>
              </a:rPr>
              <a:t>附近达到有效拐点</a:t>
            </a:r>
          </a:p>
        </p:txBody>
      </p:sp>
    </p:spTree>
    <p:extLst>
      <p:ext uri="{BB962C8B-B14F-4D97-AF65-F5344CB8AC3E}">
        <p14:creationId xmlns:p14="http://schemas.microsoft.com/office/powerpoint/2010/main" val="16964321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B9989F-1FAF-4725-B584-E2C812324FC8}"/>
              </a:ext>
            </a:extLst>
          </p:cNvPr>
          <p:cNvSpPr>
            <a:spLocks noGrp="1"/>
          </p:cNvSpPr>
          <p:nvPr/>
        </p:nvSpPr>
        <p:spPr>
          <a:xfrm>
            <a:off x="1088136" y="721483"/>
            <a:ext cx="987552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80">
                <a:solidFill>
                  <a:srgbClr val="5C6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L2 hit=0%；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区分请求变大与地址共享的两类收益</a:t>
            </a:r>
            <a:endParaRPr sz="1200" b="0" i="0" dirty="0">
              <a:solidFill>
                <a:schemeClr val="tx1">
                  <a:lumMod val="95000"/>
                  <a:lumOff val="5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Connector 4">
            <a:extLst>
              <a:ext uri="{FF2B5EF4-FFF2-40B4-BE49-F238E27FC236}">
                <a16:creationId xmlns:a16="http://schemas.microsoft.com/office/drawing/2014/main" id="{9D899323-E223-4C4D-BB2C-B2B2632EB791}"/>
              </a:ext>
            </a:extLst>
          </p:cNvPr>
          <p:cNvSpPr>
            <a:spLocks noGrp="1"/>
          </p:cNvSpPr>
          <p:nvPr/>
        </p:nvSpPr>
        <p:spPr>
          <a:xfrm>
            <a:off x="576072" y="1005840"/>
            <a:ext cx="11036808" cy="0"/>
          </a:xfrm>
          <a:prstGeom prst="line">
            <a:avLst/>
          </a:prstGeom>
          <a:ln w="12700">
            <a:solidFill>
              <a:srgbClr val="1F4A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pic>
        <p:nvPicPr>
          <p:cNvPr id="21" name="图片 4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0550" y="1343921"/>
            <a:ext cx="5353050" cy="3274807"/>
          </a:xfrm>
          <a:prstGeom prst="rect">
            <a:avLst/>
          </a:prstGeom>
        </p:spPr>
      </p:pic>
      <p:pic>
        <p:nvPicPr>
          <p:cNvPr id="22" name="图片 4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191250" y="1332267"/>
            <a:ext cx="5391150" cy="3298115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B238E2AB-5752-449D-9231-3C7EB9BD435A}"/>
              </a:ext>
            </a:extLst>
          </p:cNvPr>
          <p:cNvSpPr>
            <a:spLocks noGrp="1"/>
          </p:cNvSpPr>
          <p:nvPr/>
        </p:nvSpPr>
        <p:spPr>
          <a:xfrm>
            <a:off x="3120150" y="4778088"/>
            <a:ext cx="60970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/>
              <a:t>Burst 扫描：</a:t>
            </a:r>
            <a:r>
              <a:t> 増大请求能够摊薄协议开销并消除 HBM Line 放大，而合并与多播进一步带来独立收益，使 Shared 在 512 B 下达到 890.04 B/cycle。</a:t>
            </a: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06F76BDC-4E9F-4216-B4AB-66B7A16BC0AE}"/>
              </a:ext>
            </a:extLst>
          </p:cNvPr>
          <p:cNvSpPr>
            <a:spLocks noGrp="1"/>
          </p:cNvSpPr>
          <p:nvPr/>
        </p:nvSpPr>
        <p:spPr>
          <a:xfrm>
            <a:off x="590550" y="347720"/>
            <a:ext cx="81381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zh-CN" altLang="en-US" sz="2000" b="1" dirty="0">
                <a:latin typeface="Microsoft YaHei"/>
                <a:ea typeface="Microsoft YaHei"/>
              </a:rPr>
              <a:t>增大 </a:t>
            </a:r>
            <a:r>
              <a:rPr lang="en-US" altLang="zh-CN" sz="2000" b="1" dirty="0">
                <a:latin typeface="Microsoft YaHei"/>
                <a:ea typeface="Microsoft YaHei"/>
              </a:rPr>
              <a:t>Burst </a:t>
            </a:r>
            <a:r>
              <a:rPr lang="zh-CN" altLang="en-US" sz="2000" b="1" dirty="0">
                <a:latin typeface="Microsoft YaHei"/>
                <a:ea typeface="Microsoft YaHei"/>
              </a:rPr>
              <a:t>同时带来协议摊薄和 </a:t>
            </a:r>
            <a:r>
              <a:rPr lang="en-US" altLang="zh-CN" sz="2000" b="1" dirty="0">
                <a:latin typeface="Microsoft YaHei"/>
                <a:ea typeface="Microsoft YaHei"/>
              </a:rPr>
              <a:t>Line </a:t>
            </a:r>
            <a:r>
              <a:rPr lang="zh-CN" altLang="en-US" sz="2000" b="1" dirty="0">
                <a:latin typeface="Microsoft YaHei"/>
                <a:ea typeface="Microsoft YaHei"/>
              </a:rPr>
              <a:t>放大收敛</a:t>
            </a:r>
          </a:p>
        </p:txBody>
      </p:sp>
    </p:spTree>
    <p:extLst>
      <p:ext uri="{BB962C8B-B14F-4D97-AF65-F5344CB8AC3E}">
        <p14:creationId xmlns:p14="http://schemas.microsoft.com/office/powerpoint/2010/main" val="16964321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57DAA4-A316-40FF-A207-0C7784C0ABD8}"/>
              </a:ext>
            </a:extLst>
          </p:cNvPr>
          <p:cNvSpPr>
            <a:spLocks noGrp="1"/>
          </p:cNvSpPr>
          <p:nvPr/>
        </p:nvSpPr>
        <p:spPr>
          <a:xfrm>
            <a:off x="566928" y="256032"/>
            <a:ext cx="53035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700" b="1">
                <a:solidFill>
                  <a:srgbClr val="2A70AD"/>
                </a:solidFill>
                <a:latin typeface="Arial"/>
                <a:ea typeface="Arial"/>
                <a:cs typeface="Arial"/>
              </a:defRPr>
            </a:pPr>
            <a:r>
              <a:rPr sz="1700" b="1" i="0">
                <a:solidFill>
                  <a:srgbClr val="2A70AD"/>
                </a:solidFill>
                <a:latin typeface="Arial"/>
                <a:ea typeface="Arial"/>
                <a:cs typeface="Arial"/>
              </a:rPr>
              <a:t>08D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BAD5DD-152D-4F36-9218-327ED9784387}"/>
              </a:ext>
            </a:extLst>
          </p:cNvPr>
          <p:cNvSpPr>
            <a:spLocks noGrp="1"/>
          </p:cNvSpPr>
          <p:nvPr/>
        </p:nvSpPr>
        <p:spPr>
          <a:xfrm>
            <a:off x="1078992" y="294167"/>
            <a:ext cx="81381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zh-CN" altLang="en-US" sz="2000" b="1" dirty="0">
                <a:latin typeface="Microsoft YaHei"/>
                <a:ea typeface="Microsoft YaHei"/>
              </a:rPr>
              <a:t>增大 </a:t>
            </a:r>
            <a:r>
              <a:rPr lang="en-US" altLang="zh-CN" sz="2000" b="1" dirty="0">
                <a:latin typeface="Microsoft YaHei"/>
                <a:ea typeface="Microsoft YaHei"/>
              </a:rPr>
              <a:t>Burst </a:t>
            </a:r>
            <a:r>
              <a:rPr lang="zh-CN" altLang="en-US" sz="2000" b="1" dirty="0">
                <a:latin typeface="Microsoft YaHei"/>
                <a:ea typeface="Microsoft YaHei"/>
              </a:rPr>
              <a:t>同时带来协议摊薄和 </a:t>
            </a:r>
            <a:r>
              <a:rPr lang="en-US" altLang="zh-CN" sz="2000" b="1" dirty="0">
                <a:latin typeface="Microsoft YaHei"/>
                <a:ea typeface="Microsoft YaHei"/>
              </a:rPr>
              <a:t>Line </a:t>
            </a:r>
            <a:r>
              <a:rPr lang="zh-CN" altLang="en-US" sz="2000" b="1" dirty="0">
                <a:latin typeface="Microsoft YaHei"/>
                <a:ea typeface="Microsoft YaHei"/>
              </a:rPr>
              <a:t>放大收敛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B9989F-1FAF-4725-B584-E2C812324FC8}"/>
              </a:ext>
            </a:extLst>
          </p:cNvPr>
          <p:cNvSpPr>
            <a:spLocks noGrp="1"/>
          </p:cNvSpPr>
          <p:nvPr/>
        </p:nvSpPr>
        <p:spPr>
          <a:xfrm>
            <a:off x="1088136" y="721483"/>
            <a:ext cx="987552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80">
                <a:solidFill>
                  <a:srgbClr val="5C64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REQ/DAT </a:t>
            </a:r>
            <a:r>
              <a:rPr sz="1200" b="0" i="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icrosoft YaHei"/>
                <a:ea typeface="Microsoft YaHei"/>
                <a:cs typeface="Microsoft YaHei"/>
              </a:rPr>
              <a:t>包数揭示有效流量与物理流量的差异</a:t>
            </a:r>
            <a:endParaRPr sz="1200" b="0" i="0" dirty="0">
              <a:solidFill>
                <a:schemeClr val="tx1">
                  <a:lumMod val="95000"/>
                  <a:lumOff val="5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Connector 4">
            <a:extLst>
              <a:ext uri="{FF2B5EF4-FFF2-40B4-BE49-F238E27FC236}">
                <a16:creationId xmlns:a16="http://schemas.microsoft.com/office/drawing/2014/main" id="{9D899323-E223-4C4D-BB2C-B2B2632EB791}"/>
              </a:ext>
            </a:extLst>
          </p:cNvPr>
          <p:cNvSpPr>
            <a:spLocks noGrp="1"/>
          </p:cNvSpPr>
          <p:nvPr/>
        </p:nvSpPr>
        <p:spPr>
          <a:xfrm>
            <a:off x="576072" y="1005840"/>
            <a:ext cx="11036808" cy="0"/>
          </a:xfrm>
          <a:prstGeom prst="line">
            <a:avLst/>
          </a:prstGeom>
          <a:ln w="12700">
            <a:solidFill>
              <a:srgbClr val="1F4A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pic>
        <p:nvPicPr>
          <p:cNvPr id="17" name="图片 4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63167" y="1200150"/>
            <a:ext cx="6560466" cy="49911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50520291-853B-48E3-9D46-7C2331BBD0F6}"/>
              </a:ext>
            </a:extLst>
          </p:cNvPr>
          <p:cNvSpPr>
            <a:spLocks noGrp="1"/>
          </p:cNvSpPr>
          <p:nvPr/>
        </p:nvSpPr>
        <p:spPr>
          <a:xfrm>
            <a:off x="7865123" y="3041249"/>
            <a:ext cx="417731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/>
              <a:t>包流量分析：</a:t>
            </a:r>
            <a:r>
              <a:t> 大 Burst 主要减少 REQ 包，Scatter 与 Shared 进一步减少 DAT 包，其中 Shared 通过四路多播实现了 4 倍逻辑吞吐放大。</a:t>
            </a:r>
          </a:p>
        </p:txBody>
      </p:sp>
    </p:spTree>
    <p:extLst>
      <p:ext uri="{BB962C8B-B14F-4D97-AF65-F5344CB8AC3E}">
        <p14:creationId xmlns:p14="http://schemas.microsoft.com/office/powerpoint/2010/main" val="1696432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529</TotalTime>
  <Words>3482</Words>
  <Application>Microsoft Office PowerPoint</Application>
  <DocSecurity>0</DocSecurity>
  <PresentationFormat>宽屏</PresentationFormat>
  <Paragraphs>419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0" baseType="lpstr">
      <vt:lpstr>Microsoft YaHei</vt:lpstr>
      <vt:lpstr>Microsoft YaHei</vt:lpstr>
      <vt:lpstr>Arial</vt:lpstr>
      <vt:lpstr>Calibri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江 文能</cp:lastModifiedBy>
  <cp:revision>32</cp:revision>
  <dcterms:created xsi:type="dcterms:W3CDTF">2026-08-24T14:44:04Z</dcterms:created>
  <dcterms:modified xsi:type="dcterms:W3CDTF">2026-08-25T12:34:26Z</dcterms:modified>
</cp:coreProperties>
</file>