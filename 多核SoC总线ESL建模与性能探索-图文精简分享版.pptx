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visual20260917/slides/charts/chart1.xml" ContentType="application/vnd.openxmlformats-officedocument.drawingml.chart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Visual1"/>
    <p:sldId id="257" r:id="rIdVisual2"/>
    <p:sldId id="258" r:id="rIdVisual3"/>
    <p:sldId id="259" r:id="rIdVisual4"/>
    <p:sldId id="260" r:id="rIdVisual5"/>
    <p:sldId id="261" r:id="rIdVisual6"/>
    <p:sldId id="262" r:id="rIdVisual7"/>
    <p:sldId id="263" r:id="rIdVisual8"/>
    <p:sldId id="264" r:id="rIdVisual9"/>
    <p:sldId id="265" r:id="rIdVisual10"/>
    <p:sldId id="266" r:id="rIdVisual11"/>
    <p:sldId id="267" r:id="rIdVisual12"/>
    <p:sldId id="268" r:id="rIdVisual13"/>
    <p:sldId id="269" r:id="rIdVisual14"/>
    <p:sldId id="270" r:id="rIdVisual15"/>
    <p:sldId id="271" r:id="rIdVisual16"/>
    <p:sldId id="272" r:id="rIdVisual17"/>
    <p:sldId id="273" r:id="rIdVisual18"/>
    <p:sldId id="274" r:id="rIdVisual19"/>
    <p:sldId id="275" r:id="rIdVisual20"/>
    <p:sldId id="276" r:id="rIdVisual21"/>
    <p:sldId id="277" r:id="rIdVisual22"/>
    <p:sldId id="278" r:id="rIdVisual23"/>
    <p:sldId id="279" r:id="rIdVisual24"/>
    <p:sldId id="280" r:id="rIdVisual25"/>
    <p:sldId id="281" r:id="rIdVisual26"/>
  </p:sldIdLst>
  <p:sldSz cx="12192000" cy="6858000"/>
  <p:notesSz cx="6858000" cy="9144000"/>
  <p:custShowLst>
    <p:custShow name="30分钟重点路线" id="0">
      <p:sldLst>
        <p:sld r:id="rIdVisual1"/>
        <p:sld r:id="rIdVisual3"/>
        <p:sld r:id="rIdVisual4"/>
        <p:sld r:id="rIdVisual5"/>
        <p:sld r:id="rIdVisual6"/>
        <p:sld r:id="rIdVisual9"/>
        <p:sld r:id="rIdVisual11"/>
        <p:sld r:id="rIdVisual13"/>
        <p:sld r:id="rIdVisual15"/>
        <p:sld r:id="rIdVisual16"/>
        <p:sld r:id="rIdVisual17"/>
        <p:sld r:id="rIdVisual18"/>
        <p:sld r:id="rIdVisual20"/>
        <p:sld r:id="rIdVisual21"/>
        <p:sld r:id="rIdVisual22"/>
        <p:sld r:id="rIdVisual24"/>
      </p:sldLst>
    </p:custShow>
    <p:custShow name="45分钟主讲路线" id="1">
      <p:sldLst>
        <p:sld r:id="rIdVisual1"/>
        <p:sld r:id="rIdVisual2"/>
        <p:sld r:id="rIdVisual3"/>
        <p:sld r:id="rIdVisual4"/>
        <p:sld r:id="rIdVisual5"/>
        <p:sld r:id="rIdVisual6"/>
        <p:sld r:id="rIdVisual7"/>
        <p:sld r:id="rIdVisual8"/>
        <p:sld r:id="rIdVisual9"/>
        <p:sld r:id="rIdVisual10"/>
        <p:sld r:id="rIdVisual11"/>
        <p:sld r:id="rIdVisual12"/>
        <p:sld r:id="rIdVisual13"/>
        <p:sld r:id="rIdVisual14"/>
        <p:sld r:id="rIdVisual15"/>
        <p:sld r:id="rIdVisual16"/>
        <p:sld r:id="rIdVisual17"/>
        <p:sld r:id="rIdVisual18"/>
        <p:sld r:id="rIdVisual19"/>
        <p:sld r:id="rIdVisual20"/>
        <p:sld r:id="rIdVisual21"/>
        <p:sld r:id="rIdVisual22"/>
        <p:sld r:id="rIdVisual23"/>
        <p:sld r:id="rIdVisual24"/>
      </p:sldLst>
    </p:custShow>
    <p:custShow name="60分钟含技术讨论" id="2">
      <p:sldLst>
        <p:sld r:id="rIdVisual1"/>
        <p:sld r:id="rIdVisual2"/>
        <p:sld r:id="rIdVisual3"/>
        <p:sld r:id="rIdVisual4"/>
        <p:sld r:id="rIdVisual5"/>
        <p:sld r:id="rIdVisual6"/>
        <p:sld r:id="rIdVisual7"/>
        <p:sld r:id="rIdVisual8"/>
        <p:sld r:id="rIdVisual9"/>
        <p:sld r:id="rIdVisual10"/>
        <p:sld r:id="rIdVisual11"/>
        <p:sld r:id="rIdVisual12"/>
        <p:sld r:id="rIdVisual13"/>
        <p:sld r:id="rIdVisual14"/>
        <p:sld r:id="rIdVisual15"/>
        <p:sld r:id="rIdVisual16"/>
        <p:sld r:id="rIdVisual17"/>
        <p:sld r:id="rIdVisual18"/>
        <p:sld r:id="rIdVisual19"/>
        <p:sld r:id="rIdVisual20"/>
        <p:sld r:id="rIdVisual21"/>
        <p:sld r:id="rIdVisual22"/>
        <p:sld r:id="rIdVisual23"/>
        <p:sld r:id="rIdVisual25"/>
        <p:sld r:id="rIdVisual26"/>
        <p:sld r:id="rIdVisual24"/>
      </p:sldLst>
    </p:custShow>
  </p:custShow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6A25"/>
    <a:srgbClr val="FFF3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273" autoAdjust="0"/>
  </p:normalViewPr>
  <p:slideViewPr>
    <p:cSldViewPr snapToGrid="0" snapToObjects="1">
      <p:cViewPr varScale="1">
        <p:scale>
          <a:sx n="79" d="100"/>
          <a:sy n="79" d="100"/>
        </p:scale>
        <p:origin x="105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3" Type="http://schemas.openxmlformats.org/officeDocument/2006/relationships/tableStyles" Target="tableStyles.xml"/><Relationship Id="rId19" Type="http://schemas.openxmlformats.org/officeDocument/2006/relationships/notesMaster" Target="notesMasters/notesMaster1.xml"/><Relationship Id="rId22" Type="http://schemas.openxmlformats.org/officeDocument/2006/relationships/theme" Target="theme/theme1.xml"/><Relationship Id="rIdVisual1" Type="http://schemas.openxmlformats.org/officeDocument/2006/relationships/slide" Target="slides/slide1.xml"/><Relationship Id="rIdVisual2" Type="http://schemas.openxmlformats.org/officeDocument/2006/relationships/slide" Target="slides/slide2.xml"/><Relationship Id="rIdVisual3" Type="http://schemas.openxmlformats.org/officeDocument/2006/relationships/slide" Target="slides/slide3.xml"/><Relationship Id="rIdVisual4" Type="http://schemas.openxmlformats.org/officeDocument/2006/relationships/slide" Target="slides/slide4.xml"/><Relationship Id="rIdVisual5" Type="http://schemas.openxmlformats.org/officeDocument/2006/relationships/slide" Target="slides/slide5.xml"/><Relationship Id="rIdVisual6" Type="http://schemas.openxmlformats.org/officeDocument/2006/relationships/slide" Target="slides/slide6.xml"/><Relationship Id="rIdVisual7" Type="http://schemas.openxmlformats.org/officeDocument/2006/relationships/slide" Target="slides/slide7.xml"/><Relationship Id="rIdVisual8" Type="http://schemas.openxmlformats.org/officeDocument/2006/relationships/slide" Target="slides/slide8.xml"/><Relationship Id="rIdVisual9" Type="http://schemas.openxmlformats.org/officeDocument/2006/relationships/slide" Target="slides/slide9.xml"/><Relationship Id="rIdVisual10" Type="http://schemas.openxmlformats.org/officeDocument/2006/relationships/slide" Target="slides/slide10.xml"/><Relationship Id="rIdVisual11" Type="http://schemas.openxmlformats.org/officeDocument/2006/relationships/slide" Target="slides/slide11.xml"/><Relationship Id="rIdVisual12" Type="http://schemas.openxmlformats.org/officeDocument/2006/relationships/slide" Target="slides/slide12.xml"/><Relationship Id="rIdVisual13" Type="http://schemas.openxmlformats.org/officeDocument/2006/relationships/slide" Target="slides/slide13.xml"/><Relationship Id="rIdVisual14" Type="http://schemas.openxmlformats.org/officeDocument/2006/relationships/slide" Target="slides/slide14.xml"/><Relationship Id="rIdVisual15" Type="http://schemas.openxmlformats.org/officeDocument/2006/relationships/slide" Target="slides/slide15.xml"/><Relationship Id="rIdVisual16" Type="http://schemas.openxmlformats.org/officeDocument/2006/relationships/slide" Target="slides/slide16.xml"/><Relationship Id="rIdVisual17" Type="http://schemas.openxmlformats.org/officeDocument/2006/relationships/slide" Target="slides/slide17.xml"/><Relationship Id="rIdVisual18" Type="http://schemas.openxmlformats.org/officeDocument/2006/relationships/slide" Target="slides/slide18.xml"/><Relationship Id="rIdVisual19" Type="http://schemas.openxmlformats.org/officeDocument/2006/relationships/slide" Target="slides/slide19.xml"/><Relationship Id="rIdVisual20" Type="http://schemas.openxmlformats.org/officeDocument/2006/relationships/slide" Target="slides/slide20.xml"/><Relationship Id="rIdVisual21" Type="http://schemas.openxmlformats.org/officeDocument/2006/relationships/slide" Target="slides/slide21.xml"/><Relationship Id="rIdVisual22" Type="http://schemas.openxmlformats.org/officeDocument/2006/relationships/slide" Target="slides/slide22.xml"/><Relationship Id="rIdVisual23" Type="http://schemas.openxmlformats.org/officeDocument/2006/relationships/slide" Target="slides/slide23.xml"/><Relationship Id="rIdVisual24" Type="http://schemas.openxmlformats.org/officeDocument/2006/relationships/slide" Target="slides/slide24.xml"/><Relationship Id="rIdVisual25" Type="http://schemas.openxmlformats.org/officeDocument/2006/relationships/slide" Target="slides/slide25.xml"/><Relationship Id="rIdVisual26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1】多核SoC总线ESL建模与性能探索实践</a:t>
            </a:r>
          </a:p>
          <a:p xmlns:a="http://schemas.openxmlformats.org/drawingml/2006/main">
            <a:r>
              <a:t>建议用时：0.75分钟。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今天想结合这三个月的实习工作，分享多核总线性能模型的搭建过程。重点不是逐个介绍模块，而是讲清楚为什么需要这套环境、建模时如何做取舍，以及实验结果怎样帮助我们提出更具体的架构问题。ESL在这里指电子系统级建模，SoC指片上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放映路线：默认主讲第1至29页，约45分钟，讨论另留10分钟。30分钟场次可选择同名自定义放映，压缩机制细节和排查案例。60分钟场次可按听众问题选讲第30至33页附录，不必逐页念完。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2】本次分享的内容</a:t>
            </a:r>
          </a:p>
          <a:p xmlns:a="http://schemas.openxmlformats.org/drawingml/2006/main">
            <a:r>
              <a:t>建议用时：0.75分钟。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分享分成四部分。第一部分先明确问题和边界。第二部分选几个我认为最值得讨论的建模细节，而不展开所有接口。第三部分结合已有实验说明参数选择为什么必须带着条件。最后讨论这套平台如何与SoC ESL校准，以及下一步为什么适合把课题收敛到同地址冲突。听众可以带着自己关心的核侧或存储侧问题来对照。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3】建模背景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选题的出发点，是在早期核仿真中补上一段更接近SoC的总线和存储环境。主管反馈也指出，这正是当前AI核ESL仿真值得补充的一部分。核侧看到的完成时间不只由存储延迟决定，还包括多核竞争、队列等待和返回链路。因此，这个平台希望为MTE以及LD/ST通路的请求组织和资源配置提供可观察的系统环境。这里讲的是能够支持的研究问题，并不表示本阶段已经接入真实核负载或完成架构定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用户提供的主管反馈。MTE采用项目内术语，本文以数据搬运通路说明，不自行扩写未经确认的英文全称。</a:t>
            </a:r>
          </a:p>
          <ns0:p xmlns:ns0="http://schemas.openxmlformats.org/drawingml/2006/main">
            <ns0:r>
              <ns0:t>核与SoC协同讨论：MTE的数据搬运粒度、LD/ST访问顺序、共享数据的责任边界，应放在共同的系统约束中评估。L1.5等共享层议题先对齐语义，再比较方案。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4】本阶段工作与模型边界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主要完成了模型实现、测试和统计分析，并整理架构与接口文档。模型使用C++事件驱动框架，以包和环形槽位为主要调度单位。已经表达了事务、队列、仲裁、反压与逐链路带宽占用。缓存命中和存储后端采用参数化近似，完整目录一致性、真实缓存替换、HBM控制器微结构及Atomic语义不属于这次已验证的范围。先明确这些边界，后面才不会把趋势分析误读成硬件绝对性能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5】当前平台的H/V Ring拓扑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先看空间组织。8个请求端分别接入两条垂直环，每条垂直环有4个计算核接入节点和1个桥接节点。共享水平环连接两个桥接端、四个HA端口和四个L2返回缓冲。红色线表示请求发往存储端，蓝色线表示数据返回。RBRG在这里按环间桥接器理解，HA按存储侧事务管理模块理解。图中的HBM由后端模型近似，并非展开完整存储控制器。当前实验是两条垂直环连接一条共享水平环，目标方案的多水平环示意放在附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6】读写事务的端到端路径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读请求沿REQ请求子网发到HA，数据完成后由L2 Buffer组织，沿DAT数据子网返回。写请求和写数据分别传输，内存端口按事务标识配对，后端接收成功后，再经RSP响应子网返回完成状态。一个容易混淆的地方是完成的含义：这里的写响应表示模型约定的后端接收完成，不能直接等同于真实HBM中的持久化完成。把接口语义先说清楚，模块之间才能使用同一个判断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7】交叉节点的仲裁与反压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叉节点可以理解为环上经过流量与本地流量的交汇处。两个方向分别进行仲裁，但目的弹出队列共享，所以要额外决定谁能够进入。这里我最关注的不是画出几个多路选择器，而是所有状态在什么条件下推进。队列有没有空间、仲裁有没有成功、下游是否真正接收，这些条件要一致。否则一个局部的提前出队，就可能破坏整个事务的完成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8】I-tag与E-tag活性保护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队列已满，B6虽然到了目的节点，却暂时不能弹出。让它继续绕行可以避免停在节点上阻塞环路，但还要防止它下一轮返回时继续拿不到空间，因此需要E-tag保护弹出容量。与此同时，本地A1拿不到新的环形槽位，需要I-tag保护注入机会。右图表示空间释放后的恢复过程。两个标记保护的资源不同，不能相互替代，也不能只用一个等待计数来解释。这个例子带来的经验是，活性机制应该绑定具体资源及释放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9】包级时序的取舍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是降低模型复杂度的一处关键取舍。网络可以逐流控单元，也就是flit，展开传输状态，但本阶段采用包级近似。包在一个环段的首跳计算一次序列化，后续跳只累加传播延迟。与此同时，每条实际经过的链路仍占用S个周期，因此多跳到达更早，不意味着后面的包可以无代价进入。512字节包经过128字节每周期的两跳链路，在每跳1周期且没有排队的条件下，第二跳接收点延迟为5周期。换环、端点处理和排队等待另算。这个模型适合保留架构参数的主要影响，但还需要通过SoC ESL检验近似误差。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10】存储侧建模职责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这页区分目标硬件层次与当前模型的职责。HA维护读取事务及等待请求，并处理同地址写冲突。L2 Buffer暂存完成数据，组织返回方式和返回时延。TmMem提供功能数据访问以及带宽、延迟、队列和在途额度约束。这里的credit是允许同时在后端处理的请求额度。它和普通队列空间有关联，但统计时需要分开。这种拆分方便调整性能参数，同时保持事务语义明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11】HA与L2的两级聚合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层聚合发生在HA。如果已有兼容的同缓存行或同扇区读取事务，后续请求加入它的等待列表，共享完成数据，而不是重复发起后端读取。第二层聚合发生在返回路径。L2先按目标垂直环分组，每个目标环组织一份水平环数据包。进入垂直环后，单接收端采用单播，相同范围的多个接收端采用多播，不同扇区或偏移采用分段返回。要注意，两级聚合节省的是不同资源，读取合并率不能直接当成网络带宽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建议用时：1.5分钟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用两个状态推进过程说明接口语义。跨环转发时，来源包只有在目标真正接收成功之后才能出队。如果容量或带宽不满足，包和队首都保持原状。多播返回时，部分接收端取走数据不代表整笔物理传输已经结束，还需要保留剩余接收者使用的资源。这里最重要的经验，是把推进条件与状态归属写清楚，避免重试导致重复提交或资源提前释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原第12页讲解补充</a:t>
            </a:r>
          </a:p>
          <a:p xmlns:a="http://schemas.openxmlformats.org/drawingml/2006/main">
            <a:r>
              <a:t>[object Object]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13】实验设计与比较条件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验设计要先明确这个扫描到底想回答什么。本阶段保存了三组扫描数据。命中率组主要看后端访问减少后的性能变化。并发度组主要看多少请求才能把系统充分利用起来，以及继续增加并发的代价。请求大小组看读取放大和共享收益。三组实验的固定条件不完全相同，因此不能随意挑两组相同名字的点来归因比较。命中率在当前模型中是输入参数，并不等同于某个真实缓存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aicore/code/logs/l2_sweep_entries256_plots/l2_sweep_summary.csv</a:t>
            </a:r>
          </a:p>
          <a:p xmlns:a="http://schemas.openxmlformats.org/drawingml/2006/main">
            <a:r>
              <a:t>aicore/code/logs/outstanding_sweep_2026-08-18/outstanding_sweep_summary.csv</a:t>
            </a:r>
          </a:p>
          <a:p xmlns:a="http://schemas.openxmlformats.org/drawingml/2006/main">
            <a:r>
              <a:t>aicore/code/logs/burst_sweep_l2miss_scatter_2026-08-19/burst_sweep_summary.csv</a:t>
            </a:r>
          </a:p>
          <a:p xmlns:a="http://schemas.openxmlformats.org/drawingml/2006/main">
            <a:r>
              <a:t>历史CSV共有20+6+11=37个点，均记录PASS。此状态为历史运行记录，不代表本次重新执行C++仿真。HA表深度和L2时延在部分CSV缺失，未用当前默认值补写。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【备用页 32】地址模式生成规则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解释实验的地址生成。缓存行512字节，B表示请求字节数。NoMerge每笔访问新缓存行。Private每个请求端拥有独立连续窗口。Scatter按扇区偏移分配同一行的不同范围。Shared让多个请求端访问同一范围。Scatter在B为512字节时没有可拆分的范围，因此现有数据没有512字节Scatter点，不能人为补出一条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aicore/code/logs/burst_sweep_l2miss_scatter_2026-08-19/burst_sweep_summary.csv</a:t>
            </a:r>
          </a:p>
          <ns0:p xmlns:ns0="http://schemas.openxmlformats.org/drawingml/2006/main">
            <ns0:r>
              <ns0:t>地址生成细节：m为请求端编号，k为请求序号。NoMerge使用独立基址加512k。Private按请求字节数B推进。Scatter在缓存行内按(m mod (512/B))×B选择偏移。Shared的各端共同使用同一地址范围。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用一个示例区分逻辑完成量和物理流量。假设四个核需要同一份512字节数据，HA的兼容读请求共享一次后端读取，L2向同一个目标垂直环注入一份数据。在接收端，每个核都完成512字节，所以有效完成量是2048字节。相同统计窗口下，有效带宽可以高于该边界的物理数据带宽。这是复用收益，不是链路变宽。图中512与2048是解释口径的算例，不是新增测试点。真实多目标环场景需要分别统计各环的数据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原第15页讲解补充</a:t>
            </a:r>
          </a:p>
          <a:p xmlns:a="http://schemas.openxmlformats.org/drawingml/2006/main">
            <a:r>
              <a:t>[object Object]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16】命中率扫描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左图。NoMerge在零命中时约307字节每周期，随着配置命中率增加，吞吐提升到约500。50%以后，继续提高命中率带来的增益已经比较有限。右图说明后端读取确实在全命中时降到了零，但部分中间区间并不单调，因为带宽同时受物理读取量和总完成时间影响。这里得到的是一个排查方向：后端压力下降以后，还应该检查L2输出和返回链路。仅凭这张图，还不能说某条具体链路已经被证明是唯一瓶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aicore/code/logs/l2_sweep_entries256_plots/l2_sweep_summary.csv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17】并发度与尾延迟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组结果可以直接说明参数为什么不能越大越好。从128增加到256，并发填充了原先没有充分利用的服务能力，有效带宽从391.75提高到488.88。继续增加到512，吞吐反而回落约2.1%，P99却从1346增加到3428周期，约为原来的2.55倍。因此256可以作为本组吞吐候选点，却不是全局最优配置。如果目标更关注延迟，还需要比较128与256的代价。后端在途峰值达到181是观察结果，不能直接把181写成后端配置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aicore/code/logs/outstanding_sweep_2026-08-18/outstanding_sweep_summary.csv。P99列为周期。数据源原始值：391.753047/488.875109/478.801826；920/1346/3428。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18】请求大小与数据复用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求大小的影响可以分成两部分。第一部分是读取放大。在缓存行512字节、每次只要128字节而且不能合并时，后端仍读取整行，因此后端字节数是有效字节数的4倍。请求增至256和512字节，这个比例收敛到2倍和1倍。第二部分是共享，Shared在512字节达到较高有效带宽，主要来自多接收端复用。这个结果支持连续数据访问尝试更大粒度，但不能推导出所有访问都应该用大请求。稀疏数据的无效搬运以及大包占用时间，需要另做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aicore/code/logs/burst_sweep_l2miss_scatter_2026-08-19/burst_sweep_summary.csv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19】物理流量与共享收益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补充网络内部发生了什么。请求变大之后，在相同测试任务下，需要传输的请求次数减少。Scatter通过共享读取和分段返回，也降低了DAT累计传输次数。但图中次数是逐链路累计，不能直接说事务减少了多少倍。右侧Shared的算例更直观：有效带宽890.04，L2注入的DAT带宽222.51，比值为4。这个4表示一份物理数据平均服务多个逻辑接收者，和把物理链路拓宽4倍是两件不同的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aicore/code/logs/burst_sweep_l2miss_scatter_2026-08-19/burst_sweep_summary.csv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面的实验可以转成一个参数选择案例。蓝色是有效吞吐，橙色是P99延迟，都以并发256的结果为1。增加到512之后，吞吐没有获得收益，P99却升到了约2.55倍。因此先把128和256列为候选，再依据目标负载的延迟要求决定。这个候选范围只适用于当前配置。对请求大小和命中率也采用相同思路，先找到代价在哪里，再改变对应资源，通过一次单变量试验检查解释是否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原第20页讲解补充</a:t>
            </a:r>
          </a:p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原第21页讲解补充</a:t>
            </a:r>
          </a:p>
          <a:p xmlns:a="http://schemas.openxmlformats.org/drawingml/2006/main">
            <a:r>
              <a:t>[object Object]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主管提出，下一步应当和SoC ESL做适当校准。我的理解是，第一步并不是对着一条曲线调参数，而是先确认相同请求在两个模型中代表相同的工作量。然后用单核、单请求、固定跳数场景核对基础延迟，再逐步引入并发和竞争，比较吞吐拐点以及排队位置。差异集中在哪个边界，就调整那个边界的模型。最后用没有参与参数调整的负载复核，判断校准能否迁移。这项工作目前是计划，没有在这次分享中声称已经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原第23页讲解补充</a:t>
            </a:r>
          </a:p>
          <a:p xmlns:a="http://schemas.openxmlformats.org/drawingml/2006/main">
            <a:r>
              <a:t>[object Object]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搭好之后，下一个课题可以更小、更明确。例如多个核反复访问同一地址，系统到底是在事务表等待，还是在共享队列中阻塞。图中的A表示热点，B表示不相关地址，我们不仅看A自身有多慢，也看B是否被牵连。现有模型已有兼容读合并和写冲突保护，可以先量化这部分。Atomic需要补充不可分割性、返回值和顺序等约束，不能把普通读合并当作原子操作实现。实验保持总工作量和其他资源相同，逐步改变热点比例和地址数量，再测总吞吐、各核完成率、P99和等待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原第24页讲解补充</a:t>
            </a:r>
          </a:p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原第25页讲解补充</a:t>
            </a:r>
          </a:p>
          <a:p xmlns:a="http://schemas.openxmlformats.org/drawingml/2006/main">
            <a:r>
              <a:t>[object Object]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痛点量化以后，措施可能落在不同位置。如果大量等价更新在进入互连之前就能合并，可以研究核侧预聚合。如果主要问题是共享队列被热点占住，就研究调度或隔离。如果是不同地址集中到某些服务资源，则研究局部性与映射。这里保留主管建议的竞品对照方法，但只借鉴公开机制，不拿别人的产品峰值代替当前模型的实验结论。NVIDIA线程束内聚合是软件与编译层面的机制参考，不能直接称为本模型已有硬件能力。寒武纪公开的计算簇和共享存储层次也只提供组织参考。每个候选都要给出适用负载、语义条件以及收益和代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原第26页讲解补充</a:t>
            </a:r>
          </a:p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原第27页讲解补充</a:t>
            </a:r>
          </a:p>
          <a:p xmlns:a="http://schemas.openxmlformats.org/drawingml/2006/main">
            <a:r>
              <a:t>[object Object]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做一个简短总结。在这三个月中，我围绕已有框架完成了总线和存储路径模型、相关测试和性能统计，也整理了架构、接口与参数说明。对我来说最大的收获，是逐步把能运行的模型变成能够解释现象的分析工具。之后希望结合SoC ESL校准，围绕一个真实痛点做更深入的量化探索。接下来也想请大家讨论，哪个负载最值得作为下一组共同基准，核侧和SoC侧的哪些语义需要优先对齐。感谢嘉南哥、晨哥、昊哥在实习期间的指导与帮助。</a:t>
            </a:r>
          </a:p>
          <a:p xmlns:a="http://schemas.openxmlformats.org/drawingml/2006/main">
            <a:r>
              <a:t>可在此预留8至15分钟讨论。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原第28页讲解补充</a:t>
            </a:r>
          </a:p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原第29页讲解补充</a:t>
            </a:r>
          </a:p>
          <a:p xmlns:a="http://schemas.openxmlformats.org/drawingml/2006/main">
            <a:r>
              <a:t>[object Object]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【备用页 30】RBRG方向队列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问题选讲。RBRG表示本设计的环间桥接模块，不自行扩写英文全称。四条路径分别承担垂直到水平的请求与写数据，以及水平到垂直的完成响应与读数据。路径进一步按方向配置队列和串行化资源。目标队列能接收且串行化资源可用时才换环，成功后推进来源队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【备用页 31】目标架构与模型边界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图保留目标架构层次，但不将图中的目录侦听和完整缓存行为表述为本阶段已实现。当前模型使用一条共享水平环，配置命中率和抽象后端。未来扩展更多水平环、目录或缓存微结构，需要根据课题重新定义资源及验证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83A53-C2D1-4C83-B3EE-F6C2B706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21B26-2970-45B4-BBB4-CE3CC6B1A8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ED526-C63C-45A9-AAD8-4C1C3A8A2F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44155-D3E6-444C-8DBF-05DD12BDF3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58AAE-B987-4239-8BA9-A682319B19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43AE2-E4C9-4E60-9C43-6C69D0680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C1563-8708-4A47-A2D7-5E054FEAE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7E54B-0E50-4ABF-BBB1-4CF0FCC4438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B8D54-C914-4B58-B5CC-8A01B12603C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89ECB-5D01-4567-BCAC-6FEB43133E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C559-7D10-417A-BC71-CF3CAADFE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22528-C1BE-406E-B016-DD4737AE8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4BDFE-7F0F-46B5-87A6-AA8735CF3E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1E905-6D29-4871-AA5C-BF92E1EFD3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FCC67-0F40-4F35-B1D3-BA4F4E8E5F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31054-D183-4239-B2A1-2DDEEA75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34125-69D4-462F-8DB0-4480F880E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DEBC5-82B1-47D3-8B76-BEB1418265A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074AB-F580-4510-B2A1-FBC5A11B700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1B943-FA7E-4889-94A8-62D548E1B4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FADB2-83AA-4103-976E-7C4F2D94D2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7EAEB-E0BD-4791-BB54-EBC110937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A7A10-7FBF-461E-A515-396E27657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EB73A-13A3-4D93-8936-94A90946E96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64335D-79AC-4FAD-A2F2-9F680F61A18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853425-F87C-420C-BDAB-3D68BB2A8FA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C155D7-4CA3-4EAA-8207-0B2ADFDBE71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8D8D7-86D9-4631-965B-3AF0CB5FD8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44A4D0-E648-46C6-89C1-6B98A02465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312AF-7418-4064-AC5E-5D932B119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6EC5DD-7E3C-4243-9D88-26BF900275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7E4189-CC5C-4B7C-85F6-ECC0DE9691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62D5D-E49C-4234-9BB5-BFB722A37E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00DAAB-BE2A-411D-9688-46534F1B983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C8FD6-572E-4799-8BB0-84D086AD84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3F140-8884-4B9B-816D-70F55EC7DA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F1FC4-97DA-4690-9AF3-0443EFF7D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CB60D-FF95-436E-86AB-AD1012EB0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3C92D-2D5D-4307-9472-2570A08315F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06AFE-1BC7-485A-ADCA-386D676256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D12A7-FD34-45DD-867F-9942ABC074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5BF9D-EE19-4E5D-B743-81139F4F17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0C051-A0FA-483D-A8DA-F7C11F2E7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DD96B2-8D1B-40C8-90C0-35F137421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22104-B987-41F1-9270-6CBF6837193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04C40-2C25-4FE0-A1D6-237BCA645B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66775-5583-41A0-AE63-0CA6ACC5A2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0603-AA7C-4692-9A1B-E614E9C312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53EE-A883-485A-BA0D-996A9E244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19FAD-D28B-475C-9C09-B6BF9D959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0A8A5-8F60-4FC5-B516-8A1F365406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66C02-2A8F-4ED8-B6F7-6851CCA59D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D7E41-FE3D-4B4E-9805-B0FF07B720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CE51D4-17CF-4BAB-A705-EE1A0B27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CE1583-AE15-462C-90D6-5CA588FF8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890B-3AED-4EA2-9953-2095168B74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11568-CEBD-4D25-9A25-18FD6670CBC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73460-46FA-4652-B499-FAA27A6A12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3F6C50-5CE9-40CB-B492-B09A4EC9C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CE8F9-B4C1-4D7B-B240-1B612085B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1A8C0-0769-43BF-B88A-36474BC15B4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62CE1-1201-40AD-BB48-A1F8DA18D0A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E2A22-7B35-417A-8242-6F2E91E3C12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1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217c3433992e480d"/><Relationship Type="http://schemas.openxmlformats.org/officeDocument/2006/relationships/notesSlide" Target="../notesSlides/notesSlide12.xml" Id="R1bbc0b36781249a3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1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3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4c32795f8a854887"/><Relationship Type="http://schemas.openxmlformats.org/officeDocument/2006/relationships/notesSlide" Target="../notesSlides/notesSlide15.xml" Id="Rf269e55f932d4f21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image" Target="/ppt/media/image2.png"/><Relationship Id="rId1" Type="http://schemas.openxmlformats.org/officeDocument/2006/relationships/slideLayout" Target="/ppt/slideLayouts/slideLayout7.xml"/><Relationship Id="rId4" Type="http://schemas.openxmlformats.org/officeDocument/2006/relationships/image" Target="/ppt/media/image3.png"/><Relationship Id="rIdNotes1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Copy17_0_1" Type="http://schemas.openxmlformats.org/officeDocument/2006/relationships/image" Target="/ppt/media/image4.png"/><Relationship Id="rIdNotes1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3" Type="http://schemas.openxmlformats.org/officeDocument/2006/relationships/image" Target="/ppt/media/image6.png"/><Relationship Id="rId1" Type="http://schemas.openxmlformats.org/officeDocument/2006/relationships/slideLayout" Target="/ppt/slideLayouts/slideLayout7.xml"/><Relationship Id="rId4" Type="http://schemas.openxmlformats.org/officeDocument/2006/relationships/image" Target="/ppt/media/image7.png"/><Relationship Id="rIdNotes1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3" Type="http://schemas.openxmlformats.org/officeDocument/2006/relationships/image" Target="/ppt/media/image8.png"/><Relationship Id="rId1" Type="http://schemas.openxmlformats.org/officeDocument/2006/relationships/slideLayout" Target="/ppt/slideLayouts/slideLayout7.xml"/><Relationship Id="rIdNotes19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bb35eed2b3fd4b7e"/><Relationship Type="http://schemas.openxmlformats.org/officeDocument/2006/relationships/chart" Target="/ppt/visual20260917/slides/charts/chart1.xml" Id="R909bec7a63114f13"/><Relationship Type="http://schemas.openxmlformats.org/officeDocument/2006/relationships/notesSlide" Target="../notesSlides/notesSlide20.xml" Id="R7f6cfdab82a74081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f982c07ac55f4f79"/><Relationship Type="http://schemas.openxmlformats.org/officeDocument/2006/relationships/notesSlide" Target="../notesSlides/notesSlide21.xml" Id="Rb8a0551258574237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3386827f4c054194"/><Relationship Type="http://schemas.openxmlformats.org/officeDocument/2006/relationships/notesSlide" Target="../notesSlides/notesSlide22.xml" Id="R38b5a839e90b490c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fecb0003a86d4af2"/><Relationship Type="http://schemas.openxmlformats.org/officeDocument/2006/relationships/notesSlide" Target="../notesSlides/notesSlide23.xml" Id="Rb9ca7fab1be1406f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b4231f5cfe644399"/><Relationship Type="http://schemas.openxmlformats.org/officeDocument/2006/relationships/notesSlide" Target="../notesSlides/notesSlide24.xml" Id="Re6008d1f56f246c2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30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3" Type="http://schemas.openxmlformats.org/officeDocument/2006/relationships/image" Target="/ppt/media/image1.png"/><Relationship Id="rId1" Type="http://schemas.openxmlformats.org/officeDocument/2006/relationships/slideLayout" Target="/ppt/slideLayouts/slideLayout7.xml"/><Relationship Id="rIdNotes31" Type="http://schemas.openxmlformats.org/officeDocument/2006/relationships/notesSlide" Target="../notesSlides/notesSlide2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1">
            <a:extLst xmlns:a="http://schemas.openxmlformats.org/drawingml/2006/main">
              <a:ext uri="{FF2B5EF4-FFF2-40B4-BE49-F238E27FC236}">
                <a16:creationId xmlns:a16="http://schemas.microsoft.com/office/drawing/2014/main" id="{8EF65F2D-2B05-4A54-9038-F24A33FE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33525"/>
            <a:ext cx="109347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多核SoC总线ESL建模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与性能探索实践</a:t>
            </a:r>
          </a:p>
        </p:txBody>
      </p:sp>
      <p:sp>
        <p:nvSpPr>
          <p:cNvPr id="3" name="share-2">
            <a:extLst xmlns:a="http://schemas.openxmlformats.org/drawingml/2006/main">
              <a:ext uri="{FF2B5EF4-FFF2-40B4-BE49-F238E27FC236}">
                <a16:creationId xmlns:a16="http://schemas.microsoft.com/office/drawing/2014/main" id="{CC5543C0-50A9-4778-8221-BD7CB36A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480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近SoC总线与存储环境的搭建、建模取舍及实验分析</a:t>
            </a:r>
          </a:p>
        </p:txBody>
      </p:sp>
      <p:sp>
        <p:nvSpPr>
          <p:cNvPr id="4" name="share-3">
            <a:extLst xmlns:a="http://schemas.openxmlformats.org/drawingml/2006/main">
              <a:ext uri="{FF2B5EF4-FFF2-40B4-BE49-F238E27FC236}">
                <a16:creationId xmlns:a16="http://schemas.microsoft.com/office/drawing/2014/main" id="{5F8C3690-B929-4770-A6D4-52125677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2437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FB9"/>
            </a:solidFill>
          </a:ln>
        </p:spPr>
      </p:sp>
      <p:sp>
        <p:nvSpPr>
          <p:cNvPr id="5" name="share-4">
            <a:extLst xmlns:a="http://schemas.openxmlformats.org/drawingml/2006/main">
              <a:ext uri="{FF2B5EF4-FFF2-40B4-BE49-F238E27FC236}">
                <a16:creationId xmlns:a16="http://schemas.microsoft.com/office/drawing/2014/main" id="{14E8ECA5-8129-4ECC-A5DE-67E6DB00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9720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内部经验交流</a:t>
            </a:r>
          </a:p>
        </p:txBody>
      </p:sp>
      <p:sp>
        <p:nvSpPr>
          <p:cNvPr id="6" name="share-5">
            <a:extLst xmlns:a="http://schemas.openxmlformats.org/drawingml/2006/main">
              <a:ext uri="{FF2B5EF4-FFF2-40B4-BE49-F238E27FC236}">
                <a16:creationId xmlns:a16="http://schemas.microsoft.com/office/drawing/2014/main" id="{4EFE7FEE-4A54-4B82-A742-EE8C0135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495925"/>
            <a:ext cx="1009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基于三个月实习项目的实践与思考</a:t>
            </a:r>
          </a:p>
        </p:txBody>
      </p:sp>
      <p:sp>
        <p:nvSpPr>
          <p:cNvPr id="7" name="share-6">
            <a:extLst xmlns:a="http://schemas.openxmlformats.org/drawingml/2006/main">
              <a:ext uri="{FF2B5EF4-FFF2-40B4-BE49-F238E27FC236}">
                <a16:creationId xmlns:a16="http://schemas.microsoft.com/office/drawing/2014/main" id="{F150B19B-9E08-4566-A20D-8141763C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302342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7">
            <a:extLst xmlns:a="http://schemas.openxmlformats.org/drawingml/2006/main">
              <a:ext uri="{FF2B5EF4-FFF2-40B4-BE49-F238E27FC236}">
                <a16:creationId xmlns:a16="http://schemas.microsoft.com/office/drawing/2014/main" id="{73D784C6-2912-4D77-BEE0-0882C33E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本次分享的内容</a:t>
            </a:r>
          </a:p>
        </p:txBody>
      </p:sp>
      <p:sp>
        <p:nvSpPr>
          <p:cNvPr id="3" name="share-8">
            <a:extLst xmlns:a="http://schemas.openxmlformats.org/drawingml/2006/main">
              <a:ext uri="{FF2B5EF4-FFF2-40B4-BE49-F238E27FC236}">
                <a16:creationId xmlns:a16="http://schemas.microsoft.com/office/drawing/2014/main" id="{2FB48371-4855-4A46-8152-7B0629AE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围绕一个问题展开：早期模型怎样帮助我们理解多核访存的系统约束？</a:t>
            </a:r>
          </a:p>
        </p:txBody>
      </p:sp>
      <p:sp>
        <p:nvSpPr>
          <p:cNvPr id="4" name="share-9">
            <a:extLst xmlns:a="http://schemas.openxmlformats.org/drawingml/2006/main">
              <a:ext uri="{FF2B5EF4-FFF2-40B4-BE49-F238E27FC236}">
                <a16:creationId xmlns:a16="http://schemas.microsoft.com/office/drawing/2014/main" id="{CA66563E-6F16-4D60-9316-E212F264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657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share-10">
            <a:extLst xmlns:a="http://schemas.openxmlformats.org/drawingml/2006/main">
              <a:ext uri="{FF2B5EF4-FFF2-40B4-BE49-F238E27FC236}">
                <a16:creationId xmlns:a16="http://schemas.microsoft.com/office/drawing/2014/main" id="{1F1FDE88-B40E-4424-A413-535AD11E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907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建模背景与范围</a:t>
            </a:r>
          </a:p>
        </p:txBody>
      </p:sp>
      <p:sp>
        <p:nvSpPr>
          <p:cNvPr id="6" name="share-11">
            <a:extLst xmlns:a="http://schemas.openxmlformats.org/drawingml/2006/main">
              <a:ext uri="{FF2B5EF4-FFF2-40B4-BE49-F238E27FC236}">
                <a16:creationId xmlns:a16="http://schemas.microsoft.com/office/drawing/2014/main" id="{57C8EC69-4230-4796-9910-7F14EE6F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09800"/>
            <a:ext cx="10048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近SoC环境需要补充什么，当前平台做到哪一步</a:t>
            </a:r>
          </a:p>
        </p:txBody>
      </p:sp>
      <p:sp>
        <p:nvSpPr>
          <p:cNvPr id="7" name="share-12">
            <a:extLst xmlns:a="http://schemas.openxmlformats.org/drawingml/2006/main">
              <a:ext uri="{FF2B5EF4-FFF2-40B4-BE49-F238E27FC236}">
                <a16:creationId xmlns:a16="http://schemas.microsoft.com/office/drawing/2014/main" id="{D0385246-DFFA-4723-BA24-B2566DEB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FB9"/>
            </a:solidFill>
          </a:ln>
        </p:spPr>
      </p:sp>
      <p:sp>
        <p:nvSpPr>
          <p:cNvPr id="8" name="share-13">
            <a:extLst xmlns:a="http://schemas.openxmlformats.org/drawingml/2006/main">
              <a:ext uri="{FF2B5EF4-FFF2-40B4-BE49-F238E27FC236}">
                <a16:creationId xmlns:a16="http://schemas.microsoft.com/office/drawing/2014/main" id="{4A0EB2F3-DB86-427B-A038-BC775A57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657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share-14">
            <a:extLst xmlns:a="http://schemas.openxmlformats.org/drawingml/2006/main">
              <a:ext uri="{FF2B5EF4-FFF2-40B4-BE49-F238E27FC236}">
                <a16:creationId xmlns:a16="http://schemas.microsoft.com/office/drawing/2014/main" id="{FA3EE4E4-AA4F-4650-9772-620D55EE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479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实现中的关键取舍</a:t>
            </a:r>
          </a:p>
        </p:txBody>
      </p:sp>
      <p:sp>
        <p:nvSpPr>
          <p:cNvPr id="10" name="share-15">
            <a:extLst xmlns:a="http://schemas.openxmlformats.org/drawingml/2006/main">
              <a:ext uri="{FF2B5EF4-FFF2-40B4-BE49-F238E27FC236}">
                <a16:creationId xmlns:a16="http://schemas.microsoft.com/office/drawing/2014/main" id="{B98B4E18-0779-4CB6-A232-F20E0F6E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67075"/>
            <a:ext cx="10048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事务语义、资源容量、时序与数据复用如何表达</a:t>
            </a:r>
          </a:p>
        </p:txBody>
      </p:sp>
      <p:sp>
        <p:nvSpPr>
          <p:cNvPr id="11" name="share-16">
            <a:extLst xmlns:a="http://schemas.openxmlformats.org/drawingml/2006/main">
              <a:ext uri="{FF2B5EF4-FFF2-40B4-BE49-F238E27FC236}">
                <a16:creationId xmlns:a16="http://schemas.microsoft.com/office/drawing/2014/main" id="{9FAD1E6C-C927-4073-8248-11E99B88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43325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FB9"/>
            </a:solidFill>
          </a:ln>
        </p:spPr>
      </p:sp>
      <p:sp>
        <p:nvSpPr>
          <p:cNvPr id="12" name="share-17">
            <a:extLst xmlns:a="http://schemas.openxmlformats.org/drawingml/2006/main">
              <a:ext uri="{FF2B5EF4-FFF2-40B4-BE49-F238E27FC236}">
                <a16:creationId xmlns:a16="http://schemas.microsoft.com/office/drawing/2014/main" id="{FB491879-31FF-45BC-959D-CB2A11A6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657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share-18">
            <a:extLst xmlns:a="http://schemas.openxmlformats.org/drawingml/2006/main">
              <a:ext uri="{FF2B5EF4-FFF2-40B4-BE49-F238E27FC236}">
                <a16:creationId xmlns:a16="http://schemas.microsoft.com/office/drawing/2014/main" id="{F8DCEB7C-D2FF-4D19-BF3E-321E1EFA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052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实验结果与参数选择</a:t>
            </a:r>
          </a:p>
        </p:txBody>
      </p:sp>
      <p:sp>
        <p:nvSpPr>
          <p:cNvPr id="14" name="share-19">
            <a:extLst xmlns:a="http://schemas.openxmlformats.org/drawingml/2006/main">
              <a:ext uri="{FF2B5EF4-FFF2-40B4-BE49-F238E27FC236}">
                <a16:creationId xmlns:a16="http://schemas.microsoft.com/office/drawing/2014/main" id="{9591D397-B894-4866-9910-CA3C3F04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24350"/>
            <a:ext cx="10048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怎样解释吞吐、尾延迟及物理流量之间的关系</a:t>
            </a:r>
          </a:p>
        </p:txBody>
      </p:sp>
      <p:sp>
        <p:nvSpPr>
          <p:cNvPr id="15" name="share-20">
            <a:extLst xmlns:a="http://schemas.openxmlformats.org/drawingml/2006/main">
              <a:ext uri="{FF2B5EF4-FFF2-40B4-BE49-F238E27FC236}">
                <a16:creationId xmlns:a16="http://schemas.microsoft.com/office/drawing/2014/main" id="{A6E4CE72-A3EC-4989-9473-B50C5EE1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FB9"/>
            </a:solidFill>
          </a:ln>
        </p:spPr>
      </p:sp>
      <p:sp>
        <p:nvSpPr>
          <p:cNvPr id="16" name="share-21">
            <a:extLst xmlns:a="http://schemas.openxmlformats.org/drawingml/2006/main">
              <a:ext uri="{FF2B5EF4-FFF2-40B4-BE49-F238E27FC236}">
                <a16:creationId xmlns:a16="http://schemas.microsoft.com/office/drawing/2014/main" id="{BC9B2A8C-8603-41C4-AA5D-4FEC9118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62525"/>
            <a:ext cx="657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share-22">
            <a:extLst xmlns:a="http://schemas.openxmlformats.org/drawingml/2006/main">
              <a:ext uri="{FF2B5EF4-FFF2-40B4-BE49-F238E27FC236}">
                <a16:creationId xmlns:a16="http://schemas.microsoft.com/office/drawing/2014/main" id="{5E6448EC-6737-41AF-852D-EBED3040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625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后续校准与专题研究</a:t>
            </a:r>
          </a:p>
        </p:txBody>
      </p:sp>
      <p:sp>
        <p:nvSpPr>
          <p:cNvPr id="18" name="share-23">
            <a:extLst xmlns:a="http://schemas.openxmlformats.org/drawingml/2006/main">
              <a:ext uri="{FF2B5EF4-FFF2-40B4-BE49-F238E27FC236}">
                <a16:creationId xmlns:a16="http://schemas.microsoft.com/office/drawing/2014/main" id="{952C26C0-B8E1-4DCD-B137-D5257CFC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81625"/>
            <a:ext cx="10048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从平台建设转向同地址冲突等具体架构问题</a:t>
            </a:r>
          </a:p>
        </p:txBody>
      </p:sp>
      <p:sp>
        <p:nvSpPr>
          <p:cNvPr id="19" name="share-24">
            <a:extLst xmlns:a="http://schemas.openxmlformats.org/drawingml/2006/main">
              <a:ext uri="{FF2B5EF4-FFF2-40B4-BE49-F238E27FC236}">
                <a16:creationId xmlns:a16="http://schemas.microsoft.com/office/drawing/2014/main" id="{BDB2D169-D2DF-42D2-9305-BA2649D0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458153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25">
            <a:extLst xmlns:a="http://schemas.openxmlformats.org/drawingml/2006/main">
              <a:ext uri="{FF2B5EF4-FFF2-40B4-BE49-F238E27FC236}">
                <a16:creationId xmlns:a16="http://schemas.microsoft.com/office/drawing/2014/main" id="{08B460FD-E315-446D-8C65-925A01B7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建模背景：核侧需要怎样的系统环境</a:t>
            </a:r>
          </a:p>
        </p:txBody>
      </p:sp>
      <p:sp>
        <p:nvSpPr>
          <p:cNvPr id="3" name="share-26">
            <a:extLst xmlns:a="http://schemas.openxmlformats.org/drawingml/2006/main">
              <a:ext uri="{FF2B5EF4-FFF2-40B4-BE49-F238E27FC236}">
                <a16:creationId xmlns:a16="http://schemas.microsoft.com/office/drawing/2014/main" id="{80D5A1BA-A42C-42C1-A74B-3164B63C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核发出的访存请求，最终会受到互连竞争和存储服务能力的共同影响。</a:t>
            </a:r>
          </a:p>
        </p:txBody>
      </p:sp>
      <p:sp>
        <p:nvSpPr>
          <p:cNvPr id="4" name="share-27">
            <a:extLst xmlns:a="http://schemas.openxmlformats.org/drawingml/2006/main">
              <a:ext uri="{FF2B5EF4-FFF2-40B4-BE49-F238E27FC236}">
                <a16:creationId xmlns:a16="http://schemas.microsoft.com/office/drawing/2014/main" id="{8C83DEA3-9418-490B-9F46-08FB5317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85925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早期架构探索的缺口</a:t>
            </a:r>
          </a:p>
        </p:txBody>
      </p:sp>
      <p:sp>
        <p:nvSpPr>
          <p:cNvPr id="5" name="share-28">
            <a:extLst xmlns:a="http://schemas.openxmlformats.org/drawingml/2006/main">
              <a:ext uri="{FF2B5EF4-FFF2-40B4-BE49-F238E27FC236}">
                <a16:creationId xmlns:a16="http://schemas.microsoft.com/office/drawing/2014/main" id="{F3F04479-7E05-4CC2-8E22-4676FDF2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52650"/>
            <a:ext cx="1133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如果只给核侧一个固定延迟、无限带宽的存储响应，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就难以观察多核竞争、队列积压和返回路径拥塞。</a:t>
            </a:r>
          </a:p>
        </p:txBody>
      </p:sp>
      <p:sp>
        <p:nvSpPr>
          <p:cNvPr id="6" name="share-29">
            <a:extLst xmlns:a="http://schemas.openxmlformats.org/drawingml/2006/main">
              <a:ext uri="{FF2B5EF4-FFF2-40B4-BE49-F238E27FC236}">
                <a16:creationId xmlns:a16="http://schemas.microsoft.com/office/drawing/2014/main" id="{216549BC-FFEE-4F9C-9B00-99FDDD91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718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FB9"/>
            </a:solidFill>
          </a:ln>
        </p:spPr>
      </p:sp>
      <p:sp>
        <p:nvSpPr>
          <p:cNvPr id="7" name="share-30">
            <a:extLst xmlns:a="http://schemas.openxmlformats.org/drawingml/2006/main">
              <a:ext uri="{FF2B5EF4-FFF2-40B4-BE49-F238E27FC236}">
                <a16:creationId xmlns:a16="http://schemas.microsoft.com/office/drawing/2014/main" id="{9898D41B-14F8-4E27-85D3-772661C6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67100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MTE与LD/ST通路</a:t>
            </a:r>
          </a:p>
        </p:txBody>
      </p:sp>
      <p:sp>
        <p:nvSpPr>
          <p:cNvPr id="8" name="share-31">
            <a:extLst xmlns:a="http://schemas.openxmlformats.org/drawingml/2006/main">
              <a:ext uri="{FF2B5EF4-FFF2-40B4-BE49-F238E27FC236}">
                <a16:creationId xmlns:a16="http://schemas.microsoft.com/office/drawing/2014/main" id="{E54ADD30-82EC-47B5-9FCB-A8DE4692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33825"/>
            <a:ext cx="1133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数据搬运通路（MTE）与加载/存储通路（LD/ST）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需要评估请求粒度、并发深度和反压对完成时间的影响。</a:t>
            </a:r>
          </a:p>
        </p:txBody>
      </p:sp>
      <p:sp>
        <p:nvSpPr>
          <p:cNvPr id="9" name="share-32">
            <a:extLst xmlns:a="http://schemas.openxmlformats.org/drawingml/2006/main">
              <a:ext uri="{FF2B5EF4-FFF2-40B4-BE49-F238E27FC236}">
                <a16:creationId xmlns:a16="http://schemas.microsoft.com/office/drawing/2014/main" id="{DB70EE2D-ACEA-44E9-966B-E7A4907D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10150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核与SoC协同设计</a:t>
            </a:r>
          </a:p>
        </p:txBody>
      </p:sp>
      <p:sp>
        <p:nvSpPr>
          <p:cNvPr id="10" name="share-33">
            <a:extLst xmlns:a="http://schemas.openxmlformats.org/drawingml/2006/main">
              <a:ext uri="{FF2B5EF4-FFF2-40B4-BE49-F238E27FC236}">
                <a16:creationId xmlns:a16="http://schemas.microsoft.com/office/drawing/2014/main" id="{01FBC113-6A4A-4429-933A-7105299D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76875"/>
            <a:ext cx="1133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共享数据在哪里合并、资源由哪一侧管理、请求何时完成，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需要在统一的事务语义和观察口径下讨论。</a:t>
            </a:r>
          </a:p>
        </p:txBody>
      </p:sp>
      <p:sp>
        <p:nvSpPr>
          <p:cNvPr id="11" name="share-34">
            <a:extLst xmlns:a="http://schemas.openxmlformats.org/drawingml/2006/main">
              <a:ext uri="{FF2B5EF4-FFF2-40B4-BE49-F238E27FC236}">
                <a16:creationId xmlns:a16="http://schemas.microsoft.com/office/drawing/2014/main" id="{518A6AEE-5CDE-494A-BB91-8B9EFBF3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64694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35">
            <a:extLst xmlns:a="http://schemas.openxmlformats.org/drawingml/2006/main">
              <a:ext uri="{FF2B5EF4-FFF2-40B4-BE49-F238E27FC236}">
                <a16:creationId xmlns:a16="http://schemas.microsoft.com/office/drawing/2014/main" id="{E284D04F-1389-4693-9993-0FA9DA98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本阶段工作与模型边界</a:t>
            </a:r>
          </a:p>
        </p:txBody>
      </p:sp>
      <p:sp>
        <p:nvSpPr>
          <p:cNvPr id="3" name="share-36">
            <a:extLst xmlns:a="http://schemas.openxmlformats.org/drawingml/2006/main">
              <a:ext uri="{FF2B5EF4-FFF2-40B4-BE49-F238E27FC236}">
                <a16:creationId xmlns:a16="http://schemas.microsoft.com/office/drawing/2014/main" id="{59E74892-6FE1-490F-841C-940DC431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在现有事件驱动框架中，搭建可配置的总线与存储性能探索环境。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381000" y="1685925"/>
          <a:ext xmlns:a="http://schemas.openxmlformats.org/drawingml/2006/main" cx="11430000" cy="3667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47875"/>
                <a:gridCol w="4857750"/>
                <a:gridCol w="4524375"/>
              </a:tblGrid>
              <a:tr h="4953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当前表达方式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可以回答的问题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10572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互连与事务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H/V环网、读写路径、仲裁与反压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链路序列化、跨环转发、槽位管理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请求能否正确完成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哪些资源限制系统吞吐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572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存储与数据复用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HA读合并及写冲突保护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L2返回组织、后端队列与在途额度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重复读取和重复返回能减少多少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后端服务能力如何影响核侧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572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本阶段的近似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包与槽位粒度的时序模型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配置命中率，抽象存储后端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适合做机制与参数趋势分析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尚需SoC ESL校准绝对时延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e-37">
            <a:extLst xmlns:a="http://schemas.openxmlformats.org/drawingml/2006/main">
              <a:ext uri="{FF2B5EF4-FFF2-40B4-BE49-F238E27FC236}">
                <a16:creationId xmlns:a16="http://schemas.microsoft.com/office/drawing/2014/main" id="{1E4C7A91-A70C-49AF-A0BB-2A776099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本人工作：模型实现、测试与性能统计，以及架构、接口和参数说明。</a:t>
            </a:r>
          </a:p>
        </p:txBody>
      </p:sp>
      <p:sp>
        <p:nvSpPr>
          <p:cNvPr id="6" name="share-38">
            <a:extLst xmlns:a="http://schemas.openxmlformats.org/drawingml/2006/main">
              <a:ext uri="{FF2B5EF4-FFF2-40B4-BE49-F238E27FC236}">
                <a16:creationId xmlns:a16="http://schemas.microsoft.com/office/drawing/2014/main" id="{388DE20F-C48C-4E92-B81F-93FE5DD0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98364844"/>
      </p:ext>
    </p:extLst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50">
            <a:extLst>
              <a:ext uri="{FF2B5EF4-FFF2-40B4-BE49-F238E27FC236}">
                <a16:creationId xmlns:a16="http://schemas.microsoft.com/office/drawing/2014/main" id="{C1D998D3-A65C-47EE-BEDF-E38DE2B17FBD}"/>
              </a:ext>
            </a:extLst>
          </p:cNvPr>
          <p:cNvSpPr>
            <a:spLocks noGrp="1"/>
          </p:cNvSpPr>
          <p:nvPr/>
        </p:nvSpPr>
        <p:spPr>
          <a:xfrm>
            <a:off x="3714750" y="4665662"/>
            <a:ext cx="952500" cy="281559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1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HBM</a:t>
            </a:r>
            <a:endParaRPr sz="1100" b="1" dirty="0">
              <a:solidFill>
                <a:srgbClr val="20273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3" name="Rounded Rectangle 50">
            <a:extLst>
              <a:ext uri="{FF2B5EF4-FFF2-40B4-BE49-F238E27FC236}">
                <a16:creationId xmlns:a16="http://schemas.microsoft.com/office/drawing/2014/main" id="{3E6F8537-8A43-4D0D-8999-7610512CA71B}"/>
              </a:ext>
            </a:extLst>
          </p:cNvPr>
          <p:cNvSpPr>
            <a:spLocks noGrp="1"/>
          </p:cNvSpPr>
          <p:nvPr/>
        </p:nvSpPr>
        <p:spPr>
          <a:xfrm>
            <a:off x="7286625" y="4664582"/>
            <a:ext cx="952500" cy="281559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1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HBM</a:t>
            </a:r>
            <a:endParaRPr sz="1100" b="1" dirty="0">
              <a:solidFill>
                <a:srgbClr val="20273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4" name="Rounded Rectangle 50">
            <a:extLst>
              <a:ext uri="{FF2B5EF4-FFF2-40B4-BE49-F238E27FC236}">
                <a16:creationId xmlns:a16="http://schemas.microsoft.com/office/drawing/2014/main" id="{17C9239B-8579-45EE-88CE-FB2BA4215DE9}"/>
              </a:ext>
            </a:extLst>
          </p:cNvPr>
          <p:cNvSpPr>
            <a:spLocks noGrp="1"/>
          </p:cNvSpPr>
          <p:nvPr/>
        </p:nvSpPr>
        <p:spPr>
          <a:xfrm>
            <a:off x="7283958" y="1699640"/>
            <a:ext cx="952500" cy="281559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1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HBM</a:t>
            </a:r>
            <a:endParaRPr sz="1100" b="1" dirty="0">
              <a:solidFill>
                <a:srgbClr val="20273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5" name="Rounded Rectangle 50">
            <a:extLst>
              <a:ext uri="{FF2B5EF4-FFF2-40B4-BE49-F238E27FC236}">
                <a16:creationId xmlns:a16="http://schemas.microsoft.com/office/drawing/2014/main" id="{1CFC52F7-23CD-4A1B-9C86-D2A3E55540FA}"/>
              </a:ext>
            </a:extLst>
          </p:cNvPr>
          <p:cNvSpPr>
            <a:spLocks noGrp="1"/>
          </p:cNvSpPr>
          <p:nvPr/>
        </p:nvSpPr>
        <p:spPr>
          <a:xfrm>
            <a:off x="3714750" y="1699640"/>
            <a:ext cx="952500" cy="281559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1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HBM</a:t>
            </a:r>
            <a:endParaRPr sz="1100" b="1" dirty="0">
              <a:solidFill>
                <a:srgbClr val="20273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cxnSp>
        <p:nvCxnSpPr>
          <p:cNvPr id="6" name="连接符: 肘形 250"/>
          <p:cNvCxnSpPr>
            <a:cxnSpLocks/>
          </p:cNvCxnSpPr>
          <p:nvPr/>
        </p:nvCxnSpPr>
        <p:spPr>
          <a:xfrm rot="16200000" flipV="1">
            <a:off x="816836" y="2364514"/>
            <a:ext cx="928690" cy="562111"/>
          </a:xfrm>
          <a:prstGeom prst="bentConnector3">
            <a:avLst>
              <a:gd name="adj1" fmla="val -9487"/>
            </a:avLst>
          </a:prstGeom>
          <a:ln w="25400" cap="rnd">
            <a:solidFill>
              <a:srgbClr val="2A70AD"/>
            </a:solidFill>
            <a:prstDash val="solid"/>
            <a:round/>
            <a:tailEnd type="arrow" w="med" len="med"/>
          </a:ln>
        </p:spPr>
      </p:cxn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0E585687-C87D-4E16-A60C-9EC41D8F5C27}"/>
              </a:ext>
            </a:extLst>
          </p:cNvPr>
          <p:cNvSpPr>
            <a:spLocks noGrp="1"/>
          </p:cNvSpPr>
          <p:nvPr/>
        </p:nvSpPr>
        <p:spPr>
          <a:xfrm>
            <a:off x="1190625" y="3028950"/>
            <a:ext cx="9810750" cy="762000"/>
          </a:xfrm>
          <a:prstGeom prst="roundRect">
            <a:avLst/>
          </a:prstGeom>
          <a:noFill/>
          <a:ln w="14604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22">
            <a:extLst>
              <a:ext uri="{FF2B5EF4-FFF2-40B4-BE49-F238E27FC236}">
                <a16:creationId xmlns:a16="http://schemas.microsoft.com/office/drawing/2014/main" id="{9E21BAC4-A8E6-4430-8DB8-5066283CEBAB}"/>
              </a:ext>
            </a:extLst>
          </p:cNvPr>
          <p:cNvSpPr>
            <a:spLocks noGrp="1"/>
          </p:cNvSpPr>
          <p:nvPr/>
        </p:nvSpPr>
        <p:spPr>
          <a:xfrm>
            <a:off x="9810750" y="1714500"/>
            <a:ext cx="952500" cy="3429000"/>
          </a:xfrm>
          <a:prstGeom prst="roundRect">
            <a:avLst/>
          </a:prstGeom>
          <a:noFill/>
          <a:ln w="1333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3E709A57-22DC-461D-954B-C6B3EAA2037C}"/>
              </a:ext>
            </a:extLst>
          </p:cNvPr>
          <p:cNvSpPr>
            <a:spLocks noGrp="1"/>
          </p:cNvSpPr>
          <p:nvPr/>
        </p:nvSpPr>
        <p:spPr>
          <a:xfrm>
            <a:off x="1476375" y="1714500"/>
            <a:ext cx="952500" cy="3429000"/>
          </a:xfrm>
          <a:prstGeom prst="roundRect">
            <a:avLst/>
          </a:prstGeom>
          <a:noFill/>
          <a:ln w="1333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A707202B-A515-4157-A105-258570C0D40B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latin typeface="Microsoft YaHei"/>
                <a:ea typeface="Microsoft YaHei"/>
                <a:cs typeface="Microsoft YaHei"/>
              </a:rPr>
              <a:t>当前平台的H/V Ring拓扑</a:t>
            </a:r>
            <a:endParaRPr sz="2500" b="1" i="0">
              <a:solidFill>
                <a:srgbClr val="1F4A7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593C8979-5414-4D82-A96E-B55E4EF0E932}"/>
              </a:ext>
            </a:extLst>
          </p:cNvPr>
          <p:cNvSpPr>
            <a:spLocks noGrp="1"/>
          </p:cNvSpPr>
          <p:nvPr/>
        </p:nvSpPr>
        <p:spPr>
          <a:xfrm>
            <a:off x="381000" y="847725"/>
            <a:ext cx="11430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8个计算核分属2条V-Ring，通过共享H-Ring连接4组HA／内存端口与L2 Buffer</a:t>
            </a:r>
            <a:endParaRPr sz="1125" b="0" i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9B510448-B51C-4DC3-A5F8-BB2478F37ABA}"/>
              </a:ext>
            </a:extLst>
          </p:cNvPr>
          <p:cNvSpPr>
            <a:spLocks noGrp="1"/>
          </p:cNvSpPr>
          <p:nvPr/>
        </p:nvSpPr>
        <p:spPr>
          <a:xfrm>
            <a:off x="594360" y="1234440"/>
            <a:ext cx="10991088" cy="4137279"/>
          </a:xfrm>
          <a:prstGeom prst="rect">
            <a:avLst/>
          </a:prstGeom>
          <a:noFill/>
          <a:ln w="10160">
            <a:solidFill>
              <a:srgbClr val="7077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006017C4-6640-4287-9181-C815640C3B93}"/>
              </a:ext>
            </a:extLst>
          </p:cNvPr>
          <p:cNvSpPr>
            <a:spLocks noGrp="1"/>
          </p:cNvSpPr>
          <p:nvPr/>
        </p:nvSpPr>
        <p:spPr>
          <a:xfrm>
            <a:off x="758952" y="1307592"/>
            <a:ext cx="3905250" cy="219456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双垂直环与共享水平环拓扑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84A75578-204E-470E-B78D-55451F6E1B94}"/>
              </a:ext>
            </a:extLst>
          </p:cNvPr>
          <p:cNvSpPr>
            <a:spLocks noGrp="1"/>
          </p:cNvSpPr>
          <p:nvPr/>
        </p:nvSpPr>
        <p:spPr>
          <a:xfrm>
            <a:off x="5476875" y="3257550"/>
            <a:ext cx="1238250" cy="22860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1F4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共享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 H-Ring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A5CD8212-8189-49F8-9A3F-9C045FEB81EE}"/>
              </a:ext>
            </a:extLst>
          </p:cNvPr>
          <p:cNvSpPr>
            <a:spLocks noGrp="1"/>
          </p:cNvSpPr>
          <p:nvPr/>
        </p:nvSpPr>
        <p:spPr>
          <a:xfrm>
            <a:off x="1314450" y="1504950"/>
            <a:ext cx="1276350" cy="219075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40" b="1">
                <a:solidFill>
                  <a:srgbClr val="5D6570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V-Ring 0 · M0–M3</a:t>
            </a:r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13F43DE8-43E9-4791-A2B5-E552274C4EDE}"/>
              </a:ext>
            </a:extLst>
          </p:cNvPr>
          <p:cNvSpPr>
            <a:spLocks noGrp="1"/>
          </p:cNvSpPr>
          <p:nvPr/>
        </p:nvSpPr>
        <p:spPr>
          <a:xfrm>
            <a:off x="1412367" y="195529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2">
            <a:extLst>
              <a:ext uri="{FF2B5EF4-FFF2-40B4-BE49-F238E27FC236}">
                <a16:creationId xmlns:a16="http://schemas.microsoft.com/office/drawing/2014/main" id="{F4886928-C84B-48AB-87D3-00262C7A86FB}"/>
              </a:ext>
            </a:extLst>
          </p:cNvPr>
          <p:cNvSpPr>
            <a:spLocks noGrp="1"/>
          </p:cNvSpPr>
          <p:nvPr/>
        </p:nvSpPr>
        <p:spPr>
          <a:xfrm>
            <a:off x="2364867" y="195529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13">
            <a:extLst>
              <a:ext uri="{FF2B5EF4-FFF2-40B4-BE49-F238E27FC236}">
                <a16:creationId xmlns:a16="http://schemas.microsoft.com/office/drawing/2014/main" id="{5D040F24-C822-477F-AE65-4480492C54B3}"/>
              </a:ext>
            </a:extLst>
          </p:cNvPr>
          <p:cNvSpPr>
            <a:spLocks noGrp="1"/>
          </p:cNvSpPr>
          <p:nvPr/>
        </p:nvSpPr>
        <p:spPr>
          <a:xfrm>
            <a:off x="1412367" y="4327017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ounded Rectangle 14">
            <a:extLst>
              <a:ext uri="{FF2B5EF4-FFF2-40B4-BE49-F238E27FC236}">
                <a16:creationId xmlns:a16="http://schemas.microsoft.com/office/drawing/2014/main" id="{2E8A0DFC-41BE-458F-9DC4-A42096E13439}"/>
              </a:ext>
            </a:extLst>
          </p:cNvPr>
          <p:cNvSpPr>
            <a:spLocks noGrp="1"/>
          </p:cNvSpPr>
          <p:nvPr/>
        </p:nvSpPr>
        <p:spPr>
          <a:xfrm>
            <a:off x="2364867" y="4327017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ounded Rectangle 15">
            <a:extLst>
              <a:ext uri="{FF2B5EF4-FFF2-40B4-BE49-F238E27FC236}">
                <a16:creationId xmlns:a16="http://schemas.microsoft.com/office/drawing/2014/main" id="{0D558A31-D14E-4D7E-BBF7-72BCA8BCDBFC}"/>
              </a:ext>
            </a:extLst>
          </p:cNvPr>
          <p:cNvSpPr>
            <a:spLocks noGrp="1"/>
          </p:cNvSpPr>
          <p:nvPr/>
        </p:nvSpPr>
        <p:spPr>
          <a:xfrm>
            <a:off x="619125" y="1866900"/>
            <a:ext cx="76200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0</a:t>
            </a:r>
          </a:p>
        </p:txBody>
      </p:sp>
      <p:sp>
        <p:nvSpPr>
          <p:cNvPr id="21" name="Rounded Rectangle 17">
            <a:extLst>
              <a:ext uri="{FF2B5EF4-FFF2-40B4-BE49-F238E27FC236}">
                <a16:creationId xmlns:a16="http://schemas.microsoft.com/office/drawing/2014/main" id="{99136FD3-CF97-413C-8DE7-D22C9A145CAB}"/>
              </a:ext>
            </a:extLst>
          </p:cNvPr>
          <p:cNvSpPr>
            <a:spLocks noGrp="1"/>
          </p:cNvSpPr>
          <p:nvPr/>
        </p:nvSpPr>
        <p:spPr>
          <a:xfrm>
            <a:off x="2524125" y="1866900"/>
            <a:ext cx="76200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1</a:t>
            </a:r>
          </a:p>
        </p:txBody>
      </p:sp>
      <p:sp>
        <p:nvSpPr>
          <p:cNvPr id="22" name="Rounded Rectangle 19">
            <a:extLst>
              <a:ext uri="{FF2B5EF4-FFF2-40B4-BE49-F238E27FC236}">
                <a16:creationId xmlns:a16="http://schemas.microsoft.com/office/drawing/2014/main" id="{097F1546-118A-46E9-9DA8-053C83B22DE9}"/>
              </a:ext>
            </a:extLst>
          </p:cNvPr>
          <p:cNvSpPr>
            <a:spLocks noGrp="1"/>
          </p:cNvSpPr>
          <p:nvPr/>
        </p:nvSpPr>
        <p:spPr>
          <a:xfrm>
            <a:off x="1562232" y="2794634"/>
            <a:ext cx="762000" cy="495300"/>
          </a:xfrm>
          <a:prstGeom prst="roundRect">
            <a:avLst/>
          </a:prstGeom>
          <a:solidFill>
            <a:srgbClr val="DAEBF3"/>
          </a:solidFill>
          <a:ln w="11430">
            <a:solidFill>
              <a:srgbClr val="1F4A7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RBRG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-L1</a:t>
            </a:r>
          </a:p>
        </p:txBody>
      </p:sp>
      <p:sp>
        <p:nvSpPr>
          <p:cNvPr id="23" name="Rounded Rectangle 20">
            <a:extLst>
              <a:ext uri="{FF2B5EF4-FFF2-40B4-BE49-F238E27FC236}">
                <a16:creationId xmlns:a16="http://schemas.microsoft.com/office/drawing/2014/main" id="{FEC3FE95-D3C8-43B2-935E-A8D131C3131A}"/>
              </a:ext>
            </a:extLst>
          </p:cNvPr>
          <p:cNvSpPr>
            <a:spLocks noGrp="1"/>
          </p:cNvSpPr>
          <p:nvPr/>
        </p:nvSpPr>
        <p:spPr>
          <a:xfrm>
            <a:off x="4126992" y="2964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ounded Rectangle 21">
            <a:extLst>
              <a:ext uri="{FF2B5EF4-FFF2-40B4-BE49-F238E27FC236}">
                <a16:creationId xmlns:a16="http://schemas.microsoft.com/office/drawing/2014/main" id="{FF45AF23-D62A-4F15-9626-699DF0AB3709}"/>
              </a:ext>
            </a:extLst>
          </p:cNvPr>
          <p:cNvSpPr>
            <a:spLocks noGrp="1"/>
          </p:cNvSpPr>
          <p:nvPr/>
        </p:nvSpPr>
        <p:spPr>
          <a:xfrm>
            <a:off x="4126992" y="3726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076C7D23-17C6-4C66-A201-5D24D4F2E075}"/>
              </a:ext>
            </a:extLst>
          </p:cNvPr>
          <p:cNvSpPr>
            <a:spLocks noGrp="1"/>
          </p:cNvSpPr>
          <p:nvPr/>
        </p:nvSpPr>
        <p:spPr>
          <a:xfrm>
            <a:off x="9648825" y="1504950"/>
            <a:ext cx="1276350" cy="219075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40" b="1">
                <a:solidFill>
                  <a:srgbClr val="5D6570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V-Ring 1 · M4–M7</a:t>
            </a:r>
          </a:p>
        </p:txBody>
      </p:sp>
      <p:sp>
        <p:nvSpPr>
          <p:cNvPr id="26" name="Rounded Rectangle 24">
            <a:extLst>
              <a:ext uri="{FF2B5EF4-FFF2-40B4-BE49-F238E27FC236}">
                <a16:creationId xmlns:a16="http://schemas.microsoft.com/office/drawing/2014/main" id="{5F0F1E94-BD60-4C4F-993D-933433CA5ABF}"/>
              </a:ext>
            </a:extLst>
          </p:cNvPr>
          <p:cNvSpPr>
            <a:spLocks noGrp="1"/>
          </p:cNvSpPr>
          <p:nvPr/>
        </p:nvSpPr>
        <p:spPr>
          <a:xfrm>
            <a:off x="9746742" y="195529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ounded Rectangle 25">
            <a:extLst>
              <a:ext uri="{FF2B5EF4-FFF2-40B4-BE49-F238E27FC236}">
                <a16:creationId xmlns:a16="http://schemas.microsoft.com/office/drawing/2014/main" id="{69FFB035-70BE-4DCD-B69E-0AEFFEFDFC55}"/>
              </a:ext>
            </a:extLst>
          </p:cNvPr>
          <p:cNvSpPr>
            <a:spLocks noGrp="1"/>
          </p:cNvSpPr>
          <p:nvPr/>
        </p:nvSpPr>
        <p:spPr>
          <a:xfrm>
            <a:off x="10699242" y="195529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ounded Rectangle 26">
            <a:extLst>
              <a:ext uri="{FF2B5EF4-FFF2-40B4-BE49-F238E27FC236}">
                <a16:creationId xmlns:a16="http://schemas.microsoft.com/office/drawing/2014/main" id="{B98AAA46-4A34-4518-B682-BCE9AD0D67AF}"/>
              </a:ext>
            </a:extLst>
          </p:cNvPr>
          <p:cNvSpPr>
            <a:spLocks noGrp="1"/>
          </p:cNvSpPr>
          <p:nvPr/>
        </p:nvSpPr>
        <p:spPr>
          <a:xfrm>
            <a:off x="9746742" y="4327017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7">
            <a:extLst>
              <a:ext uri="{FF2B5EF4-FFF2-40B4-BE49-F238E27FC236}">
                <a16:creationId xmlns:a16="http://schemas.microsoft.com/office/drawing/2014/main" id="{4DE0626C-A4FA-412E-A830-D02CE3137972}"/>
              </a:ext>
            </a:extLst>
          </p:cNvPr>
          <p:cNvSpPr>
            <a:spLocks noGrp="1"/>
          </p:cNvSpPr>
          <p:nvPr/>
        </p:nvSpPr>
        <p:spPr>
          <a:xfrm>
            <a:off x="10699242" y="4327017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ounded Rectangle 28">
            <a:extLst>
              <a:ext uri="{FF2B5EF4-FFF2-40B4-BE49-F238E27FC236}">
                <a16:creationId xmlns:a16="http://schemas.microsoft.com/office/drawing/2014/main" id="{77EF9D28-FA0A-4BE6-82A7-00A826017095}"/>
              </a:ext>
            </a:extLst>
          </p:cNvPr>
          <p:cNvSpPr>
            <a:spLocks noGrp="1"/>
          </p:cNvSpPr>
          <p:nvPr/>
        </p:nvSpPr>
        <p:spPr>
          <a:xfrm>
            <a:off x="619125" y="4238625"/>
            <a:ext cx="76200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98AC260-54D3-47F8-A6B4-4509451FB963}"/>
              </a:ext>
            </a:extLst>
          </p:cNvPr>
          <p:cNvSpPr>
            <a:spLocks noGrp="1"/>
          </p:cNvSpPr>
          <p:nvPr/>
        </p:nvSpPr>
        <p:spPr>
          <a:xfrm>
            <a:off x="2524125" y="4238625"/>
            <a:ext cx="76200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3</a:t>
            </a:r>
          </a:p>
        </p:txBody>
      </p:sp>
      <p:sp>
        <p:nvSpPr>
          <p:cNvPr id="32" name="Rounded Rectangle 32">
            <a:extLst>
              <a:ext uri="{FF2B5EF4-FFF2-40B4-BE49-F238E27FC236}">
                <a16:creationId xmlns:a16="http://schemas.microsoft.com/office/drawing/2014/main" id="{2CDDE5D8-96F1-4776-A689-9E3C7F93543D}"/>
              </a:ext>
            </a:extLst>
          </p:cNvPr>
          <p:cNvSpPr>
            <a:spLocks noGrp="1"/>
          </p:cNvSpPr>
          <p:nvPr/>
        </p:nvSpPr>
        <p:spPr>
          <a:xfrm>
            <a:off x="9906000" y="2886075"/>
            <a:ext cx="762000" cy="495300"/>
          </a:xfrm>
          <a:prstGeom prst="roundRect">
            <a:avLst/>
          </a:prstGeom>
          <a:solidFill>
            <a:srgbClr val="DAEBF3"/>
          </a:solidFill>
          <a:ln w="11430">
            <a:solidFill>
              <a:srgbClr val="1F4A7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RBRG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-L1</a:t>
            </a:r>
          </a:p>
        </p:txBody>
      </p:sp>
      <p:sp>
        <p:nvSpPr>
          <p:cNvPr id="33" name="Rounded Rectangle 33">
            <a:extLst>
              <a:ext uri="{FF2B5EF4-FFF2-40B4-BE49-F238E27FC236}">
                <a16:creationId xmlns:a16="http://schemas.microsoft.com/office/drawing/2014/main" id="{6850E310-67D3-4C55-B7F3-C4C5F1011586}"/>
              </a:ext>
            </a:extLst>
          </p:cNvPr>
          <p:cNvSpPr>
            <a:spLocks noGrp="1"/>
          </p:cNvSpPr>
          <p:nvPr/>
        </p:nvSpPr>
        <p:spPr>
          <a:xfrm>
            <a:off x="5317617" y="2964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ounded Rectangle 34">
            <a:extLst>
              <a:ext uri="{FF2B5EF4-FFF2-40B4-BE49-F238E27FC236}">
                <a16:creationId xmlns:a16="http://schemas.microsoft.com/office/drawing/2014/main" id="{905350F7-E1EB-4A69-8362-682A0305E241}"/>
              </a:ext>
            </a:extLst>
          </p:cNvPr>
          <p:cNvSpPr>
            <a:spLocks noGrp="1"/>
          </p:cNvSpPr>
          <p:nvPr/>
        </p:nvSpPr>
        <p:spPr>
          <a:xfrm>
            <a:off x="5317617" y="3726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ounded Rectangle 37">
            <a:extLst>
              <a:ext uri="{FF2B5EF4-FFF2-40B4-BE49-F238E27FC236}">
                <a16:creationId xmlns:a16="http://schemas.microsoft.com/office/drawing/2014/main" id="{B312D6C7-A488-4E59-8646-E112CEAEF910}"/>
              </a:ext>
            </a:extLst>
          </p:cNvPr>
          <p:cNvSpPr>
            <a:spLocks noGrp="1"/>
          </p:cNvSpPr>
          <p:nvPr/>
        </p:nvSpPr>
        <p:spPr>
          <a:xfrm>
            <a:off x="6508242" y="2964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ounded Rectangle 38">
            <a:extLst>
              <a:ext uri="{FF2B5EF4-FFF2-40B4-BE49-F238E27FC236}">
                <a16:creationId xmlns:a16="http://schemas.microsoft.com/office/drawing/2014/main" id="{DE361B7E-4285-4FFA-AD2F-1B324C86B345}"/>
              </a:ext>
            </a:extLst>
          </p:cNvPr>
          <p:cNvSpPr>
            <a:spLocks noGrp="1"/>
          </p:cNvSpPr>
          <p:nvPr/>
        </p:nvSpPr>
        <p:spPr>
          <a:xfrm>
            <a:off x="6508242" y="3726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ounded Rectangle 39">
            <a:extLst>
              <a:ext uri="{FF2B5EF4-FFF2-40B4-BE49-F238E27FC236}">
                <a16:creationId xmlns:a16="http://schemas.microsoft.com/office/drawing/2014/main" id="{82CC1F90-2C70-404E-809B-92FF58D9B0A4}"/>
              </a:ext>
            </a:extLst>
          </p:cNvPr>
          <p:cNvSpPr>
            <a:spLocks noGrp="1"/>
          </p:cNvSpPr>
          <p:nvPr/>
        </p:nvSpPr>
        <p:spPr>
          <a:xfrm>
            <a:off x="7698867" y="2964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ounded Rectangle 40">
            <a:extLst>
              <a:ext uri="{FF2B5EF4-FFF2-40B4-BE49-F238E27FC236}">
                <a16:creationId xmlns:a16="http://schemas.microsoft.com/office/drawing/2014/main" id="{05303F5F-64DF-41FE-9F89-D9A9995773B7}"/>
              </a:ext>
            </a:extLst>
          </p:cNvPr>
          <p:cNvSpPr>
            <a:spLocks noGrp="1"/>
          </p:cNvSpPr>
          <p:nvPr/>
        </p:nvSpPr>
        <p:spPr>
          <a:xfrm>
            <a:off x="7698867" y="3726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ounded Rectangle 41">
            <a:extLst>
              <a:ext uri="{FF2B5EF4-FFF2-40B4-BE49-F238E27FC236}">
                <a16:creationId xmlns:a16="http://schemas.microsoft.com/office/drawing/2014/main" id="{765137AF-2750-4A48-8105-BCCD3BCC8F61}"/>
              </a:ext>
            </a:extLst>
          </p:cNvPr>
          <p:cNvSpPr>
            <a:spLocks noGrp="1"/>
          </p:cNvSpPr>
          <p:nvPr/>
        </p:nvSpPr>
        <p:spPr>
          <a:xfrm>
            <a:off x="8810625" y="1866900"/>
            <a:ext cx="85725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4</a:t>
            </a:r>
          </a:p>
        </p:txBody>
      </p:sp>
      <p:sp>
        <p:nvSpPr>
          <p:cNvPr id="40" name="Rounded Rectangle 43">
            <a:extLst>
              <a:ext uri="{FF2B5EF4-FFF2-40B4-BE49-F238E27FC236}">
                <a16:creationId xmlns:a16="http://schemas.microsoft.com/office/drawing/2014/main" id="{D89FA340-CE1F-4ABD-B581-9A030102534D}"/>
              </a:ext>
            </a:extLst>
          </p:cNvPr>
          <p:cNvSpPr>
            <a:spLocks noGrp="1"/>
          </p:cNvSpPr>
          <p:nvPr/>
        </p:nvSpPr>
        <p:spPr>
          <a:xfrm>
            <a:off x="10858500" y="1866900"/>
            <a:ext cx="66675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8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5</a:t>
            </a:r>
          </a:p>
        </p:txBody>
      </p:sp>
      <p:sp>
        <p:nvSpPr>
          <p:cNvPr id="41" name="Rounded Rectangle 50">
            <a:extLst>
              <a:ext uri="{FF2B5EF4-FFF2-40B4-BE49-F238E27FC236}">
                <a16:creationId xmlns:a16="http://schemas.microsoft.com/office/drawing/2014/main" id="{C2D7DBA4-01C2-484D-8144-4074AD3F11EB}"/>
              </a:ext>
            </a:extLst>
          </p:cNvPr>
          <p:cNvSpPr>
            <a:spLocks noGrp="1"/>
          </p:cNvSpPr>
          <p:nvPr/>
        </p:nvSpPr>
        <p:spPr>
          <a:xfrm>
            <a:off x="3714750" y="1981200"/>
            <a:ext cx="952500" cy="476250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HA 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MemPort</a:t>
            </a:r>
          </a:p>
        </p:txBody>
      </p:sp>
      <p:sp>
        <p:nvSpPr>
          <p:cNvPr id="42" name="Rounded Rectangle 52">
            <a:extLst>
              <a:ext uri="{FF2B5EF4-FFF2-40B4-BE49-F238E27FC236}">
                <a16:creationId xmlns:a16="http://schemas.microsoft.com/office/drawing/2014/main" id="{2CC4791F-962D-40BD-96C3-710A5DBECDDA}"/>
              </a:ext>
            </a:extLst>
          </p:cNvPr>
          <p:cNvSpPr>
            <a:spLocks noGrp="1"/>
          </p:cNvSpPr>
          <p:nvPr/>
        </p:nvSpPr>
        <p:spPr>
          <a:xfrm>
            <a:off x="4905375" y="4191000"/>
            <a:ext cx="952500" cy="476250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L2 Buffer 1</a:t>
            </a:r>
          </a:p>
        </p:txBody>
      </p:sp>
      <p:sp>
        <p:nvSpPr>
          <p:cNvPr id="43" name="Rounded Rectangle 54">
            <a:extLst>
              <a:ext uri="{FF2B5EF4-FFF2-40B4-BE49-F238E27FC236}">
                <a16:creationId xmlns:a16="http://schemas.microsoft.com/office/drawing/2014/main" id="{7201E620-09C5-4E8A-B8CB-C646380B13B6}"/>
              </a:ext>
            </a:extLst>
          </p:cNvPr>
          <p:cNvSpPr>
            <a:spLocks noGrp="1"/>
          </p:cNvSpPr>
          <p:nvPr/>
        </p:nvSpPr>
        <p:spPr>
          <a:xfrm>
            <a:off x="4905375" y="1981200"/>
            <a:ext cx="952500" cy="476250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L2 Buffer 0</a:t>
            </a:r>
          </a:p>
        </p:txBody>
      </p:sp>
      <p:sp>
        <p:nvSpPr>
          <p:cNvPr id="44" name="TextBox 60">
            <a:extLst>
              <a:ext uri="{FF2B5EF4-FFF2-40B4-BE49-F238E27FC236}">
                <a16:creationId xmlns:a16="http://schemas.microsoft.com/office/drawing/2014/main" id="{34C58E25-804A-498F-9679-B1C35E821BBE}"/>
              </a:ext>
            </a:extLst>
          </p:cNvPr>
          <p:cNvSpPr>
            <a:spLocks noGrp="1"/>
          </p:cNvSpPr>
          <p:nvPr/>
        </p:nvSpPr>
        <p:spPr>
          <a:xfrm>
            <a:off x="2524125" y="3318509"/>
            <a:ext cx="1190625" cy="17145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>
                <a:solidFill>
                  <a:srgbClr val="D73A32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D73A3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V_TO_H_REQ</a:t>
            </a:r>
          </a:p>
        </p:txBody>
      </p:sp>
      <p:sp>
        <p:nvSpPr>
          <p:cNvPr id="45" name="TextBox 64">
            <a:extLst>
              <a:ext uri="{FF2B5EF4-FFF2-40B4-BE49-F238E27FC236}">
                <a16:creationId xmlns:a16="http://schemas.microsoft.com/office/drawing/2014/main" id="{DC1A7EC1-654E-4527-A728-73DD8974AAE9}"/>
              </a:ext>
            </a:extLst>
          </p:cNvPr>
          <p:cNvSpPr>
            <a:spLocks noGrp="1"/>
          </p:cNvSpPr>
          <p:nvPr/>
        </p:nvSpPr>
        <p:spPr>
          <a:xfrm>
            <a:off x="2557463" y="2781109"/>
            <a:ext cx="1476375" cy="17145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>
                <a:solidFill>
                  <a:srgbClr val="2A70AD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2A70AD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H_TO_V_DAT</a:t>
            </a:r>
          </a:p>
        </p:txBody>
      </p:sp>
      <p:sp>
        <p:nvSpPr>
          <p:cNvPr id="46" name="Rounded Rectangle 65">
            <a:extLst>
              <a:ext uri="{FF2B5EF4-FFF2-40B4-BE49-F238E27FC236}">
                <a16:creationId xmlns:a16="http://schemas.microsoft.com/office/drawing/2014/main" id="{7CB1E716-3D71-4B4A-A8C2-CDE094A93868}"/>
              </a:ext>
            </a:extLst>
          </p:cNvPr>
          <p:cNvSpPr>
            <a:spLocks noGrp="1"/>
          </p:cNvSpPr>
          <p:nvPr/>
        </p:nvSpPr>
        <p:spPr>
          <a:xfrm>
            <a:off x="8334375" y="1381125"/>
            <a:ext cx="1362075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rPr>
              <a:t>图示核与存储端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rPr>
              <a:t>单向传输换环1次</a:t>
            </a:r>
          </a:p>
        </p:txBody>
      </p:sp>
      <p:sp>
        <p:nvSpPr>
          <p:cNvPr id="47" name="Master 6">
            <a:extLst>
              <a:ext uri="{FF2B5EF4-FFF2-40B4-BE49-F238E27FC236}">
                <a16:creationId xmlns:a16="http://schemas.microsoft.com/office/drawing/2014/main" id="{B5C3EF2A-92DE-4C20-8F28-A3B2A3B5171F}"/>
              </a:ext>
            </a:extLst>
          </p:cNvPr>
          <p:cNvSpPr>
            <a:spLocks noGrp="1"/>
          </p:cNvSpPr>
          <p:nvPr/>
        </p:nvSpPr>
        <p:spPr>
          <a:xfrm>
            <a:off x="8810625" y="4238625"/>
            <a:ext cx="857250" cy="314325"/>
          </a:xfrm>
          <a:prstGeom prst="roundRect">
            <a:avLst>
              <a:gd name="adj" fmla="val 24242"/>
            </a:avLst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6</a:t>
            </a:r>
          </a:p>
        </p:txBody>
      </p:sp>
      <p:sp>
        <p:nvSpPr>
          <p:cNvPr id="48" name="Master 7">
            <a:extLst>
              <a:ext uri="{FF2B5EF4-FFF2-40B4-BE49-F238E27FC236}">
                <a16:creationId xmlns:a16="http://schemas.microsoft.com/office/drawing/2014/main" id="{A9AFEC18-8CA3-417A-92E3-FACC8770874C}"/>
              </a:ext>
            </a:extLst>
          </p:cNvPr>
          <p:cNvSpPr>
            <a:spLocks noGrp="1"/>
          </p:cNvSpPr>
          <p:nvPr/>
        </p:nvSpPr>
        <p:spPr>
          <a:xfrm>
            <a:off x="10858500" y="4238625"/>
            <a:ext cx="666750" cy="314325"/>
          </a:xfrm>
          <a:prstGeom prst="roundRect">
            <a:avLst>
              <a:gd name="adj" fmla="val 24242"/>
            </a:avLst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788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7</a:t>
            </a:r>
          </a:p>
        </p:txBody>
      </p:sp>
      <p:cxnSp>
        <p:nvCxnSpPr>
          <p:cNvPr id="49" name="直接箭头连接符 225"/>
          <p:cNvCxnSpPr/>
          <p:nvPr/>
        </p:nvCxnSpPr>
        <p:spPr>
          <a:xfrm flipV="1">
            <a:off x="1381125" y="2019300"/>
            <a:ext cx="31242" cy="4763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0" name="直接箭头连接符 226"/>
          <p:cNvCxnSpPr/>
          <p:nvPr/>
        </p:nvCxnSpPr>
        <p:spPr>
          <a:xfrm flipH="1" flipV="1">
            <a:off x="2492883" y="2019300"/>
            <a:ext cx="31242" cy="4763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1" name="直接箭头连接符 227"/>
          <p:cNvCxnSpPr/>
          <p:nvPr/>
        </p:nvCxnSpPr>
        <p:spPr>
          <a:xfrm flipV="1">
            <a:off x="1381125" y="4391025"/>
            <a:ext cx="31242" cy="4762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2" name="直接箭头连接符 228"/>
          <p:cNvCxnSpPr/>
          <p:nvPr/>
        </p:nvCxnSpPr>
        <p:spPr>
          <a:xfrm flipH="1" flipV="1">
            <a:off x="2492883" y="4391025"/>
            <a:ext cx="31242" cy="4762"/>
          </a:xfrm>
          <a:prstGeom prst="straightConnector1">
            <a:avLst/>
          </a:prstGeom>
          <a:ln w="10001" cap="rnd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</p:cxnSp>
      <p:cxnSp>
        <p:nvCxnSpPr>
          <p:cNvPr id="53" name="直接箭头连接符 229"/>
          <p:cNvCxnSpPr/>
          <p:nvPr/>
        </p:nvCxnSpPr>
        <p:spPr>
          <a:xfrm flipV="1">
            <a:off x="9667875" y="2019300"/>
            <a:ext cx="78867" cy="4763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4" name="直接箭头连接符 230"/>
          <p:cNvCxnSpPr/>
          <p:nvPr/>
        </p:nvCxnSpPr>
        <p:spPr>
          <a:xfrm flipH="1" flipV="1">
            <a:off x="10827258" y="2019300"/>
            <a:ext cx="31242" cy="4763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5" name="直接箭头连接符 231"/>
          <p:cNvCxnSpPr/>
          <p:nvPr/>
        </p:nvCxnSpPr>
        <p:spPr>
          <a:xfrm flipV="1">
            <a:off x="9667875" y="4391025"/>
            <a:ext cx="78867" cy="4762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6" name="直接箭头连接符 232"/>
          <p:cNvCxnSpPr/>
          <p:nvPr/>
        </p:nvCxnSpPr>
        <p:spPr>
          <a:xfrm flipH="1" flipV="1">
            <a:off x="10827258" y="4391025"/>
            <a:ext cx="31242" cy="4762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sp>
        <p:nvSpPr>
          <p:cNvPr id="57" name="L2 Cache 2">
            <a:extLst>
              <a:ext uri="{FF2B5EF4-FFF2-40B4-BE49-F238E27FC236}">
                <a16:creationId xmlns:a16="http://schemas.microsoft.com/office/drawing/2014/main" id="{9F9C7CBC-0FD3-4EB7-ADCA-B9F3DC76E812}"/>
              </a:ext>
            </a:extLst>
          </p:cNvPr>
          <p:cNvSpPr>
            <a:spLocks noGrp="1"/>
          </p:cNvSpPr>
          <p:nvPr/>
        </p:nvSpPr>
        <p:spPr>
          <a:xfrm>
            <a:off x="6096000" y="1981200"/>
            <a:ext cx="952500" cy="476250"/>
          </a:xfrm>
          <a:prstGeom prst="roundRect">
            <a:avLst>
              <a:gd name="adj" fmla="val 16000"/>
            </a:avLst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buNone/>
              <a:def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L2 Buffer 2</a:t>
            </a:r>
          </a:p>
        </p:txBody>
      </p:sp>
      <p:sp>
        <p:nvSpPr>
          <p:cNvPr id="58" name="L2 Cache 3">
            <a:extLst>
              <a:ext uri="{FF2B5EF4-FFF2-40B4-BE49-F238E27FC236}">
                <a16:creationId xmlns:a16="http://schemas.microsoft.com/office/drawing/2014/main" id="{D33C070D-9E7D-4A0E-827D-6796DAD62797}"/>
              </a:ext>
            </a:extLst>
          </p:cNvPr>
          <p:cNvSpPr>
            <a:spLocks noGrp="1"/>
          </p:cNvSpPr>
          <p:nvPr/>
        </p:nvSpPr>
        <p:spPr>
          <a:xfrm>
            <a:off x="7286625" y="1981200"/>
            <a:ext cx="952500" cy="476250"/>
          </a:xfrm>
          <a:prstGeom prst="roundRect">
            <a:avLst>
              <a:gd name="adj" fmla="val 16000"/>
            </a:avLst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HA 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MemPort</a:t>
            </a:r>
          </a:p>
        </p:txBody>
      </p:sp>
      <p:sp>
        <p:nvSpPr>
          <p:cNvPr id="59" name="HA 2 MemPort">
            <a:extLst>
              <a:ext uri="{FF2B5EF4-FFF2-40B4-BE49-F238E27FC236}">
                <a16:creationId xmlns:a16="http://schemas.microsoft.com/office/drawing/2014/main" id="{19051119-102C-4207-B475-2773E93A4819}"/>
              </a:ext>
            </a:extLst>
          </p:cNvPr>
          <p:cNvSpPr>
            <a:spLocks noGrp="1"/>
          </p:cNvSpPr>
          <p:nvPr/>
        </p:nvSpPr>
        <p:spPr>
          <a:xfrm>
            <a:off x="6096000" y="4191000"/>
            <a:ext cx="952500" cy="476250"/>
          </a:xfrm>
          <a:prstGeom prst="roundRect">
            <a:avLst>
              <a:gd name="adj" fmla="val 16000"/>
            </a:avLst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buNone/>
              <a:def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L2 Buffer 3</a:t>
            </a:r>
          </a:p>
        </p:txBody>
      </p:sp>
      <p:sp>
        <p:nvSpPr>
          <p:cNvPr id="60" name="HA 3 MemPort">
            <a:extLst>
              <a:ext uri="{FF2B5EF4-FFF2-40B4-BE49-F238E27FC236}">
                <a16:creationId xmlns:a16="http://schemas.microsoft.com/office/drawing/2014/main" id="{38152099-C470-409D-9009-3EEE10998D20}"/>
              </a:ext>
            </a:extLst>
          </p:cNvPr>
          <p:cNvSpPr>
            <a:spLocks noGrp="1"/>
          </p:cNvSpPr>
          <p:nvPr/>
        </p:nvSpPr>
        <p:spPr>
          <a:xfrm>
            <a:off x="7286625" y="4191000"/>
            <a:ext cx="952500" cy="476250"/>
          </a:xfrm>
          <a:prstGeom prst="roundRect">
            <a:avLst>
              <a:gd name="adj" fmla="val 16000"/>
            </a:avLst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HA 3</a:t>
            </a:r>
          </a:p>
          <a:p>
            <a:pPr algn="ctr"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MemPort</a:t>
            </a:r>
          </a:p>
        </p:txBody>
      </p:sp>
      <p:cxnSp>
        <p:nvCxnSpPr>
          <p:cNvPr id="61" name="直接箭头连接符 237"/>
          <p:cNvCxnSpPr/>
          <p:nvPr/>
        </p:nvCxnSpPr>
        <p:spPr>
          <a:xfrm>
            <a:off x="4191000" y="2457450"/>
            <a:ext cx="0" cy="50749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2" name="直接箭头连接符 238"/>
          <p:cNvCxnSpPr/>
          <p:nvPr/>
        </p:nvCxnSpPr>
        <p:spPr>
          <a:xfrm flipH="1">
            <a:off x="4191000" y="3854958"/>
            <a:ext cx="0" cy="33604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3" name="直接箭头连接符 239"/>
          <p:cNvCxnSpPr/>
          <p:nvPr/>
        </p:nvCxnSpPr>
        <p:spPr>
          <a:xfrm>
            <a:off x="5381625" y="2457450"/>
            <a:ext cx="0" cy="50749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4" name="直接箭头连接符 240"/>
          <p:cNvCxnSpPr/>
          <p:nvPr/>
        </p:nvCxnSpPr>
        <p:spPr>
          <a:xfrm>
            <a:off x="5381625" y="3854958"/>
            <a:ext cx="0" cy="33604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5" name="直接箭头连接符 241"/>
          <p:cNvCxnSpPr/>
          <p:nvPr/>
        </p:nvCxnSpPr>
        <p:spPr>
          <a:xfrm>
            <a:off x="6572250" y="2457450"/>
            <a:ext cx="0" cy="50749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6" name="直接箭头连接符 242"/>
          <p:cNvCxnSpPr/>
          <p:nvPr/>
        </p:nvCxnSpPr>
        <p:spPr>
          <a:xfrm>
            <a:off x="6572250" y="3854958"/>
            <a:ext cx="0" cy="33604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7" name="直接箭头连接符 243"/>
          <p:cNvCxnSpPr/>
          <p:nvPr/>
        </p:nvCxnSpPr>
        <p:spPr>
          <a:xfrm>
            <a:off x="7762875" y="2457450"/>
            <a:ext cx="0" cy="50749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8" name="直接箭头连接符 244"/>
          <p:cNvCxnSpPr/>
          <p:nvPr/>
        </p:nvCxnSpPr>
        <p:spPr>
          <a:xfrm flipH="1">
            <a:off x="7762875" y="3854958"/>
            <a:ext cx="0" cy="33604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9" name="连接符: 肘形 245"/>
          <p:cNvCxnSpPr/>
          <p:nvPr/>
        </p:nvCxnSpPr>
        <p:spPr>
          <a:xfrm>
            <a:off x="1381125" y="2024063"/>
            <a:ext cx="562107" cy="770571"/>
          </a:xfrm>
          <a:prstGeom prst="bentConnector2">
            <a:avLst/>
          </a:prstGeom>
          <a:ln w="25400" cap="rnd">
            <a:solidFill>
              <a:srgbClr val="D73A32"/>
            </a:solidFill>
            <a:prstDash val="solid"/>
            <a:round/>
            <a:tailEnd type="arrow" w="med" len="med"/>
          </a:ln>
        </p:spPr>
      </p:cxnSp>
      <p:cxnSp>
        <p:nvCxnSpPr>
          <p:cNvPr id="70" name="连接符: 肘形 246"/>
          <p:cNvCxnSpPr>
            <a:cxnSpLocks/>
          </p:cNvCxnSpPr>
          <p:nvPr/>
        </p:nvCxnSpPr>
        <p:spPr>
          <a:xfrm rot="16200000" flipH="1">
            <a:off x="2848612" y="2384554"/>
            <a:ext cx="437008" cy="2247768"/>
          </a:xfrm>
          <a:prstGeom prst="bentConnector3">
            <a:avLst>
              <a:gd name="adj1" fmla="val 50000"/>
            </a:avLst>
          </a:prstGeom>
          <a:ln w="25400" cap="rnd">
            <a:solidFill>
              <a:srgbClr val="D73A32"/>
            </a:solidFill>
            <a:prstDash val="solid"/>
            <a:round/>
          </a:ln>
        </p:spPr>
      </p:cxnSp>
      <p:cxnSp>
        <p:nvCxnSpPr>
          <p:cNvPr id="71" name="直接箭头连接符 247"/>
          <p:cNvCxnSpPr/>
          <p:nvPr/>
        </p:nvCxnSpPr>
        <p:spPr>
          <a:xfrm flipH="1">
            <a:off x="4191000" y="3854958"/>
            <a:ext cx="0" cy="336042"/>
          </a:xfrm>
          <a:prstGeom prst="straightConnector1">
            <a:avLst/>
          </a:prstGeom>
          <a:ln w="25400" cap="rnd">
            <a:solidFill>
              <a:srgbClr val="D73A32"/>
            </a:solidFill>
            <a:prstDash val="solid"/>
            <a:round/>
            <a:tailEnd type="arrow" w="med" len="med"/>
          </a:ln>
        </p:spPr>
      </p:cxnSp>
      <p:cxnSp>
        <p:nvCxnSpPr>
          <p:cNvPr id="72" name="直接箭头连接符 248"/>
          <p:cNvCxnSpPr>
            <a:cxnSpLocks/>
          </p:cNvCxnSpPr>
          <p:nvPr/>
        </p:nvCxnSpPr>
        <p:spPr>
          <a:xfrm>
            <a:off x="5381625" y="2457450"/>
            <a:ext cx="0" cy="507492"/>
          </a:xfrm>
          <a:prstGeom prst="straightConnector1">
            <a:avLst/>
          </a:prstGeom>
          <a:ln w="25400" cap="rnd">
            <a:solidFill>
              <a:srgbClr val="2A70AD"/>
            </a:solidFill>
            <a:prstDash val="solid"/>
            <a:round/>
          </a:ln>
        </p:spPr>
      </p:cxnSp>
      <p:cxnSp>
        <p:nvCxnSpPr>
          <p:cNvPr id="73" name="连接符: 肘形 249"/>
          <p:cNvCxnSpPr>
            <a:cxnSpLocks/>
          </p:cNvCxnSpPr>
          <p:nvPr/>
        </p:nvCxnSpPr>
        <p:spPr>
          <a:xfrm rot="5400000">
            <a:off x="3810544" y="1606647"/>
            <a:ext cx="84770" cy="3057392"/>
          </a:xfrm>
          <a:prstGeom prst="bentConnector2">
            <a:avLst/>
          </a:prstGeom>
          <a:ln w="25400" cap="rnd">
            <a:solidFill>
              <a:srgbClr val="2A70AD"/>
            </a:solidFill>
            <a:prstDash val="solid"/>
            <a:round/>
          </a:ln>
        </p:spPr>
      </p:cxnSp>
      <p:sp>
        <p:nvSpPr>
          <p:cNvPr id="74" name="Rounded Rectangle 48">
            <a:extLst>
              <a:ext uri="{FF2B5EF4-FFF2-40B4-BE49-F238E27FC236}">
                <a16:creationId xmlns:a16="http://schemas.microsoft.com/office/drawing/2014/main" id="{79E7AC14-D476-45B2-B37E-A76BC32E0A21}"/>
              </a:ext>
            </a:extLst>
          </p:cNvPr>
          <p:cNvSpPr>
            <a:spLocks noGrp="1"/>
          </p:cNvSpPr>
          <p:nvPr/>
        </p:nvSpPr>
        <p:spPr>
          <a:xfrm>
            <a:off x="3714750" y="4191000"/>
            <a:ext cx="952500" cy="476250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HA 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MemPort</a:t>
            </a:r>
          </a:p>
        </p:txBody>
      </p:sp>
      <p:sp>
        <p:nvSpPr>
          <p:cNvPr id="75" name="delivery-add-9">
            <a:extLst>
              <a:ext uri="{FF2B5EF4-FFF2-40B4-BE49-F238E27FC236}">
                <a16:creationId xmlns:a16="http://schemas.microsoft.com/office/drawing/2014/main" id="{5543FF71-1577-4E50-900C-359ADB2C61E9}"/>
              </a:ext>
            </a:extLst>
          </p:cNvPr>
          <p:cNvSpPr>
            <a:spLocks noGrp="1"/>
          </p:cNvSpPr>
          <p:nvPr/>
        </p:nvSpPr>
        <p:spPr>
          <a:xfrm>
            <a:off x="600075" y="5686425"/>
            <a:ext cx="109918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节点组成：每条V-Ring含4个计算核接入节点与1个桥接节点。H-Ring含2个桥接节点、4个HA端口和4个L2 Buffer。</a:t>
            </a:r>
          </a:p>
        </p:txBody>
      </p:sp>
      <p:sp>
        <p:nvSpPr>
          <p:cNvPr id="76" name="delivery-add-10">
            <a:extLst>
              <a:ext uri="{FF2B5EF4-FFF2-40B4-BE49-F238E27FC236}">
                <a16:creationId xmlns:a16="http://schemas.microsoft.com/office/drawing/2014/main" id="{11EBE070-A07F-48AA-8A07-F4E59DAD601B}"/>
              </a:ext>
            </a:extLst>
          </p:cNvPr>
          <p:cNvSpPr>
            <a:spLocks noGrp="1"/>
          </p:cNvSpPr>
          <p:nvPr/>
        </p:nvSpPr>
        <p:spPr>
          <a:xfrm>
            <a:off x="600075" y="6343650"/>
            <a:ext cx="10991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图中HBM表示后端存储抽象。蓝色为数据返回路径，红色为计算核发往存储端的请求路径。</a:t>
            </a:r>
          </a:p>
        </p:txBody>
      </p:sp>
      <p:sp>
        <p:nvSpPr>
          <p:cNvPr id="77" name="share-39">
            <a:extLst>
              <a:ext uri="{FF2B5EF4-FFF2-40B4-BE49-F238E27FC236}">
                <a16:creationId xmlns:a16="http://schemas.microsoft.com/office/drawing/2014/main" id="{8AFEE4DA-EBDA-4E45-8132-28CB7CFDAB79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08310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1">
            <a:extLst>
              <a:ext uri="{FF2B5EF4-FFF2-40B4-BE49-F238E27FC236}">
                <a16:creationId xmlns:a16="http://schemas.microsoft.com/office/drawing/2014/main" id="{B8E01F0B-30A3-45F4-B9DA-47665A36CEB0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读写事务的端到端路径</a:t>
            </a:r>
          </a:p>
        </p:txBody>
      </p:sp>
      <p:sp>
        <p:nvSpPr>
          <p:cNvPr id="3" name="diagram-2">
            <a:extLst>
              <a:ext uri="{FF2B5EF4-FFF2-40B4-BE49-F238E27FC236}">
                <a16:creationId xmlns:a16="http://schemas.microsoft.com/office/drawing/2014/main" id="{60E21FC1-6455-4E6E-9ABE-3ECBCEDC2E84}"/>
              </a:ext>
            </a:extLst>
          </p:cNvPr>
          <p:cNvSpPr>
            <a:spLocks noGrp="1"/>
          </p:cNvSpPr>
          <p:nvPr/>
        </p:nvSpPr>
        <p:spPr>
          <a:xfrm>
            <a:off x="381000" y="1200150"/>
            <a:ext cx="7048500" cy="4714875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00E41180-8F51-4413-9F10-83940DC8613D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6381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读请求 REQ</a:t>
            </a:r>
          </a:p>
        </p:txBody>
      </p:sp>
      <p:sp>
        <p:nvSpPr>
          <p:cNvPr id="5" name="diagram-4">
            <a:extLst>
              <a:ext uri="{FF2B5EF4-FFF2-40B4-BE49-F238E27FC236}">
                <a16:creationId xmlns:a16="http://schemas.microsoft.com/office/drawing/2014/main" id="{A7B76934-2055-4464-A2B1-AC28560910CA}"/>
              </a:ext>
            </a:extLst>
          </p:cNvPr>
          <p:cNvSpPr>
            <a:spLocks noGrp="1"/>
          </p:cNvSpPr>
          <p:nvPr/>
        </p:nvSpPr>
        <p:spPr>
          <a:xfrm>
            <a:off x="571500" y="1666875"/>
            <a:ext cx="1104900" cy="5048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6" name="diagram-5">
            <a:extLst>
              <a:ext uri="{FF2B5EF4-FFF2-40B4-BE49-F238E27FC236}">
                <a16:creationId xmlns:a16="http://schemas.microsoft.com/office/drawing/2014/main" id="{EC325FDF-496A-4C48-86AE-969C73F1FCB2}"/>
              </a:ext>
            </a:extLst>
          </p:cNvPr>
          <p:cNvSpPr>
            <a:spLocks noGrp="1"/>
          </p:cNvSpPr>
          <p:nvPr/>
        </p:nvSpPr>
        <p:spPr>
          <a:xfrm>
            <a:off x="1914525" y="1666875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7" name="diagram-6">
            <a:extLst>
              <a:ext uri="{FF2B5EF4-FFF2-40B4-BE49-F238E27FC236}">
                <a16:creationId xmlns:a16="http://schemas.microsoft.com/office/drawing/2014/main" id="{04E0ADFD-85B8-4F49-8E4C-E7C7BFB21FAF}"/>
              </a:ext>
            </a:extLst>
          </p:cNvPr>
          <p:cNvSpPr>
            <a:spLocks noGrp="1"/>
          </p:cNvSpPr>
          <p:nvPr/>
        </p:nvSpPr>
        <p:spPr>
          <a:xfrm>
            <a:off x="3257550" y="1666875"/>
            <a:ext cx="1104900" cy="5048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</p:txBody>
      </p:sp>
      <p:sp>
        <p:nvSpPr>
          <p:cNvPr id="8" name="diagram-7">
            <a:extLst>
              <a:ext uri="{FF2B5EF4-FFF2-40B4-BE49-F238E27FC236}">
                <a16:creationId xmlns:a16="http://schemas.microsoft.com/office/drawing/2014/main" id="{849BEECC-1D8A-4D93-A69F-EF4B35C3C153}"/>
              </a:ext>
            </a:extLst>
          </p:cNvPr>
          <p:cNvSpPr>
            <a:spLocks noGrp="1"/>
          </p:cNvSpPr>
          <p:nvPr/>
        </p:nvSpPr>
        <p:spPr>
          <a:xfrm>
            <a:off x="4600575" y="1666875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9" name="diagram-8">
            <a:extLst>
              <a:ext uri="{FF2B5EF4-FFF2-40B4-BE49-F238E27FC236}">
                <a16:creationId xmlns:a16="http://schemas.microsoft.com/office/drawing/2014/main" id="{2FC0D800-F0C5-46D3-8393-DB02DEB58E80}"/>
              </a:ext>
            </a:extLst>
          </p:cNvPr>
          <p:cNvSpPr>
            <a:spLocks noGrp="1"/>
          </p:cNvSpPr>
          <p:nvPr/>
        </p:nvSpPr>
        <p:spPr>
          <a:xfrm>
            <a:off x="5943600" y="1666875"/>
            <a:ext cx="1104900" cy="5048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</a:t>
            </a:r>
          </a:p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内存端口</a:t>
            </a:r>
          </a:p>
        </p:txBody>
      </p:sp>
      <p:cxnSp>
        <p:nvCxnSpPr>
          <p:cNvPr id="10" name="直接箭头连接符 55"/>
          <p:cNvCxnSpPr/>
          <p:nvPr/>
        </p:nvCxnSpPr>
        <p:spPr>
          <a:xfrm>
            <a:off x="1676400" y="191928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1" name="直接箭头连接符 56"/>
          <p:cNvCxnSpPr/>
          <p:nvPr/>
        </p:nvCxnSpPr>
        <p:spPr>
          <a:xfrm>
            <a:off x="3019425" y="191928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2" name="直接箭头连接符 57"/>
          <p:cNvCxnSpPr/>
          <p:nvPr/>
        </p:nvCxnSpPr>
        <p:spPr>
          <a:xfrm>
            <a:off x="4362450" y="191928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3" name="直接箭头连接符 58"/>
          <p:cNvCxnSpPr/>
          <p:nvPr/>
        </p:nvCxnSpPr>
        <p:spPr>
          <a:xfrm>
            <a:off x="5705475" y="191928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14" name="txt-9">
            <a:extLst>
              <a:ext uri="{FF2B5EF4-FFF2-40B4-BE49-F238E27FC236}">
                <a16:creationId xmlns:a16="http://schemas.microsoft.com/office/drawing/2014/main" id="{4F3C347D-0942-45FA-8A54-0CE1EC2D4CFE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6381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读数据 DAT</a:t>
            </a:r>
          </a:p>
        </p:txBody>
      </p:sp>
      <p:sp>
        <p:nvSpPr>
          <p:cNvPr id="15" name="diagram-10">
            <a:extLst>
              <a:ext uri="{FF2B5EF4-FFF2-40B4-BE49-F238E27FC236}">
                <a16:creationId xmlns:a16="http://schemas.microsoft.com/office/drawing/2014/main" id="{9DB916F7-5150-4080-83B4-F369D6C4EA1F}"/>
              </a:ext>
            </a:extLst>
          </p:cNvPr>
          <p:cNvSpPr>
            <a:spLocks noGrp="1"/>
          </p:cNvSpPr>
          <p:nvPr/>
        </p:nvSpPr>
        <p:spPr>
          <a:xfrm>
            <a:off x="571500" y="2705100"/>
            <a:ext cx="1104900" cy="5048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16" name="diagram-11">
            <a:extLst>
              <a:ext uri="{FF2B5EF4-FFF2-40B4-BE49-F238E27FC236}">
                <a16:creationId xmlns:a16="http://schemas.microsoft.com/office/drawing/2014/main" id="{A97AAB42-539D-4226-8210-D37B6C0A5153}"/>
              </a:ext>
            </a:extLst>
          </p:cNvPr>
          <p:cNvSpPr>
            <a:spLocks noGrp="1"/>
          </p:cNvSpPr>
          <p:nvPr/>
        </p:nvSpPr>
        <p:spPr>
          <a:xfrm>
            <a:off x="1914525" y="2705100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17" name="diagram-12">
            <a:extLst>
              <a:ext uri="{FF2B5EF4-FFF2-40B4-BE49-F238E27FC236}">
                <a16:creationId xmlns:a16="http://schemas.microsoft.com/office/drawing/2014/main" id="{BBB2761C-26F1-46C2-BBDB-B4C8D3ABE876}"/>
              </a:ext>
            </a:extLst>
          </p:cNvPr>
          <p:cNvSpPr>
            <a:spLocks noGrp="1"/>
          </p:cNvSpPr>
          <p:nvPr/>
        </p:nvSpPr>
        <p:spPr>
          <a:xfrm>
            <a:off x="3257550" y="2705100"/>
            <a:ext cx="1104900" cy="5048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</p:txBody>
      </p:sp>
      <p:sp>
        <p:nvSpPr>
          <p:cNvPr id="18" name="diagram-13">
            <a:extLst>
              <a:ext uri="{FF2B5EF4-FFF2-40B4-BE49-F238E27FC236}">
                <a16:creationId xmlns:a16="http://schemas.microsoft.com/office/drawing/2014/main" id="{DF6D5417-6048-4BBF-9ED7-875E5D678449}"/>
              </a:ext>
            </a:extLst>
          </p:cNvPr>
          <p:cNvSpPr>
            <a:spLocks noGrp="1"/>
          </p:cNvSpPr>
          <p:nvPr/>
        </p:nvSpPr>
        <p:spPr>
          <a:xfrm>
            <a:off x="4600575" y="2705100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19" name="diagram-14">
            <a:extLst>
              <a:ext uri="{FF2B5EF4-FFF2-40B4-BE49-F238E27FC236}">
                <a16:creationId xmlns:a16="http://schemas.microsoft.com/office/drawing/2014/main" id="{DEECF1E4-4A1E-40A3-AB7C-8B679A15AC47}"/>
              </a:ext>
            </a:extLst>
          </p:cNvPr>
          <p:cNvSpPr>
            <a:spLocks noGrp="1"/>
          </p:cNvSpPr>
          <p:nvPr/>
        </p:nvSpPr>
        <p:spPr>
          <a:xfrm>
            <a:off x="5943600" y="2705100"/>
            <a:ext cx="1104900" cy="504825"/>
          </a:xfrm>
          <a:prstGeom prst="rect">
            <a:avLst/>
          </a:prstGeom>
          <a:solidFill>
            <a:srgbClr val="A9D9AF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 Buffer</a:t>
            </a:r>
          </a:p>
        </p:txBody>
      </p:sp>
      <p:cxnSp>
        <p:nvCxnSpPr>
          <p:cNvPr id="20" name="直接箭头连接符 65"/>
          <p:cNvCxnSpPr/>
          <p:nvPr/>
        </p:nvCxnSpPr>
        <p:spPr>
          <a:xfrm flipH="1">
            <a:off x="1676400" y="2957513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21" name="直接箭头连接符 66"/>
          <p:cNvCxnSpPr/>
          <p:nvPr/>
        </p:nvCxnSpPr>
        <p:spPr>
          <a:xfrm flipH="1">
            <a:off x="3019425" y="2957513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22" name="直接箭头连接符 67"/>
          <p:cNvCxnSpPr/>
          <p:nvPr/>
        </p:nvCxnSpPr>
        <p:spPr>
          <a:xfrm flipH="1">
            <a:off x="4362450" y="2957513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23" name="直接箭头连接符 68"/>
          <p:cNvCxnSpPr/>
          <p:nvPr/>
        </p:nvCxnSpPr>
        <p:spPr>
          <a:xfrm flipH="1">
            <a:off x="5705475" y="2957513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24" name="txt-15">
            <a:extLst>
              <a:ext uri="{FF2B5EF4-FFF2-40B4-BE49-F238E27FC236}">
                <a16:creationId xmlns:a16="http://schemas.microsoft.com/office/drawing/2014/main" id="{75FBE862-BD5A-4A8F-B864-7DF6717B0F1B}"/>
              </a:ext>
            </a:extLst>
          </p:cNvPr>
          <p:cNvSpPr>
            <a:spLocks noGrp="1"/>
          </p:cNvSpPr>
          <p:nvPr/>
        </p:nvSpPr>
        <p:spPr>
          <a:xfrm>
            <a:off x="571500" y="3429000"/>
            <a:ext cx="6381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写请求与写数据 REQ / DAT</a:t>
            </a:r>
          </a:p>
        </p:txBody>
      </p:sp>
      <p:sp>
        <p:nvSpPr>
          <p:cNvPr id="25" name="diagram-16">
            <a:extLst>
              <a:ext uri="{FF2B5EF4-FFF2-40B4-BE49-F238E27FC236}">
                <a16:creationId xmlns:a16="http://schemas.microsoft.com/office/drawing/2014/main" id="{55F47B33-7A90-441B-9EF8-384089264586}"/>
              </a:ext>
            </a:extLst>
          </p:cNvPr>
          <p:cNvSpPr>
            <a:spLocks noGrp="1"/>
          </p:cNvSpPr>
          <p:nvPr/>
        </p:nvSpPr>
        <p:spPr>
          <a:xfrm>
            <a:off x="571500" y="3743325"/>
            <a:ext cx="1104900" cy="5048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26" name="diagram-17">
            <a:extLst>
              <a:ext uri="{FF2B5EF4-FFF2-40B4-BE49-F238E27FC236}">
                <a16:creationId xmlns:a16="http://schemas.microsoft.com/office/drawing/2014/main" id="{B41B3F1B-9FF9-4C33-BB88-FE79EA9DA7A4}"/>
              </a:ext>
            </a:extLst>
          </p:cNvPr>
          <p:cNvSpPr>
            <a:spLocks noGrp="1"/>
          </p:cNvSpPr>
          <p:nvPr/>
        </p:nvSpPr>
        <p:spPr>
          <a:xfrm>
            <a:off x="1914525" y="3743325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27" name="diagram-18">
            <a:extLst>
              <a:ext uri="{FF2B5EF4-FFF2-40B4-BE49-F238E27FC236}">
                <a16:creationId xmlns:a16="http://schemas.microsoft.com/office/drawing/2014/main" id="{1C48A23A-AADC-476B-B7C7-6179F1BE83F7}"/>
              </a:ext>
            </a:extLst>
          </p:cNvPr>
          <p:cNvSpPr>
            <a:spLocks noGrp="1"/>
          </p:cNvSpPr>
          <p:nvPr/>
        </p:nvSpPr>
        <p:spPr>
          <a:xfrm>
            <a:off x="3257550" y="3743325"/>
            <a:ext cx="1104900" cy="5048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</p:txBody>
      </p:sp>
      <p:sp>
        <p:nvSpPr>
          <p:cNvPr id="28" name="diagram-19">
            <a:extLst>
              <a:ext uri="{FF2B5EF4-FFF2-40B4-BE49-F238E27FC236}">
                <a16:creationId xmlns:a16="http://schemas.microsoft.com/office/drawing/2014/main" id="{B4A2505C-8DC1-4F51-8494-FECC9607C913}"/>
              </a:ext>
            </a:extLst>
          </p:cNvPr>
          <p:cNvSpPr>
            <a:spLocks noGrp="1"/>
          </p:cNvSpPr>
          <p:nvPr/>
        </p:nvSpPr>
        <p:spPr>
          <a:xfrm>
            <a:off x="4600575" y="3743325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29" name="diagram-20">
            <a:extLst>
              <a:ext uri="{FF2B5EF4-FFF2-40B4-BE49-F238E27FC236}">
                <a16:creationId xmlns:a16="http://schemas.microsoft.com/office/drawing/2014/main" id="{33448C91-312B-4D32-84CF-AD5C6B922FD9}"/>
              </a:ext>
            </a:extLst>
          </p:cNvPr>
          <p:cNvSpPr>
            <a:spLocks noGrp="1"/>
          </p:cNvSpPr>
          <p:nvPr/>
        </p:nvSpPr>
        <p:spPr>
          <a:xfrm>
            <a:off x="5943600" y="3743325"/>
            <a:ext cx="1104900" cy="5048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88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</a:t>
            </a:r>
            <a:endParaRPr lang="en-US" sz="1388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内存端口</a:t>
            </a:r>
            <a:endParaRPr sz="1388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0" name="直接箭头连接符 75"/>
          <p:cNvCxnSpPr/>
          <p:nvPr/>
        </p:nvCxnSpPr>
        <p:spPr>
          <a:xfrm>
            <a:off x="1676400" y="39957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31" name="直接箭头连接符 76"/>
          <p:cNvCxnSpPr/>
          <p:nvPr/>
        </p:nvCxnSpPr>
        <p:spPr>
          <a:xfrm>
            <a:off x="3019425" y="39957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32" name="直接箭头连接符 77"/>
          <p:cNvCxnSpPr/>
          <p:nvPr/>
        </p:nvCxnSpPr>
        <p:spPr>
          <a:xfrm>
            <a:off x="4362450" y="39957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33" name="直接箭头连接符 78"/>
          <p:cNvCxnSpPr/>
          <p:nvPr/>
        </p:nvCxnSpPr>
        <p:spPr>
          <a:xfrm>
            <a:off x="5705475" y="39957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34" name="txt-21">
            <a:extLst>
              <a:ext uri="{FF2B5EF4-FFF2-40B4-BE49-F238E27FC236}">
                <a16:creationId xmlns:a16="http://schemas.microsoft.com/office/drawing/2014/main" id="{66C79496-374B-45A0-AE71-F391E827BDC2}"/>
              </a:ext>
            </a:extLst>
          </p:cNvPr>
          <p:cNvSpPr>
            <a:spLocks noGrp="1"/>
          </p:cNvSpPr>
          <p:nvPr/>
        </p:nvSpPr>
        <p:spPr>
          <a:xfrm>
            <a:off x="571500" y="4467225"/>
            <a:ext cx="6381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写完成响应 RSP</a:t>
            </a:r>
          </a:p>
        </p:txBody>
      </p:sp>
      <p:sp>
        <p:nvSpPr>
          <p:cNvPr id="35" name="diagram-22">
            <a:extLst>
              <a:ext uri="{FF2B5EF4-FFF2-40B4-BE49-F238E27FC236}">
                <a16:creationId xmlns:a16="http://schemas.microsoft.com/office/drawing/2014/main" id="{AE6B5E69-DB31-4BEE-ACF7-D63DA2C2D109}"/>
              </a:ext>
            </a:extLst>
          </p:cNvPr>
          <p:cNvSpPr>
            <a:spLocks noGrp="1"/>
          </p:cNvSpPr>
          <p:nvPr/>
        </p:nvSpPr>
        <p:spPr>
          <a:xfrm>
            <a:off x="571500" y="4781550"/>
            <a:ext cx="1104900" cy="5048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36" name="diagram-23">
            <a:extLst>
              <a:ext uri="{FF2B5EF4-FFF2-40B4-BE49-F238E27FC236}">
                <a16:creationId xmlns:a16="http://schemas.microsoft.com/office/drawing/2014/main" id="{97331A6E-7AC5-47C9-BE4D-DA9CF60ACA46}"/>
              </a:ext>
            </a:extLst>
          </p:cNvPr>
          <p:cNvSpPr>
            <a:spLocks noGrp="1"/>
          </p:cNvSpPr>
          <p:nvPr/>
        </p:nvSpPr>
        <p:spPr>
          <a:xfrm>
            <a:off x="1914525" y="4781550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37" name="diagram-24">
            <a:extLst>
              <a:ext uri="{FF2B5EF4-FFF2-40B4-BE49-F238E27FC236}">
                <a16:creationId xmlns:a16="http://schemas.microsoft.com/office/drawing/2014/main" id="{42E3C578-1D0F-4A5D-9040-41045069EEB3}"/>
              </a:ext>
            </a:extLst>
          </p:cNvPr>
          <p:cNvSpPr>
            <a:spLocks noGrp="1"/>
          </p:cNvSpPr>
          <p:nvPr/>
        </p:nvSpPr>
        <p:spPr>
          <a:xfrm>
            <a:off x="3257550" y="4781550"/>
            <a:ext cx="1104900" cy="5048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</p:txBody>
      </p:sp>
      <p:sp>
        <p:nvSpPr>
          <p:cNvPr id="38" name="diagram-25">
            <a:extLst>
              <a:ext uri="{FF2B5EF4-FFF2-40B4-BE49-F238E27FC236}">
                <a16:creationId xmlns:a16="http://schemas.microsoft.com/office/drawing/2014/main" id="{39D4BCCD-8F02-4D6A-8F6F-F31B54001EAD}"/>
              </a:ext>
            </a:extLst>
          </p:cNvPr>
          <p:cNvSpPr>
            <a:spLocks noGrp="1"/>
          </p:cNvSpPr>
          <p:nvPr/>
        </p:nvSpPr>
        <p:spPr>
          <a:xfrm>
            <a:off x="4600575" y="4781550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39" name="diagram-26">
            <a:extLst>
              <a:ext uri="{FF2B5EF4-FFF2-40B4-BE49-F238E27FC236}">
                <a16:creationId xmlns:a16="http://schemas.microsoft.com/office/drawing/2014/main" id="{AECC384F-AFFD-4400-ABAE-E884A634A9D4}"/>
              </a:ext>
            </a:extLst>
          </p:cNvPr>
          <p:cNvSpPr>
            <a:spLocks noGrp="1"/>
          </p:cNvSpPr>
          <p:nvPr/>
        </p:nvSpPr>
        <p:spPr>
          <a:xfrm>
            <a:off x="5943600" y="4781550"/>
            <a:ext cx="1104900" cy="5048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</a:t>
            </a:r>
          </a:p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内存端口</a:t>
            </a:r>
          </a:p>
        </p:txBody>
      </p:sp>
      <p:cxnSp>
        <p:nvCxnSpPr>
          <p:cNvPr id="40" name="直接箭头连接符 85"/>
          <p:cNvCxnSpPr/>
          <p:nvPr/>
        </p:nvCxnSpPr>
        <p:spPr>
          <a:xfrm flipH="1">
            <a:off x="1676400" y="5033963"/>
            <a:ext cx="238125" cy="0"/>
          </a:xfrm>
          <a:prstGeom prst="straightConnector1">
            <a:avLst/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41" name="直接箭头连接符 86"/>
          <p:cNvCxnSpPr/>
          <p:nvPr/>
        </p:nvCxnSpPr>
        <p:spPr>
          <a:xfrm flipH="1">
            <a:off x="3019425" y="5033963"/>
            <a:ext cx="238125" cy="0"/>
          </a:xfrm>
          <a:prstGeom prst="straightConnector1">
            <a:avLst/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42" name="直接箭头连接符 87"/>
          <p:cNvCxnSpPr/>
          <p:nvPr/>
        </p:nvCxnSpPr>
        <p:spPr>
          <a:xfrm flipH="1">
            <a:off x="4362450" y="5033963"/>
            <a:ext cx="238125" cy="0"/>
          </a:xfrm>
          <a:prstGeom prst="straightConnector1">
            <a:avLst/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43" name="直接箭头连接符 88"/>
          <p:cNvCxnSpPr/>
          <p:nvPr/>
        </p:nvCxnSpPr>
        <p:spPr>
          <a:xfrm flipH="1">
            <a:off x="5705475" y="5033963"/>
            <a:ext cx="238125" cy="0"/>
          </a:xfrm>
          <a:prstGeom prst="straightConnector1">
            <a:avLst/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sp>
        <p:nvSpPr>
          <p:cNvPr id="44" name="txt-27">
            <a:extLst>
              <a:ext uri="{FF2B5EF4-FFF2-40B4-BE49-F238E27FC236}">
                <a16:creationId xmlns:a16="http://schemas.microsoft.com/office/drawing/2014/main" id="{DF1B790E-9846-4846-AA07-4DB9FD35BA2E}"/>
              </a:ext>
            </a:extLst>
          </p:cNvPr>
          <p:cNvSpPr>
            <a:spLocks noGrp="1"/>
          </p:cNvSpPr>
          <p:nvPr/>
        </p:nvSpPr>
        <p:spPr>
          <a:xfrm>
            <a:off x="7820025" y="1304925"/>
            <a:ext cx="39814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读事务：请求与数据分离</a:t>
            </a:r>
          </a:p>
        </p:txBody>
      </p:sp>
      <p:sp>
        <p:nvSpPr>
          <p:cNvPr id="45" name="bullet-list-29">
            <a:extLst>
              <a:ext uri="{FF2B5EF4-FFF2-40B4-BE49-F238E27FC236}">
                <a16:creationId xmlns:a16="http://schemas.microsoft.com/office/drawing/2014/main" id="{A5C92875-9106-43AE-8417-98A98AF5110F}"/>
              </a:ext>
            </a:extLst>
          </p:cNvPr>
          <p:cNvSpPr>
            <a:spLocks noGrp="1"/>
          </p:cNvSpPr>
          <p:nvPr/>
        </p:nvSpPr>
        <p:spPr>
          <a:xfrm>
            <a:off x="7820025" y="1733550"/>
            <a:ext cx="3971925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读地址沿REQ子网，经V-Ring、RBRG和H-Ring到达HA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HA组织读取，完成数据交由L2 </a:t>
            </a: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Buffer缓冲和分发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读数据沿DAT子网返回目标V-Ring，再交付请求端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46" name="txt-30">
            <a:extLst>
              <a:ext uri="{FF2B5EF4-FFF2-40B4-BE49-F238E27FC236}">
                <a16:creationId xmlns:a16="http://schemas.microsoft.com/office/drawing/2014/main" id="{0BB9000B-F1BB-4F34-9B52-F76C35F8E45A}"/>
              </a:ext>
            </a:extLst>
          </p:cNvPr>
          <p:cNvSpPr>
            <a:spLocks noGrp="1"/>
          </p:cNvSpPr>
          <p:nvPr/>
        </p:nvSpPr>
        <p:spPr>
          <a:xfrm>
            <a:off x="7820025" y="4019550"/>
            <a:ext cx="39814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写事务：配对后提交</a:t>
            </a:r>
          </a:p>
        </p:txBody>
      </p:sp>
      <p:sp>
        <p:nvSpPr>
          <p:cNvPr id="47" name="bullet-list-32">
            <a:extLst>
              <a:ext uri="{FF2B5EF4-FFF2-40B4-BE49-F238E27FC236}">
                <a16:creationId xmlns:a16="http://schemas.microsoft.com/office/drawing/2014/main" id="{F9B4F450-0910-4AFD-92ED-21D8F05B905A}"/>
              </a:ext>
            </a:extLst>
          </p:cNvPr>
          <p:cNvSpPr>
            <a:spLocks noGrp="1"/>
          </p:cNvSpPr>
          <p:nvPr/>
        </p:nvSpPr>
        <p:spPr>
          <a:xfrm>
            <a:off x="7820025" y="4438650"/>
            <a:ext cx="3971925" cy="1419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写请求WR与写数据WR_DAT分别传输，可在不同周期到达。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内存端口按事务标识配对，后端接收成功后经RSP子网返回完成响应。</a:t>
            </a:r>
          </a:p>
        </p:txBody>
      </p:sp>
      <p:sp>
        <p:nvSpPr>
          <p:cNvPr id="48" name="txt-33">
            <a:extLst>
              <a:ext uri="{FF2B5EF4-FFF2-40B4-BE49-F238E27FC236}">
                <a16:creationId xmlns:a16="http://schemas.microsoft.com/office/drawing/2014/main" id="{4A986A08-5F58-4C4C-96CD-909CA35C14A8}"/>
              </a:ext>
            </a:extLst>
          </p:cNvPr>
          <p:cNvSpPr>
            <a:spLocks noGrp="1"/>
          </p:cNvSpPr>
          <p:nvPr/>
        </p:nvSpPr>
        <p:spPr>
          <a:xfrm>
            <a:off x="381000" y="6200775"/>
            <a:ext cx="11382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协议分工：REQ传递地址，DAT搬运数据，RSP返回写完成状态。</a:t>
            </a:r>
          </a:p>
        </p:txBody>
      </p:sp>
      <p:sp>
        <p:nvSpPr>
          <p:cNvPr id="49" name="share-40">
            <a:extLst>
              <a:ext uri="{FF2B5EF4-FFF2-40B4-BE49-F238E27FC236}">
                <a16:creationId xmlns:a16="http://schemas.microsoft.com/office/drawing/2014/main" id="{F03D1561-D833-4EBC-84BA-26415D61967B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34961985"/>
      </p:ext>
    </p:extLst>
  </p:cSld>
  <p:clrMapOvr>
    <a:masterClrMapping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41">
            <a:extLst xmlns:a="http://schemas.openxmlformats.org/drawingml/2006/main">
              <a:ext uri="{FF2B5EF4-FFF2-40B4-BE49-F238E27FC236}">
                <a16:creationId xmlns:a16="http://schemas.microsoft.com/office/drawing/2014/main" id="{BADAC7F2-4B71-480C-8E67-576E31CE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交叉节点：仲裁与反压</a:t>
            </a:r>
          </a:p>
        </p:txBody>
      </p:sp>
      <p:sp>
        <p:nvSpPr>
          <p:cNvPr id="3" name="share-42">
            <a:extLst xmlns:a="http://schemas.openxmlformats.org/drawingml/2006/main">
              <a:ext uri="{FF2B5EF4-FFF2-40B4-BE49-F238E27FC236}">
                <a16:creationId xmlns:a16="http://schemas.microsoft.com/office/drawing/2014/main" id="{C3FDDEF6-9200-4EC6-BA61-053A492D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交叉节点（Cross Station）连接本地端点与环网，协调过站转发、注入和弹出。</a:t>
            </a:r>
          </a:p>
        </p:txBody>
      </p:sp>
      <p:sp>
        <p:nvSpPr>
          <p:cNvPr id="4" name="share-43">
            <a:extLst xmlns:a="http://schemas.openxmlformats.org/drawingml/2006/main">
              <a:ext uri="{FF2B5EF4-FFF2-40B4-BE49-F238E27FC236}">
                <a16:creationId xmlns:a16="http://schemas.microsoft.com/office/drawing/2014/main" id="{0E0117B6-7166-4C87-993F-30EB3953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383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双向独立仲裁</a:t>
            </a:r>
          </a:p>
        </p:txBody>
      </p:sp>
      <p:sp>
        <p:nvSpPr>
          <p:cNvPr id="5" name="share-44">
            <a:extLst xmlns:a="http://schemas.openxmlformats.org/drawingml/2006/main">
              <a:ext uri="{FF2B5EF4-FFF2-40B4-BE49-F238E27FC236}">
                <a16:creationId xmlns:a16="http://schemas.microsoft.com/office/drawing/2014/main" id="{33F5CBE7-C73C-470D-B160-A3E5FB18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3952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顺时针（CW）与逆时针（CCW）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分别选择过站包或本地待发送包。</a:t>
            </a:r>
          </a:p>
        </p:txBody>
      </p:sp>
      <p:sp>
        <p:nvSpPr>
          <p:cNvPr id="6" name="share-45">
            <a:extLst xmlns:a="http://schemas.openxmlformats.org/drawingml/2006/main">
              <a:ext uri="{FF2B5EF4-FFF2-40B4-BE49-F238E27FC236}">
                <a16:creationId xmlns:a16="http://schemas.microsoft.com/office/drawing/2014/main" id="{540F5A43-67AA-4588-AC42-E6EE9655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04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共享弹出队列</a:t>
            </a:r>
          </a:p>
        </p:txBody>
      </p:sp>
      <p:sp>
        <p:nvSpPr>
          <p:cNvPr id="7" name="share-46">
            <a:extLst xmlns:a="http://schemas.openxmlformats.org/drawingml/2006/main">
              <a:ext uri="{FF2B5EF4-FFF2-40B4-BE49-F238E27FC236}">
                <a16:creationId xmlns:a16="http://schemas.microsoft.com/office/drawing/2014/main" id="{78DF6A29-B866-491C-9F0C-FF761E3E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67150"/>
            <a:ext cx="3952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两个方向的目的包竞争同一队列。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弹出仲裁决定本轮由哪一路进入。</a:t>
            </a:r>
          </a:p>
        </p:txBody>
      </p:sp>
      <p:sp>
        <p:nvSpPr>
          <p:cNvPr id="8" name="share-47">
            <a:extLst xmlns:a="http://schemas.openxmlformats.org/drawingml/2006/main">
              <a:ext uri="{FF2B5EF4-FFF2-40B4-BE49-F238E27FC236}">
                <a16:creationId xmlns:a16="http://schemas.microsoft.com/office/drawing/2014/main" id="{82F43054-57A6-478F-BBB2-7FC98788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625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推进的条件</a:t>
            </a:r>
          </a:p>
        </p:txBody>
      </p:sp>
      <p:sp>
        <p:nvSpPr>
          <p:cNvPr id="9" name="share-48">
            <a:extLst xmlns:a="http://schemas.openxmlformats.org/drawingml/2006/main">
              <a:ext uri="{FF2B5EF4-FFF2-40B4-BE49-F238E27FC236}">
                <a16:creationId xmlns:a16="http://schemas.microsoft.com/office/drawing/2014/main" id="{7629ABAC-6B12-41A8-9C41-4779A3F4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29250"/>
            <a:ext cx="3952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下游成功接收后才推进状态。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受阻时保留数据与队首位置。</a:t>
            </a:r>
          </a:p>
        </p:txBody>
      </p:sp>
      <p:sp>
        <p:nvSpPr>
          <p:cNvPr id="10" name="share-49">
            <a:extLst xmlns:a="http://schemas.openxmlformats.org/drawingml/2006/main">
              <a:ext uri="{FF2B5EF4-FFF2-40B4-BE49-F238E27FC236}">
                <a16:creationId xmlns:a16="http://schemas.microsoft.com/office/drawing/2014/main" id="{7DE5B111-4213-4B5F-B4AA-AA553AEE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pSp>
        <p:nvGrpSpPr>
          <p:cNvPr id="11" name="Original editable diagram 6"/>
          <p:cNvGrpSpPr/>
          <p:nvPr/>
        </p:nvGrpSpPr>
        <p:grpSpPr>
          <ns0:xfrm xmlns:ns0="http://schemas.openxmlformats.org/drawingml/2006/main">
            <ns0:off x="381000" y="1924050"/>
            <ns0:ext cx="7124700" cy="4067175"/>
            <ns0:chOff x="190500" y="666750"/>
            <ns0:chExt cx="5619750" cy="3209925"/>
          </ns0:xfrm>
        </p:grpSpPr>
        <p:grpSp xmlns:a="http://schemas.openxmlformats.org/drawingml/2006/main">
          <p:nvGrpSpPr>
            <p:cNvPr id="12" name="组合 13">
              <a:extLst>
                <a:ext uri="{FF2B5EF4-FFF2-40B4-BE49-F238E27FC236}">
                  <a16:creationId xmlns:a16="http://schemas.microsoft.com/office/drawing/2014/main" id="{FC5408E0-95E4-4B0E-9D9C-BD4C0FEBA06F}"/>
                </a:ext>
              </a:extLst>
            </p:cNvPr>
            <p:cNvGrpSpPr/>
            <p:nvPr/>
          </p:nvGrpSpPr>
          <p:grpSpPr>
            <a:xfrm>
              <a:off x="282366" y="719611"/>
              <a:ext cx="5392923" cy="3088863"/>
              <a:chOff x="121030" y="530437"/>
              <a:chExt cx="5392923" cy="3088863"/>
            </a:xfrm>
          </p:grpSpPr>
          <p:grpSp>
            <p:nvGrpSpPr>
              <p:cNvPr id="13" name="组合 538">
                <a:extLst>
                  <a:ext uri="{FF2B5EF4-FFF2-40B4-BE49-F238E27FC236}">
                    <a16:creationId xmlns:a16="http://schemas.microsoft.com/office/drawing/2014/main" id="{927E0B0D-A78F-43A4-A420-BC4BEB1E58BA}"/>
                  </a:ext>
                </a:extLst>
              </p:cNvPr>
              <p:cNvGrpSpPr/>
              <p:nvPr/>
            </p:nvGrpSpPr>
            <p:grpSpPr>
              <a:xfrm>
                <a:off x="121030" y="569009"/>
                <a:ext cx="5392923" cy="3050291"/>
                <a:chOff x="8472737" y="813826"/>
                <a:chExt cx="5392923" cy="3050291"/>
              </a:xfrm>
            </p:grpSpPr>
            <p:sp>
              <p:nvSpPr>
                <p:cNvPr id="14" name="矩形 539">
                  <a:extLst>
                    <a:ext uri="{FF2B5EF4-FFF2-40B4-BE49-F238E27FC236}">
                      <a16:creationId xmlns:a16="http://schemas.microsoft.com/office/drawing/2014/main" id="{5A0581F7-BFA6-40D8-A0C3-B2ECA4DB818D}"/>
                    </a:ext>
                  </a:extLst>
                </p:cNvPr>
                <p:cNvSpPr/>
                <p:nvPr/>
              </p:nvSpPr>
              <p:spPr>
                <a:xfrm>
                  <a:off x="9312918" y="1000418"/>
                  <a:ext cx="3697169" cy="1569660"/>
                </a:xfrm>
                <a:prstGeom prst="rect">
                  <a:avLst/>
                </a:prstGeom>
                <a:solidFill>
                  <a:schemeClr val="bg1">
                    <a:lumMod val="95000"/>
                    <a:alpha val="50196"/>
                  </a:schemeClr>
                </a:solidFill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矩形 540">
                  <a:extLst>
                    <a:ext uri="{FF2B5EF4-FFF2-40B4-BE49-F238E27FC236}">
                      <a16:creationId xmlns:a16="http://schemas.microsoft.com/office/drawing/2014/main" id="{C29A41DD-0C69-4C20-8F07-7B3E763CDDCF}"/>
                    </a:ext>
                  </a:extLst>
                </p:cNvPr>
                <p:cNvSpPr/>
                <p:nvPr/>
              </p:nvSpPr>
              <p:spPr>
                <a:xfrm>
                  <a:off x="9404191" y="2196487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Queue</a:t>
                  </a: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矩形 541">
                  <a:extLst>
                    <a:ext uri="{FF2B5EF4-FFF2-40B4-BE49-F238E27FC236}">
                      <a16:creationId xmlns:a16="http://schemas.microsoft.com/office/drawing/2014/main" id="{2D3908F7-6B1C-4779-932F-DB875AE4C357}"/>
                    </a:ext>
                  </a:extLst>
                </p:cNvPr>
                <p:cNvSpPr/>
                <p:nvPr/>
              </p:nvSpPr>
              <p:spPr>
                <a:xfrm>
                  <a:off x="9404191" y="1904184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矩形 542">
                  <a:extLst>
                    <a:ext uri="{FF2B5EF4-FFF2-40B4-BE49-F238E27FC236}">
                      <a16:creationId xmlns:a16="http://schemas.microsoft.com/office/drawing/2014/main" id="{8E048994-6BC6-492A-ADE3-6A6153614B27}"/>
                    </a:ext>
                  </a:extLst>
                </p:cNvPr>
                <p:cNvSpPr/>
                <p:nvPr/>
              </p:nvSpPr>
              <p:spPr>
                <a:xfrm>
                  <a:off x="9404191" y="1610280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矩形 543">
                  <a:extLst>
                    <a:ext uri="{FF2B5EF4-FFF2-40B4-BE49-F238E27FC236}">
                      <a16:creationId xmlns:a16="http://schemas.microsoft.com/office/drawing/2014/main" id="{60BAB55F-D182-472F-BA2D-7D88242F08D0}"/>
                    </a:ext>
                  </a:extLst>
                </p:cNvPr>
                <p:cNvSpPr/>
                <p:nvPr/>
              </p:nvSpPr>
              <p:spPr>
                <a:xfrm>
                  <a:off x="9404191" y="1317977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文本框 544">
                  <a:extLst>
                    <a:ext uri="{FF2B5EF4-FFF2-40B4-BE49-F238E27FC236}">
                      <a16:creationId xmlns:a16="http://schemas.microsoft.com/office/drawing/2014/main" id="{6728543E-B079-4FE0-BE87-D0984A72119B}"/>
                    </a:ext>
                  </a:extLst>
                </p:cNvPr>
                <p:cNvSpPr txBox="1"/>
                <p:nvPr/>
              </p:nvSpPr>
              <p:spPr>
                <a:xfrm>
                  <a:off x="9357997" y="1046216"/>
                  <a:ext cx="936924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kern="0" dirty="0"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Inject  CW</a:t>
                  </a:r>
                  <a:endParaRPr lang="zh-CN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矩形 545">
                  <a:extLst>
                    <a:ext uri="{FF2B5EF4-FFF2-40B4-BE49-F238E27FC236}">
                      <a16:creationId xmlns:a16="http://schemas.microsoft.com/office/drawing/2014/main" id="{8C8F9679-5F1D-4B73-BDDC-7EC4B6427A99}"/>
                    </a:ext>
                  </a:extLst>
                </p:cNvPr>
                <p:cNvSpPr/>
                <p:nvPr/>
              </p:nvSpPr>
              <p:spPr>
                <a:xfrm>
                  <a:off x="10785316" y="2189405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>
                      <a:latin typeface="Arial" panose="020B0604020202020204" pitchFamily="34" charset="0"/>
                      <a:cs typeface="Arial" panose="020B0604020202020204" pitchFamily="34" charset="0"/>
                    </a:rPr>
                    <a:t>Queue</a:t>
                  </a: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矩形 546">
                  <a:extLst>
                    <a:ext uri="{FF2B5EF4-FFF2-40B4-BE49-F238E27FC236}">
                      <a16:creationId xmlns:a16="http://schemas.microsoft.com/office/drawing/2014/main" id="{FABFFF21-A711-406D-8D1F-25D44273739A}"/>
                    </a:ext>
                  </a:extLst>
                </p:cNvPr>
                <p:cNvSpPr/>
                <p:nvPr/>
              </p:nvSpPr>
              <p:spPr>
                <a:xfrm>
                  <a:off x="10785316" y="1897102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矩形 547">
                  <a:extLst>
                    <a:ext uri="{FF2B5EF4-FFF2-40B4-BE49-F238E27FC236}">
                      <a16:creationId xmlns:a16="http://schemas.microsoft.com/office/drawing/2014/main" id="{18C40BA7-B8CC-4939-A3AD-4C91D8ED4951}"/>
                    </a:ext>
                  </a:extLst>
                </p:cNvPr>
                <p:cNvSpPr/>
                <p:nvPr/>
              </p:nvSpPr>
              <p:spPr>
                <a:xfrm>
                  <a:off x="10785316" y="1603198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矩形 548">
                  <a:extLst>
                    <a:ext uri="{FF2B5EF4-FFF2-40B4-BE49-F238E27FC236}">
                      <a16:creationId xmlns:a16="http://schemas.microsoft.com/office/drawing/2014/main" id="{1B770934-3EFB-4887-8FC8-DC4C187D42EC}"/>
                    </a:ext>
                  </a:extLst>
                </p:cNvPr>
                <p:cNvSpPr/>
                <p:nvPr/>
              </p:nvSpPr>
              <p:spPr>
                <a:xfrm>
                  <a:off x="10785316" y="1310895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文本框 549">
                  <a:extLst>
                    <a:ext uri="{FF2B5EF4-FFF2-40B4-BE49-F238E27FC236}">
                      <a16:creationId xmlns:a16="http://schemas.microsoft.com/office/drawing/2014/main" id="{E0C8159E-7515-4B63-BBBB-DD9B864E9008}"/>
                    </a:ext>
                  </a:extLst>
                </p:cNvPr>
                <p:cNvSpPr txBox="1"/>
                <p:nvPr/>
              </p:nvSpPr>
              <p:spPr>
                <a:xfrm>
                  <a:off x="10650937" y="1028241"/>
                  <a:ext cx="1113293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kern="0" dirty="0"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Eject  Queue</a:t>
                  </a:r>
                  <a:endParaRPr lang="zh-CN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矩形 550">
                  <a:extLst>
                    <a:ext uri="{FF2B5EF4-FFF2-40B4-BE49-F238E27FC236}">
                      <a16:creationId xmlns:a16="http://schemas.microsoft.com/office/drawing/2014/main" id="{E2071E71-FF36-46A1-A98A-1D1D89419587}"/>
                    </a:ext>
                  </a:extLst>
                </p:cNvPr>
                <p:cNvSpPr/>
                <p:nvPr/>
              </p:nvSpPr>
              <p:spPr>
                <a:xfrm>
                  <a:off x="12082668" y="2176193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>
                      <a:latin typeface="Arial" panose="020B0604020202020204" pitchFamily="34" charset="0"/>
                      <a:cs typeface="Arial" panose="020B0604020202020204" pitchFamily="34" charset="0"/>
                    </a:rPr>
                    <a:t>Queue</a:t>
                  </a: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矩形 551">
                  <a:extLst>
                    <a:ext uri="{FF2B5EF4-FFF2-40B4-BE49-F238E27FC236}">
                      <a16:creationId xmlns:a16="http://schemas.microsoft.com/office/drawing/2014/main" id="{73D4D4F9-070E-416F-A905-3B1427E729E8}"/>
                    </a:ext>
                  </a:extLst>
                </p:cNvPr>
                <p:cNvSpPr/>
                <p:nvPr/>
              </p:nvSpPr>
              <p:spPr>
                <a:xfrm>
                  <a:off x="12082668" y="1883890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" name="矩形 552">
                  <a:extLst>
                    <a:ext uri="{FF2B5EF4-FFF2-40B4-BE49-F238E27FC236}">
                      <a16:creationId xmlns:a16="http://schemas.microsoft.com/office/drawing/2014/main" id="{EEAE748C-0881-4272-B95F-4C960828065C}"/>
                    </a:ext>
                  </a:extLst>
                </p:cNvPr>
                <p:cNvSpPr/>
                <p:nvPr/>
              </p:nvSpPr>
              <p:spPr>
                <a:xfrm>
                  <a:off x="12082668" y="1589986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矩形 553">
                  <a:extLst>
                    <a:ext uri="{FF2B5EF4-FFF2-40B4-BE49-F238E27FC236}">
                      <a16:creationId xmlns:a16="http://schemas.microsoft.com/office/drawing/2014/main" id="{8647D86D-5D13-46BB-A276-6FB05EBC1D03}"/>
                    </a:ext>
                  </a:extLst>
                </p:cNvPr>
                <p:cNvSpPr/>
                <p:nvPr/>
              </p:nvSpPr>
              <p:spPr>
                <a:xfrm>
                  <a:off x="12082668" y="1297683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文本框 554">
                  <a:extLst>
                    <a:ext uri="{FF2B5EF4-FFF2-40B4-BE49-F238E27FC236}">
                      <a16:creationId xmlns:a16="http://schemas.microsoft.com/office/drawing/2014/main" id="{2931EAA7-C835-4A18-B6D1-9E8F6F8548FE}"/>
                    </a:ext>
                  </a:extLst>
                </p:cNvPr>
                <p:cNvSpPr txBox="1"/>
                <p:nvPr/>
              </p:nvSpPr>
              <p:spPr>
                <a:xfrm>
                  <a:off x="11973078" y="1025922"/>
                  <a:ext cx="1063716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kern="0" dirty="0"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Inject  CCW</a:t>
                  </a:r>
                  <a:endParaRPr lang="zh-CN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矩形 555">
                  <a:extLst>
                    <a:ext uri="{FF2B5EF4-FFF2-40B4-BE49-F238E27FC236}">
                      <a16:creationId xmlns:a16="http://schemas.microsoft.com/office/drawing/2014/main" id="{782FDE0A-AD8B-41B8-A036-FC8BA3B37493}"/>
                    </a:ext>
                  </a:extLst>
                </p:cNvPr>
                <p:cNvSpPr/>
                <p:nvPr/>
              </p:nvSpPr>
              <p:spPr>
                <a:xfrm>
                  <a:off x="12698673" y="2844640"/>
                  <a:ext cx="844536" cy="357021"/>
                </a:xfrm>
                <a:prstGeom prst="rect">
                  <a:avLst/>
                </a:prstGeom>
                <a:solidFill>
                  <a:srgbClr val="D4E8D4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 dirty="0" err="1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Reg_In</a:t>
                  </a:r>
                  <a:endParaRPr lang="zh-CN" altLang="en-US" sz="1200" b="1" kern="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矩形 556">
                  <a:extLst>
                    <a:ext uri="{FF2B5EF4-FFF2-40B4-BE49-F238E27FC236}">
                      <a16:creationId xmlns:a16="http://schemas.microsoft.com/office/drawing/2014/main" id="{6D777C51-9474-49F0-861C-9363BCDBD5D4}"/>
                    </a:ext>
                  </a:extLst>
                </p:cNvPr>
                <p:cNvSpPr/>
                <p:nvPr/>
              </p:nvSpPr>
              <p:spPr>
                <a:xfrm>
                  <a:off x="12709686" y="3416493"/>
                  <a:ext cx="844536" cy="356668"/>
                </a:xfrm>
                <a:prstGeom prst="rect">
                  <a:avLst/>
                </a:prstGeom>
                <a:solidFill>
                  <a:srgbClr val="FAD9BF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 dirty="0" err="1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Reg_Out</a:t>
                  </a:r>
                  <a:endParaRPr lang="zh-CN" altLang="en-US" sz="1200" b="1" kern="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" name="矩形 557">
                  <a:extLst>
                    <a:ext uri="{FF2B5EF4-FFF2-40B4-BE49-F238E27FC236}">
                      <a16:creationId xmlns:a16="http://schemas.microsoft.com/office/drawing/2014/main" id="{8B2BFD6C-0B98-4F7A-81F3-7DAFB5831D13}"/>
                    </a:ext>
                  </a:extLst>
                </p:cNvPr>
                <p:cNvSpPr/>
                <p:nvPr/>
              </p:nvSpPr>
              <p:spPr>
                <a:xfrm>
                  <a:off x="8765694" y="2847714"/>
                  <a:ext cx="844536" cy="356668"/>
                </a:xfrm>
                <a:prstGeom prst="rect">
                  <a:avLst/>
                </a:prstGeom>
                <a:solidFill>
                  <a:srgbClr val="FAD9BF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 dirty="0" err="1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Reg_Out</a:t>
                  </a:r>
                  <a:endParaRPr lang="zh-CN" altLang="en-US" sz="1200" b="1" kern="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矩形 558">
                  <a:extLst>
                    <a:ext uri="{FF2B5EF4-FFF2-40B4-BE49-F238E27FC236}">
                      <a16:creationId xmlns:a16="http://schemas.microsoft.com/office/drawing/2014/main" id="{501B6CEC-FE8C-4472-A376-BB6E2F322CB5}"/>
                    </a:ext>
                  </a:extLst>
                </p:cNvPr>
                <p:cNvSpPr/>
                <p:nvPr/>
              </p:nvSpPr>
              <p:spPr>
                <a:xfrm>
                  <a:off x="8765694" y="3416140"/>
                  <a:ext cx="844536" cy="357021"/>
                </a:xfrm>
                <a:prstGeom prst="rect">
                  <a:avLst/>
                </a:prstGeom>
                <a:solidFill>
                  <a:srgbClr val="D4E8D4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 dirty="0" err="1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Reg_In</a:t>
                  </a:r>
                  <a:endParaRPr lang="zh-CN" altLang="en-US" sz="1200" b="1" kern="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34" name="直接箭头连接符 559">
                  <a:extLst>
                    <a:ext uri="{FF2B5EF4-FFF2-40B4-BE49-F238E27FC236}">
                      <a16:creationId xmlns:a16="http://schemas.microsoft.com/office/drawing/2014/main" id="{7B001D58-2389-4208-AB85-02C21B4560B0}"/>
                    </a:ext>
                  </a:extLst>
                </p:cNvPr>
                <p:cNvCxnSpPr>
                  <a:cxnSpLocks/>
                  <a:stCxn id="30" idx="1"/>
                  <a:endCxn id="35" idx="3"/>
                </p:cNvCxnSpPr>
                <p:nvPr/>
              </p:nvCxnSpPr>
              <p:spPr>
                <a:xfrm flipH="1">
                  <a:off x="10859290" y="3023151"/>
                  <a:ext cx="1839383" cy="2897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3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35" name="矩形 560">
                  <a:extLst>
                    <a:ext uri="{FF2B5EF4-FFF2-40B4-BE49-F238E27FC236}">
                      <a16:creationId xmlns:a16="http://schemas.microsoft.com/office/drawing/2014/main" id="{AC192722-C1BC-4C82-924F-4E04E00F0D33}"/>
                    </a:ext>
                  </a:extLst>
                </p:cNvPr>
                <p:cNvSpPr/>
                <p:nvPr/>
              </p:nvSpPr>
              <p:spPr>
                <a:xfrm>
                  <a:off x="9896259" y="2847714"/>
                  <a:ext cx="963031" cy="3566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9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Microsoft YaHei"/>
                      <a:ea typeface="Microsoft YaHei"/>
                      <a:cs typeface="Microsoft YaHei"/>
                    </a:rPr>
                    <a:t>RR_CW</a:t>
                  </a:r>
                </a:p>
                <a:p>
                  <a:pPr algn="ctr" defTabSz="914418">
                    <a:defRPr/>
                  </a:pPr>
                  <a:r>
                    <a:rPr lang="en-US" altLang="zh-CN" sz="8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/>
                      <a:ea typeface="Arial"/>
                      <a:cs typeface="Arial"/>
                    </a:rPr>
                    <a:t>Transit ↔ Local</a:t>
                  </a:r>
                </a:p>
              </p:txBody>
            </p:sp>
            <p:cxnSp>
              <p:nvCxnSpPr>
                <p:cNvPr id="36" name="直接箭头连接符 561">
                  <a:extLst>
                    <a:ext uri="{FF2B5EF4-FFF2-40B4-BE49-F238E27FC236}">
                      <a16:creationId xmlns:a16="http://schemas.microsoft.com/office/drawing/2014/main" id="{0AB29D92-DB5E-4107-A2C1-FCCE35B59D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88436" y="2847714"/>
                  <a:ext cx="0" cy="175436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3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37" name="直接箭头连接符 562">
                  <a:extLst>
                    <a:ext uri="{FF2B5EF4-FFF2-40B4-BE49-F238E27FC236}">
                      <a16:creationId xmlns:a16="http://schemas.microsoft.com/office/drawing/2014/main" id="{B83E7688-FD65-40C1-B762-0C922B880D9B}"/>
                    </a:ext>
                  </a:extLst>
                </p:cNvPr>
                <p:cNvCxnSpPr>
                  <a:cxnSpLocks/>
                  <a:stCxn id="35" idx="1"/>
                  <a:endCxn id="32" idx="3"/>
                </p:cNvCxnSpPr>
                <p:nvPr/>
              </p:nvCxnSpPr>
              <p:spPr>
                <a:xfrm flipH="1">
                  <a:off x="9610230" y="3026048"/>
                  <a:ext cx="286029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3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38" name="连接符: 肘形 563">
                  <a:extLst>
                    <a:ext uri="{FF2B5EF4-FFF2-40B4-BE49-F238E27FC236}">
                      <a16:creationId xmlns:a16="http://schemas.microsoft.com/office/drawing/2014/main" id="{014E2EC6-01AC-4806-BB9C-816D34664375}"/>
                    </a:ext>
                  </a:extLst>
                </p:cNvPr>
                <p:cNvCxnSpPr>
                  <a:cxnSpLocks/>
                  <a:stCxn id="15" idx="2"/>
                  <a:endCxn id="35" idx="0"/>
                </p:cNvCxnSpPr>
                <p:nvPr/>
              </p:nvCxnSpPr>
              <p:spPr>
                <a:xfrm rot="16200000" flipH="1">
                  <a:off x="9922655" y="2392594"/>
                  <a:ext cx="358924" cy="551316"/>
                </a:xfrm>
                <a:prstGeom prst="bentConnector3">
                  <a:avLst/>
                </a:prstGeom>
                <a:ln w="19050">
                  <a:solidFill>
                    <a:schemeClr val="accent3"/>
                  </a:solidFill>
                  <a:miter lim="800000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矩形 564">
                  <a:extLst>
                    <a:ext uri="{FF2B5EF4-FFF2-40B4-BE49-F238E27FC236}">
                      <a16:creationId xmlns:a16="http://schemas.microsoft.com/office/drawing/2014/main" id="{F8F281BF-D533-48BB-B05E-28A987C0C6F5}"/>
                    </a:ext>
                  </a:extLst>
                </p:cNvPr>
                <p:cNvSpPr/>
                <p:nvPr/>
              </p:nvSpPr>
              <p:spPr>
                <a:xfrm>
                  <a:off x="11282714" y="3416140"/>
                  <a:ext cx="963031" cy="3566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9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Microsoft YaHei"/>
                      <a:ea typeface="Microsoft YaHei"/>
                      <a:cs typeface="Microsoft YaHei"/>
                    </a:rPr>
                    <a:t>RR_CCW</a:t>
                  </a:r>
                </a:p>
                <a:p>
                  <a:pPr algn="ctr" defTabSz="914418">
                    <a:defRPr/>
                  </a:pPr>
                  <a:r>
                    <a:rPr lang="en-US" altLang="zh-CN" sz="8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/>
                      <a:ea typeface="Arial"/>
                      <a:cs typeface="Arial"/>
                    </a:rPr>
                    <a:t>Transit ↔ Local</a:t>
                  </a:r>
                </a:p>
              </p:txBody>
            </p:sp>
            <p:cxnSp>
              <p:nvCxnSpPr>
                <p:cNvPr id="40" name="直接箭头连接符 565">
                  <a:extLst>
                    <a:ext uri="{FF2B5EF4-FFF2-40B4-BE49-F238E27FC236}">
                      <a16:creationId xmlns:a16="http://schemas.microsoft.com/office/drawing/2014/main" id="{0FF9A936-3B89-41A5-A62D-31080031B52D}"/>
                    </a:ext>
                  </a:extLst>
                </p:cNvPr>
                <p:cNvCxnSpPr>
                  <a:cxnSpLocks/>
                  <a:stCxn id="33" idx="3"/>
                  <a:endCxn id="39" idx="1"/>
                </p:cNvCxnSpPr>
                <p:nvPr/>
              </p:nvCxnSpPr>
              <p:spPr>
                <a:xfrm flipV="1">
                  <a:off x="9610230" y="3594474"/>
                  <a:ext cx="1672484" cy="177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1" name="直接箭头连接符 566">
                  <a:extLst>
                    <a:ext uri="{FF2B5EF4-FFF2-40B4-BE49-F238E27FC236}">
                      <a16:creationId xmlns:a16="http://schemas.microsoft.com/office/drawing/2014/main" id="{7A8CC952-E9C6-40B4-8478-4DA6B25084F8}"/>
                    </a:ext>
                  </a:extLst>
                </p:cNvPr>
                <p:cNvCxnSpPr>
                  <a:cxnSpLocks/>
                  <a:stCxn id="39" idx="3"/>
                  <a:endCxn id="31" idx="1"/>
                </p:cNvCxnSpPr>
                <p:nvPr/>
              </p:nvCxnSpPr>
              <p:spPr>
                <a:xfrm>
                  <a:off x="12245745" y="3594474"/>
                  <a:ext cx="463941" cy="353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2" name="连接符: 肘形 567">
                  <a:extLst>
                    <a:ext uri="{FF2B5EF4-FFF2-40B4-BE49-F238E27FC236}">
                      <a16:creationId xmlns:a16="http://schemas.microsoft.com/office/drawing/2014/main" id="{77EDDC7E-BF8F-4E59-8374-FC1834A32EA3}"/>
                    </a:ext>
                  </a:extLst>
                </p:cNvPr>
                <p:cNvCxnSpPr>
                  <a:cxnSpLocks/>
                  <a:stCxn id="25" idx="2"/>
                  <a:endCxn id="39" idx="0"/>
                </p:cNvCxnSpPr>
                <p:nvPr/>
              </p:nvCxnSpPr>
              <p:spPr>
                <a:xfrm rot="5400000">
                  <a:off x="11660761" y="2571965"/>
                  <a:ext cx="947644" cy="740706"/>
                </a:xfrm>
                <a:prstGeom prst="bentConnector3">
                  <a:avLst>
                    <a:gd name="adj1" fmla="val 50000"/>
                  </a:avLst>
                </a:prstGeom>
                <a:ln w="19050">
                  <a:solidFill>
                    <a:schemeClr val="accent6"/>
                  </a:solidFill>
                  <a:miter lim="800000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箭头连接符 568">
                  <a:extLst>
                    <a:ext uri="{FF2B5EF4-FFF2-40B4-BE49-F238E27FC236}">
                      <a16:creationId xmlns:a16="http://schemas.microsoft.com/office/drawing/2014/main" id="{48BD2F20-B8B3-4410-BCBD-B8E70E9653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041428" y="2858582"/>
                  <a:ext cx="0" cy="736245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44" name="文本框 569">
                  <a:extLst>
                    <a:ext uri="{FF2B5EF4-FFF2-40B4-BE49-F238E27FC236}">
                      <a16:creationId xmlns:a16="http://schemas.microsoft.com/office/drawing/2014/main" id="{7CEBD63E-3E89-46F2-82BA-2F372BE4A083}"/>
                    </a:ext>
                  </a:extLst>
                </p:cNvPr>
                <p:cNvSpPr txBox="1"/>
                <p:nvPr/>
              </p:nvSpPr>
              <p:spPr>
                <a:xfrm>
                  <a:off x="12989130" y="953882"/>
                  <a:ext cx="87652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kern="0" dirty="0"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Node</a:t>
                  </a:r>
                </a:p>
                <a:p>
                  <a:r>
                    <a:rPr lang="en-US" altLang="zh-CN" sz="1200" b="1" kern="0" dirty="0"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Interface</a:t>
                  </a:r>
                  <a:endParaRPr lang="zh-CN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45" name="直接箭头连接符 570">
                  <a:extLst>
                    <a:ext uri="{FF2B5EF4-FFF2-40B4-BE49-F238E27FC236}">
                      <a16:creationId xmlns:a16="http://schemas.microsoft.com/office/drawing/2014/main" id="{709FDBAE-B87A-407E-9E3D-3143B5727E2A}"/>
                    </a:ext>
                  </a:extLst>
                </p:cNvPr>
                <p:cNvCxnSpPr>
                  <a:cxnSpLocks/>
                  <a:endCxn id="30" idx="3"/>
                </p:cNvCxnSpPr>
                <p:nvPr/>
              </p:nvCxnSpPr>
              <p:spPr>
                <a:xfrm flipH="1">
                  <a:off x="13543209" y="3023150"/>
                  <a:ext cx="322451" cy="1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3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6" name="直接箭头连接符 571">
                  <a:extLst>
                    <a:ext uri="{FF2B5EF4-FFF2-40B4-BE49-F238E27FC236}">
                      <a16:creationId xmlns:a16="http://schemas.microsoft.com/office/drawing/2014/main" id="{85E4681A-4659-47B9-A0AB-CEC9C4F948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543209" y="3587958"/>
                  <a:ext cx="322451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7" name="直接箭头连接符 572">
                  <a:extLst>
                    <a:ext uri="{FF2B5EF4-FFF2-40B4-BE49-F238E27FC236}">
                      <a16:creationId xmlns:a16="http://schemas.microsoft.com/office/drawing/2014/main" id="{70F17F92-B175-45DB-9189-3CA5A2C4D4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472737" y="3569619"/>
                  <a:ext cx="284717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8" name="直接箭头连接符 573">
                  <a:extLst>
                    <a:ext uri="{FF2B5EF4-FFF2-40B4-BE49-F238E27FC236}">
                      <a16:creationId xmlns:a16="http://schemas.microsoft.com/office/drawing/2014/main" id="{DAAB70A7-CDCB-4696-A55F-5910230C53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72737" y="3016777"/>
                  <a:ext cx="284718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3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49" name="矩形 574">
                  <a:extLst>
                    <a:ext uri="{FF2B5EF4-FFF2-40B4-BE49-F238E27FC236}">
                      <a16:creationId xmlns:a16="http://schemas.microsoft.com/office/drawing/2014/main" id="{06BD8391-C3E8-46FC-A2B2-24CFF3DDBBE7}"/>
                    </a:ext>
                  </a:extLst>
                </p:cNvPr>
                <p:cNvSpPr/>
                <p:nvPr/>
              </p:nvSpPr>
              <p:spPr>
                <a:xfrm>
                  <a:off x="10989328" y="2677494"/>
                  <a:ext cx="445513" cy="175436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800" b="1" dirty="0">
                      <a:solidFill>
                        <a:schemeClr val="bg2">
                          <a:lumMod val="25000"/>
                        </a:schemeClr>
                      </a:solidFill>
                      <a:latin typeface="Arial"/>
                      <a:ea typeface="Arial"/>
                      <a:cs typeface="Arial"/>
                    </a:rPr>
                    <a:t>RR</a:t>
                  </a:r>
                </a:p>
              </p:txBody>
            </p:sp>
            <p:cxnSp>
              <p:nvCxnSpPr>
                <p:cNvPr id="50" name="直接箭头连接符 575">
                  <a:extLst>
                    <a:ext uri="{FF2B5EF4-FFF2-40B4-BE49-F238E27FC236}">
                      <a16:creationId xmlns:a16="http://schemas.microsoft.com/office/drawing/2014/main" id="{D0B96225-A41D-4860-AD9B-F1F53E042676}"/>
                    </a:ext>
                  </a:extLst>
                </p:cNvPr>
                <p:cNvCxnSpPr>
                  <a:cxnSpLocks/>
                  <a:stCxn id="49" idx="0"/>
                  <a:endCxn id="20" idx="2"/>
                </p:cNvCxnSpPr>
                <p:nvPr/>
              </p:nvCxnSpPr>
              <p:spPr>
                <a:xfrm flipH="1" flipV="1">
                  <a:off x="11207584" y="2481708"/>
                  <a:ext cx="4501" cy="195786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51" name="矩形 576">
                  <a:extLst>
                    <a:ext uri="{FF2B5EF4-FFF2-40B4-BE49-F238E27FC236}">
                      <a16:creationId xmlns:a16="http://schemas.microsoft.com/office/drawing/2014/main" id="{55314992-69FF-436F-8182-2AF81BF3E7B5}"/>
                    </a:ext>
                  </a:extLst>
                </p:cNvPr>
                <p:cNvSpPr/>
                <p:nvPr/>
              </p:nvSpPr>
              <p:spPr>
                <a:xfrm>
                  <a:off x="8582933" y="813826"/>
                  <a:ext cx="5153691" cy="3050291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rgbClr val="00206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en-US" altLang="zh-CN" sz="900" b="1" ker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2" name="文本框 687">
                <a:extLst>
                  <a:ext uri="{FF2B5EF4-FFF2-40B4-BE49-F238E27FC236}">
                    <a16:creationId xmlns:a16="http://schemas.microsoft.com/office/drawing/2014/main" id="{98BA39DF-CD61-4B34-8CE2-7F889DB9CEE7}"/>
                  </a:ext>
                </a:extLst>
              </p:cNvPr>
              <p:cNvSpPr txBox="1"/>
              <p:nvPr/>
            </p:nvSpPr>
            <p:spPr>
              <a:xfrm>
                <a:off x="231226" y="530437"/>
                <a:ext cx="177391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kern="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Cross Station</a:t>
                </a:r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057118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50">
            <a:extLst xmlns:a="http://schemas.openxmlformats.org/drawingml/2006/main">
              <a:ext uri="{FF2B5EF4-FFF2-40B4-BE49-F238E27FC236}">
                <a16:creationId xmlns:a16="http://schemas.microsoft.com/office/drawing/2014/main" id="{C1CDF696-C0DA-432C-93EE-F51D7F8E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活性保护：注入与弹出分别保留机会</a:t>
            </a:r>
          </a:p>
        </p:txBody>
      </p:sp>
      <p:sp>
        <p:nvSpPr>
          <p:cNvPr id="3" name="share-51">
            <a:extLst xmlns:a="http://schemas.openxmlformats.org/drawingml/2006/main">
              <a:ext uri="{FF2B5EF4-FFF2-40B4-BE49-F238E27FC236}">
                <a16:creationId xmlns:a16="http://schemas.microsoft.com/office/drawing/2014/main" id="{7B0C9810-4957-4183-809B-D0208B84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有限槽位和有限队列下，局部等待可能持续影响环上的其他事务。</a:t>
            </a:r>
          </a:p>
        </p:txBody>
      </p:sp>
      <p:sp>
        <p:nvSpPr>
          <p:cNvPr id="4" name="share-52">
            <a:extLst xmlns:a="http://schemas.openxmlformats.org/drawingml/2006/main">
              <a:ext uri="{FF2B5EF4-FFF2-40B4-BE49-F238E27FC236}">
                <a16:creationId xmlns:a16="http://schemas.microsoft.com/office/drawing/2014/main" id="{2D9C740E-D395-4E84-B646-A6259A7A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383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I-tag保护注入</a:t>
            </a:r>
          </a:p>
        </p:txBody>
      </p:sp>
      <p:sp>
        <p:nvSpPr>
          <p:cNvPr id="5" name="share-53">
            <a:extLst xmlns:a="http://schemas.openxmlformats.org/drawingml/2006/main">
              <a:ext uri="{FF2B5EF4-FFF2-40B4-BE49-F238E27FC236}">
                <a16:creationId xmlns:a16="http://schemas.microsoft.com/office/drawing/2014/main" id="{B9F5CB9F-CFA2-4470-BB7B-E59ED0D1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3952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槽位池（Slot Pool）分配失败时，为本地队首保留后续注入机会。</a:t>
            </a:r>
          </a:p>
        </p:txBody>
      </p:sp>
      <p:sp>
        <p:nvSpPr>
          <p:cNvPr id="6" name="share-54">
            <a:extLst xmlns:a="http://schemas.openxmlformats.org/drawingml/2006/main">
              <a:ext uri="{FF2B5EF4-FFF2-40B4-BE49-F238E27FC236}">
                <a16:creationId xmlns:a16="http://schemas.microsoft.com/office/drawing/2014/main" id="{E8F3F7DD-D952-4E50-8021-12AA85BF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3377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E-tag保护弹出</a:t>
            </a:r>
          </a:p>
        </p:txBody>
      </p:sp>
      <p:sp>
        <p:nvSpPr>
          <p:cNvPr id="7" name="share-55">
            <a:extLst xmlns:a="http://schemas.openxmlformats.org/drawingml/2006/main">
              <a:ext uri="{FF2B5EF4-FFF2-40B4-BE49-F238E27FC236}">
                <a16:creationId xmlns:a16="http://schemas.microsoft.com/office/drawing/2014/main" id="{D8C6D505-AC98-4FC8-BC83-8A0BB140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3952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目的队列满时，目标包继续绕行，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并保护返回时需要的弹出空间。</a:t>
            </a:r>
          </a:p>
        </p:txBody>
      </p:sp>
      <p:sp>
        <p:nvSpPr>
          <p:cNvPr id="8" name="share-56">
            <a:extLst xmlns:a="http://schemas.openxmlformats.org/drawingml/2006/main">
              <a:ext uri="{FF2B5EF4-FFF2-40B4-BE49-F238E27FC236}">
                <a16:creationId xmlns:a16="http://schemas.microsoft.com/office/drawing/2014/main" id="{3CDAC2C7-839A-4405-B3B6-4F3388E8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图中的恢复过程</a:t>
            </a:r>
          </a:p>
        </p:txBody>
      </p:sp>
      <p:sp>
        <p:nvSpPr>
          <p:cNvPr id="9" name="share-57">
            <a:extLst xmlns:a="http://schemas.openxmlformats.org/drawingml/2006/main">
              <a:ext uri="{FF2B5EF4-FFF2-40B4-BE49-F238E27FC236}">
                <a16:creationId xmlns:a16="http://schemas.microsoft.com/office/drawing/2014/main" id="{CCE5853A-B532-4299-9B16-D21C8258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14975"/>
            <a:ext cx="3952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消费B1后释放弹出空间。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B6返回并弹出，A1接替槽位注入。</a:t>
            </a:r>
          </a:p>
        </p:txBody>
      </p:sp>
      <p:sp>
        <p:nvSpPr>
          <p:cNvPr id="10" name="share-58">
            <a:extLst xmlns:a="http://schemas.openxmlformats.org/drawingml/2006/main">
              <a:ext uri="{FF2B5EF4-FFF2-40B4-BE49-F238E27FC236}">
                <a16:creationId xmlns:a16="http://schemas.microsoft.com/office/drawing/2014/main" id="{BE8D5280-ACD1-4E19-8DAC-7F3B5B3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pSp>
        <p:nvGrpSpPr>
          <p:cNvPr id="11" name="Original editable diagram 6"/>
          <p:cNvGrpSpPr/>
          <p:nvPr/>
        </p:nvGrpSpPr>
        <p:grpSpPr>
          <ns0:xfrm xmlns:ns0="http://schemas.openxmlformats.org/drawingml/2006/main">
            <ns0:off x="381000" y="2476500"/>
            <ns0:ext cx="7105650" cy="3114675"/>
            <ns0:chOff x="190500" y="3905250"/>
            <ns0:chExt cx="6572250" cy="2876550"/>
          </ns0:xfrm>
        </p:grpSpPr>
        <p:sp xmlns:a="http://schemas.openxmlformats.org/drawingml/2006/main">
          <p:nvSpPr>
            <p:cNvPr id="12" name="矩形 684">
              <a:extLst>
                <a:ext uri="{FF2B5EF4-FFF2-40B4-BE49-F238E27FC236}">
                  <a16:creationId xmlns:a16="http://schemas.microsoft.com/office/drawing/2014/main" id="{A88F28BB-5C43-4745-A34F-81A953258686}"/>
                </a:ext>
              </a:extLst>
            </p:cNvPr>
            <p:cNvSpPr/>
            <p:nvPr/>
          </p:nvSpPr>
          <p:spPr>
            <a:xfrm>
              <a:off x="249774" y="3955267"/>
              <a:ext cx="6112926" cy="2766131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00206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8">
                <a:defRPr/>
              </a:pPr>
              <a:endParaRPr lang="en-US" altLang="zh-CN" sz="900" b="1" ker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13" name="矩形 578">
              <a:extLst>
                <a:ext uri="{FF2B5EF4-FFF2-40B4-BE49-F238E27FC236}">
                  <a16:creationId xmlns:a16="http://schemas.microsoft.com/office/drawing/2014/main" id="{E148359F-FF01-4CBD-9CE9-7264D0CA5934}"/>
                </a:ext>
              </a:extLst>
            </p:cNvPr>
            <p:cNvSpPr/>
            <p:nvPr/>
          </p:nvSpPr>
          <p:spPr>
            <a:xfrm>
              <a:off x="1145018" y="5357740"/>
              <a:ext cx="1847087" cy="579439"/>
            </a:xfrm>
            <a:prstGeom prst="rect">
              <a:avLst/>
            </a:prstGeom>
            <a:solidFill>
              <a:srgbClr val="EDF1FD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8">
                <a:defRPr/>
              </a:pPr>
              <a:endParaRPr lang="zh-CN" altLang="en-US" sz="900" b="1" ker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14" name="矩形 579">
              <a:extLst>
                <a:ext uri="{FF2B5EF4-FFF2-40B4-BE49-F238E27FC236}">
                  <a16:creationId xmlns:a16="http://schemas.microsoft.com/office/drawing/2014/main" id="{360968C1-FF12-45D1-A606-35EB382D9E02}"/>
                </a:ext>
              </a:extLst>
            </p:cNvPr>
            <p:cNvSpPr/>
            <p:nvPr/>
          </p:nvSpPr>
          <p:spPr>
            <a:xfrm>
              <a:off x="1148624" y="4683971"/>
              <a:ext cx="1847087" cy="599162"/>
            </a:xfrm>
            <a:prstGeom prst="rect">
              <a:avLst/>
            </a:prstGeom>
            <a:solidFill>
              <a:srgbClr val="EDF1FD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8">
                <a:defRPr/>
              </a:pPr>
              <a:endParaRPr lang="zh-CN" altLang="en-US" sz="900" b="1" ker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15" name="slide5-station-blocked">
              <a:extLst>
                <a:ext uri="{FF2B5EF4-FFF2-40B4-BE49-F238E27FC236}">
                  <a16:creationId xmlns:a16="http://schemas.microsoft.com/office/drawing/2014/main" id="{D0EE7D0C-680C-4AB1-85F1-52EBEE9C8D45}"/>
                </a:ext>
              </a:extLst>
            </p:cNvPr>
            <p:cNvSpPr>
              <a:spLocks noGrp="1"/>
            </p:cNvSpPr>
            <p:nvPr/>
          </p:nvSpPr>
          <p:spPr>
            <a:xfrm>
              <a:off x="505682" y="4079805"/>
              <a:ext cx="2614870" cy="2427814"/>
            </a:xfrm>
            <a:prstGeom prst="rect">
              <a:avLst/>
            </a:prstGeom>
            <a:noFill/>
            <a:ln w="9525">
              <a:solidFill>
                <a:srgbClr val="202020"/>
              </a:solidFill>
              <a:prstDash val="dash"/>
            </a:ln>
          </p:spPr>
        </p:sp>
        <p:sp xmlns:a="http://schemas.openxmlformats.org/drawingml/2006/main">
          <p:nvSpPr>
            <p:cNvPr id="16" name="slide5-anchor-e-tag-deflect-start">
              <a:extLst>
                <a:ext uri="{FF2B5EF4-FFF2-40B4-BE49-F238E27FC236}">
                  <a16:creationId xmlns:a16="http://schemas.microsoft.com/office/drawing/2014/main" id="{B46F10C5-7FAE-4060-B51E-7D14EBDBFBB2}"/>
                </a:ext>
              </a:extLst>
            </p:cNvPr>
            <p:cNvSpPr>
              <a:spLocks noGrp="1"/>
            </p:cNvSpPr>
            <p:nvPr/>
          </p:nvSpPr>
          <p:spPr>
            <a:xfrm>
              <a:off x="870000" y="5575229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17" name="slide5-anchor-e-tag-deflect-output">
              <a:extLst>
                <a:ext uri="{FF2B5EF4-FFF2-40B4-BE49-F238E27FC236}">
                  <a16:creationId xmlns:a16="http://schemas.microsoft.com/office/drawing/2014/main" id="{968411E7-7D9F-4480-96A0-4E500B0D5D02}"/>
                </a:ext>
              </a:extLst>
            </p:cNvPr>
            <p:cNvSpPr>
              <a:spLocks noGrp="1"/>
            </p:cNvSpPr>
            <p:nvPr/>
          </p:nvSpPr>
          <p:spPr>
            <a:xfrm>
              <a:off x="3779710" y="5367850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18" name="slide5-anchor-e-tag-blocked-3">
              <a:extLst>
                <a:ext uri="{FF2B5EF4-FFF2-40B4-BE49-F238E27FC236}">
                  <a16:creationId xmlns:a16="http://schemas.microsoft.com/office/drawing/2014/main" id="{95670100-E013-49F4-9167-DBFFDDBF8601}"/>
                </a:ext>
              </a:extLst>
            </p:cNvPr>
            <p:cNvSpPr>
              <a:spLocks noGrp="1"/>
            </p:cNvSpPr>
            <p:nvPr/>
          </p:nvSpPr>
          <p:spPr>
            <a:xfrm>
              <a:off x="5621709" y="6737661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19" name="slide5-anchor-e-tag-blocked-4">
              <a:extLst>
                <a:ext uri="{FF2B5EF4-FFF2-40B4-BE49-F238E27FC236}">
                  <a16:creationId xmlns:a16="http://schemas.microsoft.com/office/drawing/2014/main" id="{1B8FC857-F041-45DB-97FB-0EDB605AF560}"/>
                </a:ext>
              </a:extLst>
            </p:cNvPr>
            <p:cNvSpPr>
              <a:spLocks noGrp="1"/>
            </p:cNvSpPr>
            <p:nvPr/>
          </p:nvSpPr>
          <p:spPr>
            <a:xfrm>
              <a:off x="934342" y="5944590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20" name="slide5-anchor-e-tag-blocked-5">
              <a:extLst>
                <a:ext uri="{FF2B5EF4-FFF2-40B4-BE49-F238E27FC236}">
                  <a16:creationId xmlns:a16="http://schemas.microsoft.com/office/drawing/2014/main" id="{A8477F04-28D7-4C0D-83CF-D2E03B3B7831}"/>
                </a:ext>
              </a:extLst>
            </p:cNvPr>
            <p:cNvSpPr>
              <a:spLocks noGrp="1"/>
            </p:cNvSpPr>
            <p:nvPr/>
          </p:nvSpPr>
          <p:spPr>
            <a:xfrm>
              <a:off x="1136700" y="5784779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 xmlns:a="http://schemas.openxmlformats.org/drawingml/2006/main">
          <p:nvCxnSpPr>
            <p:cNvPr id="21" name="slide5-e-tag-route-return-final">
              <a:extLst>
                <a:ext uri="{FF2B5EF4-FFF2-40B4-BE49-F238E27FC236}">
                  <a16:creationId xmlns:a16="http://schemas.microsoft.com/office/drawing/2014/main" id="{B7B44E95-64B2-4ADE-B136-18105A7DC182}"/>
                </a:ext>
              </a:extLst>
            </p:cNvPr>
            <p:cNvCxnSpPr>
              <a:cxnSpLocks/>
              <a:stCxn id="27" idx="1"/>
              <a:endCxn id="55" idx="7"/>
            </p:cNvCxnSpPr>
            <p:nvPr/>
          </p:nvCxnSpPr>
          <p:spPr>
            <a:xfrm flipH="1">
              <a:off x="797963" y="5040876"/>
              <a:ext cx="461355" cy="196605"/>
            </a:xfrm>
            <a:prstGeom prst="straightConnector1">
              <a:avLst/>
            </a:prstGeom>
            <a:ln w="19050">
              <a:solidFill>
                <a:srgbClr val="7339AD"/>
              </a:solidFill>
              <a:prstDash val="dash"/>
              <a:tailEnd type="triangle" w="sm" len="sm"/>
            </a:ln>
          </p:spPr>
        </p:cxnSp>
        <p:sp xmlns:a="http://schemas.openxmlformats.org/drawingml/2006/main">
          <p:nvSpPr>
            <p:cNvPr id="22" name="slide5-queue-label-blocked-inject">
              <a:extLst>
                <a:ext uri="{FF2B5EF4-FFF2-40B4-BE49-F238E27FC236}">
                  <a16:creationId xmlns:a16="http://schemas.microsoft.com/office/drawing/2014/main" id="{9D7A55C4-6DEC-4281-BEEF-7668EC6250F1}"/>
                </a:ext>
              </a:extLst>
            </p:cNvPr>
            <p:cNvSpPr>
              <a:spLocks noGrp="1"/>
            </p:cNvSpPr>
            <p:nvPr/>
          </p:nvSpPr>
          <p:spPr>
            <a:xfrm>
              <a:off x="791132" y="4660812"/>
              <a:ext cx="2714625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750" b="1">
                  <a:solidFill>
                    <a:srgbClr val="30363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Inject </a:t>
              </a:r>
              <a:r>
                <a:rPr lang="en-US" altLang="zh-CN"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Queue</a:t>
              </a: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· local</a:t>
              </a:r>
            </a:p>
          </p:txBody>
        </p:sp>
        <p:sp xmlns:a="http://schemas.openxmlformats.org/drawingml/2006/main">
          <p:nvSpPr>
            <p:cNvPr id="23" name="slide5-queue-label-blocked-eject">
              <a:extLst>
                <a:ext uri="{FF2B5EF4-FFF2-40B4-BE49-F238E27FC236}">
                  <a16:creationId xmlns:a16="http://schemas.microsoft.com/office/drawing/2014/main" id="{2DBD2D6E-CA1A-4E6A-AADA-A1451CCA7597}"/>
                </a:ext>
              </a:extLst>
            </p:cNvPr>
            <p:cNvSpPr>
              <a:spLocks noGrp="1"/>
            </p:cNvSpPr>
            <p:nvPr/>
          </p:nvSpPr>
          <p:spPr>
            <a:xfrm>
              <a:off x="1330682" y="5699061"/>
              <a:ext cx="1660218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>
                <a:defRPr sz="750" b="1">
                  <a:solidFill>
                    <a:srgbClr val="30363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Eject Queue · full</a:t>
              </a:r>
            </a:p>
          </p:txBody>
        </p:sp>
        <p:sp xmlns:a="http://schemas.openxmlformats.org/drawingml/2006/main">
          <p:nvSpPr>
            <p:cNvPr id="24" name="slide5-blocked-marker">
              <a:extLst>
                <a:ext uri="{FF2B5EF4-FFF2-40B4-BE49-F238E27FC236}">
                  <a16:creationId xmlns:a16="http://schemas.microsoft.com/office/drawing/2014/main" id="{BEA14F5A-FBDE-456E-9846-7D48D14B73BA}"/>
                </a:ext>
              </a:extLst>
            </p:cNvPr>
            <p:cNvSpPr>
              <a:spLocks noGrp="1"/>
            </p:cNvSpPr>
            <p:nvPr/>
          </p:nvSpPr>
          <p:spPr>
            <a:xfrm>
              <a:off x="851073" y="4975154"/>
              <a:ext cx="284335" cy="2481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275" b="1">
                  <a:solidFill>
                    <a:srgbClr val="B3261E"/>
                  </a:solidFill>
                  <a:latin typeface="Arial"/>
                  <a:ea typeface="Arial"/>
                  <a:cs typeface="Arial"/>
                </a:defRPr>
              </a:pPr>
              <a:r>
                <a:rPr sz="2000" b="1" dirty="0">
                  <a:solidFill>
                    <a:srgbClr val="FF0000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sp xmlns:a="http://schemas.openxmlformats.org/drawingml/2006/main">
          <p:nvSpPr>
            <p:cNvPr id="25" name="slide5-queue-frame-blocked-inject">
              <a:extLst>
                <a:ext uri="{FF2B5EF4-FFF2-40B4-BE49-F238E27FC236}">
                  <a16:creationId xmlns:a16="http://schemas.microsoft.com/office/drawing/2014/main" id="{B812A1A3-28FB-4063-99DC-1BCAB38630A3}"/>
                </a:ext>
              </a:extLst>
            </p:cNvPr>
            <p:cNvSpPr>
              <a:spLocks noGrp="1"/>
            </p:cNvSpPr>
            <p:nvPr/>
          </p:nvSpPr>
          <p:spPr>
            <a:xfrm>
              <a:off x="1264092" y="4882127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26" name="slide5-flit-blocked-inject-0">
              <a:extLst>
                <a:ext uri="{FF2B5EF4-FFF2-40B4-BE49-F238E27FC236}">
                  <a16:creationId xmlns:a16="http://schemas.microsoft.com/office/drawing/2014/main" id="{EFCEA250-7D63-4DAE-A726-793B6D1A50E1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299815" y="4917049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27" name="slide5-label-flit-blocked-inject-1">
              <a:extLst>
                <a:ext uri="{FF2B5EF4-FFF2-40B4-BE49-F238E27FC236}">
                  <a16:creationId xmlns:a16="http://schemas.microsoft.com/office/drawing/2014/main" id="{874C3B3E-D620-43FF-A964-EEAFAC8CA322}"/>
                </a:ext>
              </a:extLst>
            </p:cNvPr>
            <p:cNvSpPr>
              <a:spLocks noGrp="1"/>
            </p:cNvSpPr>
            <p:nvPr/>
          </p:nvSpPr>
          <p:spPr>
            <a:xfrm>
              <a:off x="1259318" y="49646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1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28" name="slide5-queue-frame-blocked-inject">
              <a:extLst>
                <a:ext uri="{FF2B5EF4-FFF2-40B4-BE49-F238E27FC236}">
                  <a16:creationId xmlns:a16="http://schemas.microsoft.com/office/drawing/2014/main" id="{40E732EF-EB00-4B67-B301-98DB19A8674C}"/>
                </a:ext>
              </a:extLst>
            </p:cNvPr>
            <p:cNvSpPr>
              <a:spLocks noGrp="1"/>
            </p:cNvSpPr>
            <p:nvPr/>
          </p:nvSpPr>
          <p:spPr>
            <a:xfrm>
              <a:off x="1587538" y="4882127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29" name="slide5-flit-blocked-inject-0">
              <a:extLst>
                <a:ext uri="{FF2B5EF4-FFF2-40B4-BE49-F238E27FC236}">
                  <a16:creationId xmlns:a16="http://schemas.microsoft.com/office/drawing/2014/main" id="{B83C493F-6E06-45D1-9000-2DC46837C4DD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623261" y="4917049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30" name="slide5-label-flit-blocked-inject-1">
              <a:extLst>
                <a:ext uri="{FF2B5EF4-FFF2-40B4-BE49-F238E27FC236}">
                  <a16:creationId xmlns:a16="http://schemas.microsoft.com/office/drawing/2014/main" id="{59ACE1AF-B4E2-4DF4-9044-58340B252425}"/>
                </a:ext>
              </a:extLst>
            </p:cNvPr>
            <p:cNvSpPr>
              <a:spLocks noGrp="1"/>
            </p:cNvSpPr>
            <p:nvPr/>
          </p:nvSpPr>
          <p:spPr>
            <a:xfrm>
              <a:off x="1582764" y="49646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2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31" name="slide5-queue-frame-blocked-inject">
              <a:extLst>
                <a:ext uri="{FF2B5EF4-FFF2-40B4-BE49-F238E27FC236}">
                  <a16:creationId xmlns:a16="http://schemas.microsoft.com/office/drawing/2014/main" id="{1D27E493-C32B-462C-AE54-12BD68C52088}"/>
                </a:ext>
              </a:extLst>
            </p:cNvPr>
            <p:cNvSpPr>
              <a:spLocks noGrp="1"/>
            </p:cNvSpPr>
            <p:nvPr/>
          </p:nvSpPr>
          <p:spPr>
            <a:xfrm>
              <a:off x="1916569" y="4882127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32" name="slide5-flit-blocked-inject-0">
              <a:extLst>
                <a:ext uri="{FF2B5EF4-FFF2-40B4-BE49-F238E27FC236}">
                  <a16:creationId xmlns:a16="http://schemas.microsoft.com/office/drawing/2014/main" id="{62320932-4676-4CC9-81CA-C3B173F6B63C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952292" y="4917049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33" name="slide5-label-flit-blocked-inject-1">
              <a:extLst>
                <a:ext uri="{FF2B5EF4-FFF2-40B4-BE49-F238E27FC236}">
                  <a16:creationId xmlns:a16="http://schemas.microsoft.com/office/drawing/2014/main" id="{76929ACA-1FD5-4DBF-98F4-8D58DBF38CD8}"/>
                </a:ext>
              </a:extLst>
            </p:cNvPr>
            <p:cNvSpPr>
              <a:spLocks noGrp="1"/>
            </p:cNvSpPr>
            <p:nvPr/>
          </p:nvSpPr>
          <p:spPr>
            <a:xfrm>
              <a:off x="1911795" y="49646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3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34" name="slide5-queue-frame-blocked-inject">
              <a:extLst>
                <a:ext uri="{FF2B5EF4-FFF2-40B4-BE49-F238E27FC236}">
                  <a16:creationId xmlns:a16="http://schemas.microsoft.com/office/drawing/2014/main" id="{35FF41A8-CBF3-49CF-803F-24A6C88B8225}"/>
                </a:ext>
              </a:extLst>
            </p:cNvPr>
            <p:cNvSpPr>
              <a:spLocks noGrp="1"/>
            </p:cNvSpPr>
            <p:nvPr/>
          </p:nvSpPr>
          <p:spPr>
            <a:xfrm>
              <a:off x="2240015" y="4882127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35" name="slide5-flit-blocked-inject-0">
              <a:extLst>
                <a:ext uri="{FF2B5EF4-FFF2-40B4-BE49-F238E27FC236}">
                  <a16:creationId xmlns:a16="http://schemas.microsoft.com/office/drawing/2014/main" id="{AE547027-8CD9-4CF8-8DF3-7A4904D1DC93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2275738" y="4917049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36" name="slide5-label-flit-blocked-inject-1">
              <a:extLst>
                <a:ext uri="{FF2B5EF4-FFF2-40B4-BE49-F238E27FC236}">
                  <a16:creationId xmlns:a16="http://schemas.microsoft.com/office/drawing/2014/main" id="{46A3CB33-CF30-4195-899F-FEBC73CC2BB5}"/>
                </a:ext>
              </a:extLst>
            </p:cNvPr>
            <p:cNvSpPr>
              <a:spLocks noGrp="1"/>
            </p:cNvSpPr>
            <p:nvPr/>
          </p:nvSpPr>
          <p:spPr>
            <a:xfrm>
              <a:off x="2235241" y="49646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4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37" name="slide5-queue-frame-blocked-inject">
              <a:extLst>
                <a:ext uri="{FF2B5EF4-FFF2-40B4-BE49-F238E27FC236}">
                  <a16:creationId xmlns:a16="http://schemas.microsoft.com/office/drawing/2014/main" id="{4BACD5AF-0478-4938-8A7C-38D7D0567549}"/>
                </a:ext>
              </a:extLst>
            </p:cNvPr>
            <p:cNvSpPr>
              <a:spLocks noGrp="1"/>
            </p:cNvSpPr>
            <p:nvPr/>
          </p:nvSpPr>
          <p:spPr>
            <a:xfrm>
              <a:off x="2567449" y="4882127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38" name="slide5-flit-blocked-inject-0">
              <a:extLst>
                <a:ext uri="{FF2B5EF4-FFF2-40B4-BE49-F238E27FC236}">
                  <a16:creationId xmlns:a16="http://schemas.microsoft.com/office/drawing/2014/main" id="{6D134BDA-9A7E-4864-8FED-A5CFE2B02D86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2603172" y="4917049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39" name="slide5-label-flit-blocked-inject-1">
              <a:extLst>
                <a:ext uri="{FF2B5EF4-FFF2-40B4-BE49-F238E27FC236}">
                  <a16:creationId xmlns:a16="http://schemas.microsoft.com/office/drawing/2014/main" id="{AB60A485-B6DF-4823-8353-8FBCC635D487}"/>
                </a:ext>
              </a:extLst>
            </p:cNvPr>
            <p:cNvSpPr>
              <a:spLocks noGrp="1"/>
            </p:cNvSpPr>
            <p:nvPr/>
          </p:nvSpPr>
          <p:spPr>
            <a:xfrm>
              <a:off x="2562675" y="49646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5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40" name="slide5-queue-frame-blocked-inject">
              <a:extLst>
                <a:ext uri="{FF2B5EF4-FFF2-40B4-BE49-F238E27FC236}">
                  <a16:creationId xmlns:a16="http://schemas.microsoft.com/office/drawing/2014/main" id="{BF24886F-B298-4B11-93F1-B08C29468715}"/>
                </a:ext>
              </a:extLst>
            </p:cNvPr>
            <p:cNvSpPr>
              <a:spLocks noGrp="1"/>
            </p:cNvSpPr>
            <p:nvPr/>
          </p:nvSpPr>
          <p:spPr>
            <a:xfrm>
              <a:off x="1224390" y="5433940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41" name="slide5-flit-blocked-inject-0">
              <a:extLst>
                <a:ext uri="{FF2B5EF4-FFF2-40B4-BE49-F238E27FC236}">
                  <a16:creationId xmlns:a16="http://schemas.microsoft.com/office/drawing/2014/main" id="{1669FB8B-D5F8-471C-B4D6-855C7D28AECE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260113" y="5468862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42" name="slide5-label-flit-blocked-inject-1">
              <a:extLst>
                <a:ext uri="{FF2B5EF4-FFF2-40B4-BE49-F238E27FC236}">
                  <a16:creationId xmlns:a16="http://schemas.microsoft.com/office/drawing/2014/main" id="{85EBCA94-8DED-4EDE-ABA6-6168645FB34D}"/>
                </a:ext>
              </a:extLst>
            </p:cNvPr>
            <p:cNvSpPr>
              <a:spLocks noGrp="1"/>
            </p:cNvSpPr>
            <p:nvPr/>
          </p:nvSpPr>
          <p:spPr>
            <a:xfrm>
              <a:off x="1219616" y="5516489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B5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43" name="slide5-queue-frame-blocked-inject">
              <a:extLst>
                <a:ext uri="{FF2B5EF4-FFF2-40B4-BE49-F238E27FC236}">
                  <a16:creationId xmlns:a16="http://schemas.microsoft.com/office/drawing/2014/main" id="{CAB78D7B-E6F3-4E55-B9ED-AB3DA42CF571}"/>
                </a:ext>
              </a:extLst>
            </p:cNvPr>
            <p:cNvSpPr>
              <a:spLocks noGrp="1"/>
            </p:cNvSpPr>
            <p:nvPr/>
          </p:nvSpPr>
          <p:spPr>
            <a:xfrm>
              <a:off x="1547836" y="5433940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44" name="slide5-flit-blocked-inject-0">
              <a:extLst>
                <a:ext uri="{FF2B5EF4-FFF2-40B4-BE49-F238E27FC236}">
                  <a16:creationId xmlns:a16="http://schemas.microsoft.com/office/drawing/2014/main" id="{FB748746-2E96-4912-AFB1-95A816ADADD4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583559" y="5468862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45" name="slide5-label-flit-blocked-inject-1">
              <a:extLst>
                <a:ext uri="{FF2B5EF4-FFF2-40B4-BE49-F238E27FC236}">
                  <a16:creationId xmlns:a16="http://schemas.microsoft.com/office/drawing/2014/main" id="{F14BBC23-EC3D-4085-B737-BB6CE7251A1F}"/>
                </a:ext>
              </a:extLst>
            </p:cNvPr>
            <p:cNvSpPr>
              <a:spLocks noGrp="1"/>
            </p:cNvSpPr>
            <p:nvPr/>
          </p:nvSpPr>
          <p:spPr>
            <a:xfrm>
              <a:off x="1543062" y="5516489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B4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46" name="slide5-queue-frame-blocked-inject">
              <a:extLst>
                <a:ext uri="{FF2B5EF4-FFF2-40B4-BE49-F238E27FC236}">
                  <a16:creationId xmlns:a16="http://schemas.microsoft.com/office/drawing/2014/main" id="{54312FB8-E497-4FBA-84A6-7F91A517EDE9}"/>
                </a:ext>
              </a:extLst>
            </p:cNvPr>
            <p:cNvSpPr>
              <a:spLocks noGrp="1"/>
            </p:cNvSpPr>
            <p:nvPr/>
          </p:nvSpPr>
          <p:spPr>
            <a:xfrm>
              <a:off x="1876867" y="5433940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47" name="slide5-flit-blocked-inject-0">
              <a:extLst>
                <a:ext uri="{FF2B5EF4-FFF2-40B4-BE49-F238E27FC236}">
                  <a16:creationId xmlns:a16="http://schemas.microsoft.com/office/drawing/2014/main" id="{AE67E855-29B7-4CBB-BC40-B1094B73A18A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912590" y="5468862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48" name="slide5-label-flit-blocked-inject-1">
              <a:extLst>
                <a:ext uri="{FF2B5EF4-FFF2-40B4-BE49-F238E27FC236}">
                  <a16:creationId xmlns:a16="http://schemas.microsoft.com/office/drawing/2014/main" id="{9808B2EB-5A73-49C2-A437-C817358651DE}"/>
                </a:ext>
              </a:extLst>
            </p:cNvPr>
            <p:cNvSpPr>
              <a:spLocks noGrp="1"/>
            </p:cNvSpPr>
            <p:nvPr/>
          </p:nvSpPr>
          <p:spPr>
            <a:xfrm>
              <a:off x="1872093" y="5516489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B3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49" name="slide5-queue-frame-blocked-inject">
              <a:extLst>
                <a:ext uri="{FF2B5EF4-FFF2-40B4-BE49-F238E27FC236}">
                  <a16:creationId xmlns:a16="http://schemas.microsoft.com/office/drawing/2014/main" id="{B4AE5649-59B5-47B5-8C8B-35075283C4AB}"/>
                </a:ext>
              </a:extLst>
            </p:cNvPr>
            <p:cNvSpPr>
              <a:spLocks noGrp="1"/>
            </p:cNvSpPr>
            <p:nvPr/>
          </p:nvSpPr>
          <p:spPr>
            <a:xfrm>
              <a:off x="2200313" y="5433940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50" name="slide5-flit-blocked-inject-0">
              <a:extLst>
                <a:ext uri="{FF2B5EF4-FFF2-40B4-BE49-F238E27FC236}">
                  <a16:creationId xmlns:a16="http://schemas.microsoft.com/office/drawing/2014/main" id="{E2B21476-153F-4398-9D52-1C915957F1F5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2236036" y="5468862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51" name="slide5-label-flit-blocked-inject-1">
              <a:extLst>
                <a:ext uri="{FF2B5EF4-FFF2-40B4-BE49-F238E27FC236}">
                  <a16:creationId xmlns:a16="http://schemas.microsoft.com/office/drawing/2014/main" id="{125DF7FD-570D-4238-B2AF-D8EABDBAE802}"/>
                </a:ext>
              </a:extLst>
            </p:cNvPr>
            <p:cNvSpPr>
              <a:spLocks noGrp="1"/>
            </p:cNvSpPr>
            <p:nvPr/>
          </p:nvSpPr>
          <p:spPr>
            <a:xfrm>
              <a:off x="2195539" y="5516489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B2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52" name="slide5-queue-frame-blocked-inject">
              <a:extLst>
                <a:ext uri="{FF2B5EF4-FFF2-40B4-BE49-F238E27FC236}">
                  <a16:creationId xmlns:a16="http://schemas.microsoft.com/office/drawing/2014/main" id="{07F15048-30BE-4151-A659-14DAC4410733}"/>
                </a:ext>
              </a:extLst>
            </p:cNvPr>
            <p:cNvSpPr>
              <a:spLocks noGrp="1"/>
            </p:cNvSpPr>
            <p:nvPr/>
          </p:nvSpPr>
          <p:spPr>
            <a:xfrm>
              <a:off x="2527747" y="5433940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53" name="slide5-flit-blocked-inject-0">
              <a:extLst>
                <a:ext uri="{FF2B5EF4-FFF2-40B4-BE49-F238E27FC236}">
                  <a16:creationId xmlns:a16="http://schemas.microsoft.com/office/drawing/2014/main" id="{96213142-C8DD-48FE-A02A-4F55C578F5B7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2563470" y="5468862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54" name="slide5-label-flit-blocked-inject-1">
              <a:extLst>
                <a:ext uri="{FF2B5EF4-FFF2-40B4-BE49-F238E27FC236}">
                  <a16:creationId xmlns:a16="http://schemas.microsoft.com/office/drawing/2014/main" id="{834DF9B5-34BF-487A-9DC5-BB7B3478D3EF}"/>
                </a:ext>
              </a:extLst>
            </p:cNvPr>
            <p:cNvSpPr>
              <a:spLocks noGrp="1"/>
            </p:cNvSpPr>
            <p:nvPr/>
          </p:nvSpPr>
          <p:spPr>
            <a:xfrm>
              <a:off x="2522973" y="5516489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B1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55" name="slide5-flit-blocked-inject-0">
              <a:extLst>
                <a:ext uri="{FF2B5EF4-FFF2-40B4-BE49-F238E27FC236}">
                  <a16:creationId xmlns:a16="http://schemas.microsoft.com/office/drawing/2014/main" id="{DE250A7C-F9C1-4610-9BD2-4A634AF8E458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82868" y="5200576"/>
              <a:ext cx="252000" cy="252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56" name="slide5-label-flit-blocked-inject-1">
              <a:extLst>
                <a:ext uri="{FF2B5EF4-FFF2-40B4-BE49-F238E27FC236}">
                  <a16:creationId xmlns:a16="http://schemas.microsoft.com/office/drawing/2014/main" id="{C86D2013-D66E-4AFF-9AE7-FF0D176CB147}"/>
                </a:ext>
              </a:extLst>
            </p:cNvPr>
            <p:cNvSpPr>
              <a:spLocks noGrp="1"/>
            </p:cNvSpPr>
            <p:nvPr/>
          </p:nvSpPr>
          <p:spPr>
            <a:xfrm>
              <a:off x="535632" y="52503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B6</a:t>
              </a:r>
              <a:endParaRPr sz="1000" b="1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cxnSp xmlns:a="http://schemas.openxmlformats.org/drawingml/2006/main">
          <p:nvCxnSpPr>
            <p:cNvPr id="57" name="slide5-e-tag-route-return-final">
              <a:extLst>
                <a:ext uri="{FF2B5EF4-FFF2-40B4-BE49-F238E27FC236}">
                  <a16:creationId xmlns:a16="http://schemas.microsoft.com/office/drawing/2014/main" id="{F48DE0A3-552B-444B-B954-F43D2C06705C}"/>
                </a:ext>
              </a:extLst>
            </p:cNvPr>
            <p:cNvCxnSpPr>
              <a:cxnSpLocks/>
              <a:stCxn id="55" idx="5"/>
              <a:endCxn id="41" idx="2"/>
            </p:cNvCxnSpPr>
            <p:nvPr/>
          </p:nvCxnSpPr>
          <p:spPr>
            <a:xfrm>
              <a:off x="797963" y="5415671"/>
              <a:ext cx="462150" cy="179191"/>
            </a:xfrm>
            <a:prstGeom prst="straightConnector1">
              <a:avLst/>
            </a:prstGeom>
            <a:ln w="19050">
              <a:solidFill>
                <a:srgbClr val="7339AD"/>
              </a:solidFill>
              <a:prstDash val="dash"/>
              <a:tailEnd type="triangle" w="sm" len="sm"/>
            </a:ln>
          </p:spPr>
        </p:cxnSp>
        <p:sp xmlns:a="http://schemas.openxmlformats.org/drawingml/2006/main">
          <p:nvSpPr>
            <p:cNvPr id="58" name="slide5-blocked-marker">
              <a:extLst>
                <a:ext uri="{FF2B5EF4-FFF2-40B4-BE49-F238E27FC236}">
                  <a16:creationId xmlns:a16="http://schemas.microsoft.com/office/drawing/2014/main" id="{586F3A0D-6726-47C8-9179-B0D568888D1B}"/>
                </a:ext>
              </a:extLst>
            </p:cNvPr>
            <p:cNvSpPr>
              <a:spLocks noGrp="1"/>
            </p:cNvSpPr>
            <p:nvPr/>
          </p:nvSpPr>
          <p:spPr>
            <a:xfrm>
              <a:off x="851832" y="5305147"/>
              <a:ext cx="284335" cy="2481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275" b="1">
                  <a:solidFill>
                    <a:srgbClr val="B3261E"/>
                  </a:solidFill>
                  <a:latin typeface="Arial"/>
                  <a:ea typeface="Arial"/>
                  <a:cs typeface="Arial"/>
                </a:defRPr>
              </a:pPr>
              <a:r>
                <a:rPr sz="2000" b="1" dirty="0">
                  <a:solidFill>
                    <a:srgbClr val="FF0000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cxnSp xmlns:a="http://schemas.openxmlformats.org/drawingml/2006/main">
          <p:nvCxnSpPr>
            <p:cNvPr id="59" name="直接箭头连接符 624">
              <a:extLst>
                <a:ext uri="{FF2B5EF4-FFF2-40B4-BE49-F238E27FC236}">
                  <a16:creationId xmlns:a16="http://schemas.microsoft.com/office/drawing/2014/main" id="{583E6ABC-8D65-4E99-A122-7CA8FDEC99E9}"/>
                </a:ext>
              </a:extLst>
            </p:cNvPr>
            <p:cNvCxnSpPr>
              <a:cxnSpLocks/>
              <a:stCxn id="62" idx="4"/>
              <a:endCxn id="55" idx="0"/>
            </p:cNvCxnSpPr>
            <p:nvPr/>
          </p:nvCxnSpPr>
          <p:spPr>
            <a:xfrm flipH="1">
              <a:off x="708868" y="4491728"/>
              <a:ext cx="6144" cy="708848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6">
                  <a:lumMod val="50000"/>
                </a:schemeClr>
              </a:solidFill>
              <a:prstDash val="solid"/>
              <a:miter lim="800000"/>
              <a:tailEnd type="triangle"/>
            </a:ln>
            <a:effectLst/>
          </p:spPr>
        </p:cxnSp>
        <p:sp xmlns:a="http://schemas.openxmlformats.org/drawingml/2006/main">
          <p:nvSpPr>
            <p:cNvPr id="60" name="slide4-node-interface">
              <a:extLst>
                <a:ext uri="{FF2B5EF4-FFF2-40B4-BE49-F238E27FC236}">
                  <a16:creationId xmlns:a16="http://schemas.microsoft.com/office/drawing/2014/main" id="{2EB7C66A-5609-4ADC-B773-04EDF7F89339}"/>
                </a:ext>
              </a:extLst>
            </p:cNvPr>
            <p:cNvSpPr>
              <a:spLocks noGrp="1"/>
            </p:cNvSpPr>
            <p:nvPr/>
          </p:nvSpPr>
          <p:spPr>
            <a:xfrm>
              <a:off x="541776" y="4200844"/>
              <a:ext cx="2475479" cy="340923"/>
            </a:xfrm>
            <a:prstGeom prst="rect">
              <a:avLst/>
            </a:prstGeom>
            <a:noFill/>
            <a:ln w="12700">
              <a:solidFill>
                <a:srgbClr val="50565E"/>
              </a:solidFill>
              <a:prstDash val="dash"/>
            </a:ln>
          </p:spPr>
        </p:sp>
        <p:sp xmlns:a="http://schemas.openxmlformats.org/drawingml/2006/main">
          <p:nvSpPr>
            <p:cNvPr id="61" name="文本框 626">
              <a:extLst>
                <a:ext uri="{FF2B5EF4-FFF2-40B4-BE49-F238E27FC236}">
                  <a16:creationId xmlns:a16="http://schemas.microsoft.com/office/drawing/2014/main" id="{CDE7530D-5D3E-4CBD-8A5C-A04177B326EB}"/>
                </a:ext>
              </a:extLst>
            </p:cNvPr>
            <p:cNvSpPr txBox="1"/>
            <p:nvPr/>
          </p:nvSpPr>
          <p:spPr>
            <a:xfrm>
              <a:off x="2019271" y="4238728"/>
              <a:ext cx="93692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CS N-1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62" name="slide5-flit-blocked-inject-0">
              <a:extLst>
                <a:ext uri="{FF2B5EF4-FFF2-40B4-BE49-F238E27FC236}">
                  <a16:creationId xmlns:a16="http://schemas.microsoft.com/office/drawing/2014/main" id="{B4C25D35-9650-4097-B0AB-15120BAB26F0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89012" y="4239728"/>
              <a:ext cx="252000" cy="252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63" name="slide5-label-flit-blocked-inject-1">
              <a:extLst>
                <a:ext uri="{FF2B5EF4-FFF2-40B4-BE49-F238E27FC236}">
                  <a16:creationId xmlns:a16="http://schemas.microsoft.com/office/drawing/2014/main" id="{20BA3DB6-24F7-4EE2-BB8A-CFF5868D5CDB}"/>
                </a:ext>
              </a:extLst>
            </p:cNvPr>
            <p:cNvSpPr>
              <a:spLocks noGrp="1"/>
            </p:cNvSpPr>
            <p:nvPr/>
          </p:nvSpPr>
          <p:spPr>
            <a:xfrm>
              <a:off x="541776" y="4289528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C </a:t>
              </a:r>
              <a:endParaRPr sz="1000" b="1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64" name="slide4-node-interface">
              <a:extLst>
                <a:ext uri="{FF2B5EF4-FFF2-40B4-BE49-F238E27FC236}">
                  <a16:creationId xmlns:a16="http://schemas.microsoft.com/office/drawing/2014/main" id="{7DD8BB59-9240-4405-AFBE-D92E674C3F85}"/>
                </a:ext>
              </a:extLst>
            </p:cNvPr>
            <p:cNvSpPr>
              <a:spLocks noGrp="1"/>
            </p:cNvSpPr>
            <p:nvPr/>
          </p:nvSpPr>
          <p:spPr>
            <a:xfrm>
              <a:off x="535632" y="6099638"/>
              <a:ext cx="2475479" cy="340923"/>
            </a:xfrm>
            <a:prstGeom prst="rect">
              <a:avLst/>
            </a:prstGeom>
            <a:noFill/>
            <a:ln w="12700">
              <a:solidFill>
                <a:srgbClr val="50565E"/>
              </a:solidFill>
              <a:prstDash val="dash"/>
            </a:ln>
          </p:spPr>
        </p:sp>
        <p:sp xmlns:a="http://schemas.openxmlformats.org/drawingml/2006/main">
          <p:nvSpPr>
            <p:cNvPr id="65" name="文本框 630">
              <a:extLst>
                <a:ext uri="{FF2B5EF4-FFF2-40B4-BE49-F238E27FC236}">
                  <a16:creationId xmlns:a16="http://schemas.microsoft.com/office/drawing/2014/main" id="{85319E0C-0022-475D-BF28-4951FE2A6EC6}"/>
                </a:ext>
              </a:extLst>
            </p:cNvPr>
            <p:cNvSpPr txBox="1"/>
            <p:nvPr/>
          </p:nvSpPr>
          <p:spPr>
            <a:xfrm>
              <a:off x="2013127" y="6137522"/>
              <a:ext cx="93692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CS N+1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66" name="slide5-flit-blocked-inject-0">
              <a:extLst>
                <a:ext uri="{FF2B5EF4-FFF2-40B4-BE49-F238E27FC236}">
                  <a16:creationId xmlns:a16="http://schemas.microsoft.com/office/drawing/2014/main" id="{255FB70B-14EE-4605-8DF3-4653498E8CFB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82868" y="6138522"/>
              <a:ext cx="252000" cy="252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67" name="slide5-label-flit-blocked-inject-1">
              <a:extLst>
                <a:ext uri="{FF2B5EF4-FFF2-40B4-BE49-F238E27FC236}">
                  <a16:creationId xmlns:a16="http://schemas.microsoft.com/office/drawing/2014/main" id="{2A6E132B-D683-42B8-B8A7-42436C0B0B5B}"/>
                </a:ext>
              </a:extLst>
            </p:cNvPr>
            <p:cNvSpPr>
              <a:spLocks noGrp="1"/>
            </p:cNvSpPr>
            <p:nvPr/>
          </p:nvSpPr>
          <p:spPr>
            <a:xfrm>
              <a:off x="541776" y="619567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D </a:t>
              </a:r>
              <a:endParaRPr sz="1000" b="1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cxnSp xmlns:a="http://schemas.openxmlformats.org/drawingml/2006/main">
          <p:nvCxnSpPr>
            <p:cNvPr id="68" name="直接箭头连接符 633">
              <a:extLst>
                <a:ext uri="{FF2B5EF4-FFF2-40B4-BE49-F238E27FC236}">
                  <a16:creationId xmlns:a16="http://schemas.microsoft.com/office/drawing/2014/main" id="{944ACB17-12F8-4C41-8955-838A09717CD6}"/>
                </a:ext>
              </a:extLst>
            </p:cNvPr>
            <p:cNvCxnSpPr>
              <a:cxnSpLocks/>
              <a:stCxn id="55" idx="4"/>
              <a:endCxn id="66" idx="0"/>
            </p:cNvCxnSpPr>
            <p:nvPr/>
          </p:nvCxnSpPr>
          <p:spPr>
            <a:xfrm>
              <a:off x="708868" y="5452576"/>
              <a:ext cx="0" cy="685946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6">
                  <a:lumMod val="50000"/>
                </a:schemeClr>
              </a:solidFill>
              <a:prstDash val="solid"/>
              <a:miter lim="800000"/>
              <a:tailEnd type="triangle"/>
            </a:ln>
            <a:effectLst/>
          </p:spPr>
        </p:cxnSp>
        <p:sp xmlns:a="http://schemas.openxmlformats.org/drawingml/2006/main">
          <p:nvSpPr>
            <p:cNvPr id="69" name="B5 tag mark">
              <a:extLst>
                <a:ext uri="{FF2B5EF4-FFF2-40B4-BE49-F238E27FC236}">
                  <a16:creationId xmlns:a16="http://schemas.microsoft.com/office/drawing/2014/main" id="{BAD901DB-50B4-4449-BA94-89E85812A586}"/>
                </a:ext>
              </a:extLst>
            </p:cNvPr>
            <p:cNvSpPr>
              <a:spLocks noGrp="1"/>
            </p:cNvSpPr>
            <p:nvPr/>
          </p:nvSpPr>
          <p:spPr>
            <a:xfrm>
              <a:off x="1062882" y="6152878"/>
              <a:ext cx="533400" cy="195664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9050">
              <a:solidFill>
                <a:srgbClr val="7030A0"/>
              </a:solidFill>
              <a:prstDash val="solid"/>
            </a:ln>
          </p:spPr>
          <p:txBody>
            <a:bodyPr wrap="square" lIns="38100" tIns="19050" rIns="38100" bIns="19050" anchor="ctr">
              <a:normAutofit lnSpcReduction="10000"/>
            </a:bodyPr>
            <a:lstStyle/>
            <a:p>
              <a:pPr algn="ctr">
                <a:buNone/>
                <a:defRPr sz="900" b="1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900" b="1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rPr>
                <a:t>E-tag</a:t>
              </a:r>
            </a:p>
          </p:txBody>
        </p:sp>
        <p:cxnSp xmlns:a="http://schemas.openxmlformats.org/drawingml/2006/main">
          <p:nvCxnSpPr>
            <p:cNvPr id="70" name="slide5-e-tag-route-return-final">
              <a:extLst>
                <a:ext uri="{FF2B5EF4-FFF2-40B4-BE49-F238E27FC236}">
                  <a16:creationId xmlns:a16="http://schemas.microsoft.com/office/drawing/2014/main" id="{C266D504-2B9F-4426-AC1E-AB8B2690C35E}"/>
                </a:ext>
              </a:extLst>
            </p:cNvPr>
            <p:cNvCxnSpPr>
              <a:cxnSpLocks/>
              <a:stCxn id="41" idx="4"/>
              <a:endCxn id="69" idx="0"/>
            </p:cNvCxnSpPr>
            <p:nvPr/>
          </p:nvCxnSpPr>
          <p:spPr>
            <a:xfrm flipH="1">
              <a:off x="1329582" y="5720862"/>
              <a:ext cx="56531" cy="432016"/>
            </a:xfrm>
            <a:prstGeom prst="straightConnector1">
              <a:avLst/>
            </a:prstGeom>
            <a:ln w="19050">
              <a:solidFill>
                <a:srgbClr val="7339AD"/>
              </a:solidFill>
              <a:prstDash val="solid"/>
              <a:tailEnd type="triangle" w="sm" len="sm"/>
            </a:ln>
          </p:spPr>
        </p:cxnSp>
        <p:sp xmlns:a="http://schemas.openxmlformats.org/drawingml/2006/main">
          <p:nvSpPr>
            <p:cNvPr id="71" name="B5 tag mark">
              <a:extLst>
                <a:ext uri="{FF2B5EF4-FFF2-40B4-BE49-F238E27FC236}">
                  <a16:creationId xmlns:a16="http://schemas.microsoft.com/office/drawing/2014/main" id="{42AB07DC-7820-4DA8-AD9E-8F9A067A0819}"/>
                </a:ext>
              </a:extLst>
            </p:cNvPr>
            <p:cNvSpPr>
              <a:spLocks noGrp="1"/>
            </p:cNvSpPr>
            <p:nvPr/>
          </p:nvSpPr>
          <p:spPr>
            <a:xfrm>
              <a:off x="1148624" y="4310592"/>
              <a:ext cx="533400" cy="195664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9050">
              <a:solidFill>
                <a:srgbClr val="7030A0"/>
              </a:solidFill>
              <a:prstDash val="solid"/>
            </a:ln>
          </p:spPr>
          <p:txBody>
            <a:bodyPr wrap="square" lIns="38100" tIns="19050" rIns="38100" bIns="19050" anchor="ctr">
              <a:normAutofit lnSpcReduction="10000"/>
            </a:bodyPr>
            <a:lstStyle/>
            <a:p>
              <a:pPr algn="ctr">
                <a:defRPr sz="900" b="1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900" b="1" dirty="0">
                  <a:solidFill>
                    <a:srgbClr val="548235"/>
                  </a:solidFill>
                  <a:latin typeface="Microsoft YaHei"/>
                  <a:ea typeface="Microsoft YaHei"/>
                  <a:cs typeface="Microsoft YaHei"/>
                </a:rPr>
                <a:t>I-tag</a:t>
              </a:r>
              <a:endParaRPr sz="900" b="1" dirty="0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cxnSp xmlns:a="http://schemas.openxmlformats.org/drawingml/2006/main">
          <p:nvCxnSpPr>
            <p:cNvPr id="72" name="slide5-e-tag-route-return-final">
              <a:extLst>
                <a:ext uri="{FF2B5EF4-FFF2-40B4-BE49-F238E27FC236}">
                  <a16:creationId xmlns:a16="http://schemas.microsoft.com/office/drawing/2014/main" id="{4CACDD10-EC92-4E21-883E-DEDE89A7F8D8}"/>
                </a:ext>
              </a:extLst>
            </p:cNvPr>
            <p:cNvCxnSpPr>
              <a:cxnSpLocks/>
              <a:stCxn id="26" idx="0"/>
              <a:endCxn id="71" idx="2"/>
            </p:cNvCxnSpPr>
            <p:nvPr/>
          </p:nvCxnSpPr>
          <p:spPr>
            <a:xfrm flipH="1" flipV="1">
              <a:off x="1415324" y="4506256"/>
              <a:ext cx="10491" cy="410793"/>
            </a:xfrm>
            <a:prstGeom prst="straightConnector1">
              <a:avLst/>
            </a:prstGeom>
            <a:ln w="19050">
              <a:solidFill>
                <a:srgbClr val="7339AD"/>
              </a:solidFill>
              <a:prstDash val="solid"/>
              <a:tailEnd type="triangle" w="sm" len="sm"/>
            </a:ln>
          </p:spPr>
        </p:cxnSp>
        <p:sp xmlns:a="http://schemas.openxmlformats.org/drawingml/2006/main">
          <p:nvSpPr>
            <p:cNvPr id="73" name="矩形 638">
              <a:extLst>
                <a:ext uri="{FF2B5EF4-FFF2-40B4-BE49-F238E27FC236}">
                  <a16:creationId xmlns:a16="http://schemas.microsoft.com/office/drawing/2014/main" id="{89A2E884-81F2-416C-A3AC-A6B57838B8B1}"/>
                </a:ext>
              </a:extLst>
            </p:cNvPr>
            <p:cNvSpPr/>
            <p:nvPr/>
          </p:nvSpPr>
          <p:spPr>
            <a:xfrm>
              <a:off x="4217135" y="5169376"/>
              <a:ext cx="1847087" cy="579439"/>
            </a:xfrm>
            <a:prstGeom prst="rect">
              <a:avLst/>
            </a:prstGeom>
            <a:solidFill>
              <a:srgbClr val="EDF1FD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8">
                <a:defRPr/>
              </a:pPr>
              <a:endParaRPr lang="zh-CN" altLang="en-US" sz="900" b="1" ker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74" name="矩形 639">
              <a:extLst>
                <a:ext uri="{FF2B5EF4-FFF2-40B4-BE49-F238E27FC236}">
                  <a16:creationId xmlns:a16="http://schemas.microsoft.com/office/drawing/2014/main" id="{62948DEB-4442-4127-AFD8-E3C67AF5A635}"/>
                </a:ext>
              </a:extLst>
            </p:cNvPr>
            <p:cNvSpPr/>
            <p:nvPr/>
          </p:nvSpPr>
          <p:spPr>
            <a:xfrm>
              <a:off x="4220741" y="4495607"/>
              <a:ext cx="1847087" cy="599162"/>
            </a:xfrm>
            <a:prstGeom prst="rect">
              <a:avLst/>
            </a:prstGeom>
            <a:solidFill>
              <a:srgbClr val="EDF1FD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8">
                <a:defRPr/>
              </a:pPr>
              <a:endParaRPr lang="zh-CN" altLang="en-US" sz="900" b="1" ker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75" name="slide5-station-blocked">
              <a:extLst>
                <a:ext uri="{FF2B5EF4-FFF2-40B4-BE49-F238E27FC236}">
                  <a16:creationId xmlns:a16="http://schemas.microsoft.com/office/drawing/2014/main" id="{DBDAC3DC-7ABD-40C2-9441-98EF1C2682A3}"/>
                </a:ext>
              </a:extLst>
            </p:cNvPr>
            <p:cNvSpPr>
              <a:spLocks noGrp="1"/>
            </p:cNvSpPr>
            <p:nvPr/>
          </p:nvSpPr>
          <p:spPr>
            <a:xfrm>
              <a:off x="3730309" y="4149007"/>
              <a:ext cx="2486841" cy="2249722"/>
            </a:xfrm>
            <a:prstGeom prst="rect">
              <a:avLst/>
            </a:prstGeom>
            <a:noFill/>
            <a:ln w="9525">
              <a:solidFill>
                <a:srgbClr val="202020"/>
              </a:solidFill>
              <a:prstDash val="dash"/>
            </a:ln>
          </p:spPr>
        </p:sp>
        <p:sp xmlns:a="http://schemas.openxmlformats.org/drawingml/2006/main">
          <p:nvSpPr>
            <p:cNvPr id="76" name="slide5-anchor-e-tag-deflect-start">
              <a:extLst>
                <a:ext uri="{FF2B5EF4-FFF2-40B4-BE49-F238E27FC236}">
                  <a16:creationId xmlns:a16="http://schemas.microsoft.com/office/drawing/2014/main" id="{186DAF24-1E89-4727-B7A5-2562BCA0EBFC}"/>
                </a:ext>
              </a:extLst>
            </p:cNvPr>
            <p:cNvSpPr>
              <a:spLocks noGrp="1"/>
            </p:cNvSpPr>
            <p:nvPr/>
          </p:nvSpPr>
          <p:spPr>
            <a:xfrm>
              <a:off x="3942117" y="5386865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77" name="slide5-anchor-e-tag-blocked-4">
              <a:extLst>
                <a:ext uri="{FF2B5EF4-FFF2-40B4-BE49-F238E27FC236}">
                  <a16:creationId xmlns:a16="http://schemas.microsoft.com/office/drawing/2014/main" id="{2AF8CD26-2100-4B05-B5D8-C915E11601D9}"/>
                </a:ext>
              </a:extLst>
            </p:cNvPr>
            <p:cNvSpPr>
              <a:spLocks noGrp="1"/>
            </p:cNvSpPr>
            <p:nvPr/>
          </p:nvSpPr>
          <p:spPr>
            <a:xfrm>
              <a:off x="4006459" y="5756226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78" name="slide5-anchor-e-tag-blocked-5">
              <a:extLst>
                <a:ext uri="{FF2B5EF4-FFF2-40B4-BE49-F238E27FC236}">
                  <a16:creationId xmlns:a16="http://schemas.microsoft.com/office/drawing/2014/main" id="{B3A74241-13B2-4D72-A563-E8DE07B3C4F0}"/>
                </a:ext>
              </a:extLst>
            </p:cNvPr>
            <p:cNvSpPr>
              <a:spLocks noGrp="1"/>
            </p:cNvSpPr>
            <p:nvPr/>
          </p:nvSpPr>
          <p:spPr>
            <a:xfrm>
              <a:off x="4208817" y="5596415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79" name="slide5-queue-label-blocked-inject">
              <a:extLst>
                <a:ext uri="{FF2B5EF4-FFF2-40B4-BE49-F238E27FC236}">
                  <a16:creationId xmlns:a16="http://schemas.microsoft.com/office/drawing/2014/main" id="{8060ABBE-CB2D-4E9A-A26B-EC02690248E3}"/>
                </a:ext>
              </a:extLst>
            </p:cNvPr>
            <p:cNvSpPr>
              <a:spLocks noGrp="1"/>
            </p:cNvSpPr>
            <p:nvPr/>
          </p:nvSpPr>
          <p:spPr>
            <a:xfrm>
              <a:off x="3863249" y="4472448"/>
              <a:ext cx="2714625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750" b="1">
                  <a:solidFill>
                    <a:srgbClr val="30363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Inject </a:t>
              </a:r>
              <a:r>
                <a:rPr lang="en-US" altLang="zh-CN"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Queue</a:t>
              </a: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· local</a:t>
              </a:r>
            </a:p>
          </p:txBody>
        </p:sp>
        <p:sp xmlns:a="http://schemas.openxmlformats.org/drawingml/2006/main">
          <p:nvSpPr>
            <p:cNvPr id="80" name="slide5-queue-label-blocked-eject">
              <a:extLst>
                <a:ext uri="{FF2B5EF4-FFF2-40B4-BE49-F238E27FC236}">
                  <a16:creationId xmlns:a16="http://schemas.microsoft.com/office/drawing/2014/main" id="{52D49185-4778-4FB0-84D5-CA1C34A52383}"/>
                </a:ext>
              </a:extLst>
            </p:cNvPr>
            <p:cNvSpPr>
              <a:spLocks noGrp="1"/>
            </p:cNvSpPr>
            <p:nvPr/>
          </p:nvSpPr>
          <p:spPr>
            <a:xfrm>
              <a:off x="4402799" y="5510697"/>
              <a:ext cx="1660218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>
                <a:defRPr sz="750" b="1">
                  <a:solidFill>
                    <a:srgbClr val="30363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Eject Queue · full</a:t>
              </a:r>
            </a:p>
          </p:txBody>
        </p:sp>
        <p:sp xmlns:a="http://schemas.openxmlformats.org/drawingml/2006/main">
          <p:nvSpPr>
            <p:cNvPr id="81" name="slide5-queue-frame-blocked-inject">
              <a:extLst>
                <a:ext uri="{FF2B5EF4-FFF2-40B4-BE49-F238E27FC236}">
                  <a16:creationId xmlns:a16="http://schemas.microsoft.com/office/drawing/2014/main" id="{19D01822-A40D-4FEE-88BE-DDC2B4BFD377}"/>
                </a:ext>
              </a:extLst>
            </p:cNvPr>
            <p:cNvSpPr>
              <a:spLocks noGrp="1"/>
            </p:cNvSpPr>
            <p:nvPr/>
          </p:nvSpPr>
          <p:spPr>
            <a:xfrm>
              <a:off x="4336209" y="4693763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82" name="slide5-queue-frame-blocked-inject">
              <a:extLst>
                <a:ext uri="{FF2B5EF4-FFF2-40B4-BE49-F238E27FC236}">
                  <a16:creationId xmlns:a16="http://schemas.microsoft.com/office/drawing/2014/main" id="{5893B33C-B44F-4940-99DF-05E30FD2039B}"/>
                </a:ext>
              </a:extLst>
            </p:cNvPr>
            <p:cNvSpPr>
              <a:spLocks noGrp="1"/>
            </p:cNvSpPr>
            <p:nvPr/>
          </p:nvSpPr>
          <p:spPr>
            <a:xfrm>
              <a:off x="4659655" y="4693763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83" name="slide5-flit-blocked-inject-0">
              <a:extLst>
                <a:ext uri="{FF2B5EF4-FFF2-40B4-BE49-F238E27FC236}">
                  <a16:creationId xmlns:a16="http://schemas.microsoft.com/office/drawing/2014/main" id="{80E8C432-DBAA-4FED-8E86-54FA513782C7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4695378" y="4728685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84" name="slide5-label-flit-blocked-inject-1">
              <a:extLst>
                <a:ext uri="{FF2B5EF4-FFF2-40B4-BE49-F238E27FC236}">
                  <a16:creationId xmlns:a16="http://schemas.microsoft.com/office/drawing/2014/main" id="{F351566F-08BE-44B6-A009-55DE5D9A3CBD}"/>
                </a:ext>
              </a:extLst>
            </p:cNvPr>
            <p:cNvSpPr>
              <a:spLocks noGrp="1"/>
            </p:cNvSpPr>
            <p:nvPr/>
          </p:nvSpPr>
          <p:spPr>
            <a:xfrm>
              <a:off x="4654881" y="477631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2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85" name="slide5-queue-frame-blocked-inject">
              <a:extLst>
                <a:ext uri="{FF2B5EF4-FFF2-40B4-BE49-F238E27FC236}">
                  <a16:creationId xmlns:a16="http://schemas.microsoft.com/office/drawing/2014/main" id="{4139F446-83A4-457B-81A7-544F4C4F16AE}"/>
                </a:ext>
              </a:extLst>
            </p:cNvPr>
            <p:cNvSpPr>
              <a:spLocks noGrp="1"/>
            </p:cNvSpPr>
            <p:nvPr/>
          </p:nvSpPr>
          <p:spPr>
            <a:xfrm>
              <a:off x="4988686" y="4693763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86" name="slide5-flit-blocked-inject-0">
              <a:extLst>
                <a:ext uri="{FF2B5EF4-FFF2-40B4-BE49-F238E27FC236}">
                  <a16:creationId xmlns:a16="http://schemas.microsoft.com/office/drawing/2014/main" id="{BC6732BF-67A2-461F-A0AE-C99FA50031B3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024409" y="4728685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87" name="slide5-label-flit-blocked-inject-1">
              <a:extLst>
                <a:ext uri="{FF2B5EF4-FFF2-40B4-BE49-F238E27FC236}">
                  <a16:creationId xmlns:a16="http://schemas.microsoft.com/office/drawing/2014/main" id="{817E1EF3-D35D-4B02-8CC6-23A8FA4464A6}"/>
                </a:ext>
              </a:extLst>
            </p:cNvPr>
            <p:cNvSpPr>
              <a:spLocks noGrp="1"/>
            </p:cNvSpPr>
            <p:nvPr/>
          </p:nvSpPr>
          <p:spPr>
            <a:xfrm>
              <a:off x="4983912" y="477631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3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88" name="slide5-queue-frame-blocked-inject">
              <a:extLst>
                <a:ext uri="{FF2B5EF4-FFF2-40B4-BE49-F238E27FC236}">
                  <a16:creationId xmlns:a16="http://schemas.microsoft.com/office/drawing/2014/main" id="{A07B4D42-65AB-4622-B8FF-0BC55855951A}"/>
                </a:ext>
              </a:extLst>
            </p:cNvPr>
            <p:cNvSpPr>
              <a:spLocks noGrp="1"/>
            </p:cNvSpPr>
            <p:nvPr/>
          </p:nvSpPr>
          <p:spPr>
            <a:xfrm>
              <a:off x="5312132" y="4693763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89" name="slide5-flit-blocked-inject-0">
              <a:extLst>
                <a:ext uri="{FF2B5EF4-FFF2-40B4-BE49-F238E27FC236}">
                  <a16:creationId xmlns:a16="http://schemas.microsoft.com/office/drawing/2014/main" id="{8D88D100-DA3B-4ABF-BD3A-33BF2F4EDA92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347855" y="4728685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90" name="slide5-label-flit-blocked-inject-1">
              <a:extLst>
                <a:ext uri="{FF2B5EF4-FFF2-40B4-BE49-F238E27FC236}">
                  <a16:creationId xmlns:a16="http://schemas.microsoft.com/office/drawing/2014/main" id="{E64374F1-22DE-4BA8-841E-04FD7A387037}"/>
                </a:ext>
              </a:extLst>
            </p:cNvPr>
            <p:cNvSpPr>
              <a:spLocks noGrp="1"/>
            </p:cNvSpPr>
            <p:nvPr/>
          </p:nvSpPr>
          <p:spPr>
            <a:xfrm>
              <a:off x="5307358" y="477631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4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91" name="slide5-queue-frame-blocked-inject">
              <a:extLst>
                <a:ext uri="{FF2B5EF4-FFF2-40B4-BE49-F238E27FC236}">
                  <a16:creationId xmlns:a16="http://schemas.microsoft.com/office/drawing/2014/main" id="{D305AA98-81D9-49C4-8E5E-6B3A1E8CB4AE}"/>
                </a:ext>
              </a:extLst>
            </p:cNvPr>
            <p:cNvSpPr>
              <a:spLocks noGrp="1"/>
            </p:cNvSpPr>
            <p:nvPr/>
          </p:nvSpPr>
          <p:spPr>
            <a:xfrm>
              <a:off x="5639566" y="4693763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92" name="slide5-flit-blocked-inject-0">
              <a:extLst>
                <a:ext uri="{FF2B5EF4-FFF2-40B4-BE49-F238E27FC236}">
                  <a16:creationId xmlns:a16="http://schemas.microsoft.com/office/drawing/2014/main" id="{09C02B31-4F73-4D51-8A76-EC9978638CE1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675289" y="4728685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93" name="slide5-label-flit-blocked-inject-1">
              <a:extLst>
                <a:ext uri="{FF2B5EF4-FFF2-40B4-BE49-F238E27FC236}">
                  <a16:creationId xmlns:a16="http://schemas.microsoft.com/office/drawing/2014/main" id="{F7392B5F-81B8-45A8-ACBA-3C45C873D445}"/>
                </a:ext>
              </a:extLst>
            </p:cNvPr>
            <p:cNvSpPr>
              <a:spLocks noGrp="1"/>
            </p:cNvSpPr>
            <p:nvPr/>
          </p:nvSpPr>
          <p:spPr>
            <a:xfrm>
              <a:off x="5634792" y="477631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5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94" name="slide5-queue-frame-blocked-inject">
              <a:extLst>
                <a:ext uri="{FF2B5EF4-FFF2-40B4-BE49-F238E27FC236}">
                  <a16:creationId xmlns:a16="http://schemas.microsoft.com/office/drawing/2014/main" id="{4B895617-6FAE-482A-8585-B5C8F0442474}"/>
                </a:ext>
              </a:extLst>
            </p:cNvPr>
            <p:cNvSpPr>
              <a:spLocks noGrp="1"/>
            </p:cNvSpPr>
            <p:nvPr/>
          </p:nvSpPr>
          <p:spPr>
            <a:xfrm>
              <a:off x="4296507" y="5245576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95" name="slide5-queue-frame-blocked-inject">
              <a:extLst>
                <a:ext uri="{FF2B5EF4-FFF2-40B4-BE49-F238E27FC236}">
                  <a16:creationId xmlns:a16="http://schemas.microsoft.com/office/drawing/2014/main" id="{8D0C3144-912A-417B-9750-18475C01E19B}"/>
                </a:ext>
              </a:extLst>
            </p:cNvPr>
            <p:cNvSpPr>
              <a:spLocks noGrp="1"/>
            </p:cNvSpPr>
            <p:nvPr/>
          </p:nvSpPr>
          <p:spPr>
            <a:xfrm>
              <a:off x="4619953" y="5245576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96" name="slide5-flit-blocked-inject-0">
              <a:extLst>
                <a:ext uri="{FF2B5EF4-FFF2-40B4-BE49-F238E27FC236}">
                  <a16:creationId xmlns:a16="http://schemas.microsoft.com/office/drawing/2014/main" id="{6F29916D-8C8D-4EA4-BCC8-26D14D04A232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4655676" y="5280498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97" name="slide5-label-flit-blocked-inject-1">
              <a:extLst>
                <a:ext uri="{FF2B5EF4-FFF2-40B4-BE49-F238E27FC236}">
                  <a16:creationId xmlns:a16="http://schemas.microsoft.com/office/drawing/2014/main" id="{2A916172-65EE-4F4E-9795-369F1F65D577}"/>
                </a:ext>
              </a:extLst>
            </p:cNvPr>
            <p:cNvSpPr>
              <a:spLocks noGrp="1"/>
            </p:cNvSpPr>
            <p:nvPr/>
          </p:nvSpPr>
          <p:spPr>
            <a:xfrm>
              <a:off x="4615179" y="5328125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B5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98" name="slide5-queue-frame-blocked-inject">
              <a:extLst>
                <a:ext uri="{FF2B5EF4-FFF2-40B4-BE49-F238E27FC236}">
                  <a16:creationId xmlns:a16="http://schemas.microsoft.com/office/drawing/2014/main" id="{861188C5-D6C6-46A4-94C2-61CADF4C7DF5}"/>
                </a:ext>
              </a:extLst>
            </p:cNvPr>
            <p:cNvSpPr>
              <a:spLocks noGrp="1"/>
            </p:cNvSpPr>
            <p:nvPr/>
          </p:nvSpPr>
          <p:spPr>
            <a:xfrm>
              <a:off x="4948984" y="5245576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99" name="slide5-flit-blocked-inject-0">
              <a:extLst>
                <a:ext uri="{FF2B5EF4-FFF2-40B4-BE49-F238E27FC236}">
                  <a16:creationId xmlns:a16="http://schemas.microsoft.com/office/drawing/2014/main" id="{552909A4-B93A-43E3-8C6A-08225CAF9051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4984707" y="5280498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100" name="slide5-label-flit-blocked-inject-1">
              <a:extLst>
                <a:ext uri="{FF2B5EF4-FFF2-40B4-BE49-F238E27FC236}">
                  <a16:creationId xmlns:a16="http://schemas.microsoft.com/office/drawing/2014/main" id="{CB078BAC-78D5-4A5E-9A3A-88102F609FE5}"/>
                </a:ext>
              </a:extLst>
            </p:cNvPr>
            <p:cNvSpPr>
              <a:spLocks noGrp="1"/>
            </p:cNvSpPr>
            <p:nvPr/>
          </p:nvSpPr>
          <p:spPr>
            <a:xfrm>
              <a:off x="4944210" y="5328125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B4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101" name="slide5-queue-frame-blocked-inject">
              <a:extLst>
                <a:ext uri="{FF2B5EF4-FFF2-40B4-BE49-F238E27FC236}">
                  <a16:creationId xmlns:a16="http://schemas.microsoft.com/office/drawing/2014/main" id="{3430DF3E-E564-41FE-919A-CD98F781978E}"/>
                </a:ext>
              </a:extLst>
            </p:cNvPr>
            <p:cNvSpPr>
              <a:spLocks noGrp="1"/>
            </p:cNvSpPr>
            <p:nvPr/>
          </p:nvSpPr>
          <p:spPr>
            <a:xfrm>
              <a:off x="5272430" y="5245576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102" name="slide5-flit-blocked-inject-0">
              <a:extLst>
                <a:ext uri="{FF2B5EF4-FFF2-40B4-BE49-F238E27FC236}">
                  <a16:creationId xmlns:a16="http://schemas.microsoft.com/office/drawing/2014/main" id="{F7E66B3B-D940-4C9C-86CE-E3EDE9B37834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308153" y="5280498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103" name="slide5-label-flit-blocked-inject-1">
              <a:extLst>
                <a:ext uri="{FF2B5EF4-FFF2-40B4-BE49-F238E27FC236}">
                  <a16:creationId xmlns:a16="http://schemas.microsoft.com/office/drawing/2014/main" id="{1E18EEAB-7913-4B7A-8804-27BBAD3E8D0F}"/>
                </a:ext>
              </a:extLst>
            </p:cNvPr>
            <p:cNvSpPr>
              <a:spLocks noGrp="1"/>
            </p:cNvSpPr>
            <p:nvPr/>
          </p:nvSpPr>
          <p:spPr>
            <a:xfrm>
              <a:off x="5267656" y="5328125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B3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104" name="slide5-queue-frame-blocked-inject">
              <a:extLst>
                <a:ext uri="{FF2B5EF4-FFF2-40B4-BE49-F238E27FC236}">
                  <a16:creationId xmlns:a16="http://schemas.microsoft.com/office/drawing/2014/main" id="{AEC78860-E987-406B-99CD-486FC7C5ED3B}"/>
                </a:ext>
              </a:extLst>
            </p:cNvPr>
            <p:cNvSpPr>
              <a:spLocks noGrp="1"/>
            </p:cNvSpPr>
            <p:nvPr/>
          </p:nvSpPr>
          <p:spPr>
            <a:xfrm>
              <a:off x="5599864" y="5245576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105" name="slide5-flit-blocked-inject-0">
              <a:extLst>
                <a:ext uri="{FF2B5EF4-FFF2-40B4-BE49-F238E27FC236}">
                  <a16:creationId xmlns:a16="http://schemas.microsoft.com/office/drawing/2014/main" id="{5839F619-3D1A-464A-8E09-80D61F83FE4F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635587" y="5280498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106" name="slide5-label-flit-blocked-inject-1">
              <a:extLst>
                <a:ext uri="{FF2B5EF4-FFF2-40B4-BE49-F238E27FC236}">
                  <a16:creationId xmlns:a16="http://schemas.microsoft.com/office/drawing/2014/main" id="{5E17B4D6-DC33-4CF2-89C0-EF3DF161229D}"/>
                </a:ext>
              </a:extLst>
            </p:cNvPr>
            <p:cNvSpPr>
              <a:spLocks noGrp="1"/>
            </p:cNvSpPr>
            <p:nvPr/>
          </p:nvSpPr>
          <p:spPr>
            <a:xfrm>
              <a:off x="5595090" y="5328125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B2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107" name="slide5-flit-blocked-inject-0">
              <a:extLst>
                <a:ext uri="{FF2B5EF4-FFF2-40B4-BE49-F238E27FC236}">
                  <a16:creationId xmlns:a16="http://schemas.microsoft.com/office/drawing/2014/main" id="{BB8A507A-B9DE-4E4D-AB02-B65EC99609BB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4321588" y="5281617"/>
              <a:ext cx="252000" cy="252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108" name="slide5-label-flit-blocked-inject-1">
              <a:extLst>
                <a:ext uri="{FF2B5EF4-FFF2-40B4-BE49-F238E27FC236}">
                  <a16:creationId xmlns:a16="http://schemas.microsoft.com/office/drawing/2014/main" id="{EFD0AC84-499D-4F4B-9068-4DA9FCDEE672}"/>
                </a:ext>
              </a:extLst>
            </p:cNvPr>
            <p:cNvSpPr>
              <a:spLocks noGrp="1"/>
            </p:cNvSpPr>
            <p:nvPr/>
          </p:nvSpPr>
          <p:spPr>
            <a:xfrm>
              <a:off x="4274352" y="5331417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B6</a:t>
              </a:r>
              <a:endParaRPr sz="1000" b="1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109" name="slide5-flit-blocked-inject-0">
              <a:extLst>
                <a:ext uri="{FF2B5EF4-FFF2-40B4-BE49-F238E27FC236}">
                  <a16:creationId xmlns:a16="http://schemas.microsoft.com/office/drawing/2014/main" id="{B71F0802-116A-4E4D-9749-8CEC2B845C01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3737249" y="4976305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110" name="slide5-label-flit-blocked-inject-1">
              <a:extLst>
                <a:ext uri="{FF2B5EF4-FFF2-40B4-BE49-F238E27FC236}">
                  <a16:creationId xmlns:a16="http://schemas.microsoft.com/office/drawing/2014/main" id="{0B280C07-A63A-4FCC-BC35-CD791E0757BF}"/>
                </a:ext>
              </a:extLst>
            </p:cNvPr>
            <p:cNvSpPr>
              <a:spLocks noGrp="1"/>
            </p:cNvSpPr>
            <p:nvPr/>
          </p:nvSpPr>
          <p:spPr>
            <a:xfrm>
              <a:off x="3696752" y="502393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1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cxnSp xmlns:a="http://schemas.openxmlformats.org/drawingml/2006/main">
          <p:nvCxnSpPr>
            <p:cNvPr id="111" name="连接符: 肘形 676">
              <a:extLst>
                <a:ext uri="{FF2B5EF4-FFF2-40B4-BE49-F238E27FC236}">
                  <a16:creationId xmlns:a16="http://schemas.microsoft.com/office/drawing/2014/main" id="{68D0DFF2-DAFD-495D-9395-D6DCF79A74EC}"/>
                </a:ext>
              </a:extLst>
            </p:cNvPr>
            <p:cNvCxnSpPr>
              <a:cxnSpLocks/>
              <a:endCxn id="109" idx="0"/>
            </p:cNvCxnSpPr>
            <p:nvPr/>
          </p:nvCxnSpPr>
          <p:spPr>
            <a:xfrm rot="10800000" flipV="1">
              <a:off x="3863249" y="4855687"/>
              <a:ext cx="616548" cy="120618"/>
            </a:xfrm>
            <a:prstGeom prst="bentConnector2">
              <a:avLst/>
            </a:prstGeom>
            <a:ln w="19050">
              <a:solidFill>
                <a:srgbClr val="7030A0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 xmlns:a="http://schemas.openxmlformats.org/drawingml/2006/main">
          <p:nvCxnSpPr>
            <p:cNvPr id="112" name="连接符: 肘形 677">
              <a:extLst>
                <a:ext uri="{FF2B5EF4-FFF2-40B4-BE49-F238E27FC236}">
                  <a16:creationId xmlns:a16="http://schemas.microsoft.com/office/drawing/2014/main" id="{8D58D70D-076A-4CDC-B33A-D28AFEA68A4E}"/>
                </a:ext>
              </a:extLst>
            </p:cNvPr>
            <p:cNvCxnSpPr>
              <a:cxnSpLocks/>
              <a:stCxn id="109" idx="4"/>
              <a:endCxn id="107" idx="2"/>
            </p:cNvCxnSpPr>
            <p:nvPr/>
          </p:nvCxnSpPr>
          <p:spPr>
            <a:xfrm rot="16200000" flipH="1">
              <a:off x="4002762" y="5088791"/>
              <a:ext cx="179312" cy="458339"/>
            </a:xfrm>
            <a:prstGeom prst="bentConnector2">
              <a:avLst/>
            </a:prstGeom>
            <a:ln w="19050">
              <a:solidFill>
                <a:srgbClr val="7030A0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 xmlns:a="http://schemas.openxmlformats.org/drawingml/2006/main">
          <p:nvSpPr>
            <p:cNvPr id="113" name="箭头: 下 678">
              <a:extLst>
                <a:ext uri="{FF2B5EF4-FFF2-40B4-BE49-F238E27FC236}">
                  <a16:creationId xmlns:a16="http://schemas.microsoft.com/office/drawing/2014/main" id="{15E3FBB9-BBD3-4B18-8747-740090D6CED4}"/>
                </a:ext>
              </a:extLst>
            </p:cNvPr>
            <p:cNvSpPr/>
            <p:nvPr/>
          </p:nvSpPr>
          <p:spPr>
            <a:xfrm rot="16200000">
              <a:off x="3318103" y="5050465"/>
              <a:ext cx="181346" cy="418513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xmlns:a="http://schemas.openxmlformats.org/drawingml/2006/main">
          <p:nvSpPr>
            <p:cNvPr id="114" name="文本框 679">
              <a:extLst>
                <a:ext uri="{FF2B5EF4-FFF2-40B4-BE49-F238E27FC236}">
                  <a16:creationId xmlns:a16="http://schemas.microsoft.com/office/drawing/2014/main" id="{ED1175A4-1A61-43F1-A299-113CDC7B4EE6}"/>
                </a:ext>
              </a:extLst>
            </p:cNvPr>
            <p:cNvSpPr txBox="1"/>
            <p:nvPr/>
          </p:nvSpPr>
          <p:spPr>
            <a:xfrm>
              <a:off x="5200305" y="4206109"/>
              <a:ext cx="57579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CS N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115" name="e tag claim label">
              <a:extLst>
                <a:ext uri="{FF2B5EF4-FFF2-40B4-BE49-F238E27FC236}">
                  <a16:creationId xmlns:a16="http://schemas.microsoft.com/office/drawing/2014/main" id="{725F068A-A911-4416-9935-069C39E5CC00}"/>
                </a:ext>
              </a:extLst>
            </p:cNvPr>
            <p:cNvSpPr>
              <a:spLocks noGrp="1"/>
            </p:cNvSpPr>
            <p:nvPr/>
          </p:nvSpPr>
          <p:spPr>
            <a:xfrm>
              <a:off x="3857625" y="5829300"/>
              <a:ext cx="22860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Autofit/>
            </a:bodyPr>
            <a:lstStyle/>
            <a:p>
              <a:pPr algn="ctr">
                <a:buNone/>
                <a:defRPr sz="1163" b="1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163" b="1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rPr>
                <a:t>E-tag：B6使用预留弹出空间</a:t>
              </a:r>
            </a:p>
          </p:txBody>
        </p:sp>
        <p:sp xmlns:a="http://schemas.openxmlformats.org/drawingml/2006/main">
          <p:nvSpPr>
            <p:cNvPr id="116" name="i tag replacement label">
              <a:extLst>
                <a:ext uri="{FF2B5EF4-FFF2-40B4-BE49-F238E27FC236}">
                  <a16:creationId xmlns:a16="http://schemas.microsoft.com/office/drawing/2014/main" id="{8467EA4E-EB8E-4D09-8DC5-90E00FD1D18B}"/>
                </a:ext>
              </a:extLst>
            </p:cNvPr>
            <p:cNvSpPr>
              <a:spLocks noGrp="1"/>
            </p:cNvSpPr>
            <p:nvPr/>
          </p:nvSpPr>
          <p:spPr>
            <a:xfrm>
              <a:off x="3857625" y="6067425"/>
              <a:ext cx="22860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Autofit/>
            </a:bodyPr>
            <a:lstStyle/>
            <a:p>
              <a:pPr algn="ctr">
                <a:buNone/>
                <a:defRPr sz="1163" b="1">
                  <a:solidFill>
                    <a:srgbClr val="548235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163" b="1">
                  <a:solidFill>
                    <a:srgbClr val="548235"/>
                  </a:solidFill>
                  <a:latin typeface="Microsoft YaHei"/>
                  <a:ea typeface="Microsoft YaHei"/>
                  <a:cs typeface="Microsoft YaHei"/>
                </a:rPr>
                <a:t>I-tag：A1接替释放的环槽位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9817550"/>
      </p:ext>
    </p:extLst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34">
            <a:extLst>
              <a:ext uri="{FF2B5EF4-FFF2-40B4-BE49-F238E27FC236}">
                <a16:creationId xmlns:a16="http://schemas.microsoft.com/office/drawing/2014/main" id="{F05D9B5B-F422-4E9D-A3DA-BE99D8F5FABB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包级时序：延迟与带宽分别建模</a:t>
            </a:r>
          </a:p>
        </p:txBody>
      </p:sp>
      <p:sp>
        <p:nvSpPr>
          <p:cNvPr id="3" name="txt-35">
            <a:extLst>
              <a:ext uri="{FF2B5EF4-FFF2-40B4-BE49-F238E27FC236}">
                <a16:creationId xmlns:a16="http://schemas.microsoft.com/office/drawing/2014/main" id="{82AD0238-F06F-4B0F-954A-140B01E6BD2E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1133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以包为调度单位。下列段延迟公式适用于无额外排队与仲裁等待的情况。</a:t>
            </a:r>
          </a:p>
        </p:txBody>
      </p:sp>
      <p:sp>
        <p:nvSpPr>
          <p:cNvPr id="4" name="diagram-36">
            <a:extLst>
              <a:ext uri="{FF2B5EF4-FFF2-40B4-BE49-F238E27FC236}">
                <a16:creationId xmlns:a16="http://schemas.microsoft.com/office/drawing/2014/main" id="{2EEE62C7-4483-4B99-9B2D-5914A982F3AB}"/>
              </a:ext>
            </a:extLst>
          </p:cNvPr>
          <p:cNvSpPr>
            <a:spLocks noGrp="1"/>
          </p:cNvSpPr>
          <p:nvPr/>
        </p:nvSpPr>
        <p:spPr>
          <a:xfrm>
            <a:off x="381000" y="1390650"/>
            <a:ext cx="7048500" cy="4476750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5" name="txt-37">
            <a:extLst>
              <a:ext uri="{FF2B5EF4-FFF2-40B4-BE49-F238E27FC236}">
                <a16:creationId xmlns:a16="http://schemas.microsoft.com/office/drawing/2014/main" id="{294F3497-1C1B-4584-8275-1E4B30D4B5E9}"/>
              </a:ext>
            </a:extLst>
          </p:cNvPr>
          <p:cNvSpPr>
            <a:spLocks noGrp="1"/>
          </p:cNvSpPr>
          <p:nvPr/>
        </p:nvSpPr>
        <p:spPr>
          <a:xfrm>
            <a:off x="571500" y="1533525"/>
            <a:ext cx="6477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Ring段内的传输流水</a:t>
            </a:r>
          </a:p>
        </p:txBody>
      </p:sp>
      <p:sp>
        <p:nvSpPr>
          <p:cNvPr id="6" name="txt-38">
            <a:extLst>
              <a:ext uri="{FF2B5EF4-FFF2-40B4-BE49-F238E27FC236}">
                <a16:creationId xmlns:a16="http://schemas.microsoft.com/office/drawing/2014/main" id="{04D67B91-3472-4BDE-8B50-AD11EAE19E6E}"/>
              </a:ext>
            </a:extLst>
          </p:cNvPr>
          <p:cNvSpPr>
            <a:spLocks noGrp="1"/>
          </p:cNvSpPr>
          <p:nvPr/>
        </p:nvSpPr>
        <p:spPr>
          <a:xfrm>
            <a:off x="1971675" y="2057400"/>
            <a:ext cx="111442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首跳</a:t>
            </a:r>
          </a:p>
          <a:p>
            <a:pPr algn="ctr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(S − 1) + L</a:t>
            </a:r>
          </a:p>
        </p:txBody>
      </p:sp>
      <p:sp>
        <p:nvSpPr>
          <p:cNvPr id="7" name="txt-39">
            <a:extLst>
              <a:ext uri="{FF2B5EF4-FFF2-40B4-BE49-F238E27FC236}">
                <a16:creationId xmlns:a16="http://schemas.microsoft.com/office/drawing/2014/main" id="{75E7D002-590F-4DC8-9D38-88705C79282B}"/>
              </a:ext>
            </a:extLst>
          </p:cNvPr>
          <p:cNvSpPr>
            <a:spLocks noGrp="1"/>
          </p:cNvSpPr>
          <p:nvPr/>
        </p:nvSpPr>
        <p:spPr>
          <a:xfrm>
            <a:off x="4676775" y="2057400"/>
            <a:ext cx="111442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后续每跳</a:t>
            </a:r>
          </a:p>
          <a:p>
            <a:pPr algn="ctr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</a:t>
            </a:r>
          </a:p>
        </p:txBody>
      </p:sp>
      <p:sp>
        <p:nvSpPr>
          <p:cNvPr id="8" name="diagram-40">
            <a:extLst>
              <a:ext uri="{FF2B5EF4-FFF2-40B4-BE49-F238E27FC236}">
                <a16:creationId xmlns:a16="http://schemas.microsoft.com/office/drawing/2014/main" id="{91016AC8-ADD4-4E24-8782-05D37C3068EE}"/>
              </a:ext>
            </a:extLst>
          </p:cNvPr>
          <p:cNvSpPr>
            <a:spLocks noGrp="1"/>
          </p:cNvSpPr>
          <p:nvPr/>
        </p:nvSpPr>
        <p:spPr>
          <a:xfrm>
            <a:off x="571500" y="2800350"/>
            <a:ext cx="1104900" cy="56197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注入队列</a:t>
            </a:r>
          </a:p>
        </p:txBody>
      </p:sp>
      <p:sp>
        <p:nvSpPr>
          <p:cNvPr id="9" name="diagram-41">
            <a:extLst>
              <a:ext uri="{FF2B5EF4-FFF2-40B4-BE49-F238E27FC236}">
                <a16:creationId xmlns:a16="http://schemas.microsoft.com/office/drawing/2014/main" id="{431CAA23-3297-44E9-B88F-20263C1591CC}"/>
              </a:ext>
            </a:extLst>
          </p:cNvPr>
          <p:cNvSpPr>
            <a:spLocks noGrp="1"/>
          </p:cNvSpPr>
          <p:nvPr/>
        </p:nvSpPr>
        <p:spPr>
          <a:xfrm>
            <a:off x="1914525" y="2800350"/>
            <a:ext cx="110490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Conn 0</a:t>
            </a:r>
          </a:p>
        </p:txBody>
      </p:sp>
      <p:sp>
        <p:nvSpPr>
          <p:cNvPr id="10" name="diagram-42">
            <a:extLst>
              <a:ext uri="{FF2B5EF4-FFF2-40B4-BE49-F238E27FC236}">
                <a16:creationId xmlns:a16="http://schemas.microsoft.com/office/drawing/2014/main" id="{6B9514ED-1BFA-48E1-B46D-C044B77F0A9D}"/>
              </a:ext>
            </a:extLst>
          </p:cNvPr>
          <p:cNvSpPr>
            <a:spLocks noGrp="1"/>
          </p:cNvSpPr>
          <p:nvPr/>
        </p:nvSpPr>
        <p:spPr>
          <a:xfrm>
            <a:off x="3257550" y="2800350"/>
            <a:ext cx="1104900" cy="56197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交叉节点</a:t>
            </a:r>
          </a:p>
        </p:txBody>
      </p:sp>
      <p:sp>
        <p:nvSpPr>
          <p:cNvPr id="11" name="diagram-43">
            <a:extLst>
              <a:ext uri="{FF2B5EF4-FFF2-40B4-BE49-F238E27FC236}">
                <a16:creationId xmlns:a16="http://schemas.microsoft.com/office/drawing/2014/main" id="{22C5EAD2-456F-47AA-A53C-4746E8D3A665}"/>
              </a:ext>
            </a:extLst>
          </p:cNvPr>
          <p:cNvSpPr>
            <a:spLocks noGrp="1"/>
          </p:cNvSpPr>
          <p:nvPr/>
        </p:nvSpPr>
        <p:spPr>
          <a:xfrm>
            <a:off x="4600575" y="2800350"/>
            <a:ext cx="110490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Conn 1</a:t>
            </a:r>
          </a:p>
        </p:txBody>
      </p:sp>
      <p:sp>
        <p:nvSpPr>
          <p:cNvPr id="12" name="diagram-44">
            <a:extLst>
              <a:ext uri="{FF2B5EF4-FFF2-40B4-BE49-F238E27FC236}">
                <a16:creationId xmlns:a16="http://schemas.microsoft.com/office/drawing/2014/main" id="{02A667F3-B69B-40D1-9DBE-67883F2FC482}"/>
              </a:ext>
            </a:extLst>
          </p:cNvPr>
          <p:cNvSpPr>
            <a:spLocks noGrp="1"/>
          </p:cNvSpPr>
          <p:nvPr/>
        </p:nvSpPr>
        <p:spPr>
          <a:xfrm>
            <a:off x="5943600" y="2800350"/>
            <a:ext cx="1104900" cy="56197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弹出队列</a:t>
            </a:r>
          </a:p>
        </p:txBody>
      </p:sp>
      <p:cxnSp>
        <p:nvCxnSpPr>
          <p:cNvPr id="13" name="直接箭头连接符 41"/>
          <p:cNvCxnSpPr/>
          <p:nvPr/>
        </p:nvCxnSpPr>
        <p:spPr>
          <a:xfrm>
            <a:off x="1676400" y="30813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4" name="直接箭头连接符 42"/>
          <p:cNvCxnSpPr/>
          <p:nvPr/>
        </p:nvCxnSpPr>
        <p:spPr>
          <a:xfrm>
            <a:off x="3019425" y="30813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5" name="直接箭头连接符 43"/>
          <p:cNvCxnSpPr/>
          <p:nvPr/>
        </p:nvCxnSpPr>
        <p:spPr>
          <a:xfrm>
            <a:off x="4362450" y="3081338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16" name="直接箭头连接符 44"/>
          <p:cNvCxnSpPr/>
          <p:nvPr/>
        </p:nvCxnSpPr>
        <p:spPr>
          <a:xfrm>
            <a:off x="5705475" y="3081338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17" name="txt-45">
            <a:extLst>
              <a:ext uri="{FF2B5EF4-FFF2-40B4-BE49-F238E27FC236}">
                <a16:creationId xmlns:a16="http://schemas.microsoft.com/office/drawing/2014/main" id="{4EC595AA-A1F8-4DA4-9B94-E268579BA62D}"/>
              </a:ext>
            </a:extLst>
          </p:cNvPr>
          <p:cNvSpPr>
            <a:spLocks noGrp="1"/>
          </p:cNvSpPr>
          <p:nvPr/>
        </p:nvSpPr>
        <p:spPr>
          <a:xfrm>
            <a:off x="571500" y="35052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进入新段</a:t>
            </a:r>
          </a:p>
        </p:txBody>
      </p:sp>
      <p:sp>
        <p:nvSpPr>
          <p:cNvPr id="18" name="txt-46">
            <a:extLst>
              <a:ext uri="{FF2B5EF4-FFF2-40B4-BE49-F238E27FC236}">
                <a16:creationId xmlns:a16="http://schemas.microsoft.com/office/drawing/2014/main" id="{DFC64EF5-2191-4971-93F0-7C870D64CD66}"/>
              </a:ext>
            </a:extLst>
          </p:cNvPr>
          <p:cNvSpPr>
            <a:spLocks noGrp="1"/>
          </p:cNvSpPr>
          <p:nvPr/>
        </p:nvSpPr>
        <p:spPr>
          <a:xfrm>
            <a:off x="1866900" y="350520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首跳计入序列化</a:t>
            </a:r>
          </a:p>
        </p:txBody>
      </p:sp>
      <p:sp>
        <p:nvSpPr>
          <p:cNvPr id="19" name="txt-47">
            <a:extLst>
              <a:ext uri="{FF2B5EF4-FFF2-40B4-BE49-F238E27FC236}">
                <a16:creationId xmlns:a16="http://schemas.microsoft.com/office/drawing/2014/main" id="{D95E8450-E3F7-4DB6-BACC-F680A276C764}"/>
              </a:ext>
            </a:extLst>
          </p:cNvPr>
          <p:cNvSpPr>
            <a:spLocks noGrp="1"/>
          </p:cNvSpPr>
          <p:nvPr/>
        </p:nvSpPr>
        <p:spPr>
          <a:xfrm>
            <a:off x="3657600" y="3505200"/>
            <a:ext cx="3352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本段后续跳仅累加传播延迟</a:t>
            </a:r>
            <a:endParaRPr sz="1350" b="0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txt-48">
            <a:extLst>
              <a:ext uri="{FF2B5EF4-FFF2-40B4-BE49-F238E27FC236}">
                <a16:creationId xmlns:a16="http://schemas.microsoft.com/office/drawing/2014/main" id="{88D8FDCF-14A9-41ED-86E3-4C6AEDEAA3C2}"/>
              </a:ext>
            </a:extLst>
          </p:cNvPr>
          <p:cNvSpPr>
            <a:spLocks noGrp="1"/>
          </p:cNvSpPr>
          <p:nvPr/>
        </p:nvSpPr>
        <p:spPr>
          <a:xfrm>
            <a:off x="571500" y="4086225"/>
            <a:ext cx="6477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两跳算例</a:t>
            </a:r>
          </a:p>
        </p:txBody>
      </p:sp>
      <p:sp>
        <p:nvSpPr>
          <p:cNvPr id="21" name="txt-49">
            <a:extLst>
              <a:ext uri="{FF2B5EF4-FFF2-40B4-BE49-F238E27FC236}">
                <a16:creationId xmlns:a16="http://schemas.microsoft.com/office/drawing/2014/main" id="{49F2C07D-9BC6-44A1-A27D-89CC0B29A748}"/>
              </a:ext>
            </a:extLst>
          </p:cNvPr>
          <p:cNvSpPr>
            <a:spLocks noGrp="1"/>
          </p:cNvSpPr>
          <p:nvPr/>
        </p:nvSpPr>
        <p:spPr>
          <a:xfrm>
            <a:off x="571500" y="4495800"/>
            <a:ext cx="6477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包大小512字节，链路宽度128字节/</a:t>
            </a: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周期</a:t>
            </a:r>
            <a:endParaRPr sz="1575" b="0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xt-50">
            <a:extLst>
              <a:ext uri="{FF2B5EF4-FFF2-40B4-BE49-F238E27FC236}">
                <a16:creationId xmlns:a16="http://schemas.microsoft.com/office/drawing/2014/main" id="{1AC49BA6-EE1F-4170-8495-ADB1E83C0762}"/>
              </a:ext>
            </a:extLst>
          </p:cNvPr>
          <p:cNvSpPr>
            <a:spLocks noGrp="1"/>
          </p:cNvSpPr>
          <p:nvPr/>
        </p:nvSpPr>
        <p:spPr>
          <a:xfrm>
            <a:off x="571500" y="4857750"/>
            <a:ext cx="6477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 = 4，H = 2，L = 1</a:t>
            </a:r>
          </a:p>
        </p:txBody>
      </p:sp>
      <p:sp>
        <p:nvSpPr>
          <p:cNvPr id="23" name="txt-51">
            <a:extLst>
              <a:ext uri="{FF2B5EF4-FFF2-40B4-BE49-F238E27FC236}">
                <a16:creationId xmlns:a16="http://schemas.microsoft.com/office/drawing/2014/main" id="{07AFFB5D-462D-474E-87BD-8A53178C7D66}"/>
              </a:ext>
            </a:extLst>
          </p:cNvPr>
          <p:cNvSpPr>
            <a:spLocks noGrp="1"/>
          </p:cNvSpPr>
          <p:nvPr/>
        </p:nvSpPr>
        <p:spPr>
          <a:xfrm>
            <a:off x="571500" y="5238750"/>
            <a:ext cx="6477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段延迟 = (4 − 1) + 2 × 1 = 5周期</a:t>
            </a:r>
          </a:p>
        </p:txBody>
      </p:sp>
      <p:sp>
        <p:nvSpPr>
          <p:cNvPr id="24" name="txt-52">
            <a:extLst>
              <a:ext uri="{FF2B5EF4-FFF2-40B4-BE49-F238E27FC236}">
                <a16:creationId xmlns:a16="http://schemas.microsoft.com/office/drawing/2014/main" id="{D58203EF-4508-4941-AB93-CC40CA6A7C9E}"/>
              </a:ext>
            </a:extLst>
          </p:cNvPr>
          <p:cNvSpPr>
            <a:spLocks noGrp="1"/>
          </p:cNvSpPr>
          <p:nvPr/>
        </p:nvSpPr>
        <p:spPr>
          <a:xfrm>
            <a:off x="7820025" y="1476375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传播与序列化延迟</a:t>
            </a:r>
          </a:p>
        </p:txBody>
      </p:sp>
      <p:sp>
        <p:nvSpPr>
          <p:cNvPr id="25" name="txt-53">
            <a:extLst>
              <a:ext uri="{FF2B5EF4-FFF2-40B4-BE49-F238E27FC236}">
                <a16:creationId xmlns:a16="http://schemas.microsoft.com/office/drawing/2014/main" id="{E2F15427-200D-481C-A054-265BD8D97298}"/>
              </a:ext>
            </a:extLst>
          </p:cNvPr>
          <p:cNvSpPr>
            <a:spLocks noGrp="1"/>
          </p:cNvSpPr>
          <p:nvPr/>
        </p:nvSpPr>
        <p:spPr>
          <a:xfrm>
            <a:off x="7820025" y="1885950"/>
            <a:ext cx="39814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 = max(1, ceil(P / W))</a:t>
            </a:r>
          </a:p>
          <a:p>
            <a:pPr algn="l">
              <a:lnSpc>
                <a:spcPct val="118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T段 = (S − 1) + H × L</a:t>
            </a:r>
          </a:p>
        </p:txBody>
      </p:sp>
      <p:sp>
        <p:nvSpPr>
          <p:cNvPr id="26" name="txt-54">
            <a:extLst>
              <a:ext uri="{FF2B5EF4-FFF2-40B4-BE49-F238E27FC236}">
                <a16:creationId xmlns:a16="http://schemas.microsoft.com/office/drawing/2014/main" id="{5F8346FE-A9F0-4878-9388-D18AA671566A}"/>
              </a:ext>
            </a:extLst>
          </p:cNvPr>
          <p:cNvSpPr>
            <a:spLocks noGrp="1"/>
          </p:cNvSpPr>
          <p:nvPr/>
        </p:nvSpPr>
        <p:spPr>
          <a:xfrm>
            <a:off x="7820025" y="2667000"/>
            <a:ext cx="39814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ceil表示向上取整。P为包大小，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W为链路宽度。H为跳数，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L为单跳传播延迟。</a:t>
            </a:r>
          </a:p>
        </p:txBody>
      </p:sp>
      <p:sp>
        <p:nvSpPr>
          <p:cNvPr id="27" name="txt-55">
            <a:extLst>
              <a:ext uri="{FF2B5EF4-FFF2-40B4-BE49-F238E27FC236}">
                <a16:creationId xmlns:a16="http://schemas.microsoft.com/office/drawing/2014/main" id="{80B12A90-A89C-4D02-9F68-D044379C08E8}"/>
              </a:ext>
            </a:extLst>
          </p:cNvPr>
          <p:cNvSpPr>
            <a:spLocks noGrp="1"/>
          </p:cNvSpPr>
          <p:nvPr/>
        </p:nvSpPr>
        <p:spPr>
          <a:xfrm>
            <a:off x="7820025" y="3514725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带宽占用</a:t>
            </a:r>
          </a:p>
        </p:txBody>
      </p:sp>
      <p:sp>
        <p:nvSpPr>
          <p:cNvPr id="28" name="txt-56">
            <a:extLst>
              <a:ext uri="{FF2B5EF4-FFF2-40B4-BE49-F238E27FC236}">
                <a16:creationId xmlns:a16="http://schemas.microsoft.com/office/drawing/2014/main" id="{34BBB7BD-09FC-46E0-A470-D9A620B6240F}"/>
              </a:ext>
            </a:extLst>
          </p:cNvPr>
          <p:cNvSpPr>
            <a:spLocks noGrp="1"/>
          </p:cNvSpPr>
          <p:nvPr/>
        </p:nvSpPr>
        <p:spPr>
          <a:xfrm>
            <a:off x="7820025" y="3933825"/>
            <a:ext cx="39814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每条Conn仍独立占用S个周期。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序列化结束后，才能接收下一包。</a:t>
            </a:r>
          </a:p>
        </p:txBody>
      </p:sp>
      <p:sp>
        <p:nvSpPr>
          <p:cNvPr id="29" name="txt-57">
            <a:extLst>
              <a:ext uri="{FF2B5EF4-FFF2-40B4-BE49-F238E27FC236}">
                <a16:creationId xmlns:a16="http://schemas.microsoft.com/office/drawing/2014/main" id="{9C552248-B74A-42ED-A947-7200FC59DEEF}"/>
              </a:ext>
            </a:extLst>
          </p:cNvPr>
          <p:cNvSpPr>
            <a:spLocks noGrp="1"/>
          </p:cNvSpPr>
          <p:nvPr/>
        </p:nvSpPr>
        <p:spPr>
          <a:xfrm>
            <a:off x="7820025" y="4857750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跨环与端点处理</a:t>
            </a:r>
          </a:p>
        </p:txBody>
      </p:sp>
      <p:sp>
        <p:nvSpPr>
          <p:cNvPr id="30" name="txt-58">
            <a:extLst>
              <a:ext uri="{FF2B5EF4-FFF2-40B4-BE49-F238E27FC236}">
                <a16:creationId xmlns:a16="http://schemas.microsoft.com/office/drawing/2014/main" id="{55CA22D0-5A9B-4586-BFFA-B5B67B4797EA}"/>
              </a:ext>
            </a:extLst>
          </p:cNvPr>
          <p:cNvSpPr>
            <a:spLocks noGrp="1"/>
          </p:cNvSpPr>
          <p:nvPr/>
        </p:nvSpPr>
        <p:spPr>
          <a:xfrm>
            <a:off x="7820025" y="5276850"/>
            <a:ext cx="39814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换环序列化、端点处理及排队等待另计。经RBRG进入新Ring后，重新计入该段序列化。</a:t>
            </a:r>
          </a:p>
        </p:txBody>
      </p:sp>
      <p:sp>
        <p:nvSpPr>
          <p:cNvPr id="31" name="txt-59">
            <a:extLst>
              <a:ext uri="{FF2B5EF4-FFF2-40B4-BE49-F238E27FC236}">
                <a16:creationId xmlns:a16="http://schemas.microsoft.com/office/drawing/2014/main" id="{7E740AF4-E719-4E99-8FC9-00A90D9A4696}"/>
              </a:ext>
            </a:extLst>
          </p:cNvPr>
          <p:cNvSpPr>
            <a:spLocks noGrp="1"/>
          </p:cNvSpPr>
          <p:nvPr/>
        </p:nvSpPr>
        <p:spPr>
          <a:xfrm>
            <a:off x="381000" y="6200775"/>
            <a:ext cx="11382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两跳算例：第二跳Reg_In在第5周期收到包。若端点另需1周期处理，则在第6周期交付。</a:t>
            </a:r>
          </a:p>
        </p:txBody>
      </p:sp>
      <p:sp>
        <p:nvSpPr>
          <p:cNvPr id="32" name="share-59">
            <a:extLst>
              <a:ext uri="{FF2B5EF4-FFF2-40B4-BE49-F238E27FC236}">
                <a16:creationId xmlns:a16="http://schemas.microsoft.com/office/drawing/2014/main" id="{A34E8F0F-736B-477F-9974-5C8401E7F909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9986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34">
            <a:extLst>
              <a:ext uri="{FF2B5EF4-FFF2-40B4-BE49-F238E27FC236}">
                <a16:creationId xmlns:a16="http://schemas.microsoft.com/office/drawing/2014/main" id="{443CAE52-439A-4E08-BCB0-6C1BB3F3F1DD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存储侧建模：事务、返回与后端约束</a:t>
            </a:r>
          </a:p>
        </p:txBody>
      </p:sp>
      <p:sp>
        <p:nvSpPr>
          <p:cNvPr id="3" name="diagram-35">
            <a:extLst>
              <a:ext uri="{FF2B5EF4-FFF2-40B4-BE49-F238E27FC236}">
                <a16:creationId xmlns:a16="http://schemas.microsoft.com/office/drawing/2014/main" id="{0DA3E488-CB85-4FA4-954F-5E3FDC2A36B8}"/>
              </a:ext>
            </a:extLst>
          </p:cNvPr>
          <p:cNvSpPr>
            <a:spLocks noGrp="1"/>
          </p:cNvSpPr>
          <p:nvPr/>
        </p:nvSpPr>
        <p:spPr>
          <a:xfrm>
            <a:off x="381000" y="1257300"/>
            <a:ext cx="7048500" cy="2257425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4" name="txt-36">
            <a:extLst>
              <a:ext uri="{FF2B5EF4-FFF2-40B4-BE49-F238E27FC236}">
                <a16:creationId xmlns:a16="http://schemas.microsoft.com/office/drawing/2014/main" id="{DE7C0494-4534-4A8F-8CB2-3259415A2790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6534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目标存储访问层次</a:t>
            </a:r>
          </a:p>
        </p:txBody>
      </p:sp>
      <p:sp>
        <p:nvSpPr>
          <p:cNvPr id="5" name="diagram-37">
            <a:extLst>
              <a:ext uri="{FF2B5EF4-FFF2-40B4-BE49-F238E27FC236}">
                <a16:creationId xmlns:a16="http://schemas.microsoft.com/office/drawing/2014/main" id="{F61B261B-A069-4C13-B70E-6CE9F1D3E0C1}"/>
              </a:ext>
            </a:extLst>
          </p:cNvPr>
          <p:cNvSpPr>
            <a:spLocks noGrp="1"/>
          </p:cNvSpPr>
          <p:nvPr/>
        </p:nvSpPr>
        <p:spPr>
          <a:xfrm>
            <a:off x="571500" y="2085975"/>
            <a:ext cx="866775" cy="9620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REQ／DAT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RSP</a:t>
            </a:r>
          </a:p>
        </p:txBody>
      </p:sp>
      <p:sp>
        <p:nvSpPr>
          <p:cNvPr id="6" name="diagram-38">
            <a:extLst>
              <a:ext uri="{FF2B5EF4-FFF2-40B4-BE49-F238E27FC236}">
                <a16:creationId xmlns:a16="http://schemas.microsoft.com/office/drawing/2014/main" id="{C35195BF-50A5-4B07-B7DF-04DFB7D722A8}"/>
              </a:ext>
            </a:extLst>
          </p:cNvPr>
          <p:cNvSpPr>
            <a:spLocks noGrp="1"/>
          </p:cNvSpPr>
          <p:nvPr/>
        </p:nvSpPr>
        <p:spPr>
          <a:xfrm>
            <a:off x="1724025" y="2085975"/>
            <a:ext cx="1000125" cy="9620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请求合并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冲突保护</a:t>
            </a:r>
          </a:p>
        </p:txBody>
      </p:sp>
      <p:sp>
        <p:nvSpPr>
          <p:cNvPr id="7" name="diagram-39">
            <a:extLst>
              <a:ext uri="{FF2B5EF4-FFF2-40B4-BE49-F238E27FC236}">
                <a16:creationId xmlns:a16="http://schemas.microsoft.com/office/drawing/2014/main" id="{EF500E8E-CCAE-44EA-B2CF-8CD4510454FE}"/>
              </a:ext>
            </a:extLst>
          </p:cNvPr>
          <p:cNvSpPr>
            <a:spLocks noGrp="1"/>
          </p:cNvSpPr>
          <p:nvPr/>
        </p:nvSpPr>
        <p:spPr>
          <a:xfrm>
            <a:off x="3009900" y="2085975"/>
            <a:ext cx="1190625" cy="962025"/>
          </a:xfrm>
          <a:prstGeom prst="rect">
            <a:avLst/>
          </a:prstGeom>
          <a:solidFill>
            <a:srgbClr val="A9D9AF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目标L2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标记／数据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替换／回填</a:t>
            </a:r>
          </a:p>
        </p:txBody>
      </p:sp>
      <p:sp>
        <p:nvSpPr>
          <p:cNvPr id="8" name="diagram-40">
            <a:extLst>
              <a:ext uri="{FF2B5EF4-FFF2-40B4-BE49-F238E27FC236}">
                <a16:creationId xmlns:a16="http://schemas.microsoft.com/office/drawing/2014/main" id="{8B4EE3C9-67FF-46D3-828F-B5CF6EE0BD04}"/>
              </a:ext>
            </a:extLst>
          </p:cNvPr>
          <p:cNvSpPr>
            <a:spLocks noGrp="1"/>
          </p:cNvSpPr>
          <p:nvPr/>
        </p:nvSpPr>
        <p:spPr>
          <a:xfrm>
            <a:off x="4476750" y="2085975"/>
            <a:ext cx="1257300" cy="9620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HBM控制器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调度／带宽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在途额度</a:t>
            </a:r>
          </a:p>
        </p:txBody>
      </p:sp>
      <p:sp>
        <p:nvSpPr>
          <p:cNvPr id="9" name="diagram-41">
            <a:extLst>
              <a:ext uri="{FF2B5EF4-FFF2-40B4-BE49-F238E27FC236}">
                <a16:creationId xmlns:a16="http://schemas.microsoft.com/office/drawing/2014/main" id="{812A909A-36B8-4801-8717-AAECA41159C4}"/>
              </a:ext>
            </a:extLst>
          </p:cNvPr>
          <p:cNvSpPr>
            <a:spLocks noGrp="1"/>
          </p:cNvSpPr>
          <p:nvPr/>
        </p:nvSpPr>
        <p:spPr>
          <a:xfrm>
            <a:off x="6029325" y="2085975"/>
            <a:ext cx="1209675" cy="9620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存储阵列</a:t>
            </a:r>
          </a:p>
        </p:txBody>
      </p:sp>
      <p:cxnSp>
        <p:nvCxnSpPr>
          <p:cNvPr id="10" name="直接箭头连接符 37"/>
          <p:cNvCxnSpPr/>
          <p:nvPr/>
        </p:nvCxnSpPr>
        <p:spPr>
          <a:xfrm>
            <a:off x="1438275" y="2566988"/>
            <a:ext cx="285750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1" name="直接箭头连接符 38"/>
          <p:cNvCxnSpPr/>
          <p:nvPr/>
        </p:nvCxnSpPr>
        <p:spPr>
          <a:xfrm>
            <a:off x="2724150" y="2566988"/>
            <a:ext cx="285750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2" name="直接箭头连接符 39"/>
          <p:cNvCxnSpPr/>
          <p:nvPr/>
        </p:nvCxnSpPr>
        <p:spPr>
          <a:xfrm>
            <a:off x="4200525" y="2566988"/>
            <a:ext cx="2762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3" name="直接箭头连接符 40"/>
          <p:cNvCxnSpPr/>
          <p:nvPr/>
        </p:nvCxnSpPr>
        <p:spPr>
          <a:xfrm>
            <a:off x="5734050" y="2566988"/>
            <a:ext cx="29527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14" name="txt-42">
            <a:extLst>
              <a:ext uri="{FF2B5EF4-FFF2-40B4-BE49-F238E27FC236}">
                <a16:creationId xmlns:a16="http://schemas.microsoft.com/office/drawing/2014/main" id="{E2E64EB8-302C-4BB0-9487-36044051C065}"/>
              </a:ext>
            </a:extLst>
          </p:cNvPr>
          <p:cNvSpPr>
            <a:spLocks noGrp="1"/>
          </p:cNvSpPr>
          <p:nvPr/>
        </p:nvSpPr>
        <p:spPr>
          <a:xfrm>
            <a:off x="2286000" y="1800225"/>
            <a:ext cx="3619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请求／未命中访问</a:t>
            </a:r>
          </a:p>
        </p:txBody>
      </p:sp>
      <p:sp>
        <p:nvSpPr>
          <p:cNvPr id="15" name="txt-43">
            <a:extLst>
              <a:ext uri="{FF2B5EF4-FFF2-40B4-BE49-F238E27FC236}">
                <a16:creationId xmlns:a16="http://schemas.microsoft.com/office/drawing/2014/main" id="{213F876B-ED7D-4AA7-94D7-21D0B00EF8F5}"/>
              </a:ext>
            </a:extLst>
          </p:cNvPr>
          <p:cNvSpPr>
            <a:spLocks noGrp="1"/>
          </p:cNvSpPr>
          <p:nvPr/>
        </p:nvSpPr>
        <p:spPr>
          <a:xfrm>
            <a:off x="1695450" y="3190875"/>
            <a:ext cx="53721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数据返回并回填L2，命中时无需访问HBM</a:t>
            </a:r>
          </a:p>
        </p:txBody>
      </p:sp>
      <p:sp>
        <p:nvSpPr>
          <p:cNvPr id="16" name="diagram-44">
            <a:extLst>
              <a:ext uri="{FF2B5EF4-FFF2-40B4-BE49-F238E27FC236}">
                <a16:creationId xmlns:a16="http://schemas.microsoft.com/office/drawing/2014/main" id="{81F4E932-1583-41A9-8E9D-EF6636205E51}"/>
              </a:ext>
            </a:extLst>
          </p:cNvPr>
          <p:cNvSpPr>
            <a:spLocks noGrp="1"/>
          </p:cNvSpPr>
          <p:nvPr/>
        </p:nvSpPr>
        <p:spPr>
          <a:xfrm>
            <a:off x="381000" y="3781425"/>
            <a:ext cx="7048500" cy="2266950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17" name="txt-45">
            <a:extLst>
              <a:ext uri="{FF2B5EF4-FFF2-40B4-BE49-F238E27FC236}">
                <a16:creationId xmlns:a16="http://schemas.microsoft.com/office/drawing/2014/main" id="{D2AFB695-D104-4DBA-96A7-934D4FC9372E}"/>
              </a:ext>
            </a:extLst>
          </p:cNvPr>
          <p:cNvSpPr>
            <a:spLocks noGrp="1"/>
          </p:cNvSpPr>
          <p:nvPr/>
        </p:nvSpPr>
        <p:spPr>
          <a:xfrm>
            <a:off x="571500" y="3933825"/>
            <a:ext cx="6534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当前ESL模型的功能划分</a:t>
            </a:r>
          </a:p>
        </p:txBody>
      </p:sp>
      <p:sp>
        <p:nvSpPr>
          <p:cNvPr id="18" name="diagram-46">
            <a:extLst>
              <a:ext uri="{FF2B5EF4-FFF2-40B4-BE49-F238E27FC236}">
                <a16:creationId xmlns:a16="http://schemas.microsoft.com/office/drawing/2014/main" id="{A0B12DF7-4AC3-4D56-BCAC-B87125895BE5}"/>
              </a:ext>
            </a:extLst>
          </p:cNvPr>
          <p:cNvSpPr>
            <a:spLocks noGrp="1"/>
          </p:cNvSpPr>
          <p:nvPr/>
        </p:nvSpPr>
        <p:spPr>
          <a:xfrm>
            <a:off x="571500" y="4438650"/>
            <a:ext cx="1952625" cy="41910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HA事务管理</a:t>
            </a:r>
          </a:p>
        </p:txBody>
      </p:sp>
      <p:sp>
        <p:nvSpPr>
          <p:cNvPr id="19" name="diagram-47">
            <a:extLst>
              <a:ext uri="{FF2B5EF4-FFF2-40B4-BE49-F238E27FC236}">
                <a16:creationId xmlns:a16="http://schemas.microsoft.com/office/drawing/2014/main" id="{44FCE687-571A-4299-B34D-14F3AB09D68C}"/>
              </a:ext>
            </a:extLst>
          </p:cNvPr>
          <p:cNvSpPr>
            <a:spLocks noGrp="1"/>
          </p:cNvSpPr>
          <p:nvPr/>
        </p:nvSpPr>
        <p:spPr>
          <a:xfrm>
            <a:off x="2924175" y="4438650"/>
            <a:ext cx="1952625" cy="419100"/>
          </a:xfrm>
          <a:prstGeom prst="rect">
            <a:avLst/>
          </a:prstGeom>
          <a:solidFill>
            <a:srgbClr val="A9D9AF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 Buffer</a:t>
            </a:r>
          </a:p>
        </p:txBody>
      </p:sp>
      <p:sp>
        <p:nvSpPr>
          <p:cNvPr id="20" name="diagram-48">
            <a:extLst>
              <a:ext uri="{FF2B5EF4-FFF2-40B4-BE49-F238E27FC236}">
                <a16:creationId xmlns:a16="http://schemas.microsoft.com/office/drawing/2014/main" id="{1FCFC761-3203-45B7-8857-26A5AE1D84B0}"/>
              </a:ext>
            </a:extLst>
          </p:cNvPr>
          <p:cNvSpPr>
            <a:spLocks noGrp="1"/>
          </p:cNvSpPr>
          <p:nvPr/>
        </p:nvSpPr>
        <p:spPr>
          <a:xfrm>
            <a:off x="5276850" y="4438650"/>
            <a:ext cx="1952625" cy="41910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TmMem后端</a:t>
            </a:r>
          </a:p>
        </p:txBody>
      </p:sp>
      <p:sp>
        <p:nvSpPr>
          <p:cNvPr id="21" name="txt-49">
            <a:extLst>
              <a:ext uri="{FF2B5EF4-FFF2-40B4-BE49-F238E27FC236}">
                <a16:creationId xmlns:a16="http://schemas.microsoft.com/office/drawing/2014/main" id="{D221D84E-B9A2-4A61-BB5F-42CA1E574A0B}"/>
              </a:ext>
            </a:extLst>
          </p:cNvPr>
          <p:cNvSpPr>
            <a:spLocks noGrp="1"/>
          </p:cNvSpPr>
          <p:nvPr/>
        </p:nvSpPr>
        <p:spPr>
          <a:xfrm>
            <a:off x="571500" y="5010150"/>
            <a:ext cx="1990725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合并同缓存行请求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维护等待与在途状态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保护同地址写冲突</a:t>
            </a:r>
          </a:p>
        </p:txBody>
      </p:sp>
      <p:sp>
        <p:nvSpPr>
          <p:cNvPr id="22" name="txt-50">
            <a:extLst>
              <a:ext uri="{FF2B5EF4-FFF2-40B4-BE49-F238E27FC236}">
                <a16:creationId xmlns:a16="http://schemas.microsoft.com/office/drawing/2014/main" id="{AACBC914-2918-49F4-B7AB-E57FB00CD555}"/>
              </a:ext>
            </a:extLst>
          </p:cNvPr>
          <p:cNvSpPr>
            <a:spLocks noGrp="1"/>
          </p:cNvSpPr>
          <p:nvPr/>
        </p:nvSpPr>
        <p:spPr>
          <a:xfrm>
            <a:off x="2924175" y="5010150"/>
            <a:ext cx="1990725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暂存完成数据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控制返回延迟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单播、多播与分段返回</a:t>
            </a:r>
          </a:p>
        </p:txBody>
      </p:sp>
      <p:sp>
        <p:nvSpPr>
          <p:cNvPr id="23" name="txt-51">
            <a:extLst>
              <a:ext uri="{FF2B5EF4-FFF2-40B4-BE49-F238E27FC236}">
                <a16:creationId xmlns:a16="http://schemas.microsoft.com/office/drawing/2014/main" id="{5449B677-5A75-400E-A175-CB7FC0EAF1DF}"/>
              </a:ext>
            </a:extLst>
          </p:cNvPr>
          <p:cNvSpPr>
            <a:spLocks noGrp="1"/>
          </p:cNvSpPr>
          <p:nvPr/>
        </p:nvSpPr>
        <p:spPr>
          <a:xfrm>
            <a:off x="5276850" y="5010150"/>
            <a:ext cx="1990725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执行功能数据存取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模拟读写延迟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约束带宽和在途额度</a:t>
            </a:r>
          </a:p>
        </p:txBody>
      </p:sp>
      <p:sp>
        <p:nvSpPr>
          <p:cNvPr id="24" name="txt-52">
            <a:extLst>
              <a:ext uri="{FF2B5EF4-FFF2-40B4-BE49-F238E27FC236}">
                <a16:creationId xmlns:a16="http://schemas.microsoft.com/office/drawing/2014/main" id="{F8BD88DA-DC76-4F4B-A62E-D5D5A6A292D2}"/>
              </a:ext>
            </a:extLst>
          </p:cNvPr>
          <p:cNvSpPr>
            <a:spLocks noGrp="1"/>
          </p:cNvSpPr>
          <p:nvPr/>
        </p:nvSpPr>
        <p:spPr>
          <a:xfrm>
            <a:off x="7820025" y="1371600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HA：请求合并与冲突保护</a:t>
            </a:r>
          </a:p>
        </p:txBody>
      </p:sp>
      <p:sp>
        <p:nvSpPr>
          <p:cNvPr id="25" name="bullet-list-54">
            <a:extLst>
              <a:ext uri="{FF2B5EF4-FFF2-40B4-BE49-F238E27FC236}">
                <a16:creationId xmlns:a16="http://schemas.microsoft.com/office/drawing/2014/main" id="{1970EFCE-5E7B-4842-A570-AFF350DE5D29}"/>
              </a:ext>
            </a:extLst>
          </p:cNvPr>
          <p:cNvSpPr>
            <a:spLocks noGrp="1"/>
          </p:cNvSpPr>
          <p:nvPr/>
        </p:nvSpPr>
        <p:spPr>
          <a:xfrm>
            <a:off x="7820025" y="1809750"/>
            <a:ext cx="398145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HA合并兼容的同缓存行或扇区读请求，共享后端读取结果。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同缓存行存在未完成写事务时，后续读等待冲突解除。</a:t>
            </a:r>
          </a:p>
        </p:txBody>
      </p:sp>
      <p:sp>
        <p:nvSpPr>
          <p:cNvPr id="26" name="txt-55">
            <a:extLst>
              <a:ext uri="{FF2B5EF4-FFF2-40B4-BE49-F238E27FC236}">
                <a16:creationId xmlns:a16="http://schemas.microsoft.com/office/drawing/2014/main" id="{7FCCA666-7C9A-414D-A806-B43683FD75EA}"/>
              </a:ext>
            </a:extLst>
          </p:cNvPr>
          <p:cNvSpPr>
            <a:spLocks noGrp="1"/>
          </p:cNvSpPr>
          <p:nvPr/>
        </p:nvSpPr>
        <p:spPr>
          <a:xfrm>
            <a:off x="7820025" y="3181350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L2：命中与返回组织</a:t>
            </a:r>
          </a:p>
        </p:txBody>
      </p:sp>
      <p:sp>
        <p:nvSpPr>
          <p:cNvPr id="27" name="bullet-list-57">
            <a:extLst>
              <a:ext uri="{FF2B5EF4-FFF2-40B4-BE49-F238E27FC236}">
                <a16:creationId xmlns:a16="http://schemas.microsoft.com/office/drawing/2014/main" id="{D2763EFA-F3D0-45E7-88CF-33C01F516733}"/>
              </a:ext>
            </a:extLst>
          </p:cNvPr>
          <p:cNvSpPr>
            <a:spLocks noGrp="1"/>
          </p:cNvSpPr>
          <p:nvPr/>
        </p:nvSpPr>
        <p:spPr>
          <a:xfrm>
            <a:off x="7820025" y="3600450"/>
            <a:ext cx="398145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目标架构命中直接返回，未命中访问后端并回填。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当前命中采用配置模拟，L2 Buffer负责数据暂存和分发。</a:t>
            </a:r>
          </a:p>
        </p:txBody>
      </p:sp>
      <p:sp>
        <p:nvSpPr>
          <p:cNvPr id="28" name="txt-58">
            <a:extLst>
              <a:ext uri="{FF2B5EF4-FFF2-40B4-BE49-F238E27FC236}">
                <a16:creationId xmlns:a16="http://schemas.microsoft.com/office/drawing/2014/main" id="{64A353A2-A933-4949-B4C0-3158AAA033A9}"/>
              </a:ext>
            </a:extLst>
          </p:cNvPr>
          <p:cNvSpPr>
            <a:spLocks noGrp="1"/>
          </p:cNvSpPr>
          <p:nvPr/>
        </p:nvSpPr>
        <p:spPr>
          <a:xfrm>
            <a:off x="7820025" y="5238750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TmMem：后端约束</a:t>
            </a:r>
          </a:p>
        </p:txBody>
      </p:sp>
      <p:sp>
        <p:nvSpPr>
          <p:cNvPr id="29" name="txt-59">
            <a:extLst>
              <a:ext uri="{FF2B5EF4-FFF2-40B4-BE49-F238E27FC236}">
                <a16:creationId xmlns:a16="http://schemas.microsoft.com/office/drawing/2014/main" id="{FB57479F-5A19-485B-A2F1-07C0A0551AEC}"/>
              </a:ext>
            </a:extLst>
          </p:cNvPr>
          <p:cNvSpPr>
            <a:spLocks noGrp="1"/>
          </p:cNvSpPr>
          <p:nvPr/>
        </p:nvSpPr>
        <p:spPr>
          <a:xfrm>
            <a:off x="7820025" y="5629275"/>
            <a:ext cx="39814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统一模拟HBM／DRAM后端，提供可配置的队列、带宽、读写延迟和在途请求额度。</a:t>
            </a:r>
          </a:p>
        </p:txBody>
      </p:sp>
      <p:sp>
        <p:nvSpPr>
          <p:cNvPr id="30" name="txt-60">
            <a:extLst>
              <a:ext uri="{FF2B5EF4-FFF2-40B4-BE49-F238E27FC236}">
                <a16:creationId xmlns:a16="http://schemas.microsoft.com/office/drawing/2014/main" id="{37676622-5D0D-44BC-A4DD-D21A4414DB6B}"/>
              </a:ext>
            </a:extLst>
          </p:cNvPr>
          <p:cNvSpPr>
            <a:spLocks noGrp="1"/>
          </p:cNvSpPr>
          <p:nvPr/>
        </p:nvSpPr>
        <p:spPr>
          <a:xfrm>
            <a:off x="381000" y="6248400"/>
            <a:ext cx="70485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建模边界：保留事务与性能约束，缓存命中和存储后端采用参数化近似。</a:t>
            </a:r>
          </a:p>
        </p:txBody>
      </p:sp>
      <p:sp>
        <p:nvSpPr>
          <p:cNvPr id="31" name="share-60">
            <a:extLst>
              <a:ext uri="{FF2B5EF4-FFF2-40B4-BE49-F238E27FC236}">
                <a16:creationId xmlns:a16="http://schemas.microsoft.com/office/drawing/2014/main" id="{E2064112-C711-45F2-9F95-CC4F4081CD5F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59835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60">
            <a:extLst>
              <a:ext uri="{FF2B5EF4-FFF2-40B4-BE49-F238E27FC236}">
                <a16:creationId xmlns:a16="http://schemas.microsoft.com/office/drawing/2014/main" id="{F907191B-92A3-4B83-8146-CDA37066D95B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两级聚合：减少读取与重复返回</a:t>
            </a:r>
          </a:p>
        </p:txBody>
      </p:sp>
      <p:sp>
        <p:nvSpPr>
          <p:cNvPr id="3" name="diagram-61">
            <a:extLst>
              <a:ext uri="{FF2B5EF4-FFF2-40B4-BE49-F238E27FC236}">
                <a16:creationId xmlns:a16="http://schemas.microsoft.com/office/drawing/2014/main" id="{5AEEA363-A05B-4222-8BAC-DACF9707418A}"/>
              </a:ext>
            </a:extLst>
          </p:cNvPr>
          <p:cNvSpPr>
            <a:spLocks noGrp="1"/>
          </p:cNvSpPr>
          <p:nvPr/>
        </p:nvSpPr>
        <p:spPr>
          <a:xfrm>
            <a:off x="381000" y="1257300"/>
            <a:ext cx="7048500" cy="1990725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4" name="txt-62">
            <a:extLst>
              <a:ext uri="{FF2B5EF4-FFF2-40B4-BE49-F238E27FC236}">
                <a16:creationId xmlns:a16="http://schemas.microsoft.com/office/drawing/2014/main" id="{F8DEB88F-65B6-45B9-B1EA-0F1461A400B8}"/>
              </a:ext>
            </a:extLst>
          </p:cNvPr>
          <p:cNvSpPr>
            <a:spLocks noGrp="1"/>
          </p:cNvSpPr>
          <p:nvPr/>
        </p:nvSpPr>
        <p:spPr>
          <a:xfrm>
            <a:off x="561975" y="1400175"/>
            <a:ext cx="6534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① HA合并后端读取</a:t>
            </a:r>
          </a:p>
        </p:txBody>
      </p:sp>
      <p:sp>
        <p:nvSpPr>
          <p:cNvPr id="5" name="diagram-63">
            <a:extLst>
              <a:ext uri="{FF2B5EF4-FFF2-40B4-BE49-F238E27FC236}">
                <a16:creationId xmlns:a16="http://schemas.microsoft.com/office/drawing/2014/main" id="{1DAB190A-13E8-4A85-9B1A-170072C3FB3C}"/>
              </a:ext>
            </a:extLst>
          </p:cNvPr>
          <p:cNvSpPr>
            <a:spLocks noGrp="1"/>
          </p:cNvSpPr>
          <p:nvPr/>
        </p:nvSpPr>
        <p:spPr>
          <a:xfrm>
            <a:off x="581025" y="1762125"/>
            <a:ext cx="647700" cy="2762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RD0</a:t>
            </a:r>
          </a:p>
        </p:txBody>
      </p:sp>
      <p:sp>
        <p:nvSpPr>
          <p:cNvPr id="6" name="diagram-64">
            <a:extLst>
              <a:ext uri="{FF2B5EF4-FFF2-40B4-BE49-F238E27FC236}">
                <a16:creationId xmlns:a16="http://schemas.microsoft.com/office/drawing/2014/main" id="{3525DC2B-6945-41A1-8BEE-871263BADAD2}"/>
              </a:ext>
            </a:extLst>
          </p:cNvPr>
          <p:cNvSpPr>
            <a:spLocks noGrp="1"/>
          </p:cNvSpPr>
          <p:nvPr/>
        </p:nvSpPr>
        <p:spPr>
          <a:xfrm>
            <a:off x="581025" y="2105025"/>
            <a:ext cx="647700" cy="2762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RD1</a:t>
            </a:r>
          </a:p>
        </p:txBody>
      </p:sp>
      <p:sp>
        <p:nvSpPr>
          <p:cNvPr id="7" name="diagram-65">
            <a:extLst>
              <a:ext uri="{FF2B5EF4-FFF2-40B4-BE49-F238E27FC236}">
                <a16:creationId xmlns:a16="http://schemas.microsoft.com/office/drawing/2014/main" id="{4DDA4931-80B5-4530-9BD1-14FF8BA3C292}"/>
              </a:ext>
            </a:extLst>
          </p:cNvPr>
          <p:cNvSpPr>
            <a:spLocks noGrp="1"/>
          </p:cNvSpPr>
          <p:nvPr/>
        </p:nvSpPr>
        <p:spPr>
          <a:xfrm>
            <a:off x="581025" y="2447925"/>
            <a:ext cx="647700" cy="2762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RD2</a:t>
            </a:r>
          </a:p>
        </p:txBody>
      </p:sp>
      <p:sp>
        <p:nvSpPr>
          <p:cNvPr id="8" name="diagram-66">
            <a:extLst>
              <a:ext uri="{FF2B5EF4-FFF2-40B4-BE49-F238E27FC236}">
                <a16:creationId xmlns:a16="http://schemas.microsoft.com/office/drawing/2014/main" id="{D94111E0-BA81-4085-9B37-0D379AB83DEC}"/>
              </a:ext>
            </a:extLst>
          </p:cNvPr>
          <p:cNvSpPr>
            <a:spLocks noGrp="1"/>
          </p:cNvSpPr>
          <p:nvPr/>
        </p:nvSpPr>
        <p:spPr>
          <a:xfrm>
            <a:off x="581025" y="2790825"/>
            <a:ext cx="647700" cy="2762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RDn</a:t>
            </a:r>
          </a:p>
        </p:txBody>
      </p:sp>
      <p:sp>
        <p:nvSpPr>
          <p:cNvPr id="9" name="diagram-67">
            <a:extLst>
              <a:ext uri="{FF2B5EF4-FFF2-40B4-BE49-F238E27FC236}">
                <a16:creationId xmlns:a16="http://schemas.microsoft.com/office/drawing/2014/main" id="{E9415442-E136-4E4F-8BFF-BC755E5BE57F}"/>
              </a:ext>
            </a:extLst>
          </p:cNvPr>
          <p:cNvSpPr>
            <a:spLocks noGrp="1"/>
          </p:cNvSpPr>
          <p:nvPr/>
        </p:nvSpPr>
        <p:spPr>
          <a:xfrm>
            <a:off x="1885950" y="2095500"/>
            <a:ext cx="1619250" cy="7048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HA查找表</a:t>
            </a:r>
          </a:p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缓存行／扇区索引</a:t>
            </a:r>
          </a:p>
        </p:txBody>
      </p:sp>
      <p:sp>
        <p:nvSpPr>
          <p:cNvPr id="10" name="diagram-68">
            <a:extLst>
              <a:ext uri="{FF2B5EF4-FFF2-40B4-BE49-F238E27FC236}">
                <a16:creationId xmlns:a16="http://schemas.microsoft.com/office/drawing/2014/main" id="{74E68434-43B6-4C62-8CAA-C7DB51F7F523}"/>
              </a:ext>
            </a:extLst>
          </p:cNvPr>
          <p:cNvSpPr>
            <a:spLocks noGrp="1"/>
          </p:cNvSpPr>
          <p:nvPr/>
        </p:nvSpPr>
        <p:spPr>
          <a:xfrm>
            <a:off x="3905250" y="2095500"/>
            <a:ext cx="1390650" cy="704850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数据读取</a:t>
            </a:r>
          </a:p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命中／未命中</a:t>
            </a:r>
          </a:p>
        </p:txBody>
      </p:sp>
      <p:sp>
        <p:nvSpPr>
          <p:cNvPr id="11" name="diagram-69">
            <a:extLst>
              <a:ext uri="{FF2B5EF4-FFF2-40B4-BE49-F238E27FC236}">
                <a16:creationId xmlns:a16="http://schemas.microsoft.com/office/drawing/2014/main" id="{680756E4-D981-47BC-8CFB-0ECCF004C841}"/>
              </a:ext>
            </a:extLst>
          </p:cNvPr>
          <p:cNvSpPr>
            <a:spLocks noGrp="1"/>
          </p:cNvSpPr>
          <p:nvPr/>
        </p:nvSpPr>
        <p:spPr>
          <a:xfrm>
            <a:off x="5743575" y="2095500"/>
            <a:ext cx="1438275" cy="704850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共享</a:t>
            </a:r>
          </a:p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返回数据</a:t>
            </a:r>
          </a:p>
        </p:txBody>
      </p:sp>
      <p:cxnSp>
        <p:nvCxnSpPr>
          <p:cNvPr id="12" name="连接符: 肘形 47"/>
          <p:cNvCxnSpPr/>
          <p:nvPr/>
        </p:nvCxnSpPr>
        <p:spPr>
          <a:xfrm>
            <a:off x="1228725" y="1900238"/>
            <a:ext cx="657225" cy="547688"/>
          </a:xfrm>
          <a:prstGeom prst="bentConnector3">
            <a:avLst>
              <a:gd name="adj1" fmla="val 50000"/>
            </a:avLst>
          </a:prstGeom>
          <a:ln w="2000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3" name="连接符: 肘形 48"/>
          <p:cNvCxnSpPr/>
          <p:nvPr/>
        </p:nvCxnSpPr>
        <p:spPr>
          <a:xfrm>
            <a:off x="1228725" y="2243138"/>
            <a:ext cx="657225" cy="204788"/>
          </a:xfrm>
          <a:prstGeom prst="bentConnector3">
            <a:avLst>
              <a:gd name="adj1" fmla="val 50000"/>
            </a:avLst>
          </a:prstGeom>
          <a:ln w="2000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4" name="连接符: 肘形 49"/>
          <p:cNvCxnSpPr/>
          <p:nvPr/>
        </p:nvCxnSpPr>
        <p:spPr>
          <a:xfrm flipV="1">
            <a:off x="1228725" y="2447925"/>
            <a:ext cx="657225" cy="138113"/>
          </a:xfrm>
          <a:prstGeom prst="bentConnector3">
            <a:avLst>
              <a:gd name="adj1" fmla="val 50000"/>
            </a:avLst>
          </a:prstGeom>
          <a:ln w="2000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5" name="连接符: 肘形 50"/>
          <p:cNvCxnSpPr/>
          <p:nvPr/>
        </p:nvCxnSpPr>
        <p:spPr>
          <a:xfrm flipV="1">
            <a:off x="1228725" y="2447925"/>
            <a:ext cx="657225" cy="481013"/>
          </a:xfrm>
          <a:prstGeom prst="bentConnector3">
            <a:avLst>
              <a:gd name="adj1" fmla="val 50000"/>
            </a:avLst>
          </a:prstGeom>
          <a:ln w="2000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6" name="直接箭头连接符 51"/>
          <p:cNvCxnSpPr/>
          <p:nvPr/>
        </p:nvCxnSpPr>
        <p:spPr>
          <a:xfrm>
            <a:off x="3505200" y="2447925"/>
            <a:ext cx="400050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7" name="直接箭头连接符 52"/>
          <p:cNvCxnSpPr/>
          <p:nvPr/>
        </p:nvCxnSpPr>
        <p:spPr>
          <a:xfrm>
            <a:off x="5295900" y="2447925"/>
            <a:ext cx="44767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18" name="diagram-70">
            <a:extLst>
              <a:ext uri="{FF2B5EF4-FFF2-40B4-BE49-F238E27FC236}">
                <a16:creationId xmlns:a16="http://schemas.microsoft.com/office/drawing/2014/main" id="{1BE10243-9463-4E07-96DB-0683B221A804}"/>
              </a:ext>
            </a:extLst>
          </p:cNvPr>
          <p:cNvSpPr>
            <a:spLocks noGrp="1"/>
          </p:cNvSpPr>
          <p:nvPr/>
        </p:nvSpPr>
        <p:spPr>
          <a:xfrm>
            <a:off x="381000" y="3476625"/>
            <a:ext cx="7048500" cy="2524125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19" name="txt-71">
            <a:extLst>
              <a:ext uri="{FF2B5EF4-FFF2-40B4-BE49-F238E27FC236}">
                <a16:creationId xmlns:a16="http://schemas.microsoft.com/office/drawing/2014/main" id="{854AEE7C-DB99-4095-A366-45A335372F05}"/>
              </a:ext>
            </a:extLst>
          </p:cNvPr>
          <p:cNvSpPr>
            <a:spLocks noGrp="1"/>
          </p:cNvSpPr>
          <p:nvPr/>
        </p:nvSpPr>
        <p:spPr>
          <a:xfrm>
            <a:off x="561975" y="3619500"/>
            <a:ext cx="6534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② L2按目标V-Ring组织返回</a:t>
            </a:r>
          </a:p>
        </p:txBody>
      </p:sp>
      <p:sp>
        <p:nvSpPr>
          <p:cNvPr id="20" name="diagram-72">
            <a:extLst>
              <a:ext uri="{FF2B5EF4-FFF2-40B4-BE49-F238E27FC236}">
                <a16:creationId xmlns:a16="http://schemas.microsoft.com/office/drawing/2014/main" id="{5C342D37-ACC9-47B5-9A3E-1EE913D9A3EF}"/>
              </a:ext>
            </a:extLst>
          </p:cNvPr>
          <p:cNvSpPr>
            <a:spLocks noGrp="1"/>
          </p:cNvSpPr>
          <p:nvPr/>
        </p:nvSpPr>
        <p:spPr>
          <a:xfrm>
            <a:off x="571500" y="4410075"/>
            <a:ext cx="1638300" cy="876300"/>
          </a:xfrm>
          <a:prstGeom prst="rect">
            <a:avLst/>
          </a:prstGeom>
          <a:solidFill>
            <a:srgbClr val="A9D9AF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L2返回分组</a:t>
            </a:r>
          </a:p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N个接收端</a:t>
            </a:r>
          </a:p>
        </p:txBody>
      </p:sp>
      <p:sp>
        <p:nvSpPr>
          <p:cNvPr id="21" name="diagram-73">
            <a:extLst>
              <a:ext uri="{FF2B5EF4-FFF2-40B4-BE49-F238E27FC236}">
                <a16:creationId xmlns:a16="http://schemas.microsoft.com/office/drawing/2014/main" id="{444B9082-CB6E-4129-AF55-DD09320EDF65}"/>
              </a:ext>
            </a:extLst>
          </p:cNvPr>
          <p:cNvSpPr>
            <a:spLocks noGrp="1"/>
          </p:cNvSpPr>
          <p:nvPr/>
        </p:nvSpPr>
        <p:spPr>
          <a:xfrm>
            <a:off x="2600325" y="4410075"/>
            <a:ext cx="1600200" cy="87630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H-Ring数据包</a:t>
            </a:r>
          </a:p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共K个目标环</a:t>
            </a:r>
          </a:p>
        </p:txBody>
      </p:sp>
      <p:cxnSp>
        <p:nvCxnSpPr>
          <p:cNvPr id="22" name="直接箭头连接符 57"/>
          <p:cNvCxnSpPr/>
          <p:nvPr/>
        </p:nvCxnSpPr>
        <p:spPr>
          <a:xfrm>
            <a:off x="2209800" y="4848225"/>
            <a:ext cx="3905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23" name="diagram-74">
            <a:extLst>
              <a:ext uri="{FF2B5EF4-FFF2-40B4-BE49-F238E27FC236}">
                <a16:creationId xmlns:a16="http://schemas.microsoft.com/office/drawing/2014/main" id="{289F9FC2-C21E-4528-A41B-CAABA760AB21}"/>
              </a:ext>
            </a:extLst>
          </p:cNvPr>
          <p:cNvSpPr>
            <a:spLocks noGrp="1"/>
          </p:cNvSpPr>
          <p:nvPr/>
        </p:nvSpPr>
        <p:spPr>
          <a:xfrm>
            <a:off x="4819650" y="4038600"/>
            <a:ext cx="1190625" cy="4095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 0</a:t>
            </a:r>
          </a:p>
        </p:txBody>
      </p:sp>
      <p:sp>
        <p:nvSpPr>
          <p:cNvPr id="24" name="diagram-75">
            <a:extLst>
              <a:ext uri="{FF2B5EF4-FFF2-40B4-BE49-F238E27FC236}">
                <a16:creationId xmlns:a16="http://schemas.microsoft.com/office/drawing/2014/main" id="{BD6C6AE6-5C5A-42BF-815A-8E80D13C2BE5}"/>
              </a:ext>
            </a:extLst>
          </p:cNvPr>
          <p:cNvSpPr>
            <a:spLocks noGrp="1"/>
          </p:cNvSpPr>
          <p:nvPr/>
        </p:nvSpPr>
        <p:spPr>
          <a:xfrm>
            <a:off x="6162675" y="4038600"/>
            <a:ext cx="1028700" cy="40957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单播</a:t>
            </a:r>
          </a:p>
        </p:txBody>
      </p:sp>
      <p:cxnSp>
        <p:nvCxnSpPr>
          <p:cNvPr id="25" name="连接符: 肘形 60"/>
          <p:cNvCxnSpPr/>
          <p:nvPr/>
        </p:nvCxnSpPr>
        <p:spPr>
          <a:xfrm flipV="1">
            <a:off x="4200525" y="4243388"/>
            <a:ext cx="619125" cy="604838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26" name="diagram-76">
            <a:extLst>
              <a:ext uri="{FF2B5EF4-FFF2-40B4-BE49-F238E27FC236}">
                <a16:creationId xmlns:a16="http://schemas.microsoft.com/office/drawing/2014/main" id="{3532FDFF-B04F-4063-92D3-9BF2B1AC2B95}"/>
              </a:ext>
            </a:extLst>
          </p:cNvPr>
          <p:cNvSpPr>
            <a:spLocks noGrp="1"/>
          </p:cNvSpPr>
          <p:nvPr/>
        </p:nvSpPr>
        <p:spPr>
          <a:xfrm>
            <a:off x="4819650" y="4581525"/>
            <a:ext cx="1190625" cy="4095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 1</a:t>
            </a:r>
          </a:p>
        </p:txBody>
      </p:sp>
      <p:sp>
        <p:nvSpPr>
          <p:cNvPr id="27" name="diagram-77">
            <a:extLst>
              <a:ext uri="{FF2B5EF4-FFF2-40B4-BE49-F238E27FC236}">
                <a16:creationId xmlns:a16="http://schemas.microsoft.com/office/drawing/2014/main" id="{3CDEDA97-1BD3-4142-8EA0-6965CC57A6AB}"/>
              </a:ext>
            </a:extLst>
          </p:cNvPr>
          <p:cNvSpPr>
            <a:spLocks noGrp="1"/>
          </p:cNvSpPr>
          <p:nvPr/>
        </p:nvSpPr>
        <p:spPr>
          <a:xfrm>
            <a:off x="6162675" y="4581525"/>
            <a:ext cx="1028700" cy="40957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多播</a:t>
            </a:r>
          </a:p>
        </p:txBody>
      </p:sp>
      <p:cxnSp>
        <p:nvCxnSpPr>
          <p:cNvPr id="28" name="连接符: 肘形 63"/>
          <p:cNvCxnSpPr/>
          <p:nvPr/>
        </p:nvCxnSpPr>
        <p:spPr>
          <a:xfrm flipV="1">
            <a:off x="4200525" y="4786313"/>
            <a:ext cx="619125" cy="61913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29" name="diagram-78">
            <a:extLst>
              <a:ext uri="{FF2B5EF4-FFF2-40B4-BE49-F238E27FC236}">
                <a16:creationId xmlns:a16="http://schemas.microsoft.com/office/drawing/2014/main" id="{EFF7072B-93C6-4C39-ACF2-FA7F81ADB4E8}"/>
              </a:ext>
            </a:extLst>
          </p:cNvPr>
          <p:cNvSpPr>
            <a:spLocks noGrp="1"/>
          </p:cNvSpPr>
          <p:nvPr/>
        </p:nvSpPr>
        <p:spPr>
          <a:xfrm>
            <a:off x="4819650" y="5124450"/>
            <a:ext cx="1190625" cy="4095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 N</a:t>
            </a:r>
          </a:p>
        </p:txBody>
      </p:sp>
      <p:sp>
        <p:nvSpPr>
          <p:cNvPr id="30" name="diagram-79">
            <a:extLst>
              <a:ext uri="{FF2B5EF4-FFF2-40B4-BE49-F238E27FC236}">
                <a16:creationId xmlns:a16="http://schemas.microsoft.com/office/drawing/2014/main" id="{4C7E0C3E-4645-4FFF-A87F-EFC92B61D0BD}"/>
              </a:ext>
            </a:extLst>
          </p:cNvPr>
          <p:cNvSpPr>
            <a:spLocks noGrp="1"/>
          </p:cNvSpPr>
          <p:nvPr/>
        </p:nvSpPr>
        <p:spPr>
          <a:xfrm>
            <a:off x="6162675" y="5124450"/>
            <a:ext cx="1028700" cy="40957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分段分发</a:t>
            </a:r>
          </a:p>
        </p:txBody>
      </p:sp>
      <p:cxnSp>
        <p:nvCxnSpPr>
          <p:cNvPr id="31" name="连接符: 肘形 66"/>
          <p:cNvCxnSpPr/>
          <p:nvPr/>
        </p:nvCxnSpPr>
        <p:spPr>
          <a:xfrm>
            <a:off x="4200525" y="4848225"/>
            <a:ext cx="619125" cy="481013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32" name="txt-80">
            <a:extLst>
              <a:ext uri="{FF2B5EF4-FFF2-40B4-BE49-F238E27FC236}">
                <a16:creationId xmlns:a16="http://schemas.microsoft.com/office/drawing/2014/main" id="{6956F035-C996-43F9-980D-D3662721BD50}"/>
              </a:ext>
            </a:extLst>
          </p:cNvPr>
          <p:cNvSpPr>
            <a:spLocks noGrp="1"/>
          </p:cNvSpPr>
          <p:nvPr/>
        </p:nvSpPr>
        <p:spPr>
          <a:xfrm>
            <a:off x="571500" y="5676900"/>
            <a:ext cx="6496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每个目标V-Ring对应一个H-Ring数据包</a:t>
            </a:r>
          </a:p>
        </p:txBody>
      </p:sp>
      <p:sp>
        <p:nvSpPr>
          <p:cNvPr id="33" name="txt-81">
            <a:extLst>
              <a:ext uri="{FF2B5EF4-FFF2-40B4-BE49-F238E27FC236}">
                <a16:creationId xmlns:a16="http://schemas.microsoft.com/office/drawing/2014/main" id="{B126E2FD-D745-40CA-B00D-609A5E181A7A}"/>
              </a:ext>
            </a:extLst>
          </p:cNvPr>
          <p:cNvSpPr>
            <a:spLocks noGrp="1"/>
          </p:cNvSpPr>
          <p:nvPr/>
        </p:nvSpPr>
        <p:spPr>
          <a:xfrm>
            <a:off x="7820025" y="1409700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后端读取合并</a:t>
            </a:r>
          </a:p>
        </p:txBody>
      </p:sp>
      <p:sp>
        <p:nvSpPr>
          <p:cNvPr id="34" name="bullet-list-83">
            <a:extLst>
              <a:ext uri="{FF2B5EF4-FFF2-40B4-BE49-F238E27FC236}">
                <a16:creationId xmlns:a16="http://schemas.microsoft.com/office/drawing/2014/main" id="{992645C0-8662-4B62-9D6B-0B5B492AE6F5}"/>
              </a:ext>
            </a:extLst>
          </p:cNvPr>
          <p:cNvSpPr>
            <a:spLocks noGrp="1"/>
          </p:cNvSpPr>
          <p:nvPr/>
        </p:nvSpPr>
        <p:spPr>
          <a:xfrm>
            <a:off x="7820025" y="1838325"/>
            <a:ext cx="3981450" cy="1409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查表匹配同一事务，将后续请求加入等待列表，共享一次读取结果。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命中时执行功能读取，未命中时由TmMem发起HBM后端读取。</a:t>
            </a:r>
          </a:p>
        </p:txBody>
      </p:sp>
      <p:sp>
        <p:nvSpPr>
          <p:cNvPr id="35" name="txt-84">
            <a:extLst>
              <a:ext uri="{FF2B5EF4-FFF2-40B4-BE49-F238E27FC236}">
                <a16:creationId xmlns:a16="http://schemas.microsoft.com/office/drawing/2014/main" id="{93395306-33B4-4A51-B238-3F8D3E2EF4BE}"/>
              </a:ext>
            </a:extLst>
          </p:cNvPr>
          <p:cNvSpPr>
            <a:spLocks noGrp="1"/>
          </p:cNvSpPr>
          <p:nvPr/>
        </p:nvSpPr>
        <p:spPr>
          <a:xfrm>
            <a:off x="7820025" y="3629025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返回方式与回收条件</a:t>
            </a:r>
          </a:p>
        </p:txBody>
      </p:sp>
      <p:sp>
        <p:nvSpPr>
          <p:cNvPr id="36" name="bullet-list-86">
            <a:extLst>
              <a:ext uri="{FF2B5EF4-FFF2-40B4-BE49-F238E27FC236}">
                <a16:creationId xmlns:a16="http://schemas.microsoft.com/office/drawing/2014/main" id="{E3DE87BB-5E65-4CFB-838C-6AD3216C2B5D}"/>
              </a:ext>
            </a:extLst>
          </p:cNvPr>
          <p:cNvSpPr>
            <a:spLocks noGrp="1"/>
          </p:cNvSpPr>
          <p:nvPr/>
        </p:nvSpPr>
        <p:spPr>
          <a:xfrm>
            <a:off x="7820025" y="4048125"/>
            <a:ext cx="3981450" cy="1571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单个接收端采用单播。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相同地址与长度的多端请求采用多播。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扇区或偏移不同，采用分段返回。</a:t>
            </a:r>
          </a:p>
        </p:txBody>
      </p:sp>
      <p:sp>
        <p:nvSpPr>
          <p:cNvPr id="37" name="txt-87">
            <a:extLst>
              <a:ext uri="{FF2B5EF4-FFF2-40B4-BE49-F238E27FC236}">
                <a16:creationId xmlns:a16="http://schemas.microsoft.com/office/drawing/2014/main" id="{35B6FF54-DAD8-4F26-B3DF-EB90DEFD0517}"/>
              </a:ext>
            </a:extLst>
          </p:cNvPr>
          <p:cNvSpPr>
            <a:spLocks noGrp="1"/>
          </p:cNvSpPr>
          <p:nvPr/>
        </p:nvSpPr>
        <p:spPr>
          <a:xfrm>
            <a:off x="7820025" y="5657850"/>
            <a:ext cx="39814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最后一个接收端取出数据后，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释放对应的环网槽位。</a:t>
            </a:r>
          </a:p>
        </p:txBody>
      </p:sp>
      <p:sp>
        <p:nvSpPr>
          <p:cNvPr id="38" name="txt-88">
            <a:extLst>
              <a:ext uri="{FF2B5EF4-FFF2-40B4-BE49-F238E27FC236}">
                <a16:creationId xmlns:a16="http://schemas.microsoft.com/office/drawing/2014/main" id="{F938D64B-E885-4069-BC8B-D80EA687250E}"/>
              </a:ext>
            </a:extLst>
          </p:cNvPr>
          <p:cNvSpPr>
            <a:spLocks noGrp="1"/>
          </p:cNvSpPr>
          <p:nvPr/>
        </p:nvSpPr>
        <p:spPr>
          <a:xfrm>
            <a:off x="381000" y="6324600"/>
            <a:ext cx="7048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两级聚合分别减少后端读取次数和环网上的重复数据传输。</a:t>
            </a:r>
          </a:p>
        </p:txBody>
      </p:sp>
      <p:sp>
        <p:nvSpPr>
          <p:cNvPr id="39" name="share-61">
            <a:extLst>
              <a:ext uri="{FF2B5EF4-FFF2-40B4-BE49-F238E27FC236}">
                <a16:creationId xmlns:a16="http://schemas.microsoft.com/office/drawing/2014/main" id="{68FBA5FA-286C-41A1-B8D7-86C680D8E282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29917529"/>
      </p:ext>
    </p:extLst>
  </p:cSld>
  <p:clrMapOvr>
    <a:masterClrMapping/>
  </p:clrMapOvr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visual-1">
            <a:extLst xmlns:a="http://schemas.openxmlformats.org/drawingml/2006/main">
              <a:ext uri="{FF2B5EF4-FFF2-40B4-BE49-F238E27FC236}">
                <a16:creationId xmlns:a16="http://schemas.microsoft.com/office/drawing/2014/main" id="{6D5E8FBE-7EAC-428C-B3B7-02B71A94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建模经验：状态在什么时刻推进</a:t>
            </a:r>
          </a:p>
        </p:txBody>
      </p:sp>
      <p:sp>
        <p:nvSpPr>
          <p:cNvPr id="2" name="visual-2">
            <a:extLst xmlns:a="http://schemas.openxmlformats.org/drawingml/2006/main">
              <a:ext uri="{FF2B5EF4-FFF2-40B4-BE49-F238E27FC236}">
                <a16:creationId xmlns:a16="http://schemas.microsoft.com/office/drawing/2014/main" id="{EA05240B-311D-4A59-A678-2D8ACED4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接收、响应和资源释放分别对应不同事件，模型需要明确每个边界。</a:t>
            </a:r>
          </a:p>
        </p:txBody>
      </p:sp>
      <p:sp>
        <p:nvSpPr>
          <p:cNvPr id="3" name="visual-3">
            <a:extLst xmlns:a="http://schemas.openxmlformats.org/drawingml/2006/main">
              <a:ext uri="{FF2B5EF4-FFF2-40B4-BE49-F238E27FC236}">
                <a16:creationId xmlns:a16="http://schemas.microsoft.com/office/drawing/2014/main" id="{26499FAA-CCB6-4ABE-B88F-DFC717D9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visual-4">
            <a:extLst xmlns:a="http://schemas.openxmlformats.org/drawingml/2006/main">
              <a:ext uri="{FF2B5EF4-FFF2-40B4-BE49-F238E27FC236}">
                <a16:creationId xmlns:a16="http://schemas.microsoft.com/office/drawing/2014/main" id="{FE4CFC5F-233C-48FF-9391-F7AF3D95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621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单次跨环转发</a:t>
            </a:r>
          </a:p>
        </p:txBody>
      </p:sp>
      <p:sp>
        <p:nvSpPr>
          <p:cNvPr id="5" name="diagram-5">
            <a:extLst xmlns:a="http://schemas.openxmlformats.org/drawingml/2006/main">
              <a:ext uri="{FF2B5EF4-FFF2-40B4-BE49-F238E27FC236}">
                <a16:creationId xmlns:a16="http://schemas.microsoft.com/office/drawing/2014/main" id="{B1A8D22C-3096-490F-8C55-98F76878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0"/>
            <a:ext cx="1952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来源队首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保留待转发包</a:t>
            </a:r>
          </a:p>
        </p:txBody>
      </p:sp>
      <p:sp>
        <p:nvSpPr>
          <p:cNvPr id="6" name="diagram-6">
            <a:extLst xmlns:a="http://schemas.openxmlformats.org/drawingml/2006/main">
              <a:ext uri="{FF2B5EF4-FFF2-40B4-BE49-F238E27FC236}">
                <a16:creationId xmlns:a16="http://schemas.microsoft.com/office/drawing/2014/main" id="{D5760312-7012-47B1-91D5-7CA7B575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76500"/>
            <a:ext cx="2133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目标接收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容量与带宽可用</a:t>
            </a:r>
          </a:p>
        </p:txBody>
      </p:sp>
      <p:sp>
        <p:nvSpPr>
          <p:cNvPr id="7" name="diagram-7">
            <a:extLst xmlns:a="http://schemas.openxmlformats.org/drawingml/2006/main">
              <a:ext uri="{FF2B5EF4-FFF2-40B4-BE49-F238E27FC236}">
                <a16:creationId xmlns:a16="http://schemas.microsoft.com/office/drawing/2014/main" id="{1AC0E24C-0CB0-430A-A10A-04286D9C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476500"/>
            <a:ext cx="1952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接收成功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来源队首出队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33625" y="289560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010150" y="289560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10" name="visual-8">
            <a:extLst xmlns:a="http://schemas.openxmlformats.org/drawingml/2006/main">
              <a:ext uri="{FF2B5EF4-FFF2-40B4-BE49-F238E27FC236}">
                <a16:creationId xmlns:a16="http://schemas.microsoft.com/office/drawing/2014/main" id="{FC505255-CECA-4A92-BE72-03E0A936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4330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接收失败时不推进队首</a:t>
            </a:r>
          </a:p>
        </p:txBody>
      </p:sp>
      <p:sp>
        <p:nvSpPr>
          <p:cNvPr id="11" name="visual-9">
            <a:extLst xmlns:a="http://schemas.openxmlformats.org/drawingml/2006/main">
              <a:ext uri="{FF2B5EF4-FFF2-40B4-BE49-F238E27FC236}">
                <a16:creationId xmlns:a16="http://schemas.microsoft.com/office/drawing/2014/main" id="{6769EA05-9D32-411A-954E-6B6050E9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29125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多播返回的资源释放</a:t>
            </a:r>
          </a:p>
        </p:txBody>
      </p:sp>
      <p:sp>
        <p:nvSpPr>
          <p:cNvPr id="12" name="diagram-10">
            <a:extLst xmlns:a="http://schemas.openxmlformats.org/drawingml/2006/main">
              <a:ext uri="{FF2B5EF4-FFF2-40B4-BE49-F238E27FC236}">
                <a16:creationId xmlns:a16="http://schemas.microsoft.com/office/drawing/2014/main" id="{98FC98BF-9E40-4710-B04E-E03D4104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0"/>
            <a:ext cx="21336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部分接收端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已经取出数据</a:t>
            </a:r>
          </a:p>
        </p:txBody>
      </p:sp>
      <p:sp>
        <p:nvSpPr>
          <p:cNvPr id="13" name="diagram-11">
            <a:extLst xmlns:a="http://schemas.openxmlformats.org/drawingml/2006/main">
              <a:ext uri="{FF2B5EF4-FFF2-40B4-BE49-F238E27FC236}">
                <a16:creationId xmlns:a16="http://schemas.microsoft.com/office/drawing/2014/main" id="{267551D5-5003-43A8-B57C-C07E13BB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48250"/>
            <a:ext cx="21336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其余接收端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仍需接收数据</a:t>
            </a:r>
          </a:p>
        </p:txBody>
      </p:sp>
      <p:sp>
        <p:nvSpPr>
          <p:cNvPr id="14" name="diagram-12">
            <a:extLst xmlns:a="http://schemas.openxmlformats.org/drawingml/2006/main">
              <a:ext uri="{FF2B5EF4-FFF2-40B4-BE49-F238E27FC236}">
                <a16:creationId xmlns:a16="http://schemas.microsoft.com/office/drawing/2014/main" id="{ED2ED068-9337-45C8-9A65-E96A9E5E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048250"/>
            <a:ext cx="21336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最后一端取出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释放环网槽位</a:t>
            </a:r>
          </a:p>
        </p:txBody>
      </p:sp>
      <p:cxnSp>
        <p:nvCxnSpPr>
          <p:cNvPr id="36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514600" y="5453063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67300" y="5453063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17" name="visual-13">
            <a:extLst xmlns:a="http://schemas.openxmlformats.org/drawingml/2006/main">
              <a:ext uri="{FF2B5EF4-FFF2-40B4-BE49-F238E27FC236}">
                <a16:creationId xmlns:a16="http://schemas.microsoft.com/office/drawing/2014/main" id="{379DFC74-9478-4DBF-8D24-FDF306AD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71675"/>
            <a:ext cx="3648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事务完成与接口接收</a:t>
            </a:r>
          </a:p>
        </p:txBody>
      </p:sp>
      <p:sp>
        <p:nvSpPr>
          <p:cNvPr id="18" name="visual-14">
            <a:extLst xmlns:a="http://schemas.openxmlformats.org/drawingml/2006/main">
              <a:ext uri="{FF2B5EF4-FFF2-40B4-BE49-F238E27FC236}">
                <a16:creationId xmlns:a16="http://schemas.microsoft.com/office/drawing/2014/main" id="{6255A2A6-7C37-4FE2-BC9B-F3634664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47925"/>
            <a:ext cx="36480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写请求和数据配对后提交。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后端接收成功再返回约定响应。</a:t>
            </a:r>
          </a:p>
        </p:txBody>
      </p:sp>
      <p:sp>
        <p:nvSpPr>
          <p:cNvPr id="19" name="visual-15">
            <a:extLst xmlns:a="http://schemas.openxmlformats.org/drawingml/2006/main">
              <a:ext uri="{FF2B5EF4-FFF2-40B4-BE49-F238E27FC236}">
                <a16:creationId xmlns:a16="http://schemas.microsoft.com/office/drawing/2014/main" id="{152FD511-5D85-47B1-B32A-80994D1C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48100"/>
            <a:ext cx="3648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每项状态有明确归属</a:t>
            </a:r>
          </a:p>
        </p:txBody>
      </p:sp>
      <p:sp>
        <p:nvSpPr>
          <p:cNvPr id="20" name="visual-16">
            <a:extLst xmlns:a="http://schemas.openxmlformats.org/drawingml/2006/main">
              <a:ext uri="{FF2B5EF4-FFF2-40B4-BE49-F238E27FC236}">
                <a16:creationId xmlns:a16="http://schemas.microsoft.com/office/drawing/2014/main" id="{1AF6AA99-E4B5-4B05-ABC4-B931590A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24350"/>
            <a:ext cx="36480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HA维护事务，队列维护队首，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后端维护在途请求额度。</a:t>
            </a:r>
          </a:p>
        </p:txBody>
      </p:sp>
      <p:sp>
        <p:nvSpPr>
          <p:cNvPr id="21" name="visual-17">
            <a:extLst xmlns:a="http://schemas.openxmlformats.org/drawingml/2006/main">
              <a:ext uri="{FF2B5EF4-FFF2-40B4-BE49-F238E27FC236}">
                <a16:creationId xmlns:a16="http://schemas.microsoft.com/office/drawing/2014/main" id="{AE73695F-C031-46D3-BDF9-57E8F79A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3412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时序近似还需分别保留包交接延迟和每条链路的带宽占用。</a:t>
            </a:r>
          </a:p>
        </p:txBody>
      </p:sp>
    </p:spTree>
    <p:extLst>
      <p:ext uri="{BB962C8B-B14F-4D97-AF65-F5344CB8AC3E}">
        <p14:creationId xmlns:p14="http://schemas.microsoft.com/office/powerpoint/2010/main" val="1398621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65">
            <a:extLst xmlns:a="http://schemas.openxmlformats.org/drawingml/2006/main">
              <a:ext uri="{FF2B5EF4-FFF2-40B4-BE49-F238E27FC236}">
                <a16:creationId xmlns:a16="http://schemas.microsoft.com/office/drawing/2014/main" id="{08590356-D63E-49B2-B838-FEAF87D3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实验设计：一次扫描回答一个问题</a:t>
            </a:r>
          </a:p>
        </p:txBody>
      </p:sp>
      <p:sp>
        <p:nvSpPr>
          <p:cNvPr id="3" name="share-66">
            <a:extLst xmlns:a="http://schemas.openxmlformats.org/drawingml/2006/main">
              <a:ext uri="{FF2B5EF4-FFF2-40B4-BE49-F238E27FC236}">
                <a16:creationId xmlns:a16="http://schemas.microsoft.com/office/drawing/2014/main" id="{2B49A84E-7408-4AE4-937D-77580096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固定同组条件，分别观察命中率、每核并发上限和请求大小的影响。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381000" y="1685925"/>
          <a:ext xmlns:a="http://schemas.openxmlformats.org/drawingml/2006/main" cx="11430000" cy="3571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47875"/>
                <a:gridCol w="4333875"/>
                <a:gridCol w="5048250"/>
              </a:tblGrid>
              <a:tr h="4857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扫描项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保持不变的主要条件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变化范围与研究问题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10287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配置命中率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请求256字节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分别比较四种地址模式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0%、25%、50%、75%、100%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后端访问减少后，吞吐还受什么限制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每核并发上限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独立缓存行模式（NoMerge）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请求256字节，配置命中率0%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16、32、64、128、256、512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吞吐拐点和尾延迟怎样变化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请求大小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每核并发上限128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配置命中率0%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128、256、512字节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读取放大与数据复用怎样变化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e-67">
            <a:extLst xmlns:a="http://schemas.openxmlformats.org/drawingml/2006/main">
              <a:ext uri="{FF2B5EF4-FFF2-40B4-BE49-F238E27FC236}">
                <a16:creationId xmlns:a16="http://schemas.microsoft.com/office/drawing/2014/main" id="{C28E3ADC-B82A-4A56-902A-74C0B6A8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81650"/>
            <a:ext cx="11334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基础拓扑：8核、2条垂直环、1条共享水平环、4个存储目标端。</a:t>
            </a:r>
          </a:p>
        </p:txBody>
      </p:sp>
      <p:sp>
        <p:nvSpPr>
          <p:cNvPr id="6" name="share-68">
            <a:extLst xmlns:a="http://schemas.openxmlformats.org/drawingml/2006/main">
              <a:ext uri="{FF2B5EF4-FFF2-40B4-BE49-F238E27FC236}">
                <a16:creationId xmlns:a16="http://schemas.microsoft.com/office/drawing/2014/main" id="{37E62626-5E5C-4416-BF15-585E09C9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6742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链路宽度128字节/周期，缓存行512字节。三组结果来自已保存实验，组间不直接归因比较。</a:t>
            </a:r>
          </a:p>
        </p:txBody>
      </p:sp>
      <p:sp>
        <p:nvSpPr>
          <p:cNvPr id="7" name="share-69">
            <a:extLst xmlns:a="http://schemas.openxmlformats.org/drawingml/2006/main">
              <a:ext uri="{FF2B5EF4-FFF2-40B4-BE49-F238E27FC236}">
                <a16:creationId xmlns:a16="http://schemas.microsoft.com/office/drawing/2014/main" id="{9F88F0AD-CC03-4B41-94E6-F5FB64B4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49842767"/>
      </p:ext>
    </p:extLst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61">
            <a:extLst>
              <a:ext uri="{FF2B5EF4-FFF2-40B4-BE49-F238E27FC236}">
                <a16:creationId xmlns:a16="http://schemas.microsoft.com/office/drawing/2014/main" id="{1EC1C73C-422A-4E64-85FB-458EF989CA2F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四种地址模式：请求之间怎样共享数据</a:t>
            </a:r>
          </a:p>
        </p:txBody>
      </p:sp>
      <p:sp>
        <p:nvSpPr>
          <p:cNvPr id="3" name="txt-62">
            <a:extLst>
              <a:ext uri="{FF2B5EF4-FFF2-40B4-BE49-F238E27FC236}">
                <a16:creationId xmlns:a16="http://schemas.microsoft.com/office/drawing/2014/main" id="{B89C6F29-03A9-4EDB-AABD-8BE4CE19B311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114300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示意：缓存行512字节，S0～S3代表不同数据范围。图中以128字节分段请求说明共享关系。</a:t>
            </a:r>
          </a:p>
          <a:p>
            <a:pPr algn="l">
              <a:lnSpc>
                <a:spcPct val="118000"/>
              </a:lnSpc>
              <a:buNone/>
              <a:def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diagram-63">
            <a:extLst>
              <a:ext uri="{FF2B5EF4-FFF2-40B4-BE49-F238E27FC236}">
                <a16:creationId xmlns:a16="http://schemas.microsoft.com/office/drawing/2014/main" id="{5BC70951-89CC-41FC-8E4F-24F71029C036}"/>
              </a:ext>
            </a:extLst>
          </p:cNvPr>
          <p:cNvSpPr>
            <a:spLocks noGrp="1"/>
          </p:cNvSpPr>
          <p:nvPr/>
        </p:nvSpPr>
        <p:spPr>
          <a:xfrm>
            <a:off x="381000" y="1562100"/>
            <a:ext cx="7048500" cy="4476750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5" name="diagram-64">
            <a:extLst>
              <a:ext uri="{FF2B5EF4-FFF2-40B4-BE49-F238E27FC236}">
                <a16:creationId xmlns:a16="http://schemas.microsoft.com/office/drawing/2014/main" id="{F3C1ACA9-4701-4089-884F-3430167A7EA2}"/>
              </a:ext>
            </a:extLst>
          </p:cNvPr>
          <p:cNvSpPr>
            <a:spLocks noGrp="1"/>
          </p:cNvSpPr>
          <p:nvPr/>
        </p:nvSpPr>
        <p:spPr>
          <a:xfrm>
            <a:off x="552450" y="2647950"/>
            <a:ext cx="6696075" cy="4763"/>
          </a:xfrm>
          <a:prstGeom prst="rect">
            <a:avLst/>
          </a:prstGeom>
          <a:solidFill>
            <a:srgbClr val="C8CDD4"/>
          </a:solidFill>
          <a:ln w="4763">
            <a:solidFill>
              <a:srgbClr val="C8CDD4"/>
            </a:solidFill>
            <a:prstDash val="solid"/>
          </a:ln>
        </p:spPr>
      </p:sp>
      <p:sp>
        <p:nvSpPr>
          <p:cNvPr id="6" name="diagram-65">
            <a:extLst>
              <a:ext uri="{FF2B5EF4-FFF2-40B4-BE49-F238E27FC236}">
                <a16:creationId xmlns:a16="http://schemas.microsoft.com/office/drawing/2014/main" id="{070625C9-46E4-41D1-A116-53B9807461F9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6696075" cy="4763"/>
          </a:xfrm>
          <a:prstGeom prst="rect">
            <a:avLst/>
          </a:prstGeom>
          <a:solidFill>
            <a:srgbClr val="C8CDD4"/>
          </a:solidFill>
          <a:ln w="4763">
            <a:solidFill>
              <a:srgbClr val="C8CDD4"/>
            </a:solidFill>
            <a:prstDash val="solid"/>
          </a:ln>
        </p:spPr>
      </p:sp>
      <p:sp>
        <p:nvSpPr>
          <p:cNvPr id="7" name="diagram-66">
            <a:extLst>
              <a:ext uri="{FF2B5EF4-FFF2-40B4-BE49-F238E27FC236}">
                <a16:creationId xmlns:a16="http://schemas.microsoft.com/office/drawing/2014/main" id="{C1C9A0FA-2E11-4A76-A983-5B7D38D192B3}"/>
              </a:ext>
            </a:extLst>
          </p:cNvPr>
          <p:cNvSpPr>
            <a:spLocks noGrp="1"/>
          </p:cNvSpPr>
          <p:nvPr/>
        </p:nvSpPr>
        <p:spPr>
          <a:xfrm>
            <a:off x="552450" y="4857750"/>
            <a:ext cx="6696075" cy="4763"/>
          </a:xfrm>
          <a:prstGeom prst="rect">
            <a:avLst/>
          </a:prstGeom>
          <a:solidFill>
            <a:srgbClr val="C8CDD4"/>
          </a:solidFill>
          <a:ln w="4763">
            <a:solidFill>
              <a:srgbClr val="C8CDD4"/>
            </a:solidFill>
            <a:prstDash val="solid"/>
          </a:ln>
        </p:spPr>
      </p:sp>
      <p:sp>
        <p:nvSpPr>
          <p:cNvPr id="8" name="txt-67">
            <a:extLst>
              <a:ext uri="{FF2B5EF4-FFF2-40B4-BE49-F238E27FC236}">
                <a16:creationId xmlns:a16="http://schemas.microsoft.com/office/drawing/2014/main" id="{07151A78-2D2C-4507-A465-F2BCD6BC8DB0}"/>
              </a:ext>
            </a:extLst>
          </p:cNvPr>
          <p:cNvSpPr>
            <a:spLocks noGrp="1"/>
          </p:cNvSpPr>
          <p:nvPr/>
        </p:nvSpPr>
        <p:spPr>
          <a:xfrm>
            <a:off x="561975" y="1781175"/>
            <a:ext cx="1562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独立缓存行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</a:t>
            </a:r>
          </a:p>
        </p:txBody>
      </p:sp>
      <p:sp>
        <p:nvSpPr>
          <p:cNvPr id="10" name="diagram-69">
            <a:extLst>
              <a:ext uri="{FF2B5EF4-FFF2-40B4-BE49-F238E27FC236}">
                <a16:creationId xmlns:a16="http://schemas.microsoft.com/office/drawing/2014/main" id="{C51F8063-8634-4ED6-A01B-C82E0C219396}"/>
              </a:ext>
            </a:extLst>
          </p:cNvPr>
          <p:cNvSpPr>
            <a:spLocks noGrp="1"/>
          </p:cNvSpPr>
          <p:nvPr/>
        </p:nvSpPr>
        <p:spPr>
          <a:xfrm>
            <a:off x="2286000" y="2057400"/>
            <a:ext cx="1076325" cy="4762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M0：行0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1" name="diagram-70">
            <a:extLst>
              <a:ext uri="{FF2B5EF4-FFF2-40B4-BE49-F238E27FC236}">
                <a16:creationId xmlns:a16="http://schemas.microsoft.com/office/drawing/2014/main" id="{903609BB-0069-404F-89F5-564ED99DFE7D}"/>
              </a:ext>
            </a:extLst>
          </p:cNvPr>
          <p:cNvSpPr>
            <a:spLocks noGrp="1"/>
          </p:cNvSpPr>
          <p:nvPr/>
        </p:nvSpPr>
        <p:spPr>
          <a:xfrm>
            <a:off x="3524250" y="2057400"/>
            <a:ext cx="1076325" cy="4762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M1：行1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2" name="diagram-71">
            <a:extLst>
              <a:ext uri="{FF2B5EF4-FFF2-40B4-BE49-F238E27FC236}">
                <a16:creationId xmlns:a16="http://schemas.microsoft.com/office/drawing/2014/main" id="{CF9BFE7E-6B8A-450A-BD00-6372CC8D9521}"/>
              </a:ext>
            </a:extLst>
          </p:cNvPr>
          <p:cNvSpPr>
            <a:spLocks noGrp="1"/>
          </p:cNvSpPr>
          <p:nvPr/>
        </p:nvSpPr>
        <p:spPr>
          <a:xfrm>
            <a:off x="4762500" y="2057400"/>
            <a:ext cx="1076325" cy="4762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M2：行2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" name="diagram-72">
            <a:extLst>
              <a:ext uri="{FF2B5EF4-FFF2-40B4-BE49-F238E27FC236}">
                <a16:creationId xmlns:a16="http://schemas.microsoft.com/office/drawing/2014/main" id="{EF6A854C-D929-4CC3-88B8-617B4D980C50}"/>
              </a:ext>
            </a:extLst>
          </p:cNvPr>
          <p:cNvSpPr>
            <a:spLocks noGrp="1"/>
          </p:cNvSpPr>
          <p:nvPr/>
        </p:nvSpPr>
        <p:spPr>
          <a:xfrm>
            <a:off x="6000750" y="2057400"/>
            <a:ext cx="1076325" cy="4762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M3：行3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4" name="txt-73">
            <a:extLst>
              <a:ext uri="{FF2B5EF4-FFF2-40B4-BE49-F238E27FC236}">
                <a16:creationId xmlns:a16="http://schemas.microsoft.com/office/drawing/2014/main" id="{71B5CEE4-0811-4B76-BC16-A9CA72E91E57}"/>
              </a:ext>
            </a:extLst>
          </p:cNvPr>
          <p:cNvSpPr>
            <a:spLocks noGrp="1"/>
          </p:cNvSpPr>
          <p:nvPr/>
        </p:nvSpPr>
        <p:spPr>
          <a:xfrm>
            <a:off x="561975" y="2867025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独立地址窗口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Private</a:t>
            </a:r>
          </a:p>
        </p:txBody>
      </p:sp>
      <p:sp>
        <p:nvSpPr>
          <p:cNvPr id="16" name="diagram-75">
            <a:extLst>
              <a:ext uri="{FF2B5EF4-FFF2-40B4-BE49-F238E27FC236}">
                <a16:creationId xmlns:a16="http://schemas.microsoft.com/office/drawing/2014/main" id="{65B2EF0A-3F5F-4328-A405-61DF24D798B8}"/>
              </a:ext>
            </a:extLst>
          </p:cNvPr>
          <p:cNvSpPr>
            <a:spLocks noGrp="1"/>
          </p:cNvSpPr>
          <p:nvPr/>
        </p:nvSpPr>
        <p:spPr>
          <a:xfrm>
            <a:off x="2286000" y="3152775"/>
            <a:ext cx="1076325" cy="47625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M0窗口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S0、S1…</a:t>
            </a:r>
          </a:p>
        </p:txBody>
      </p:sp>
      <p:sp>
        <p:nvSpPr>
          <p:cNvPr id="17" name="diagram-76">
            <a:extLst>
              <a:ext uri="{FF2B5EF4-FFF2-40B4-BE49-F238E27FC236}">
                <a16:creationId xmlns:a16="http://schemas.microsoft.com/office/drawing/2014/main" id="{58503F86-619F-4AF8-80D4-5988C1170CBC}"/>
              </a:ext>
            </a:extLst>
          </p:cNvPr>
          <p:cNvSpPr>
            <a:spLocks noGrp="1"/>
          </p:cNvSpPr>
          <p:nvPr/>
        </p:nvSpPr>
        <p:spPr>
          <a:xfrm>
            <a:off x="3524250" y="3152775"/>
            <a:ext cx="1076325" cy="47625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M1窗口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S0、S1…</a:t>
            </a:r>
          </a:p>
        </p:txBody>
      </p:sp>
      <p:sp>
        <p:nvSpPr>
          <p:cNvPr id="18" name="diagram-77">
            <a:extLst>
              <a:ext uri="{FF2B5EF4-FFF2-40B4-BE49-F238E27FC236}">
                <a16:creationId xmlns:a16="http://schemas.microsoft.com/office/drawing/2014/main" id="{374FB6BA-1161-408D-A8B6-B1F20F6B8EC9}"/>
              </a:ext>
            </a:extLst>
          </p:cNvPr>
          <p:cNvSpPr>
            <a:spLocks noGrp="1"/>
          </p:cNvSpPr>
          <p:nvPr/>
        </p:nvSpPr>
        <p:spPr>
          <a:xfrm>
            <a:off x="4762500" y="3152775"/>
            <a:ext cx="1076325" cy="47625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M2窗口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S0、S1…</a:t>
            </a:r>
          </a:p>
        </p:txBody>
      </p:sp>
      <p:sp>
        <p:nvSpPr>
          <p:cNvPr id="19" name="diagram-78">
            <a:extLst>
              <a:ext uri="{FF2B5EF4-FFF2-40B4-BE49-F238E27FC236}">
                <a16:creationId xmlns:a16="http://schemas.microsoft.com/office/drawing/2014/main" id="{861A0B86-CEE6-45DA-B772-898C9B838828}"/>
              </a:ext>
            </a:extLst>
          </p:cNvPr>
          <p:cNvSpPr>
            <a:spLocks noGrp="1"/>
          </p:cNvSpPr>
          <p:nvPr/>
        </p:nvSpPr>
        <p:spPr>
          <a:xfrm>
            <a:off x="6000750" y="3152775"/>
            <a:ext cx="1076325" cy="47625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M3窗口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S0、S1…</a:t>
            </a:r>
          </a:p>
        </p:txBody>
      </p:sp>
      <p:sp>
        <p:nvSpPr>
          <p:cNvPr id="20" name="txt-79">
            <a:extLst>
              <a:ext uri="{FF2B5EF4-FFF2-40B4-BE49-F238E27FC236}">
                <a16:creationId xmlns:a16="http://schemas.microsoft.com/office/drawing/2014/main" id="{9ABCABD6-4589-4E1E-99F9-9DAAD81649E1}"/>
              </a:ext>
            </a:extLst>
          </p:cNvPr>
          <p:cNvSpPr>
            <a:spLocks noGrp="1"/>
          </p:cNvSpPr>
          <p:nvPr/>
        </p:nvSpPr>
        <p:spPr>
          <a:xfrm>
            <a:off x="561975" y="39624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同行不同范围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Scatter</a:t>
            </a:r>
          </a:p>
        </p:txBody>
      </p:sp>
      <p:sp>
        <p:nvSpPr>
          <p:cNvPr id="22" name="diagram-81">
            <a:extLst>
              <a:ext uri="{FF2B5EF4-FFF2-40B4-BE49-F238E27FC236}">
                <a16:creationId xmlns:a16="http://schemas.microsoft.com/office/drawing/2014/main" id="{C47FE2DF-17A6-4F63-805D-FA647C3CB053}"/>
              </a:ext>
            </a:extLst>
          </p:cNvPr>
          <p:cNvSpPr>
            <a:spLocks noGrp="1"/>
          </p:cNvSpPr>
          <p:nvPr/>
        </p:nvSpPr>
        <p:spPr>
          <a:xfrm>
            <a:off x="2286000" y="4181475"/>
            <a:ext cx="2314575" cy="60960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行A</a:t>
            </a:r>
          </a:p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M0@S0、M1@S1</a:t>
            </a:r>
          </a:p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M2@S2、M3@S3</a:t>
            </a:r>
          </a:p>
        </p:txBody>
      </p:sp>
      <p:sp>
        <p:nvSpPr>
          <p:cNvPr id="23" name="diagram-82">
            <a:extLst>
              <a:ext uri="{FF2B5EF4-FFF2-40B4-BE49-F238E27FC236}">
                <a16:creationId xmlns:a16="http://schemas.microsoft.com/office/drawing/2014/main" id="{A44CF236-28B6-4FFC-8BC3-178925125286}"/>
              </a:ext>
            </a:extLst>
          </p:cNvPr>
          <p:cNvSpPr>
            <a:spLocks noGrp="1"/>
          </p:cNvSpPr>
          <p:nvPr/>
        </p:nvSpPr>
        <p:spPr>
          <a:xfrm>
            <a:off x="4838700" y="4181475"/>
            <a:ext cx="2314575" cy="60960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行B</a:t>
            </a:r>
          </a:p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M4@S0、M5@S1</a:t>
            </a:r>
          </a:p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M6@S2、M7@S3</a:t>
            </a:r>
          </a:p>
        </p:txBody>
      </p:sp>
      <p:sp>
        <p:nvSpPr>
          <p:cNvPr id="24" name="txt-83">
            <a:extLst>
              <a:ext uri="{FF2B5EF4-FFF2-40B4-BE49-F238E27FC236}">
                <a16:creationId xmlns:a16="http://schemas.microsoft.com/office/drawing/2014/main" id="{4F01EFFD-E5E1-4A07-8301-E75AEDEBF132}"/>
              </a:ext>
            </a:extLst>
          </p:cNvPr>
          <p:cNvSpPr>
            <a:spLocks noGrp="1"/>
          </p:cNvSpPr>
          <p:nvPr/>
        </p:nvSpPr>
        <p:spPr>
          <a:xfrm>
            <a:off x="561975" y="512445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同行相同范围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Shared</a:t>
            </a:r>
          </a:p>
        </p:txBody>
      </p:sp>
      <p:sp>
        <p:nvSpPr>
          <p:cNvPr id="26" name="diagram-85">
            <a:extLst>
              <a:ext uri="{FF2B5EF4-FFF2-40B4-BE49-F238E27FC236}">
                <a16:creationId xmlns:a16="http://schemas.microsoft.com/office/drawing/2014/main" id="{B4A364DB-670A-40D3-A1DC-84D9299172CE}"/>
              </a:ext>
            </a:extLst>
          </p:cNvPr>
          <p:cNvSpPr>
            <a:spLocks noGrp="1"/>
          </p:cNvSpPr>
          <p:nvPr/>
        </p:nvSpPr>
        <p:spPr>
          <a:xfrm>
            <a:off x="2286000" y="5419725"/>
            <a:ext cx="2076450" cy="40957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M0、M1…M7</a:t>
            </a:r>
          </a:p>
        </p:txBody>
      </p:sp>
      <p:sp>
        <p:nvSpPr>
          <p:cNvPr id="27" name="diagram-86">
            <a:extLst>
              <a:ext uri="{FF2B5EF4-FFF2-40B4-BE49-F238E27FC236}">
                <a16:creationId xmlns:a16="http://schemas.microsoft.com/office/drawing/2014/main" id="{658F8E1B-AFEB-4655-BE01-43242C80F224}"/>
              </a:ext>
            </a:extLst>
          </p:cNvPr>
          <p:cNvSpPr>
            <a:spLocks noGrp="1"/>
          </p:cNvSpPr>
          <p:nvPr/>
        </p:nvSpPr>
        <p:spPr>
          <a:xfrm>
            <a:off x="4829175" y="5419725"/>
            <a:ext cx="2324100" cy="40957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共同访问行A的S0</a:t>
            </a:r>
          </a:p>
        </p:txBody>
      </p:sp>
      <p:cxnSp>
        <p:nvCxnSpPr>
          <p:cNvPr id="28" name="直接箭头连接符 62"/>
          <p:cNvCxnSpPr/>
          <p:nvPr/>
        </p:nvCxnSpPr>
        <p:spPr>
          <a:xfrm>
            <a:off x="4362450" y="5624513"/>
            <a:ext cx="4667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29" name="txt-87">
            <a:extLst>
              <a:ext uri="{FF2B5EF4-FFF2-40B4-BE49-F238E27FC236}">
                <a16:creationId xmlns:a16="http://schemas.microsoft.com/office/drawing/2014/main" id="{D98C15FB-ABE5-4122-85E3-BB88A9B1123E}"/>
              </a:ext>
            </a:extLst>
          </p:cNvPr>
          <p:cNvSpPr>
            <a:spLocks noGrp="1"/>
          </p:cNvSpPr>
          <p:nvPr/>
        </p:nvSpPr>
        <p:spPr>
          <a:xfrm>
            <a:off x="7820025" y="1647825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无合并基线</a:t>
            </a:r>
          </a:p>
        </p:txBody>
      </p:sp>
      <p:sp>
        <p:nvSpPr>
          <p:cNvPr id="30" name="txt-88">
            <a:extLst>
              <a:ext uri="{FF2B5EF4-FFF2-40B4-BE49-F238E27FC236}">
                <a16:creationId xmlns:a16="http://schemas.microsoft.com/office/drawing/2014/main" id="{2EA80D5C-34DE-4A23-A37C-E6ABACFE41D9}"/>
              </a:ext>
            </a:extLst>
          </p:cNvPr>
          <p:cNvSpPr>
            <a:spLocks noGrp="1"/>
          </p:cNvSpPr>
          <p:nvPr/>
        </p:nvSpPr>
        <p:spPr>
          <a:xfrm>
            <a:off x="7820025" y="2047875"/>
            <a:ext cx="39814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未命中时，128／256／512字节请求</a:t>
            </a:r>
          </a:p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对应4倍／2倍／1倍后端读取量。</a:t>
            </a:r>
          </a:p>
        </p:txBody>
      </p:sp>
      <p:sp>
        <p:nvSpPr>
          <p:cNvPr id="31" name="txt-89">
            <a:extLst>
              <a:ext uri="{FF2B5EF4-FFF2-40B4-BE49-F238E27FC236}">
                <a16:creationId xmlns:a16="http://schemas.microsoft.com/office/drawing/2014/main" id="{704C6CC2-454C-4683-A04D-023DE34F326D}"/>
              </a:ext>
            </a:extLst>
          </p:cNvPr>
          <p:cNvSpPr>
            <a:spLocks noGrp="1"/>
          </p:cNvSpPr>
          <p:nvPr/>
        </p:nvSpPr>
        <p:spPr>
          <a:xfrm>
            <a:off x="7820025" y="2781300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仅在请求端内部复用</a:t>
            </a:r>
          </a:p>
        </p:txBody>
      </p:sp>
      <p:sp>
        <p:nvSpPr>
          <p:cNvPr id="32" name="txt-90">
            <a:extLst>
              <a:ext uri="{FF2B5EF4-FFF2-40B4-BE49-F238E27FC236}">
                <a16:creationId xmlns:a16="http://schemas.microsoft.com/office/drawing/2014/main" id="{A1E8F0EB-CE9F-4BB3-92CF-2215A039125C}"/>
              </a:ext>
            </a:extLst>
          </p:cNvPr>
          <p:cNvSpPr>
            <a:spLocks noGrp="1"/>
          </p:cNvSpPr>
          <p:nvPr/>
        </p:nvSpPr>
        <p:spPr>
          <a:xfrm>
            <a:off x="7820025" y="3171825"/>
            <a:ext cx="39814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不同请求端使用独立窗口。</a:t>
            </a:r>
          </a:p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同一端的相邻请求可复用同一缓存行。</a:t>
            </a:r>
          </a:p>
        </p:txBody>
      </p:sp>
      <p:sp>
        <p:nvSpPr>
          <p:cNvPr id="33" name="txt-91">
            <a:extLst>
              <a:ext uri="{FF2B5EF4-FFF2-40B4-BE49-F238E27FC236}">
                <a16:creationId xmlns:a16="http://schemas.microsoft.com/office/drawing/2014/main" id="{08ACD4D1-8A6A-43CA-B140-D7D86F513D32}"/>
              </a:ext>
            </a:extLst>
          </p:cNvPr>
          <p:cNvSpPr>
            <a:spLocks noGrp="1"/>
          </p:cNvSpPr>
          <p:nvPr/>
        </p:nvSpPr>
        <p:spPr>
          <a:xfrm>
            <a:off x="7820025" y="3924300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一次读取，分段返回</a:t>
            </a:r>
          </a:p>
        </p:txBody>
      </p:sp>
      <p:sp>
        <p:nvSpPr>
          <p:cNvPr id="34" name="txt-92">
            <a:extLst>
              <a:ext uri="{FF2B5EF4-FFF2-40B4-BE49-F238E27FC236}">
                <a16:creationId xmlns:a16="http://schemas.microsoft.com/office/drawing/2014/main" id="{70D93B1B-00C0-4FB3-AFCC-5B43D4BFE148}"/>
              </a:ext>
            </a:extLst>
          </p:cNvPr>
          <p:cNvSpPr>
            <a:spLocks noGrp="1"/>
          </p:cNvSpPr>
          <p:nvPr/>
        </p:nvSpPr>
        <p:spPr>
          <a:xfrm>
            <a:off x="7820025" y="4314825"/>
            <a:ext cx="39814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一行数据服务不同范围的请求。请求覆盖整行时，不再有分段空间。</a:t>
            </a:r>
          </a:p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5" name="txt-93">
            <a:extLst>
              <a:ext uri="{FF2B5EF4-FFF2-40B4-BE49-F238E27FC236}">
                <a16:creationId xmlns:a16="http://schemas.microsoft.com/office/drawing/2014/main" id="{D5ED300D-4911-4063-BADA-F420519F14C9}"/>
              </a:ext>
            </a:extLst>
          </p:cNvPr>
          <p:cNvSpPr>
            <a:spLocks noGrp="1"/>
          </p:cNvSpPr>
          <p:nvPr/>
        </p:nvSpPr>
        <p:spPr>
          <a:xfrm>
            <a:off x="7820025" y="5067300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相同数据，多播共享</a:t>
            </a:r>
          </a:p>
        </p:txBody>
      </p:sp>
      <p:sp>
        <p:nvSpPr>
          <p:cNvPr id="36" name="txt-94">
            <a:extLst>
              <a:ext uri="{FF2B5EF4-FFF2-40B4-BE49-F238E27FC236}">
                <a16:creationId xmlns:a16="http://schemas.microsoft.com/office/drawing/2014/main" id="{88E8C7D8-BA61-40A5-96CB-55D086113E9B}"/>
              </a:ext>
            </a:extLst>
          </p:cNvPr>
          <p:cNvSpPr>
            <a:spLocks noGrp="1"/>
          </p:cNvSpPr>
          <p:nvPr/>
        </p:nvSpPr>
        <p:spPr>
          <a:xfrm>
            <a:off x="7820025" y="5457825"/>
            <a:ext cx="39814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HA合并同址等待请求，一份物理</a:t>
            </a:r>
          </a:p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DAT数据通过多播服务多个请求端。</a:t>
            </a:r>
          </a:p>
        </p:txBody>
      </p:sp>
      <p:sp>
        <p:nvSpPr>
          <p:cNvPr id="37" name="txt-95">
            <a:extLst>
              <a:ext uri="{FF2B5EF4-FFF2-40B4-BE49-F238E27FC236}">
                <a16:creationId xmlns:a16="http://schemas.microsoft.com/office/drawing/2014/main" id="{2897E338-818D-48C5-AFC4-859AE1B50FC0}"/>
              </a:ext>
            </a:extLst>
          </p:cNvPr>
          <p:cNvSpPr>
            <a:spLocks noGrp="1"/>
          </p:cNvSpPr>
          <p:nvPr/>
        </p:nvSpPr>
        <p:spPr>
          <a:xfrm>
            <a:off x="381000" y="6267450"/>
            <a:ext cx="11430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地址关系决定能否共享后端读取，以及采用分段返回还是多播分发。</a:t>
            </a:r>
          </a:p>
        </p:txBody>
      </p:sp>
      <p:sp>
        <p:nvSpPr>
          <p:cNvPr id="38" name="share-157">
            <a:extLst>
              <a:ext uri="{FF2B5EF4-FFF2-40B4-BE49-F238E27FC236}">
                <a16:creationId xmlns:a16="http://schemas.microsoft.com/office/drawing/2014/main" id="{BF4B58F7-18DD-4BAD-9282-CE49827E6FB2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  <p:clrMapOvr>
    <a:masterClrMapping/>
  </p:clrMapOvr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visual-18">
            <a:extLst xmlns:a="http://schemas.openxmlformats.org/drawingml/2006/main">
              <a:ext uri="{FF2B5EF4-FFF2-40B4-BE49-F238E27FC236}">
                <a16:creationId xmlns:a16="http://schemas.microsoft.com/office/drawing/2014/main" id="{506E05C9-0C48-41C9-AB20-53F4CD8D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统计口径：同一份数据可以完成多次交付</a:t>
            </a:r>
          </a:p>
        </p:txBody>
      </p:sp>
      <p:sp>
        <p:nvSpPr>
          <p:cNvPr id="2" name="visual-19">
            <a:extLst xmlns:a="http://schemas.openxmlformats.org/drawingml/2006/main">
              <a:ext uri="{FF2B5EF4-FFF2-40B4-BE49-F238E27FC236}">
                <a16:creationId xmlns:a16="http://schemas.microsoft.com/office/drawing/2014/main" id="{3A092CD5-6456-40AF-B17D-FB54F903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统计示例：一次512字节读取，向同一目标环上的4个核返回相同数据。此图为口径示意。</a:t>
            </a:r>
          </a:p>
        </p:txBody>
      </p:sp>
      <p:sp>
        <p:nvSpPr>
          <p:cNvPr id="3" name="visual-20">
            <a:extLst xmlns:a="http://schemas.openxmlformats.org/drawingml/2006/main">
              <a:ext uri="{FF2B5EF4-FFF2-40B4-BE49-F238E27FC236}">
                <a16:creationId xmlns:a16="http://schemas.microsoft.com/office/drawing/2014/main" id="{F4922485-2C63-492D-8B3E-DB17F31D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diagram-21">
            <a:extLst xmlns:a="http://schemas.openxmlformats.org/drawingml/2006/main">
              <a:ext uri="{FF2B5EF4-FFF2-40B4-BE49-F238E27FC236}">
                <a16:creationId xmlns:a16="http://schemas.microsoft.com/office/drawing/2014/main" id="{E2125534-E083-4F92-B00C-867EA2AA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后端读取</a:t>
            </a:r>
          </a:p>
        </p:txBody>
      </p:sp>
      <p:sp>
        <p:nvSpPr>
          <p:cNvPr id="5" name="diagram-22">
            <a:extLst xmlns:a="http://schemas.openxmlformats.org/drawingml/2006/main">
              <a:ext uri="{FF2B5EF4-FFF2-40B4-BE49-F238E27FC236}">
                <a16:creationId xmlns:a16="http://schemas.microsoft.com/office/drawing/2014/main" id="{92BEDC71-834A-4092-BADA-D24513C5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57500"/>
            <a:ext cx="2114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 / L2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合并并组织返回</a:t>
            </a:r>
          </a:p>
        </p:txBody>
      </p:sp>
      <p:sp>
        <p:nvSpPr>
          <p:cNvPr id="6" name="diagram-23">
            <a:extLst xmlns:a="http://schemas.openxmlformats.org/drawingml/2006/main">
              <a:ext uri="{FF2B5EF4-FFF2-40B4-BE49-F238E27FC236}">
                <a16:creationId xmlns:a16="http://schemas.microsoft.com/office/drawing/2014/main" id="{950C149A-1FB5-4E5A-83C1-1B105E7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857500"/>
            <a:ext cx="2133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目标V-Ring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多播分发</a:t>
            </a:r>
          </a:p>
        </p:txBody>
      </p: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47875" y="329565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5A11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10125" y="329565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9" name="diagram-24">
            <a:extLst xmlns:a="http://schemas.openxmlformats.org/drawingml/2006/main">
              <a:ext uri="{FF2B5EF4-FFF2-40B4-BE49-F238E27FC236}">
                <a16:creationId xmlns:a16="http://schemas.microsoft.com/office/drawing/2014/main" id="{B361D056-61C1-496D-9E62-1ED7674F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724025"/>
            <a:ext cx="2038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计算核0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591425" y="2081213"/>
            <a:ext cx="139065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11" name="diagram-25">
            <a:extLst xmlns:a="http://schemas.openxmlformats.org/drawingml/2006/main">
              <a:ext uri="{FF2B5EF4-FFF2-40B4-BE49-F238E27FC236}">
                <a16:creationId xmlns:a16="http://schemas.microsoft.com/office/drawing/2014/main" id="{247B2305-5DE2-4E8A-A091-E23D4452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81300"/>
            <a:ext cx="2038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计算核1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591425" y="3138488"/>
            <a:ext cx="1390650" cy="1571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13" name="diagram-26">
            <a:extLst xmlns:a="http://schemas.openxmlformats.org/drawingml/2006/main">
              <a:ext uri="{FF2B5EF4-FFF2-40B4-BE49-F238E27FC236}">
                <a16:creationId xmlns:a16="http://schemas.microsoft.com/office/drawing/2014/main" id="{CB129658-7D32-403E-A9CC-BBEBE25D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38575"/>
            <a:ext cx="2038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计算核2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591425" y="3295650"/>
            <a:ext cx="1390650" cy="9001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15" name="diagram-27">
            <a:extLst xmlns:a="http://schemas.openxmlformats.org/drawingml/2006/main">
              <a:ext uri="{FF2B5EF4-FFF2-40B4-BE49-F238E27FC236}">
                <a16:creationId xmlns:a16="http://schemas.microsoft.com/office/drawing/2014/main" id="{09CBFA00-679A-4141-9FD6-71C1DC7F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95850"/>
            <a:ext cx="2038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计算核3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91425" y="3295650"/>
            <a:ext cx="1390650" cy="1957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17" name="visual-28">
            <a:extLst xmlns:a="http://schemas.openxmlformats.org/drawingml/2006/main">
              <a:ext uri="{FF2B5EF4-FFF2-40B4-BE49-F238E27FC236}">
                <a16:creationId xmlns:a16="http://schemas.microsoft.com/office/drawing/2014/main" id="{72FA60CB-8DBC-45D3-BBD9-4BD495B5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17716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物理读取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sp>
        <p:nvSpPr>
          <p:cNvPr id="18" name="visual-29">
            <a:extLst xmlns:a="http://schemas.openxmlformats.org/drawingml/2006/main">
              <a:ext uri="{FF2B5EF4-FFF2-40B4-BE49-F238E27FC236}">
                <a16:creationId xmlns:a16="http://schemas.microsoft.com/office/drawing/2014/main" id="{F2EFEA9F-0A42-4249-93EF-EFE4A985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95750"/>
            <a:ext cx="21526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L2注入DAT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sp>
        <p:nvSpPr>
          <p:cNvPr id="19" name="visual-30">
            <a:extLst xmlns:a="http://schemas.openxmlformats.org/drawingml/2006/main">
              <a:ext uri="{FF2B5EF4-FFF2-40B4-BE49-F238E27FC236}">
                <a16:creationId xmlns:a16="http://schemas.microsoft.com/office/drawing/2014/main" id="{86BE1BD1-B94F-4F58-BE60-57958B57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029325"/>
            <a:ext cx="4238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有效完成量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4 × 512 = 2048字节</a:t>
            </a:r>
          </a:p>
        </p:txBody>
      </p:sp>
      <p:sp>
        <p:nvSpPr>
          <p:cNvPr id="20" name="line-31">
            <a:extLst xmlns:a="http://schemas.openxmlformats.org/drawingml/2006/main">
              <a:ext uri="{FF2B5EF4-FFF2-40B4-BE49-F238E27FC236}">
                <a16:creationId xmlns:a16="http://schemas.microsoft.com/office/drawing/2014/main" id="{0D5F51C6-2991-430F-9008-2514A408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578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21" name="visual-32">
            <a:extLst xmlns:a="http://schemas.openxmlformats.org/drawingml/2006/main">
              <a:ext uri="{FF2B5EF4-FFF2-40B4-BE49-F238E27FC236}">
                <a16:creationId xmlns:a16="http://schemas.microsoft.com/office/drawing/2014/main" id="{08C3F1AC-92D9-4165-A65B-7BDE0C7F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00750"/>
            <a:ext cx="701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带宽 = 对应边界的字节数 ÷ 统一统计窗口</a:t>
            </a:r>
          </a:p>
        </p:txBody>
      </p:sp>
      <p:sp>
        <p:nvSpPr>
          <p:cNvPr id="22" name="visual-33">
            <a:extLst xmlns:a="http://schemas.openxmlformats.org/drawingml/2006/main">
              <a:ext uri="{FF2B5EF4-FFF2-40B4-BE49-F238E27FC236}">
                <a16:creationId xmlns:a16="http://schemas.microsoft.com/office/drawing/2014/main" id="{572B77DA-A45A-4D5A-B0AC-322E5D4E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96050"/>
            <a:ext cx="1109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REQ / DAT包数按逐链路传输累计，另看P99延迟衡量尾部等待。</a:t>
            </a:r>
          </a:p>
        </p:txBody>
      </p:sp>
    </p:spTree>
    <p:extLst>
      <p:ext uri="{BB962C8B-B14F-4D97-AF65-F5344CB8AC3E}">
        <p14:creationId xmlns:p14="http://schemas.microsoft.com/office/powerpoint/2010/main" val="1922995437"/>
      </p:ext>
    </p:extLst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7675" y="1657350"/>
            <a:ext cx="5438775" cy="3327251"/>
          </a:xfrm>
          <a:prstGeom prst="rect">
            <a:avLst/>
          </a:prstGeom>
        </p:spPr>
      </p:pic>
      <p:pic>
        <p:nvPicPr>
          <p:cNvPr id="3" name="图片 4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05550" y="1657350"/>
            <a:ext cx="5438775" cy="3327250"/>
          </a:xfrm>
          <a:prstGeom prst="rect">
            <a:avLst/>
          </a:prstGeom>
        </p:spPr>
      </p:pic>
      <p:sp>
        <p:nvSpPr>
          <p:cNvPr id="4" name="exp-text-1">
            <a:extLst>
              <a:ext uri="{FF2B5EF4-FFF2-40B4-BE49-F238E27FC236}">
                <a16:creationId xmlns:a16="http://schemas.microsoft.com/office/drawing/2014/main" id="{5FDECE33-D20C-4AA1-ADD5-D7444329D71F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命中率扫描：吞吐收益存在平台区间</a:t>
            </a:r>
          </a:p>
        </p:txBody>
      </p:sp>
      <p:sp>
        <p:nvSpPr>
          <p:cNvPr id="5" name="exp-text-2">
            <a:extLst>
              <a:ext uri="{FF2B5EF4-FFF2-40B4-BE49-F238E27FC236}">
                <a16:creationId xmlns:a16="http://schemas.microsoft.com/office/drawing/2014/main" id="{0C8C95FE-AB0B-49C1-8FA2-A41FDD8D0707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11430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实验条件：请求大小256字节，比较四种地址模式。</a:t>
            </a:r>
          </a:p>
        </p:txBody>
      </p:sp>
      <p:sp>
        <p:nvSpPr>
          <p:cNvPr id="6" name="exp-text-3">
            <a:extLst>
              <a:ext uri="{FF2B5EF4-FFF2-40B4-BE49-F238E27FC236}">
                <a16:creationId xmlns:a16="http://schemas.microsoft.com/office/drawing/2014/main" id="{4F32480E-A24B-483E-B071-F56C1F0BF63D}"/>
              </a:ext>
            </a:extLst>
          </p:cNvPr>
          <p:cNvSpPr>
            <a:spLocks noGrp="1"/>
          </p:cNvSpPr>
          <p:nvPr/>
        </p:nvSpPr>
        <p:spPr>
          <a:xfrm>
            <a:off x="381000" y="127635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端到端有效带宽</a:t>
            </a:r>
          </a:p>
        </p:txBody>
      </p:sp>
      <p:sp>
        <p:nvSpPr>
          <p:cNvPr id="7" name="exp-text-4">
            <a:extLst>
              <a:ext uri="{FF2B5EF4-FFF2-40B4-BE49-F238E27FC236}">
                <a16:creationId xmlns:a16="http://schemas.microsoft.com/office/drawing/2014/main" id="{3EA51185-5143-47CE-A331-736AAE537AF7}"/>
              </a:ext>
            </a:extLst>
          </p:cNvPr>
          <p:cNvSpPr>
            <a:spLocks noGrp="1"/>
          </p:cNvSpPr>
          <p:nvPr/>
        </p:nvSpPr>
        <p:spPr>
          <a:xfrm>
            <a:off x="6238875" y="127635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HBM物理带宽</a:t>
            </a:r>
          </a:p>
        </p:txBody>
      </p:sp>
      <p:sp>
        <p:nvSpPr>
          <p:cNvPr id="8" name="exp-frame-5">
            <a:extLst>
              <a:ext uri="{FF2B5EF4-FFF2-40B4-BE49-F238E27FC236}">
                <a16:creationId xmlns:a16="http://schemas.microsoft.com/office/drawing/2014/main" id="{5A5FB09E-F2E2-4F68-A4BD-F8E2FE5B8044}"/>
              </a:ext>
            </a:extLst>
          </p:cNvPr>
          <p:cNvSpPr>
            <a:spLocks noGrp="1"/>
          </p:cNvSpPr>
          <p:nvPr/>
        </p:nvSpPr>
        <p:spPr>
          <a:xfrm>
            <a:off x="381000" y="1647825"/>
            <a:ext cx="5572125" cy="3343275"/>
          </a:xfrm>
          <a:prstGeom prst="rect">
            <a:avLst/>
          </a:prstGeom>
          <a:noFill/>
          <a:ln w="13335">
            <a:solidFill>
              <a:srgbClr val="10286B"/>
            </a:solidFill>
            <a:prstDash val="solid"/>
          </a:ln>
        </p:spPr>
      </p:sp>
      <p:sp>
        <p:nvSpPr>
          <p:cNvPr id="9" name="exp-frame-6">
            <a:extLst>
              <a:ext uri="{FF2B5EF4-FFF2-40B4-BE49-F238E27FC236}">
                <a16:creationId xmlns:a16="http://schemas.microsoft.com/office/drawing/2014/main" id="{0554A1C8-AEED-49EC-9315-26BE85080135}"/>
              </a:ext>
            </a:extLst>
          </p:cNvPr>
          <p:cNvSpPr>
            <a:spLocks noGrp="1"/>
          </p:cNvSpPr>
          <p:nvPr/>
        </p:nvSpPr>
        <p:spPr>
          <a:xfrm>
            <a:off x="6238875" y="1647825"/>
            <a:ext cx="5572125" cy="3343275"/>
          </a:xfrm>
          <a:prstGeom prst="rect">
            <a:avLst/>
          </a:prstGeom>
          <a:noFill/>
          <a:ln w="13335">
            <a:solidFill>
              <a:srgbClr val="10286B"/>
            </a:solidFill>
            <a:prstDash val="solid"/>
          </a:ln>
        </p:spPr>
      </p:sp>
      <p:sp>
        <p:nvSpPr>
          <p:cNvPr id="10" name="exp-text-7">
            <a:extLst>
              <a:ext uri="{FF2B5EF4-FFF2-40B4-BE49-F238E27FC236}">
                <a16:creationId xmlns:a16="http://schemas.microsoft.com/office/drawing/2014/main" id="{140EACCD-617F-4E8D-AF1D-3FDCF1315466}"/>
              </a:ext>
            </a:extLst>
          </p:cNvPr>
          <p:cNvSpPr>
            <a:spLocks noGrp="1"/>
          </p:cNvSpPr>
          <p:nvPr/>
        </p:nvSpPr>
        <p:spPr>
          <a:xfrm>
            <a:off x="381000" y="521970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NoMerge在约50%后接近平台区间</a:t>
            </a:r>
          </a:p>
        </p:txBody>
      </p:sp>
      <p:sp>
        <p:nvSpPr>
          <p:cNvPr id="11" name="exp-text-8">
            <a:extLst>
              <a:ext uri="{FF2B5EF4-FFF2-40B4-BE49-F238E27FC236}">
                <a16:creationId xmlns:a16="http://schemas.microsoft.com/office/drawing/2014/main" id="{366B95E1-0371-4F5F-97F3-55889B7EFC52}"/>
              </a:ext>
            </a:extLst>
          </p:cNvPr>
          <p:cNvSpPr>
            <a:spLocks noGrp="1"/>
          </p:cNvSpPr>
          <p:nvPr/>
        </p:nvSpPr>
        <p:spPr>
          <a:xfrm>
            <a:off x="381000" y="5619750"/>
            <a:ext cx="557212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NoMerge由307提升至约500</a:t>
            </a:r>
            <a:r>
              <a:rPr lang="en-US" altLang="zh-CN" sz="1538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538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周期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50%之后继续提高命中率，吞吐收益明显收窄。</a:t>
            </a:r>
          </a:p>
        </p:txBody>
      </p:sp>
      <p:sp>
        <p:nvSpPr>
          <p:cNvPr id="12" name="exp-text-9">
            <a:extLst>
              <a:ext uri="{FF2B5EF4-FFF2-40B4-BE49-F238E27FC236}">
                <a16:creationId xmlns:a16="http://schemas.microsoft.com/office/drawing/2014/main" id="{F53AAABD-6654-47C8-B883-1D6558C1FDFD}"/>
              </a:ext>
            </a:extLst>
          </p:cNvPr>
          <p:cNvSpPr>
            <a:spLocks noGrp="1"/>
          </p:cNvSpPr>
          <p:nvPr/>
        </p:nvSpPr>
        <p:spPr>
          <a:xfrm>
            <a:off x="6238875" y="521970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全命中消除后端读取流量</a:t>
            </a:r>
          </a:p>
        </p:txBody>
      </p:sp>
      <p:sp>
        <p:nvSpPr>
          <p:cNvPr id="13" name="exp-text-10">
            <a:extLst>
              <a:ext uri="{FF2B5EF4-FFF2-40B4-BE49-F238E27FC236}">
                <a16:creationId xmlns:a16="http://schemas.microsoft.com/office/drawing/2014/main" id="{AF944B52-F86B-4301-857B-C71C97CC080E}"/>
              </a:ext>
            </a:extLst>
          </p:cNvPr>
          <p:cNvSpPr>
            <a:spLocks noGrp="1"/>
          </p:cNvSpPr>
          <p:nvPr/>
        </p:nvSpPr>
        <p:spPr>
          <a:xfrm>
            <a:off x="6238875" y="5619750"/>
            <a:ext cx="557212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100%命中时，各模式的HBM带宽均降为零。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中低命中区间不完全单调，不能仅按命中率线性估算。</a:t>
            </a:r>
          </a:p>
        </p:txBody>
      </p:sp>
      <p:sp>
        <p:nvSpPr>
          <p:cNvPr id="14" name="exp-text-11">
            <a:extLst>
              <a:ext uri="{FF2B5EF4-FFF2-40B4-BE49-F238E27FC236}">
                <a16:creationId xmlns:a16="http://schemas.microsoft.com/office/drawing/2014/main" id="{AEE0E91B-9934-4AC8-BBED-0486570AE71A}"/>
              </a:ext>
            </a:extLst>
          </p:cNvPr>
          <p:cNvSpPr>
            <a:spLocks noGrp="1"/>
          </p:cNvSpPr>
          <p:nvPr/>
        </p:nvSpPr>
        <p:spPr>
          <a:xfrm>
            <a:off x="381000" y="6429375"/>
            <a:ext cx="11430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分析含义：吞吐进入平台区间后，应结合PMU检查返回路径，不能仅据曲线锁定瓶颈。</a:t>
            </a:r>
          </a:p>
        </p:txBody>
      </p:sp>
      <p:sp>
        <p:nvSpPr>
          <p:cNvPr id="15" name="share-76">
            <a:extLst>
              <a:ext uri="{FF2B5EF4-FFF2-40B4-BE49-F238E27FC236}">
                <a16:creationId xmlns:a16="http://schemas.microsoft.com/office/drawing/2014/main" id="{8A17C651-7CDE-4157-AF4C-6DF89C7FF24B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  <p:clrMapOvr>
    <a:masterClrMapping/>
  </p:clrMapOvr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77">
            <a:extLst xmlns:a="http://schemas.openxmlformats.org/drawingml/2006/main">
              <a:ext uri="{FF2B5EF4-FFF2-40B4-BE49-F238E27FC236}">
                <a16:creationId xmlns:a16="http://schemas.microsoft.com/office/drawing/2014/main" id="{60C14C83-9934-4DFD-BDB0-366C86BF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并发度扫描：吞吐与尾延迟的取舍</a:t>
            </a:r>
          </a:p>
        </p:txBody>
      </p:sp>
      <p:sp>
        <p:nvSpPr>
          <p:cNvPr id="3" name="share-78">
            <a:extLst xmlns:a="http://schemas.openxmlformats.org/drawingml/2006/main">
              <a:ext uri="{FF2B5EF4-FFF2-40B4-BE49-F238E27FC236}">
                <a16:creationId xmlns:a16="http://schemas.microsoft.com/office/drawing/2014/main" id="{853AA35D-D1BF-4AEE-B28D-7F06A79C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独立缓存行模式，256字节请求，配置命中率0%。并发度为每核上限。</a:t>
            </a:r>
          </a:p>
        </p:txBody>
      </p:sp>
      <p:sp>
        <p:nvSpPr>
          <p:cNvPr id="4" name="share-79">
            <a:extLst xmlns:a="http://schemas.openxmlformats.org/drawingml/2006/main">
              <a:ext uri="{FF2B5EF4-FFF2-40B4-BE49-F238E27FC236}">
                <a16:creationId xmlns:a16="http://schemas.microsoft.com/office/drawing/2014/main" id="{BF2BA4BA-7B08-40AB-8334-2CA25EA2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1447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有效带宽与后端读取带宽</a:t>
            </a:r>
          </a:p>
        </p:txBody>
      </p:sp>
      <p:sp>
        <p:nvSpPr>
          <p:cNvPr id="5" name="share-80">
            <a:extLst xmlns:a="http://schemas.openxmlformats.org/drawingml/2006/main">
              <a:ext uri="{FF2B5EF4-FFF2-40B4-BE49-F238E27FC236}">
                <a16:creationId xmlns:a16="http://schemas.microsoft.com/office/drawing/2014/main" id="{E02E48BB-74FD-49AF-8D7C-F61E7876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514475"/>
            <a:ext cx="3933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饱和区间的关键点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839075" y="2028825"/>
          <a:ext xmlns:a="http://schemas.openxmlformats.org/drawingml/2006/main" cx="3971925" cy="2438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14450"/>
                <a:gridCol w="1390650"/>
                <a:gridCol w="1266825"/>
              </a:tblGrid>
              <a:tr h="5238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每核并发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有效带宽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P99周期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6381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391.75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488.88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1346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478.80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re-81">
            <a:extLst xmlns:a="http://schemas.openxmlformats.org/drawingml/2006/main">
              <a:ext uri="{FF2B5EF4-FFF2-40B4-BE49-F238E27FC236}">
                <a16:creationId xmlns:a16="http://schemas.microsoft.com/office/drawing/2014/main" id="{432E7CAF-B39C-4FBE-9248-30FEF4A0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61962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带宽单位：字节/周期</a:t>
            </a:r>
          </a:p>
        </p:txBody>
      </p:sp>
      <p:sp>
        <p:nvSpPr>
          <p:cNvPr id="8" name="share-82">
            <a:extLst xmlns:a="http://schemas.openxmlformats.org/drawingml/2006/main">
              <a:ext uri="{FF2B5EF4-FFF2-40B4-BE49-F238E27FC236}">
                <a16:creationId xmlns:a16="http://schemas.microsoft.com/office/drawing/2014/main" id="{17CE6FCE-FA40-4D41-A824-B7E2ABB3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133975"/>
            <a:ext cx="394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256增至512</a:t>
            </a:r>
          </a:p>
        </p:txBody>
      </p:sp>
      <p:sp>
        <p:nvSpPr>
          <p:cNvPr id="9" name="share-83">
            <a:extLst xmlns:a="http://schemas.openxmlformats.org/drawingml/2006/main">
              <a:ext uri="{FF2B5EF4-FFF2-40B4-BE49-F238E27FC236}">
                <a16:creationId xmlns:a16="http://schemas.microsoft.com/office/drawing/2014/main" id="{67EE0CFC-EFFB-4B40-9262-D4CC96C4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600700"/>
            <a:ext cx="39433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吞吐回落约2.1%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P99延迟增至约2.55倍</a:t>
            </a:r>
          </a:p>
        </p:txBody>
      </p:sp>
      <p:sp>
        <p:nvSpPr>
          <p:cNvPr id="10" name="share-84">
            <a:extLst xmlns:a="http://schemas.openxmlformats.org/drawingml/2006/main">
              <a:ext uri="{FF2B5EF4-FFF2-40B4-BE49-F238E27FC236}">
                <a16:creationId xmlns:a16="http://schemas.microsoft.com/office/drawing/2014/main" id="{3BBFEED5-7739-4332-8ABB-941ED0DF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参数含义：256是吞吐候选点。是否选用，还要结合尾延迟、资源开销和目标负载。</a:t>
            </a:r>
          </a:p>
        </p:txBody>
      </p:sp>
      <p:sp>
        <p:nvSpPr>
          <p:cNvPr id="11" name="share-85">
            <a:extLst xmlns:a="http://schemas.openxmlformats.org/drawingml/2006/main">
              <a:ext uri="{FF2B5EF4-FFF2-40B4-BE49-F238E27FC236}">
                <a16:creationId xmlns:a16="http://schemas.microsoft.com/office/drawing/2014/main" id="{C1DFA008-D9E2-4A63-8112-F0B2B1BB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 xmlns:a="http://schemas.openxmlformats.org/drawingml/2006/main" xmlns:r="http://schemas.openxmlformats.org/officeDocument/2006/relationships">
        <p:nvPicPr>
          <p:cNvPr id="12" name="图片 14"/>
          <p:cNvPicPr>
            <a:picLocks noChangeAspect="1"/>
          </p:cNvPicPr>
          <p:nvPr/>
        </p:nvPicPr>
        <p:blipFill>
          <a:blip r:embed="rIdCopy17_0_1"/>
          <a:stretch/>
        </p:blipFill>
        <p:spPr>
          <a:xfrm>
            <a:off x="381000" y="1933575"/>
            <a:ext cx="6953250" cy="425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80807"/>
      </p:ext>
    </p:extLst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7675" y="1657350"/>
            <a:ext cx="5438775" cy="3327251"/>
          </a:xfrm>
          <a:prstGeom prst="rect">
            <a:avLst/>
          </a:prstGeom>
        </p:spPr>
      </p:pic>
      <p:pic>
        <p:nvPicPr>
          <p:cNvPr id="3" name="图片 4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05550" y="1657350"/>
            <a:ext cx="5438775" cy="3327250"/>
          </a:xfrm>
          <a:prstGeom prst="rect">
            <a:avLst/>
          </a:prstGeom>
        </p:spPr>
      </p:pic>
      <p:sp>
        <p:nvSpPr>
          <p:cNvPr id="4" name="exp-text-23">
            <a:extLst>
              <a:ext uri="{FF2B5EF4-FFF2-40B4-BE49-F238E27FC236}">
                <a16:creationId xmlns:a16="http://schemas.microsoft.com/office/drawing/2014/main" id="{DB9C212E-918F-43BF-8119-A71023AA4C0D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请求粒度：读取放大与共享收益</a:t>
            </a:r>
          </a:p>
        </p:txBody>
      </p:sp>
      <p:sp>
        <p:nvSpPr>
          <p:cNvPr id="5" name="exp-text-24">
            <a:extLst>
              <a:ext uri="{FF2B5EF4-FFF2-40B4-BE49-F238E27FC236}">
                <a16:creationId xmlns:a16="http://schemas.microsoft.com/office/drawing/2014/main" id="{3DCF6EF3-3F32-496D-8933-6DB697BC12D5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11430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实验条件：L2命中率0%，并发深度128，请求大小为128／256／512字节。</a:t>
            </a:r>
          </a:p>
        </p:txBody>
      </p:sp>
      <p:sp>
        <p:nvSpPr>
          <p:cNvPr id="6" name="exp-text-25">
            <a:extLst>
              <a:ext uri="{FF2B5EF4-FFF2-40B4-BE49-F238E27FC236}">
                <a16:creationId xmlns:a16="http://schemas.microsoft.com/office/drawing/2014/main" id="{525D3296-4493-49AB-88C7-E35B0D0A2F8F}"/>
              </a:ext>
            </a:extLst>
          </p:cNvPr>
          <p:cNvSpPr>
            <a:spLocks noGrp="1"/>
          </p:cNvSpPr>
          <p:nvPr/>
        </p:nvSpPr>
        <p:spPr>
          <a:xfrm>
            <a:off x="381000" y="127635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端到端有效带宽</a:t>
            </a:r>
          </a:p>
        </p:txBody>
      </p:sp>
      <p:sp>
        <p:nvSpPr>
          <p:cNvPr id="7" name="exp-text-26">
            <a:extLst>
              <a:ext uri="{FF2B5EF4-FFF2-40B4-BE49-F238E27FC236}">
                <a16:creationId xmlns:a16="http://schemas.microsoft.com/office/drawing/2014/main" id="{8B4AB444-DC1D-4A62-A52D-34D9FFE4A930}"/>
              </a:ext>
            </a:extLst>
          </p:cNvPr>
          <p:cNvSpPr>
            <a:spLocks noGrp="1"/>
          </p:cNvSpPr>
          <p:nvPr/>
        </p:nvSpPr>
        <p:spPr>
          <a:xfrm>
            <a:off x="6238875" y="127635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HBM物理带宽</a:t>
            </a:r>
          </a:p>
        </p:txBody>
      </p:sp>
      <p:sp>
        <p:nvSpPr>
          <p:cNvPr id="8" name="exp-frame-27">
            <a:extLst>
              <a:ext uri="{FF2B5EF4-FFF2-40B4-BE49-F238E27FC236}">
                <a16:creationId xmlns:a16="http://schemas.microsoft.com/office/drawing/2014/main" id="{3D976F7D-B7B2-4824-A7C0-12D7B2BCA807}"/>
              </a:ext>
            </a:extLst>
          </p:cNvPr>
          <p:cNvSpPr>
            <a:spLocks noGrp="1"/>
          </p:cNvSpPr>
          <p:nvPr/>
        </p:nvSpPr>
        <p:spPr>
          <a:xfrm>
            <a:off x="381000" y="1647825"/>
            <a:ext cx="5572125" cy="3343275"/>
          </a:xfrm>
          <a:prstGeom prst="rect">
            <a:avLst/>
          </a:prstGeom>
          <a:noFill/>
          <a:ln w="13335">
            <a:solidFill>
              <a:srgbClr val="10286B"/>
            </a:solidFill>
            <a:prstDash val="solid"/>
          </a:ln>
        </p:spPr>
      </p:sp>
      <p:sp>
        <p:nvSpPr>
          <p:cNvPr id="9" name="exp-frame-28">
            <a:extLst>
              <a:ext uri="{FF2B5EF4-FFF2-40B4-BE49-F238E27FC236}">
                <a16:creationId xmlns:a16="http://schemas.microsoft.com/office/drawing/2014/main" id="{DCD92544-397B-45DA-A927-E887CECEBF12}"/>
              </a:ext>
            </a:extLst>
          </p:cNvPr>
          <p:cNvSpPr>
            <a:spLocks noGrp="1"/>
          </p:cNvSpPr>
          <p:nvPr/>
        </p:nvSpPr>
        <p:spPr>
          <a:xfrm>
            <a:off x="6238875" y="1647825"/>
            <a:ext cx="5572125" cy="3343275"/>
          </a:xfrm>
          <a:prstGeom prst="rect">
            <a:avLst/>
          </a:prstGeom>
          <a:noFill/>
          <a:ln w="13335">
            <a:solidFill>
              <a:srgbClr val="10286B"/>
            </a:solidFill>
            <a:prstDash val="solid"/>
          </a:ln>
        </p:spPr>
      </p:sp>
      <p:sp>
        <p:nvSpPr>
          <p:cNvPr id="10" name="exp-text-29">
            <a:extLst>
              <a:ext uri="{FF2B5EF4-FFF2-40B4-BE49-F238E27FC236}">
                <a16:creationId xmlns:a16="http://schemas.microsoft.com/office/drawing/2014/main" id="{FD7516F3-E97F-43A4-BAF1-2FA95B244CAD}"/>
              </a:ext>
            </a:extLst>
          </p:cNvPr>
          <p:cNvSpPr>
            <a:spLocks noGrp="1"/>
          </p:cNvSpPr>
          <p:nvPr/>
        </p:nvSpPr>
        <p:spPr>
          <a:xfrm>
            <a:off x="381000" y="521970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本组连续访问受益于更大请求</a:t>
            </a:r>
          </a:p>
        </p:txBody>
      </p:sp>
      <p:sp>
        <p:nvSpPr>
          <p:cNvPr id="11" name="exp-text-30">
            <a:extLst>
              <a:ext uri="{FF2B5EF4-FFF2-40B4-BE49-F238E27FC236}">
                <a16:creationId xmlns:a16="http://schemas.microsoft.com/office/drawing/2014/main" id="{C3E2FD3D-FA34-4035-A5E1-833C62AE321D}"/>
              </a:ext>
            </a:extLst>
          </p:cNvPr>
          <p:cNvSpPr>
            <a:spLocks noGrp="1"/>
          </p:cNvSpPr>
          <p:nvPr/>
        </p:nvSpPr>
        <p:spPr>
          <a:xfrm>
            <a:off x="381000" y="5619750"/>
            <a:ext cx="557212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NoMerge随请求增大而提升，512字节时与Private重合。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Shared在512字节时达到890</a:t>
            </a:r>
            <a:r>
              <a:rPr lang="en-US" altLang="zh-CN" sz="1538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538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周期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2" name="exp-text-31">
            <a:extLst>
              <a:ext uri="{FF2B5EF4-FFF2-40B4-BE49-F238E27FC236}">
                <a16:creationId xmlns:a16="http://schemas.microsoft.com/office/drawing/2014/main" id="{4073BCE5-4B5B-4A75-9C83-EB4753E10BFB}"/>
              </a:ext>
            </a:extLst>
          </p:cNvPr>
          <p:cNvSpPr>
            <a:spLocks noGrp="1"/>
          </p:cNvSpPr>
          <p:nvPr/>
        </p:nvSpPr>
        <p:spPr>
          <a:xfrm>
            <a:off x="6238875" y="521970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整行读取放大逐步收敛</a:t>
            </a:r>
          </a:p>
        </p:txBody>
      </p:sp>
      <p:sp>
        <p:nvSpPr>
          <p:cNvPr id="13" name="exp-text-32">
            <a:extLst>
              <a:ext uri="{FF2B5EF4-FFF2-40B4-BE49-F238E27FC236}">
                <a16:creationId xmlns:a16="http://schemas.microsoft.com/office/drawing/2014/main" id="{C229FC8D-AD4A-465B-947D-24401FD3F237}"/>
              </a:ext>
            </a:extLst>
          </p:cNvPr>
          <p:cNvSpPr>
            <a:spLocks noGrp="1"/>
          </p:cNvSpPr>
          <p:nvPr/>
        </p:nvSpPr>
        <p:spPr>
          <a:xfrm>
            <a:off x="6238875" y="5619750"/>
            <a:ext cx="557212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NoMerge的HBM／有效字节比由4倍降至2倍、1倍。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Shared同时维持较低HBM流量和较高有效带宽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exp-text-33">
            <a:extLst>
              <a:ext uri="{FF2B5EF4-FFF2-40B4-BE49-F238E27FC236}">
                <a16:creationId xmlns:a16="http://schemas.microsoft.com/office/drawing/2014/main" id="{B574DE23-7E65-4387-A5C9-02E2F1D643C3}"/>
              </a:ext>
            </a:extLst>
          </p:cNvPr>
          <p:cNvSpPr>
            <a:spLocks noGrp="1"/>
          </p:cNvSpPr>
          <p:nvPr/>
        </p:nvSpPr>
        <p:spPr>
          <a:xfrm>
            <a:off x="381000" y="6429375"/>
            <a:ext cx="11430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参数含义：结合有效数据范围选择请求大小，稀疏访问还需评估无效搬运与占用时间。</a:t>
            </a:r>
          </a:p>
        </p:txBody>
      </p:sp>
      <p:sp>
        <p:nvSpPr>
          <p:cNvPr id="15" name="share-86">
            <a:extLst>
              <a:ext uri="{FF2B5EF4-FFF2-40B4-BE49-F238E27FC236}">
                <a16:creationId xmlns:a16="http://schemas.microsoft.com/office/drawing/2014/main" id="{42D5F90C-C2D1-4AA8-8EA7-03C58EA1229A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" y="1400175"/>
            <a:ext cx="6696075" cy="5095875"/>
          </a:xfrm>
          <a:prstGeom prst="rect">
            <a:avLst/>
          </a:prstGeom>
        </p:spPr>
      </p:pic>
      <p:sp>
        <p:nvSpPr>
          <p:cNvPr id="3" name="exp-text-34">
            <a:extLst>
              <a:ext uri="{FF2B5EF4-FFF2-40B4-BE49-F238E27FC236}">
                <a16:creationId xmlns:a16="http://schemas.microsoft.com/office/drawing/2014/main" id="{7933FECD-8915-4FEE-9D13-4A19C0EA613D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流量分析：传输次数与数据复用</a:t>
            </a:r>
          </a:p>
        </p:txBody>
      </p:sp>
      <p:sp>
        <p:nvSpPr>
          <p:cNvPr id="4" name="exp-text-35">
            <a:extLst>
              <a:ext uri="{FF2B5EF4-FFF2-40B4-BE49-F238E27FC236}">
                <a16:creationId xmlns:a16="http://schemas.microsoft.com/office/drawing/2014/main" id="{FB48528A-9CF7-443B-9B8F-45B359C65925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11430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配置命中率0%，每核并发128。图中包数为逐链路累计传输次数，包含多跳和绕行。</a:t>
            </a:r>
          </a:p>
        </p:txBody>
      </p:sp>
      <p:sp>
        <p:nvSpPr>
          <p:cNvPr id="5" name="exp-frame-36">
            <a:extLst>
              <a:ext uri="{FF2B5EF4-FFF2-40B4-BE49-F238E27FC236}">
                <a16:creationId xmlns:a16="http://schemas.microsoft.com/office/drawing/2014/main" id="{C657AB71-65B7-4086-A8B0-E05B656D13C3}"/>
              </a:ext>
            </a:extLst>
          </p:cNvPr>
          <p:cNvSpPr>
            <a:spLocks noGrp="1"/>
          </p:cNvSpPr>
          <p:nvPr/>
        </p:nvSpPr>
        <p:spPr>
          <a:xfrm>
            <a:off x="381000" y="1333500"/>
            <a:ext cx="7048500" cy="5267325"/>
          </a:xfrm>
          <a:prstGeom prst="rect">
            <a:avLst/>
          </a:prstGeom>
          <a:noFill/>
          <a:ln w="13335">
            <a:solidFill>
              <a:srgbClr val="10286B"/>
            </a:solidFill>
            <a:prstDash val="solid"/>
          </a:ln>
        </p:spPr>
      </p:sp>
      <p:sp>
        <p:nvSpPr>
          <p:cNvPr id="6" name="exp-text-37">
            <a:extLst>
              <a:ext uri="{FF2B5EF4-FFF2-40B4-BE49-F238E27FC236}">
                <a16:creationId xmlns:a16="http://schemas.microsoft.com/office/drawing/2014/main" id="{2D94118C-298C-45A1-9768-0460ADBE321E}"/>
              </a:ext>
            </a:extLst>
          </p:cNvPr>
          <p:cNvSpPr>
            <a:spLocks noGrp="1"/>
          </p:cNvSpPr>
          <p:nvPr/>
        </p:nvSpPr>
        <p:spPr>
          <a:xfrm>
            <a:off x="1328906" y="641985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buNone/>
              <a:def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128</a:t>
            </a:r>
          </a:p>
        </p:txBody>
      </p:sp>
      <p:sp>
        <p:nvSpPr>
          <p:cNvPr id="7" name="exp-text-38">
            <a:extLst>
              <a:ext uri="{FF2B5EF4-FFF2-40B4-BE49-F238E27FC236}">
                <a16:creationId xmlns:a16="http://schemas.microsoft.com/office/drawing/2014/main" id="{005547C9-6FE3-4962-9DB4-AA9460EE565B}"/>
              </a:ext>
            </a:extLst>
          </p:cNvPr>
          <p:cNvSpPr>
            <a:spLocks noGrp="1"/>
          </p:cNvSpPr>
          <p:nvPr/>
        </p:nvSpPr>
        <p:spPr>
          <a:xfrm>
            <a:off x="3093518" y="641985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buNone/>
              <a:def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256</a:t>
            </a:r>
          </a:p>
        </p:txBody>
      </p:sp>
      <p:sp>
        <p:nvSpPr>
          <p:cNvPr id="8" name="exp-text-39">
            <a:extLst>
              <a:ext uri="{FF2B5EF4-FFF2-40B4-BE49-F238E27FC236}">
                <a16:creationId xmlns:a16="http://schemas.microsoft.com/office/drawing/2014/main" id="{62A0D7E6-58D7-4447-B53E-462BCDEDF8A1}"/>
              </a:ext>
            </a:extLst>
          </p:cNvPr>
          <p:cNvSpPr>
            <a:spLocks noGrp="1"/>
          </p:cNvSpPr>
          <p:nvPr/>
        </p:nvSpPr>
        <p:spPr>
          <a:xfrm>
            <a:off x="6617492" y="641985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buNone/>
              <a:def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512</a:t>
            </a:r>
          </a:p>
        </p:txBody>
      </p:sp>
      <p:sp>
        <p:nvSpPr>
          <p:cNvPr id="9" name="exp-text-40">
            <a:extLst>
              <a:ext uri="{FF2B5EF4-FFF2-40B4-BE49-F238E27FC236}">
                <a16:creationId xmlns:a16="http://schemas.microsoft.com/office/drawing/2014/main" id="{4CE8EABD-08D6-4437-BD46-1F927FA075DC}"/>
              </a:ext>
            </a:extLst>
          </p:cNvPr>
          <p:cNvSpPr>
            <a:spLocks noGrp="1"/>
          </p:cNvSpPr>
          <p:nvPr/>
        </p:nvSpPr>
        <p:spPr>
          <a:xfrm>
            <a:off x="7820025" y="1381125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大请求减少REQ累计传输次数</a:t>
            </a:r>
          </a:p>
        </p:txBody>
      </p:sp>
      <p:sp>
        <p:nvSpPr>
          <p:cNvPr id="10" name="exp-text-41">
            <a:extLst>
              <a:ext uri="{FF2B5EF4-FFF2-40B4-BE49-F238E27FC236}">
                <a16:creationId xmlns:a16="http://schemas.microsoft.com/office/drawing/2014/main" id="{2719A7DD-B80B-440C-B0EE-FB94C88DC78D}"/>
              </a:ext>
            </a:extLst>
          </p:cNvPr>
          <p:cNvSpPr>
            <a:spLocks noGrp="1"/>
          </p:cNvSpPr>
          <p:nvPr/>
        </p:nvSpPr>
        <p:spPr>
          <a:xfrm>
            <a:off x="7820025" y="1809750"/>
            <a:ext cx="39814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NoMerge的REQ累计传输次数由46.59万降至15.56万，体现请求粒度与网络路径的共同影响。</a:t>
            </a:r>
          </a:p>
        </p:txBody>
      </p:sp>
      <p:sp>
        <p:nvSpPr>
          <p:cNvPr id="11" name="exp-text-42">
            <a:extLst>
              <a:ext uri="{FF2B5EF4-FFF2-40B4-BE49-F238E27FC236}">
                <a16:creationId xmlns:a16="http://schemas.microsoft.com/office/drawing/2014/main" id="{1736E157-8100-4A21-97A6-5028B99D2CA3}"/>
              </a:ext>
            </a:extLst>
          </p:cNvPr>
          <p:cNvSpPr>
            <a:spLocks noGrp="1"/>
          </p:cNvSpPr>
          <p:nvPr/>
        </p:nvSpPr>
        <p:spPr>
          <a:xfrm>
            <a:off x="7820025" y="2838450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分段返回降低DAT累计传输次数</a:t>
            </a:r>
          </a:p>
        </p:txBody>
      </p:sp>
      <p:sp>
        <p:nvSpPr>
          <p:cNvPr id="12" name="exp-text-43">
            <a:extLst>
              <a:ext uri="{FF2B5EF4-FFF2-40B4-BE49-F238E27FC236}">
                <a16:creationId xmlns:a16="http://schemas.microsoft.com/office/drawing/2014/main" id="{C57B689B-C903-47EF-B385-865D80C434AB}"/>
              </a:ext>
            </a:extLst>
          </p:cNvPr>
          <p:cNvSpPr>
            <a:spLocks noGrp="1"/>
          </p:cNvSpPr>
          <p:nvPr/>
        </p:nvSpPr>
        <p:spPr>
          <a:xfrm>
            <a:off x="7820025" y="3248025"/>
            <a:ext cx="39814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128字节请求下，Scatter为10.65万次，NoMerge为29.11万次。比较口径均为逐链路累计。</a:t>
            </a:r>
          </a:p>
        </p:txBody>
      </p:sp>
      <p:sp>
        <p:nvSpPr>
          <p:cNvPr id="13" name="exp-text-44">
            <a:extLst>
              <a:ext uri="{FF2B5EF4-FFF2-40B4-BE49-F238E27FC236}">
                <a16:creationId xmlns:a16="http://schemas.microsoft.com/office/drawing/2014/main" id="{1697B7BE-2BD1-4F49-B483-69D75F22D754}"/>
              </a:ext>
            </a:extLst>
          </p:cNvPr>
          <p:cNvSpPr>
            <a:spLocks noGrp="1"/>
          </p:cNvSpPr>
          <p:nvPr/>
        </p:nvSpPr>
        <p:spPr>
          <a:xfrm>
            <a:off x="7820025" y="4238625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多播提高每份数据的有效利用</a:t>
            </a:r>
          </a:p>
        </p:txBody>
      </p:sp>
      <p:sp>
        <p:nvSpPr>
          <p:cNvPr id="14" name="exp-text-45">
            <a:extLst>
              <a:ext uri="{FF2B5EF4-FFF2-40B4-BE49-F238E27FC236}">
                <a16:creationId xmlns:a16="http://schemas.microsoft.com/office/drawing/2014/main" id="{210945E4-BF60-4C1E-858B-0E47CA3AAF06}"/>
              </a:ext>
            </a:extLst>
          </p:cNvPr>
          <p:cNvSpPr>
            <a:spLocks noGrp="1"/>
          </p:cNvSpPr>
          <p:nvPr/>
        </p:nvSpPr>
        <p:spPr>
          <a:xfrm>
            <a:off x="7820025" y="4648200"/>
            <a:ext cx="39814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Shared在512字节请求下：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有效带宽890.04字节/周期，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物理DAT带宽222.51字节/周期。</a:t>
            </a:r>
          </a:p>
        </p:txBody>
      </p:sp>
      <p:sp>
        <p:nvSpPr>
          <p:cNvPr id="15" name="exp-frame-46">
            <a:extLst>
              <a:ext uri="{FF2B5EF4-FFF2-40B4-BE49-F238E27FC236}">
                <a16:creationId xmlns:a16="http://schemas.microsoft.com/office/drawing/2014/main" id="{99AA4C1A-1022-41E0-A9EA-2C64C4CC90ED}"/>
              </a:ext>
            </a:extLst>
          </p:cNvPr>
          <p:cNvSpPr>
            <a:spLocks noGrp="1"/>
          </p:cNvSpPr>
          <p:nvPr/>
        </p:nvSpPr>
        <p:spPr>
          <a:xfrm>
            <a:off x="7820025" y="5619750"/>
            <a:ext cx="3981450" cy="533400"/>
          </a:xfrm>
          <a:prstGeom prst="rect">
            <a:avLst/>
          </a:prstGeom>
          <a:solidFill>
            <a:srgbClr val="E2F0D9"/>
          </a:solidFill>
          <a:ln w="11430">
            <a:solidFill>
              <a:srgbClr val="10286B"/>
            </a:solidFill>
            <a:prstDash val="solid"/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890.04 ÷ 222.51 = 4.0倍</a:t>
            </a:r>
          </a:p>
        </p:txBody>
      </p:sp>
      <p:sp>
        <p:nvSpPr>
          <p:cNvPr id="16" name="exp-text-47">
            <a:extLst>
              <a:ext uri="{FF2B5EF4-FFF2-40B4-BE49-F238E27FC236}">
                <a16:creationId xmlns:a16="http://schemas.microsoft.com/office/drawing/2014/main" id="{40AEB207-5CCA-42B4-BEBC-9A32AAFF5478}"/>
              </a:ext>
            </a:extLst>
          </p:cNvPr>
          <p:cNvSpPr>
            <a:spLocks noGrp="1"/>
          </p:cNvSpPr>
          <p:nvPr/>
        </p:nvSpPr>
        <p:spPr>
          <a:xfrm>
            <a:off x="7820025" y="6286500"/>
            <a:ext cx="39814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4倍表示逻辑数据复用，</a:t>
            </a:r>
          </a:p>
          <a:p>
            <a:pPr algn="l">
              <a:lnSpc>
                <a:spcPct val="116000"/>
              </a:lnSpc>
              <a:buNone/>
              <a:def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不表示链路物理带宽增加4倍。</a:t>
            </a:r>
          </a:p>
        </p:txBody>
      </p:sp>
      <p:sp>
        <p:nvSpPr>
          <p:cNvPr id="17" name="share-87">
            <a:extLst>
              <a:ext uri="{FF2B5EF4-FFF2-40B4-BE49-F238E27FC236}">
                <a16:creationId xmlns:a16="http://schemas.microsoft.com/office/drawing/2014/main" id="{BA5957AF-AD1A-4EA0-B0F8-23024EE6E263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  <p:clrMapOvr>
    <a:masterClrMapping/>
  </p:clrMapOvr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visual-34">
            <a:extLst xmlns:a="http://schemas.openxmlformats.org/drawingml/2006/main">
              <a:ext uri="{FF2B5EF4-FFF2-40B4-BE49-F238E27FC236}">
                <a16:creationId xmlns:a16="http://schemas.microsoft.com/office/drawing/2014/main" id="{35C0F0AE-8ABD-4683-A8FD-8057EB45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参数选择：吞吐收益与排队代价</a:t>
            </a:r>
          </a:p>
        </p:txBody>
      </p:sp>
      <p:sp>
        <p:nvSpPr>
          <p:cNvPr id="2" name="visual-35">
            <a:extLst xmlns:a="http://schemas.openxmlformats.org/drawingml/2006/main">
              <a:ext uri="{FF2B5EF4-FFF2-40B4-BE49-F238E27FC236}">
                <a16:creationId xmlns:a16="http://schemas.microsoft.com/office/drawing/2014/main" id="{7DF2A555-F666-4F92-AD52-E915335D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NoMerge，256字节请求，配置命中率0%。图中以每核并发256为1，比较三组已有数据。</a:t>
            </a:r>
          </a:p>
        </p:txBody>
      </p:sp>
      <p:sp>
        <p:nvSpPr>
          <p:cNvPr id="3" name="visual-36">
            <a:extLst xmlns:a="http://schemas.openxmlformats.org/drawingml/2006/main">
              <a:ext uri="{FF2B5EF4-FFF2-40B4-BE49-F238E27FC236}">
                <a16:creationId xmlns:a16="http://schemas.microsoft.com/office/drawing/2014/main" id="{1E171C58-E178-4257-AF29-C2DB8609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381000" y="1752600"/>
          <a:ext xmlns:a="http://schemas.openxmlformats.org/drawingml/2006/main" cx="704850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9bec7a63114f13"/>
          </a:graphicData>
        </a:graphic>
      </p:graphicFrame>
      <p:sp>
        <p:nvSpPr>
          <p:cNvPr id="5" name="visual-37">
            <a:extLst xmlns:a="http://schemas.openxmlformats.org/drawingml/2006/main">
              <a:ext uri="{FF2B5EF4-FFF2-40B4-BE49-F238E27FC236}">
                <a16:creationId xmlns:a16="http://schemas.microsoft.com/office/drawing/2014/main" id="{11F8B0A3-E34C-4F77-9DC8-910B7284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764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每核并发256增至512</a:t>
            </a:r>
          </a:p>
        </p:txBody>
      </p:sp>
      <p:sp>
        <p:nvSpPr>
          <p:cNvPr id="6" name="visual-38">
            <a:extLst xmlns:a="http://schemas.openxmlformats.org/drawingml/2006/main">
              <a:ext uri="{FF2B5EF4-FFF2-40B4-BE49-F238E27FC236}">
                <a16:creationId xmlns:a16="http://schemas.microsoft.com/office/drawing/2014/main" id="{D834FE7D-2828-40A0-88B5-B2B29FEA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05075"/>
            <a:ext cx="3686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吞吐下降2.1%</a:t>
            </a:r>
          </a:p>
        </p:txBody>
      </p:sp>
      <p:sp>
        <p:nvSpPr>
          <p:cNvPr id="7" name="visual-39">
            <a:extLst xmlns:a="http://schemas.openxmlformats.org/drawingml/2006/main">
              <a:ext uri="{FF2B5EF4-FFF2-40B4-BE49-F238E27FC236}">
                <a16:creationId xmlns:a16="http://schemas.microsoft.com/office/drawing/2014/main" id="{377C83BD-FB36-4F29-B2BB-A4A9C7DF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09925"/>
            <a:ext cx="3686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P99增至2.55倍</a:t>
            </a:r>
          </a:p>
        </p:txBody>
      </p:sp>
      <p:sp>
        <p:nvSpPr>
          <p:cNvPr id="8" name="visual-40">
            <a:extLst xmlns:a="http://schemas.openxmlformats.org/drawingml/2006/main">
              <a:ext uri="{FF2B5EF4-FFF2-40B4-BE49-F238E27FC236}">
                <a16:creationId xmlns:a16="http://schemas.microsoft.com/office/drawing/2014/main" id="{8129104B-CBBB-410E-A6C8-D4F24E88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29100"/>
            <a:ext cx="36861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候选范围先比较128与256，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再结合延迟目标和资源代价取舍。</a:t>
            </a:r>
          </a:p>
        </p:txBody>
      </p:sp>
      <p:sp>
        <p:nvSpPr>
          <p:cNvPr id="9" name="line-41">
            <a:extLst xmlns:a="http://schemas.openxmlformats.org/drawingml/2006/main">
              <a:ext uri="{FF2B5EF4-FFF2-40B4-BE49-F238E27FC236}">
                <a16:creationId xmlns:a16="http://schemas.microsoft.com/office/drawing/2014/main" id="{3D26EA0B-5706-47E0-9B4F-CCDA05E7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19775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0" name="visual-42">
            <a:extLst xmlns:a="http://schemas.openxmlformats.org/drawingml/2006/main">
              <a:ext uri="{FF2B5EF4-FFF2-40B4-BE49-F238E27FC236}">
                <a16:creationId xmlns:a16="http://schemas.microsoft.com/office/drawing/2014/main" id="{4558A328-3B28-41B7-95F0-68964483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76950"/>
            <a:ext cx="1409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请求粒度</a:t>
            </a:r>
          </a:p>
        </p:txBody>
      </p:sp>
      <p:sp>
        <p:nvSpPr>
          <p:cNvPr id="11" name="visual-43">
            <a:extLst xmlns:a="http://schemas.openxmlformats.org/drawingml/2006/main">
              <a:ext uri="{FF2B5EF4-FFF2-40B4-BE49-F238E27FC236}">
                <a16:creationId xmlns:a16="http://schemas.microsoft.com/office/drawing/2014/main" id="{A5E54F62-4AA3-4308-A833-44E35BF6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0769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连续访问可评估更大请求，稀疏访问需检查无效搬运。</a:t>
            </a:r>
          </a:p>
        </p:txBody>
      </p:sp>
      <p:sp>
        <p:nvSpPr>
          <p:cNvPr id="12" name="visual-44">
            <a:extLst xmlns:a="http://schemas.openxmlformats.org/drawingml/2006/main">
              <a:ext uri="{FF2B5EF4-FFF2-40B4-BE49-F238E27FC236}">
                <a16:creationId xmlns:a16="http://schemas.microsoft.com/office/drawing/2014/main" id="{775E62A6-AAD0-4D35-9162-7246BD3F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高命中区间</a:t>
            </a:r>
          </a:p>
        </p:txBody>
      </p:sp>
      <p:sp>
        <p:nvSpPr>
          <p:cNvPr id="13" name="visual-45">
            <a:extLst xmlns:a="http://schemas.openxmlformats.org/drawingml/2006/main">
              <a:ext uri="{FF2B5EF4-FFF2-40B4-BE49-F238E27FC236}">
                <a16:creationId xmlns:a16="http://schemas.microsoft.com/office/drawing/2014/main" id="{2E6C062B-50F8-4198-B4C7-00ECC663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47700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吞吐趋稳后，通过单资源变化检查返回路径的限制。</a:t>
            </a:r>
          </a:p>
        </p:txBody>
      </p:sp>
    </p:spTree>
    <p:extLst>
      <p:ext uri="{BB962C8B-B14F-4D97-AF65-F5344CB8AC3E}">
        <p14:creationId xmlns:p14="http://schemas.microsoft.com/office/powerpoint/2010/main" val="3528470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visual-46">
            <a:extLst xmlns:a="http://schemas.openxmlformats.org/drawingml/2006/main">
              <a:ext uri="{FF2B5EF4-FFF2-40B4-BE49-F238E27FC236}">
                <a16:creationId xmlns:a16="http://schemas.microsoft.com/office/drawing/2014/main" id="{B4302FBE-424D-46C5-A2CF-3E39943B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后续校准：同一输入下比较两个模型</a:t>
            </a:r>
          </a:p>
        </p:txBody>
      </p:sp>
      <p:sp>
        <p:nvSpPr>
          <p:cNvPr id="2" name="visual-47">
            <a:extLst xmlns:a="http://schemas.openxmlformats.org/drawingml/2006/main">
              <a:ext uri="{FF2B5EF4-FFF2-40B4-BE49-F238E27FC236}">
                <a16:creationId xmlns:a16="http://schemas.microsoft.com/office/drawing/2014/main" id="{F3CD0647-BD6D-4BE5-B2C4-B2A9F030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先对齐事务含义、配置与统计窗口，再比较延迟和饱和行为。以下为校准方案。</a:t>
            </a:r>
          </a:p>
        </p:txBody>
      </p:sp>
      <p:sp>
        <p:nvSpPr>
          <p:cNvPr id="3" name="visual-48">
            <a:extLst xmlns:a="http://schemas.openxmlformats.org/drawingml/2006/main">
              <a:ext uri="{FF2B5EF4-FFF2-40B4-BE49-F238E27FC236}">
                <a16:creationId xmlns:a16="http://schemas.microsoft.com/office/drawing/2014/main" id="{2B35752A-AAD8-4562-8FC0-A1D1F150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" name="diagram-49">
            <a:extLst xmlns:a="http://schemas.openxmlformats.org/drawingml/2006/main">
              <a:ext uri="{FF2B5EF4-FFF2-40B4-BE49-F238E27FC236}">
                <a16:creationId xmlns:a16="http://schemas.microsoft.com/office/drawing/2014/main" id="{8D9CB3D3-C6A8-482F-BD53-E005BD28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71750"/>
            <a:ext cx="24288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同一组事务输入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地址、大小、时序</a:t>
            </a:r>
          </a:p>
        </p:txBody>
      </p:sp>
      <p:sp>
        <p:nvSpPr>
          <p:cNvPr id="5" name="diagram-50">
            <a:extLst xmlns:a="http://schemas.openxmlformats.org/drawingml/2006/main">
              <a:ext uri="{FF2B5EF4-FFF2-40B4-BE49-F238E27FC236}">
                <a16:creationId xmlns:a16="http://schemas.microsoft.com/office/drawing/2014/main" id="{16D263BD-5C07-4BB3-BEC8-27293968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924050"/>
            <a:ext cx="2895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本项目ESL模型</a:t>
            </a:r>
          </a:p>
        </p:txBody>
      </p:sp>
      <p:sp>
        <p:nvSpPr>
          <p:cNvPr id="6" name="diagram-51">
            <a:extLst xmlns:a="http://schemas.openxmlformats.org/drawingml/2006/main">
              <a:ext uri="{FF2B5EF4-FFF2-40B4-BE49-F238E27FC236}">
                <a16:creationId xmlns:a16="http://schemas.microsoft.com/office/drawing/2014/main" id="{7C9D42EC-6A74-4920-A8B6-AD8F62DF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752850"/>
            <a:ext cx="2895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SoC ESL参考模型</a:t>
            </a:r>
          </a:p>
        </p:txBody>
      </p:sp>
      <p:sp>
        <p:nvSpPr>
          <p:cNvPr id="7" name="diagram-52">
            <a:extLst xmlns:a="http://schemas.openxmlformats.org/drawingml/2006/main">
              <a:ext uri="{FF2B5EF4-FFF2-40B4-BE49-F238E27FC236}">
                <a16:creationId xmlns:a16="http://schemas.microsoft.com/office/drawing/2014/main" id="{1EFAB88D-56AC-4CED-A2E4-7CD69C01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86050"/>
            <a:ext cx="3486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同口径结果对比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延迟、吞吐、等待位置</a:t>
            </a:r>
          </a:p>
        </p:txBody>
      </p: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809875" y="2333625"/>
            <a:ext cx="1104900" cy="723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0286B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09875" y="3057525"/>
            <a:ext cx="1104900" cy="1104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810375" y="2333625"/>
            <a:ext cx="1228725" cy="885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0286B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6810375" y="3219450"/>
            <a:ext cx="1228725" cy="942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12" name="visual-53">
            <a:extLst xmlns:a="http://schemas.openxmlformats.org/drawingml/2006/main">
              <a:ext uri="{FF2B5EF4-FFF2-40B4-BE49-F238E27FC236}">
                <a16:creationId xmlns:a16="http://schemas.microsoft.com/office/drawing/2014/main" id="{1A75FC20-DDAE-490E-B2E7-62A12B59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2447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接口与配置一致</a:t>
            </a:r>
          </a:p>
        </p:txBody>
      </p:sp>
      <p:sp>
        <p:nvSpPr>
          <p:cNvPr id="13" name="visual-54">
            <a:extLst xmlns:a="http://schemas.openxmlformats.org/drawingml/2006/main">
              <a:ext uri="{FF2B5EF4-FFF2-40B4-BE49-F238E27FC236}">
                <a16:creationId xmlns:a16="http://schemas.microsoft.com/office/drawing/2014/main" id="{4D4355A0-E38D-44B3-BA2C-42B113B7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238625"/>
            <a:ext cx="3971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差异定位后调整对应资源</a:t>
            </a:r>
          </a:p>
        </p:txBody>
      </p:sp>
      <p:sp>
        <p:nvSpPr>
          <p:cNvPr id="14" name="line-55">
            <a:extLst xmlns:a="http://schemas.openxmlformats.org/drawingml/2006/main">
              <a:ext uri="{FF2B5EF4-FFF2-40B4-BE49-F238E27FC236}">
                <a16:creationId xmlns:a16="http://schemas.microsoft.com/office/drawing/2014/main" id="{C4FD99F3-DD0C-423B-BF72-1FB9677A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19675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5" name="visual-56">
            <a:extLst xmlns:a="http://schemas.openxmlformats.org/drawingml/2006/main">
              <a:ext uri="{FF2B5EF4-FFF2-40B4-BE49-F238E27FC236}">
                <a16:creationId xmlns:a16="http://schemas.microsoft.com/office/drawing/2014/main" id="{CEDA00C7-6371-490F-8C8E-121D98C7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10200"/>
            <a:ext cx="3600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  低负载基线</a:t>
            </a:r>
          </a:p>
        </p:txBody>
      </p:sp>
      <p:sp>
        <p:nvSpPr>
          <p:cNvPr id="16" name="visual-57">
            <a:extLst xmlns:a="http://schemas.openxmlformats.org/drawingml/2006/main">
              <a:ext uri="{FF2B5EF4-FFF2-40B4-BE49-F238E27FC236}">
                <a16:creationId xmlns:a16="http://schemas.microsoft.com/office/drawing/2014/main" id="{7D0B4BAD-5881-4B98-AE36-E4D0DE37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5500"/>
            <a:ext cx="3305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单请求、固定跳数</a:t>
            </a:r>
          </a:p>
        </p:txBody>
      </p:sp>
      <p:sp>
        <p:nvSpPr>
          <p:cNvPr id="17" name="visual-58">
            <a:extLst xmlns:a="http://schemas.openxmlformats.org/drawingml/2006/main">
              <a:ext uri="{FF2B5EF4-FFF2-40B4-BE49-F238E27FC236}">
                <a16:creationId xmlns:a16="http://schemas.microsoft.com/office/drawing/2014/main" id="{DBA09592-726B-4CBA-B0D8-6ED55A52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10200"/>
            <a:ext cx="3600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  逐步增加竞争</a:t>
            </a:r>
          </a:p>
        </p:txBody>
      </p:sp>
      <p:sp>
        <p:nvSpPr>
          <p:cNvPr id="18" name="visual-59">
            <a:extLst xmlns:a="http://schemas.openxmlformats.org/drawingml/2006/main">
              <a:ext uri="{FF2B5EF4-FFF2-40B4-BE49-F238E27FC236}">
                <a16:creationId xmlns:a16="http://schemas.microsoft.com/office/drawing/2014/main" id="{34595D7A-368C-445F-8D9E-B90D6516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905500"/>
            <a:ext cx="3305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并发、共享、热点</a:t>
            </a:r>
          </a:p>
        </p:txBody>
      </p:sp>
      <p:sp>
        <p:nvSpPr>
          <p:cNvPr id="19" name="visual-60">
            <a:extLst xmlns:a="http://schemas.openxmlformats.org/drawingml/2006/main">
              <a:ext uri="{FF2B5EF4-FFF2-40B4-BE49-F238E27FC236}">
                <a16:creationId xmlns:a16="http://schemas.microsoft.com/office/drawing/2014/main" id="{4009EB28-789A-44D4-8E0B-F66DB1C3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10200"/>
            <a:ext cx="3600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  独立场景复核</a:t>
            </a:r>
          </a:p>
        </p:txBody>
      </p:sp>
      <p:sp>
        <p:nvSpPr>
          <p:cNvPr id="20" name="visual-61">
            <a:extLst xmlns:a="http://schemas.openxmlformats.org/drawingml/2006/main">
              <a:ext uri="{FF2B5EF4-FFF2-40B4-BE49-F238E27FC236}">
                <a16:creationId xmlns:a16="http://schemas.microsoft.com/office/drawing/2014/main" id="{2661C9B7-F5DC-43AA-813D-C1FA69D4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905500"/>
            <a:ext cx="3305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未参与调参的负载</a:t>
            </a:r>
          </a:p>
        </p:txBody>
      </p:sp>
      <p:sp>
        <p:nvSpPr>
          <p:cNvPr id="21" name="visual-62">
            <a:extLst xmlns:a="http://schemas.openxmlformats.org/drawingml/2006/main">
              <a:ext uri="{FF2B5EF4-FFF2-40B4-BE49-F238E27FC236}">
                <a16:creationId xmlns:a16="http://schemas.microsoft.com/office/drawing/2014/main" id="{3B0B4D8C-0514-4535-B4E6-302D0456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当前结果支持趋势探索。绝对与相对误差、可接受阈值需要与参考模型方共同确认。</a:t>
            </a:r>
          </a:p>
        </p:txBody>
      </p:sp>
    </p:spTree>
    <p:extLst>
      <p:ext uri="{BB962C8B-B14F-4D97-AF65-F5344CB8AC3E}">
        <p14:creationId xmlns:p14="http://schemas.microsoft.com/office/powerpoint/2010/main" val="209954334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visual-63">
            <a:extLst xmlns:a="http://schemas.openxmlformats.org/drawingml/2006/main">
              <a:ext uri="{FF2B5EF4-FFF2-40B4-BE49-F238E27FC236}">
                <a16:creationId xmlns:a16="http://schemas.microsoft.com/office/drawing/2014/main" id="{80D3D221-CE81-4DCD-A7C2-10AC5EC2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后续课题：热点地址如何拖慢系统</a:t>
            </a:r>
          </a:p>
        </p:txBody>
      </p:sp>
      <p:sp>
        <p:nvSpPr>
          <p:cNvPr id="2" name="visual-64">
            <a:extLst xmlns:a="http://schemas.openxmlformats.org/drawingml/2006/main">
              <a:ext uri="{FF2B5EF4-FFF2-40B4-BE49-F238E27FC236}">
                <a16:creationId xmlns:a16="http://schemas.microsoft.com/office/drawing/2014/main" id="{310683E1-F9C6-431E-82AE-01906765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先量化同地址读写冲突，再补充原子操作（Atomic）的语义与验证。</a:t>
            </a:r>
          </a:p>
        </p:txBody>
      </p:sp>
      <p:sp>
        <p:nvSpPr>
          <p:cNvPr id="3" name="visual-65">
            <a:extLst xmlns:a="http://schemas.openxmlformats.org/drawingml/2006/main">
              <a:ext uri="{FF2B5EF4-FFF2-40B4-BE49-F238E27FC236}">
                <a16:creationId xmlns:a16="http://schemas.microsoft.com/office/drawing/2014/main" id="{8130E990-0738-4ADB-86A3-F1B644BE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" name="visual-66">
            <a:extLst xmlns:a="http://schemas.openxmlformats.org/drawingml/2006/main">
              <a:ext uri="{FF2B5EF4-FFF2-40B4-BE49-F238E27FC236}">
                <a16:creationId xmlns:a16="http://schemas.microsoft.com/office/drawing/2014/main" id="{99C3A1ED-C90F-4AFA-AFB2-73964275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24025"/>
            <a:ext cx="71151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拟研究场景：多个核访问同一地址A</a:t>
            </a:r>
          </a:p>
        </p:txBody>
      </p:sp>
      <p:sp>
        <p:nvSpPr>
          <p:cNvPr id="5" name="diagram-67">
            <a:extLst xmlns:a="http://schemas.openxmlformats.org/drawingml/2006/main">
              <a:ext uri="{FF2B5EF4-FFF2-40B4-BE49-F238E27FC236}">
                <a16:creationId xmlns:a16="http://schemas.microsoft.com/office/drawing/2014/main" id="{A88AA70B-5F46-4B36-8507-F1A46F1A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28875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核0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请求A</a:t>
            </a:r>
          </a:p>
        </p:txBody>
      </p:sp>
      <p:sp>
        <p:nvSpPr>
          <p:cNvPr id="6" name="diagram-68">
            <a:extLst xmlns:a="http://schemas.openxmlformats.org/drawingml/2006/main">
              <a:ext uri="{FF2B5EF4-FFF2-40B4-BE49-F238E27FC236}">
                <a16:creationId xmlns:a16="http://schemas.microsoft.com/office/drawing/2014/main" id="{D84AC116-34B4-47D0-A27F-C75E64FB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861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核1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请求A</a:t>
            </a:r>
          </a:p>
        </p:txBody>
      </p:sp>
      <p:sp>
        <p:nvSpPr>
          <p:cNvPr id="7" name="diagram-69">
            <a:extLst xmlns:a="http://schemas.openxmlformats.org/drawingml/2006/main">
              <a:ext uri="{FF2B5EF4-FFF2-40B4-BE49-F238E27FC236}">
                <a16:creationId xmlns:a16="http://schemas.microsoft.com/office/drawing/2014/main" id="{C3C7E094-85BE-4E3F-A382-04ACEF9E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43425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核2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请求A</a:t>
            </a:r>
          </a:p>
        </p:txBody>
      </p:sp>
      <p:sp>
        <p:nvSpPr>
          <p:cNvPr id="8" name="diagram-70">
            <a:extLst xmlns:a="http://schemas.openxmlformats.org/drawingml/2006/main">
              <a:ext uri="{FF2B5EF4-FFF2-40B4-BE49-F238E27FC236}">
                <a16:creationId xmlns:a16="http://schemas.microsoft.com/office/drawing/2014/main" id="{B829B577-A4B4-4701-ACF8-B4EBE2DD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57550"/>
            <a:ext cx="23145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地址A的冲突点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相关操作等待</a:t>
            </a:r>
          </a:p>
        </p:txBody>
      </p: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809750" y="2790825"/>
            <a:ext cx="1095375" cy="966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55A11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809750" y="3757613"/>
            <a:ext cx="1095375" cy="90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55A11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809750" y="3757613"/>
            <a:ext cx="1095375" cy="1147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55A11"/>
            </a:solidFill>
            <a:prstDash val="solid"/>
            <a:tailEnd type="triangle" w="sm" len="sm"/>
          </a:ln>
        </p:spPr>
      </p:cxnSp>
      <p:sp>
        <p:nvSpPr>
          <p:cNvPr id="12" name="diagram-71">
            <a:extLst xmlns:a="http://schemas.openxmlformats.org/drawingml/2006/main">
              <a:ext uri="{FF2B5EF4-FFF2-40B4-BE49-F238E27FC236}">
                <a16:creationId xmlns:a16="http://schemas.microsoft.com/office/drawing/2014/main" id="{A4FB23F7-2CCA-4944-B11A-770FE417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257550"/>
            <a:ext cx="18192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存储服务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完成后再推进</a:t>
            </a:r>
          </a:p>
        </p:txBody>
      </p: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219700" y="375761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prstDash val="solid"/>
            <a:tailEnd type="triangle" w="sm" len="sm"/>
          </a:ln>
        </p:spPr>
      </p:cxnSp>
      <p:sp>
        <p:nvSpPr>
          <p:cNvPr id="14" name="diagram-72">
            <a:extLst xmlns:a="http://schemas.openxmlformats.org/drawingml/2006/main">
              <a:ext uri="{FF2B5EF4-FFF2-40B4-BE49-F238E27FC236}">
                <a16:creationId xmlns:a16="http://schemas.microsoft.com/office/drawing/2014/main" id="{2CDA8F15-D528-4AEA-B30F-E5E65FEB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114925"/>
            <a:ext cx="1857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另一请求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地址B</a:t>
            </a:r>
          </a:p>
        </p:txBody>
      </p:sp>
      <p:cxnSp>
        <p:nvCxnSpPr>
          <p:cNvPr id="36" name=""/>
          <p:cNvCxnSpPr>
            <a:stCxn xmlns:a="http://schemas.openxmlformats.org/drawingml/2006/main" id="14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4772025" y="4257675"/>
            <a:ext cx="1976438" cy="1223963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548235"/>
            </a:solidFill>
            <a:prstDash val="dash"/>
            <a:tailEnd type="triangle" w="sm" len="sm"/>
          </a:ln>
        </p:spPr>
      </p:cxnSp>
      <p:sp>
        <p:nvSpPr>
          <p:cNvPr id="16" name="visual-73">
            <a:extLst xmlns:a="http://schemas.openxmlformats.org/drawingml/2006/main">
              <a:ext uri="{FF2B5EF4-FFF2-40B4-BE49-F238E27FC236}">
                <a16:creationId xmlns:a16="http://schemas.microsoft.com/office/drawing/2014/main" id="{D45813FB-7D6B-48C7-BA36-E795A617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7153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观察非热点请求是否受到牵连</a:t>
            </a:r>
          </a:p>
        </p:txBody>
      </p:sp>
      <p:sp>
        <p:nvSpPr>
          <p:cNvPr id="17" name="visual-74">
            <a:extLst xmlns:a="http://schemas.openxmlformats.org/drawingml/2006/main">
              <a:ext uri="{FF2B5EF4-FFF2-40B4-BE49-F238E27FC236}">
                <a16:creationId xmlns:a16="http://schemas.microsoft.com/office/drawing/2014/main" id="{41460916-8C86-4746-B329-1413471B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76425"/>
            <a:ext cx="3419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已有基础</a:t>
            </a:r>
          </a:p>
        </p:txBody>
      </p:sp>
      <p:sp>
        <p:nvSpPr>
          <p:cNvPr id="18" name="visual-75">
            <a:extLst xmlns:a="http://schemas.openxmlformats.org/drawingml/2006/main">
              <a:ext uri="{FF2B5EF4-FFF2-40B4-BE49-F238E27FC236}">
                <a16:creationId xmlns:a16="http://schemas.microsoft.com/office/drawing/2014/main" id="{366E311C-C4CF-4E07-A612-30A70959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52675"/>
            <a:ext cx="34194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读请求合并、写冲突保护。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进一步测量热点下的等待。</a:t>
            </a:r>
          </a:p>
        </p:txBody>
      </p:sp>
      <p:sp>
        <p:nvSpPr>
          <p:cNvPr id="19" name="visual-76">
            <a:extLst xmlns:a="http://schemas.openxmlformats.org/drawingml/2006/main">
              <a:ext uri="{FF2B5EF4-FFF2-40B4-BE49-F238E27FC236}">
                <a16:creationId xmlns:a16="http://schemas.microsoft.com/office/drawing/2014/main" id="{47DA63BC-8A83-4AC5-8F8D-59292780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3419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需要补充</a:t>
            </a:r>
          </a:p>
        </p:txBody>
      </p:sp>
      <p:sp>
        <p:nvSpPr>
          <p:cNvPr id="20" name="visual-77">
            <a:extLst xmlns:a="http://schemas.openxmlformats.org/drawingml/2006/main">
              <a:ext uri="{FF2B5EF4-FFF2-40B4-BE49-F238E27FC236}">
                <a16:creationId xmlns:a16="http://schemas.microsoft.com/office/drawing/2014/main" id="{74180A92-0D4A-49B2-89D3-61DBB0EA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95750"/>
            <a:ext cx="34194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原子读、修改、写的不可分割性，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以及返回值和顺序约束。</a:t>
            </a:r>
          </a:p>
        </p:txBody>
      </p:sp>
      <p:sp>
        <p:nvSpPr>
          <p:cNvPr id="21" name="visual-78">
            <a:extLst xmlns:a="http://schemas.openxmlformats.org/drawingml/2006/main">
              <a:ext uri="{FF2B5EF4-FFF2-40B4-BE49-F238E27FC236}">
                <a16:creationId xmlns:a16="http://schemas.microsoft.com/office/drawing/2014/main" id="{1797360F-FEB0-44FF-982B-FE2562C4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24625"/>
            <a:ext cx="1133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拟议实验：固定工作量，改变热点比例，记录总吞吐、各核完成率、P99和冲突等待。</a:t>
            </a:r>
          </a:p>
        </p:txBody>
      </p:sp>
    </p:spTree>
    <p:extLst>
      <p:ext uri="{BB962C8B-B14F-4D97-AF65-F5344CB8AC3E}">
        <p14:creationId xmlns:p14="http://schemas.microsoft.com/office/powerpoint/2010/main" val="93516025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visual-79">
            <a:extLst xmlns:a="http://schemas.openxmlformats.org/drawingml/2006/main">
              <a:ext uri="{FF2B5EF4-FFF2-40B4-BE49-F238E27FC236}">
                <a16:creationId xmlns:a16="http://schemas.microsoft.com/office/drawing/2014/main" id="{3DC177AA-DA0D-4A26-A022-C0101D93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改进候选：措施落在哪一层</a:t>
            </a:r>
          </a:p>
        </p:txBody>
      </p:sp>
      <p:sp>
        <p:nvSpPr>
          <p:cNvPr id="2" name="visual-80">
            <a:extLst xmlns:a="http://schemas.openxmlformats.org/drawingml/2006/main">
              <a:ext uri="{FF2B5EF4-FFF2-40B4-BE49-F238E27FC236}">
                <a16:creationId xmlns:a16="http://schemas.microsoft.com/office/drawing/2014/main" id="{F1C5A199-B0F2-457A-8452-67D4BDB2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核侧、互连与存储侧采用不同手段，最终选择需要由瓶颈证据和语义约束支持。</a:t>
            </a:r>
          </a:p>
        </p:txBody>
      </p:sp>
      <p:sp>
        <p:nvSpPr>
          <p:cNvPr id="3" name="visual-81">
            <a:extLst xmlns:a="http://schemas.openxmlformats.org/drawingml/2006/main">
              <a:ext uri="{FF2B5EF4-FFF2-40B4-BE49-F238E27FC236}">
                <a16:creationId xmlns:a16="http://schemas.microsoft.com/office/drawing/2014/main" id="{FF0FFCCE-CC8C-4704-9FA6-6DE033BB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4" name="diagram-82">
            <a:extLst xmlns:a="http://schemas.openxmlformats.org/drawingml/2006/main">
              <a:ext uri="{FF2B5EF4-FFF2-40B4-BE49-F238E27FC236}">
                <a16:creationId xmlns:a16="http://schemas.microsoft.com/office/drawing/2014/main" id="{CDF8BAD4-353B-4257-9245-BB10A323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3124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核侧请求组织</a:t>
            </a:r>
          </a:p>
        </p:txBody>
      </p:sp>
      <p:sp>
        <p:nvSpPr>
          <p:cNvPr id="5" name="diagram-83">
            <a:extLst xmlns:a="http://schemas.openxmlformats.org/drawingml/2006/main">
              <a:ext uri="{FF2B5EF4-FFF2-40B4-BE49-F238E27FC236}">
                <a16:creationId xmlns:a16="http://schemas.microsoft.com/office/drawing/2014/main" id="{AAE8C522-CFFA-493B-A89F-B67E5BFA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95500"/>
            <a:ext cx="3124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互连与事务管理</a:t>
            </a:r>
          </a:p>
        </p:txBody>
      </p:sp>
      <p:sp>
        <p:nvSpPr>
          <p:cNvPr id="6" name="diagram-84">
            <a:extLst xmlns:a="http://schemas.openxmlformats.org/drawingml/2006/main">
              <a:ext uri="{FF2B5EF4-FFF2-40B4-BE49-F238E27FC236}">
                <a16:creationId xmlns:a16="http://schemas.microsoft.com/office/drawing/2014/main" id="{671EFA13-1DDF-4F59-8A82-2E168E54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0"/>
            <a:ext cx="3124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存储与数据布局</a:t>
            </a:r>
          </a:p>
        </p:txBody>
      </p:sp>
      <p:cxnSp>
        <p:nvCxnSpPr>
          <p:cNvPr id="2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505200" y="2562225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67625" y="2562225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prstDash val="solid"/>
            <a:tailEnd type="triangle" w="sm" len="sm"/>
          </a:ln>
        </p:spPr>
      </p:cxnSp>
      <p:sp>
        <p:nvSpPr>
          <p:cNvPr id="9" name="visual-85">
            <a:extLst xmlns:a="http://schemas.openxmlformats.org/drawingml/2006/main">
              <a:ext uri="{FF2B5EF4-FFF2-40B4-BE49-F238E27FC236}">
                <a16:creationId xmlns:a16="http://schemas.microsoft.com/office/drawing/2014/main" id="{1774937F-ED46-4CAF-A5E4-012EE41B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43275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减少进入互连的重复请求</a:t>
            </a:r>
          </a:p>
        </p:txBody>
      </p:sp>
      <p:sp>
        <p:nvSpPr>
          <p:cNvPr id="10" name="visual-86">
            <a:extLst xmlns:a="http://schemas.openxmlformats.org/drawingml/2006/main">
              <a:ext uri="{FF2B5EF4-FFF2-40B4-BE49-F238E27FC236}">
                <a16:creationId xmlns:a16="http://schemas.microsoft.com/office/drawing/2014/main" id="{DE7D2DD8-8413-4D23-85A9-2469D7F4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43375"/>
            <a:ext cx="31337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预聚合、限制热点并发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检查返回值与顺序是否等价</a:t>
            </a:r>
          </a:p>
        </p:txBody>
      </p:sp>
      <p:sp>
        <p:nvSpPr>
          <p:cNvPr id="11" name="visual-87">
            <a:extLst xmlns:a="http://schemas.openxmlformats.org/drawingml/2006/main">
              <a:ext uri="{FF2B5EF4-FFF2-40B4-BE49-F238E27FC236}">
                <a16:creationId xmlns:a16="http://schemas.microsoft.com/office/drawing/2014/main" id="{0B7D821F-1E92-4B3F-B045-EA851DDF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43275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减少冲突对其他请求的干扰</a:t>
            </a:r>
          </a:p>
        </p:txBody>
      </p:sp>
      <p:sp>
        <p:nvSpPr>
          <p:cNvPr id="12" name="visual-88">
            <a:extLst xmlns:a="http://schemas.openxmlformats.org/drawingml/2006/main">
              <a:ext uri="{FF2B5EF4-FFF2-40B4-BE49-F238E27FC236}">
                <a16:creationId xmlns:a16="http://schemas.microsoft.com/office/drawing/2014/main" id="{24D2977A-BF1F-4A05-9CE7-458B313C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43375"/>
            <a:ext cx="3124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热点感知调度、队列隔离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评估公平性与额外状态</a:t>
            </a:r>
          </a:p>
        </p:txBody>
      </p:sp>
      <p:sp>
        <p:nvSpPr>
          <p:cNvPr id="13" name="visual-89">
            <a:extLst xmlns:a="http://schemas.openxmlformats.org/drawingml/2006/main">
              <a:ext uri="{FF2B5EF4-FFF2-40B4-BE49-F238E27FC236}">
                <a16:creationId xmlns:a16="http://schemas.microsoft.com/office/drawing/2014/main" id="{C20D3E95-E242-4D8C-B361-4BC4C9EF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43275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改善数据局部性与服务分布</a:t>
            </a:r>
          </a:p>
        </p:txBody>
      </p:sp>
      <p:sp>
        <p:nvSpPr>
          <p:cNvPr id="14" name="visual-90">
            <a:extLst xmlns:a="http://schemas.openxmlformats.org/drawingml/2006/main">
              <a:ext uri="{FF2B5EF4-FFF2-40B4-BE49-F238E27FC236}">
                <a16:creationId xmlns:a16="http://schemas.microsoft.com/office/drawing/2014/main" id="{9BA10EF9-C2FA-404C-A760-70740CA0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43375"/>
            <a:ext cx="3124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局部共享、地址分布调整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同址串行约束仍需遵守</a:t>
            </a:r>
          </a:p>
        </p:txBody>
      </p:sp>
      <p:sp>
        <p:nvSpPr>
          <p:cNvPr id="15" name="line-91">
            <a:extLst xmlns:a="http://schemas.openxmlformats.org/drawingml/2006/main">
              <a:ext uri="{FF2B5EF4-FFF2-40B4-BE49-F238E27FC236}">
                <a16:creationId xmlns:a16="http://schemas.microsoft.com/office/drawing/2014/main" id="{1738DA9D-6C6F-4D57-B3A7-D5243512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4352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6" name="visual-92">
            <a:extLst xmlns:a="http://schemas.openxmlformats.org/drawingml/2006/main">
              <a:ext uri="{FF2B5EF4-FFF2-40B4-BE49-F238E27FC236}">
                <a16:creationId xmlns:a16="http://schemas.microsoft.com/office/drawing/2014/main" id="{AC596DC7-81D2-4D7E-92E3-22DB476F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10225"/>
            <a:ext cx="214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公开机制参照</a:t>
            </a:r>
          </a:p>
        </p:txBody>
      </p:sp>
      <p:sp>
        <p:nvSpPr>
          <p:cNvPr id="17" name="visual-93">
            <a:extLst xmlns:a="http://schemas.openxmlformats.org/drawingml/2006/main">
              <a:ext uri="{FF2B5EF4-FFF2-40B4-BE49-F238E27FC236}">
                <a16:creationId xmlns:a16="http://schemas.microsoft.com/office/drawing/2014/main" id="{349D1F69-B61F-4F5C-AC65-3695923E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572125"/>
            <a:ext cx="42957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NVIDIA线程束内原子聚合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启发核侧预聚合的条件</a:t>
            </a:r>
          </a:p>
        </p:txBody>
      </p:sp>
      <p:sp>
        <p:nvSpPr>
          <p:cNvPr id="18" name="visual-94">
            <a:extLst xmlns:a="http://schemas.openxmlformats.org/drawingml/2006/main">
              <a:ext uri="{FF2B5EF4-FFF2-40B4-BE49-F238E27FC236}">
                <a16:creationId xmlns:a16="http://schemas.microsoft.com/office/drawing/2014/main" id="{2891F9C4-1FEA-4AFA-8A5B-B3B4D8AB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572125"/>
            <a:ext cx="41052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寒武纪计算簇与共享存储层次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启发数据局部性的组织</a:t>
            </a:r>
          </a:p>
        </p:txBody>
      </p:sp>
      <p:sp>
        <p:nvSpPr>
          <p:cNvPr id="19" name="visual-95">
            <a:extLst xmlns:a="http://schemas.openxmlformats.org/drawingml/2006/main">
              <a:ext uri="{FF2B5EF4-FFF2-40B4-BE49-F238E27FC236}">
                <a16:creationId xmlns:a16="http://schemas.microsoft.com/office/drawing/2014/main" id="{434F86C0-A319-43EF-9951-4138DB38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0557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上述措施均为待验证候选。机制参考不能替代同条件实验，收益需同时扣除等待与实现代价。</a:t>
            </a:r>
          </a:p>
        </p:txBody>
      </p:sp>
    </p:spTree>
    <p:extLst>
      <p:ext uri="{BB962C8B-B14F-4D97-AF65-F5344CB8AC3E}">
        <p14:creationId xmlns:p14="http://schemas.microsoft.com/office/powerpoint/2010/main" val="43537731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isual-96">
            <a:extLst xmlns:a="http://schemas.openxmlformats.org/drawingml/2006/main">
              <a:ext uri="{FF2B5EF4-FFF2-40B4-BE49-F238E27FC236}">
                <a16:creationId xmlns:a16="http://schemas.microsoft.com/office/drawing/2014/main" id="{E368D1D5-7075-4C6C-B628-1C2EAD40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实践总结与交流</a:t>
            </a:r>
          </a:p>
        </p:txBody>
      </p:sp>
      <p:sp>
        <p:nvSpPr>
          <p:cNvPr id="2" name="visual-97">
            <a:extLst xmlns:a="http://schemas.openxmlformats.org/drawingml/2006/main">
              <a:ext uri="{FF2B5EF4-FFF2-40B4-BE49-F238E27FC236}">
                <a16:creationId xmlns:a16="http://schemas.microsoft.com/office/drawing/2014/main" id="{C4476CDE-0545-4E74-BA7C-6EEFFF9B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本阶段形成可运行、可观测的多核总线与存储探索平台。</a:t>
            </a:r>
          </a:p>
        </p:txBody>
      </p:sp>
      <p:sp>
        <p:nvSpPr>
          <p:cNvPr id="3" name="visual-98">
            <a:extLst xmlns:a="http://schemas.openxmlformats.org/drawingml/2006/main">
              <a:ext uri="{FF2B5EF4-FFF2-40B4-BE49-F238E27FC236}">
                <a16:creationId xmlns:a16="http://schemas.microsoft.com/office/drawing/2014/main" id="{11DA637C-40FB-417C-AC02-48C31ABC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4" name="visual-99">
            <a:extLst xmlns:a="http://schemas.openxmlformats.org/drawingml/2006/main">
              <a:ext uri="{FF2B5EF4-FFF2-40B4-BE49-F238E27FC236}">
                <a16:creationId xmlns:a16="http://schemas.microsoft.com/office/drawing/2014/main" id="{BB580930-7164-47F9-BAED-0F81FF9F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02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我的主要产出</a:t>
            </a:r>
          </a:p>
        </p:txBody>
      </p:sp>
      <p:sp>
        <p:nvSpPr>
          <p:cNvPr id="5" name="diagram-100">
            <a:extLst xmlns:a="http://schemas.openxmlformats.org/drawingml/2006/main">
              <a:ext uri="{FF2B5EF4-FFF2-40B4-BE49-F238E27FC236}">
                <a16:creationId xmlns:a16="http://schemas.microsoft.com/office/drawing/2014/main" id="{6D5BA969-96D6-4BD5-A505-3BC33055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28900"/>
            <a:ext cx="26574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总线与存储模型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事务、反压、时序</a:t>
            </a:r>
          </a:p>
        </p:txBody>
      </p:sp>
      <p:sp>
        <p:nvSpPr>
          <p:cNvPr id="6" name="diagram-101">
            <a:extLst xmlns:a="http://schemas.openxmlformats.org/drawingml/2006/main">
              <a:ext uri="{FF2B5EF4-FFF2-40B4-BE49-F238E27FC236}">
                <a16:creationId xmlns:a16="http://schemas.microsoft.com/office/drawing/2014/main" id="{9F8DBE07-AB88-4B6E-A8E7-6DACC68C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28900"/>
            <a:ext cx="26574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测试与性能统计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参数扫描、曲线分析</a:t>
            </a:r>
          </a:p>
        </p:txBody>
      </p:sp>
      <p:sp>
        <p:nvSpPr>
          <p:cNvPr id="7" name="diagram-102">
            <a:extLst xmlns:a="http://schemas.openxmlformats.org/drawingml/2006/main">
              <a:ext uri="{FF2B5EF4-FFF2-40B4-BE49-F238E27FC236}">
                <a16:creationId xmlns:a16="http://schemas.microsoft.com/office/drawing/2014/main" id="{D150504C-50B1-4EBC-9F2A-93D3FF16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28900"/>
            <a:ext cx="26574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架构与接口文档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边界、参数、使用说明</a:t>
            </a:r>
          </a:p>
        </p:txBody>
      </p: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38475" y="3114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prstDash val="soli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353175" y="3114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prstDash val="solid"/>
            <a:tailEnd type="triangle" w="sm" len="sm"/>
          </a:ln>
        </p:spPr>
      </p:cxnSp>
      <p:sp>
        <p:nvSpPr>
          <p:cNvPr id="10" name="visual-103">
            <a:extLst xmlns:a="http://schemas.openxmlformats.org/drawingml/2006/main">
              <a:ext uri="{FF2B5EF4-FFF2-40B4-BE49-F238E27FC236}">
                <a16:creationId xmlns:a16="http://schemas.microsoft.com/office/drawing/2014/main" id="{A967CE0B-1144-4D60-8BFF-A20794DE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909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先把请求跑通，再让结果可解释，逐步形成可复用的分析方法。</a:t>
            </a:r>
          </a:p>
        </p:txBody>
      </p:sp>
      <p:sp>
        <p:nvSpPr>
          <p:cNvPr id="11" name="line-104">
            <a:extLst xmlns:a="http://schemas.openxmlformats.org/drawingml/2006/main">
              <a:ext uri="{FF2B5EF4-FFF2-40B4-BE49-F238E27FC236}">
                <a16:creationId xmlns:a16="http://schemas.microsoft.com/office/drawing/2014/main" id="{70635571-611A-4EAC-89D6-DD2BE794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012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2" name="visual-105">
            <a:extLst xmlns:a="http://schemas.openxmlformats.org/drawingml/2006/main">
              <a:ext uri="{FF2B5EF4-FFF2-40B4-BE49-F238E27FC236}">
                <a16:creationId xmlns:a16="http://schemas.microsoft.com/office/drawing/2014/main" id="{E4901AFF-3822-449B-A2BC-3BE79754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81600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接下来最值得共同选择的基准负载是什么？</a:t>
            </a:r>
          </a:p>
        </p:txBody>
      </p:sp>
      <p:sp>
        <p:nvSpPr>
          <p:cNvPr id="13" name="visual-106">
            <a:extLst xmlns:a="http://schemas.openxmlformats.org/drawingml/2006/main">
              <a:ext uri="{FF2B5EF4-FFF2-40B4-BE49-F238E27FC236}">
                <a16:creationId xmlns:a16="http://schemas.microsoft.com/office/drawing/2014/main" id="{0EB146FE-0E65-4563-9382-84713C4D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38825"/>
            <a:ext cx="1123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以SoC ESL校准为基础，围绕同地址冲突等单点问题开展对照实验。</a:t>
            </a:r>
          </a:p>
        </p:txBody>
      </p:sp>
      <p:sp>
        <p:nvSpPr>
          <p:cNvPr id="14" name="visual-107">
            <a:extLst xmlns:a="http://schemas.openxmlformats.org/drawingml/2006/main">
              <a:ext uri="{FF2B5EF4-FFF2-40B4-BE49-F238E27FC236}">
                <a16:creationId xmlns:a16="http://schemas.microsoft.com/office/drawing/2014/main" id="{BECBC32F-9FC6-49BD-B9BC-A090D87B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9605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感谢嘉南哥、晨哥、昊哥的指导与帮助，也感谢大家参与交流。</a:t>
            </a:r>
          </a:p>
        </p:txBody>
      </p:sp>
    </p:spTree>
    <p:extLst>
      <p:ext uri="{BB962C8B-B14F-4D97-AF65-F5344CB8AC3E}">
        <p14:creationId xmlns:p14="http://schemas.microsoft.com/office/powerpoint/2010/main" val="1931702201"/>
      </p:ext>
    </p:extLst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1">
            <a:extLst>
              <a:ext uri="{FF2B5EF4-FFF2-40B4-BE49-F238E27FC236}">
                <a16:creationId xmlns:a16="http://schemas.microsoft.com/office/drawing/2014/main" id="{7406C44F-01A2-4140-8BEA-D453B6BC001F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附录A：RBRG跨环路径与方向队列</a:t>
            </a:r>
          </a:p>
        </p:txBody>
      </p:sp>
      <p:sp>
        <p:nvSpPr>
          <p:cNvPr id="3" name="diagram-2">
            <a:extLst>
              <a:ext uri="{FF2B5EF4-FFF2-40B4-BE49-F238E27FC236}">
                <a16:creationId xmlns:a16="http://schemas.microsoft.com/office/drawing/2014/main" id="{93E13DB3-CC80-4AE7-B313-795D5FEDD038}"/>
              </a:ext>
            </a:extLst>
          </p:cNvPr>
          <p:cNvSpPr>
            <a:spLocks noGrp="1"/>
          </p:cNvSpPr>
          <p:nvPr/>
        </p:nvSpPr>
        <p:spPr>
          <a:xfrm>
            <a:off x="381000" y="1247775"/>
            <a:ext cx="7048500" cy="4600575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B7134902-D985-43AC-A84D-ED32F1312581}"/>
              </a:ext>
            </a:extLst>
          </p:cNvPr>
          <p:cNvSpPr>
            <a:spLocks noGrp="1"/>
          </p:cNvSpPr>
          <p:nvPr/>
        </p:nvSpPr>
        <p:spPr>
          <a:xfrm>
            <a:off x="581025" y="1419225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V-Ring端</a:t>
            </a:r>
          </a:p>
        </p:txBody>
      </p:sp>
      <p:sp>
        <p:nvSpPr>
          <p:cNvPr id="5" name="txt-4">
            <a:extLst>
              <a:ext uri="{FF2B5EF4-FFF2-40B4-BE49-F238E27FC236}">
                <a16:creationId xmlns:a16="http://schemas.microsoft.com/office/drawing/2014/main" id="{645B3A48-EF64-4959-89B5-6D06A30B748D}"/>
              </a:ext>
            </a:extLst>
          </p:cNvPr>
          <p:cNvSpPr>
            <a:spLocks noGrp="1"/>
          </p:cNvSpPr>
          <p:nvPr/>
        </p:nvSpPr>
        <p:spPr>
          <a:xfrm>
            <a:off x="6181725" y="1419225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</a:t>
            </a:r>
            <a:r>
              <a:rPr sz="157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Ring端</a:t>
            </a:r>
            <a:endParaRPr sz="157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diagram-5">
            <a:extLst>
              <a:ext uri="{FF2B5EF4-FFF2-40B4-BE49-F238E27FC236}">
                <a16:creationId xmlns:a16="http://schemas.microsoft.com/office/drawing/2014/main" id="{9EEFE1C3-5A2B-45E2-9C77-69A00401315D}"/>
              </a:ext>
            </a:extLst>
          </p:cNvPr>
          <p:cNvSpPr>
            <a:spLocks noGrp="1"/>
          </p:cNvSpPr>
          <p:nvPr/>
        </p:nvSpPr>
        <p:spPr>
          <a:xfrm>
            <a:off x="581025" y="1924050"/>
            <a:ext cx="74295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V端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diagram-6">
            <a:extLst>
              <a:ext uri="{FF2B5EF4-FFF2-40B4-BE49-F238E27FC236}">
                <a16:creationId xmlns:a16="http://schemas.microsoft.com/office/drawing/2014/main" id="{E2344FA3-3E3B-4AF5-826E-11A0C671094E}"/>
              </a:ext>
            </a:extLst>
          </p:cNvPr>
          <p:cNvSpPr>
            <a:spLocks noGrp="1"/>
          </p:cNvSpPr>
          <p:nvPr/>
        </p:nvSpPr>
        <p:spPr>
          <a:xfrm>
            <a:off x="6505575" y="1924050"/>
            <a:ext cx="733425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H端</a:t>
            </a: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8" name="diagram-7">
            <a:extLst>
              <a:ext uri="{FF2B5EF4-FFF2-40B4-BE49-F238E27FC236}">
                <a16:creationId xmlns:a16="http://schemas.microsoft.com/office/drawing/2014/main" id="{5A2B9588-1A36-4BCE-AF0D-F0E8C1CD454D}"/>
              </a:ext>
            </a:extLst>
          </p:cNvPr>
          <p:cNvSpPr>
            <a:spLocks noGrp="1"/>
          </p:cNvSpPr>
          <p:nvPr/>
        </p:nvSpPr>
        <p:spPr>
          <a:xfrm>
            <a:off x="1685925" y="1914525"/>
            <a:ext cx="1885950" cy="5810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V_TO_H_REQ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REQ</a:t>
            </a:r>
            <a:endParaRPr sz="135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diagram-8">
            <a:extLst>
              <a:ext uri="{FF2B5EF4-FFF2-40B4-BE49-F238E27FC236}">
                <a16:creationId xmlns:a16="http://schemas.microsoft.com/office/drawing/2014/main" id="{A652ABF8-8BA9-409B-816F-8622D7B7755A}"/>
              </a:ext>
            </a:extLst>
          </p:cNvPr>
          <p:cNvSpPr>
            <a:spLocks noGrp="1"/>
          </p:cNvSpPr>
          <p:nvPr/>
        </p:nvSpPr>
        <p:spPr>
          <a:xfrm>
            <a:off x="4029075" y="1876425"/>
            <a:ext cx="2095500" cy="285750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</a:t>
            </a:r>
            <a:endParaRPr sz="127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diagram-9">
            <a:extLst>
              <a:ext uri="{FF2B5EF4-FFF2-40B4-BE49-F238E27FC236}">
                <a16:creationId xmlns:a16="http://schemas.microsoft.com/office/drawing/2014/main" id="{1A10F845-AF65-4B6C-B6CC-3AD741688409}"/>
              </a:ext>
            </a:extLst>
          </p:cNvPr>
          <p:cNvSpPr>
            <a:spLocks noGrp="1"/>
          </p:cNvSpPr>
          <p:nvPr/>
        </p:nvSpPr>
        <p:spPr>
          <a:xfrm>
            <a:off x="4029075" y="2257425"/>
            <a:ext cx="2095500" cy="2857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</a:t>
            </a:r>
            <a:endParaRPr sz="127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" name="直接箭头连接符 60"/>
          <p:cNvCxnSpPr/>
          <p:nvPr/>
        </p:nvCxnSpPr>
        <p:spPr>
          <a:xfrm>
            <a:off x="1323975" y="2205038"/>
            <a:ext cx="361950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2" name="连接符: 肘形 61"/>
          <p:cNvCxnSpPr/>
          <p:nvPr/>
        </p:nvCxnSpPr>
        <p:spPr>
          <a:xfrm flipV="1">
            <a:off x="3571875" y="2019300"/>
            <a:ext cx="4572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3" name="连接符: 肘形 62"/>
          <p:cNvCxnSpPr/>
          <p:nvPr/>
        </p:nvCxnSpPr>
        <p:spPr>
          <a:xfrm>
            <a:off x="6124575" y="2019300"/>
            <a:ext cx="3810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4" name="连接符: 肘形 63"/>
          <p:cNvCxnSpPr/>
          <p:nvPr/>
        </p:nvCxnSpPr>
        <p:spPr>
          <a:xfrm>
            <a:off x="3571875" y="2205038"/>
            <a:ext cx="4572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5" name="连接符: 肘形 64"/>
          <p:cNvCxnSpPr/>
          <p:nvPr/>
        </p:nvCxnSpPr>
        <p:spPr>
          <a:xfrm flipV="1">
            <a:off x="6124575" y="2205038"/>
            <a:ext cx="3810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16" name="diagram-10">
            <a:extLst>
              <a:ext uri="{FF2B5EF4-FFF2-40B4-BE49-F238E27FC236}">
                <a16:creationId xmlns:a16="http://schemas.microsoft.com/office/drawing/2014/main" id="{ADC96EB2-DCA0-41A8-B70E-3E8038FFD7DB}"/>
              </a:ext>
            </a:extLst>
          </p:cNvPr>
          <p:cNvSpPr>
            <a:spLocks noGrp="1"/>
          </p:cNvSpPr>
          <p:nvPr/>
        </p:nvSpPr>
        <p:spPr>
          <a:xfrm>
            <a:off x="581025" y="2876550"/>
            <a:ext cx="74295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V端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diagram-11">
            <a:extLst>
              <a:ext uri="{FF2B5EF4-FFF2-40B4-BE49-F238E27FC236}">
                <a16:creationId xmlns:a16="http://schemas.microsoft.com/office/drawing/2014/main" id="{D94E7A71-FD2D-4BEA-81E3-95834D977BDA}"/>
              </a:ext>
            </a:extLst>
          </p:cNvPr>
          <p:cNvSpPr>
            <a:spLocks noGrp="1"/>
          </p:cNvSpPr>
          <p:nvPr/>
        </p:nvSpPr>
        <p:spPr>
          <a:xfrm>
            <a:off x="6505575" y="2876550"/>
            <a:ext cx="733425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H端</a:t>
            </a: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18" name="diagram-12">
            <a:extLst>
              <a:ext uri="{FF2B5EF4-FFF2-40B4-BE49-F238E27FC236}">
                <a16:creationId xmlns:a16="http://schemas.microsoft.com/office/drawing/2014/main" id="{23CD2078-4E8F-4CBB-A1BE-028989E97349}"/>
              </a:ext>
            </a:extLst>
          </p:cNvPr>
          <p:cNvSpPr>
            <a:spLocks noGrp="1"/>
          </p:cNvSpPr>
          <p:nvPr/>
        </p:nvSpPr>
        <p:spPr>
          <a:xfrm>
            <a:off x="1685925" y="2867025"/>
            <a:ext cx="1885950" cy="5810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V_TO_H_DAT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WR DAT</a:t>
            </a:r>
            <a:endParaRPr sz="135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diagram-13">
            <a:extLst>
              <a:ext uri="{FF2B5EF4-FFF2-40B4-BE49-F238E27FC236}">
                <a16:creationId xmlns:a16="http://schemas.microsoft.com/office/drawing/2014/main" id="{8519A240-2982-44BB-B06B-9F1139EB5ED1}"/>
              </a:ext>
            </a:extLst>
          </p:cNvPr>
          <p:cNvSpPr>
            <a:spLocks noGrp="1"/>
          </p:cNvSpPr>
          <p:nvPr/>
        </p:nvSpPr>
        <p:spPr>
          <a:xfrm>
            <a:off x="4029075" y="2828925"/>
            <a:ext cx="2095500" cy="285750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</a:t>
            </a:r>
            <a:endParaRPr sz="127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diagram-14">
            <a:extLst>
              <a:ext uri="{FF2B5EF4-FFF2-40B4-BE49-F238E27FC236}">
                <a16:creationId xmlns:a16="http://schemas.microsoft.com/office/drawing/2014/main" id="{3DDA3D1D-9575-4B8A-8DA6-6812631BBDCD}"/>
              </a:ext>
            </a:extLst>
          </p:cNvPr>
          <p:cNvSpPr>
            <a:spLocks noGrp="1"/>
          </p:cNvSpPr>
          <p:nvPr/>
        </p:nvSpPr>
        <p:spPr>
          <a:xfrm>
            <a:off x="4029075" y="3209925"/>
            <a:ext cx="2095500" cy="2857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</a:t>
            </a:r>
            <a:endParaRPr sz="127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1" name="直接箭头连接符 70"/>
          <p:cNvCxnSpPr/>
          <p:nvPr/>
        </p:nvCxnSpPr>
        <p:spPr>
          <a:xfrm>
            <a:off x="1323975" y="3157538"/>
            <a:ext cx="361950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22" name="连接符: 肘形 71"/>
          <p:cNvCxnSpPr/>
          <p:nvPr/>
        </p:nvCxnSpPr>
        <p:spPr>
          <a:xfrm flipV="1">
            <a:off x="3571875" y="2971800"/>
            <a:ext cx="4572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23" name="连接符: 肘形 72"/>
          <p:cNvCxnSpPr/>
          <p:nvPr/>
        </p:nvCxnSpPr>
        <p:spPr>
          <a:xfrm>
            <a:off x="6124575" y="2971800"/>
            <a:ext cx="3810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24" name="连接符: 肘形 73"/>
          <p:cNvCxnSpPr/>
          <p:nvPr/>
        </p:nvCxnSpPr>
        <p:spPr>
          <a:xfrm>
            <a:off x="3571875" y="3157538"/>
            <a:ext cx="4572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25" name="连接符: 肘形 74"/>
          <p:cNvCxnSpPr/>
          <p:nvPr/>
        </p:nvCxnSpPr>
        <p:spPr>
          <a:xfrm flipV="1">
            <a:off x="6124575" y="3157538"/>
            <a:ext cx="3810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26" name="diagram-15">
            <a:extLst>
              <a:ext uri="{FF2B5EF4-FFF2-40B4-BE49-F238E27FC236}">
                <a16:creationId xmlns:a16="http://schemas.microsoft.com/office/drawing/2014/main" id="{8B889D32-CA20-4943-824B-775943D8FEBB}"/>
              </a:ext>
            </a:extLst>
          </p:cNvPr>
          <p:cNvSpPr>
            <a:spLocks noGrp="1"/>
          </p:cNvSpPr>
          <p:nvPr/>
        </p:nvSpPr>
        <p:spPr>
          <a:xfrm>
            <a:off x="581025" y="3829050"/>
            <a:ext cx="74295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V端</a:t>
            </a: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27" name="diagram-16">
            <a:extLst>
              <a:ext uri="{FF2B5EF4-FFF2-40B4-BE49-F238E27FC236}">
                <a16:creationId xmlns:a16="http://schemas.microsoft.com/office/drawing/2014/main" id="{DDEFEE02-CD56-4C24-B433-C4A953E8C2B1}"/>
              </a:ext>
            </a:extLst>
          </p:cNvPr>
          <p:cNvSpPr>
            <a:spLocks noGrp="1"/>
          </p:cNvSpPr>
          <p:nvPr/>
        </p:nvSpPr>
        <p:spPr>
          <a:xfrm>
            <a:off x="6505575" y="3829050"/>
            <a:ext cx="733425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H端</a:t>
            </a: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28" name="diagram-17">
            <a:extLst>
              <a:ext uri="{FF2B5EF4-FFF2-40B4-BE49-F238E27FC236}">
                <a16:creationId xmlns:a16="http://schemas.microsoft.com/office/drawing/2014/main" id="{4F54596D-0C04-43A1-88CA-355CCAC76D02}"/>
              </a:ext>
            </a:extLst>
          </p:cNvPr>
          <p:cNvSpPr>
            <a:spLocks noGrp="1"/>
          </p:cNvSpPr>
          <p:nvPr/>
        </p:nvSpPr>
        <p:spPr>
          <a:xfrm>
            <a:off x="4219575" y="3819525"/>
            <a:ext cx="1885950" cy="5810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H_TO_V_RSP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RSP</a:t>
            </a:r>
            <a:endParaRPr sz="135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diagram-18">
            <a:extLst>
              <a:ext uri="{FF2B5EF4-FFF2-40B4-BE49-F238E27FC236}">
                <a16:creationId xmlns:a16="http://schemas.microsoft.com/office/drawing/2014/main" id="{56A4AEB2-7407-49A0-A179-1606AE5C9F87}"/>
              </a:ext>
            </a:extLst>
          </p:cNvPr>
          <p:cNvSpPr>
            <a:spLocks noGrp="1"/>
          </p:cNvSpPr>
          <p:nvPr/>
        </p:nvSpPr>
        <p:spPr>
          <a:xfrm>
            <a:off x="1666875" y="3781425"/>
            <a:ext cx="2095500" cy="285750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</a:t>
            </a:r>
            <a:endParaRPr lang="en-US" altLang="zh-CN" sz="14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diagram-19">
            <a:extLst>
              <a:ext uri="{FF2B5EF4-FFF2-40B4-BE49-F238E27FC236}">
                <a16:creationId xmlns:a16="http://schemas.microsoft.com/office/drawing/2014/main" id="{E7CF7BAB-E278-44F7-92FB-D42BF25BFCF1}"/>
              </a:ext>
            </a:extLst>
          </p:cNvPr>
          <p:cNvSpPr>
            <a:spLocks noGrp="1"/>
          </p:cNvSpPr>
          <p:nvPr/>
        </p:nvSpPr>
        <p:spPr>
          <a:xfrm>
            <a:off x="1666875" y="4162425"/>
            <a:ext cx="2095500" cy="2857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</a:t>
            </a:r>
            <a:endParaRPr lang="en-US" altLang="zh-CN" sz="14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1" name="直接箭头连接符 80"/>
          <p:cNvCxnSpPr/>
          <p:nvPr/>
        </p:nvCxnSpPr>
        <p:spPr>
          <a:xfrm flipH="1">
            <a:off x="6105525" y="4110038"/>
            <a:ext cx="400050" cy="0"/>
          </a:xfrm>
          <a:prstGeom prst="straightConnector1">
            <a:avLst/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32" name="连接符: 肘形 81"/>
          <p:cNvCxnSpPr/>
          <p:nvPr/>
        </p:nvCxnSpPr>
        <p:spPr>
          <a:xfrm flipH="1" flipV="1">
            <a:off x="3762375" y="3924300"/>
            <a:ext cx="4572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33" name="连接符: 肘形 82"/>
          <p:cNvCxnSpPr/>
          <p:nvPr/>
        </p:nvCxnSpPr>
        <p:spPr>
          <a:xfrm flipH="1">
            <a:off x="1323975" y="3924300"/>
            <a:ext cx="3429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34" name="连接符: 肘形 83"/>
          <p:cNvCxnSpPr/>
          <p:nvPr/>
        </p:nvCxnSpPr>
        <p:spPr>
          <a:xfrm flipH="1">
            <a:off x="3762375" y="4110038"/>
            <a:ext cx="4572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35" name="连接符: 肘形 84"/>
          <p:cNvCxnSpPr/>
          <p:nvPr/>
        </p:nvCxnSpPr>
        <p:spPr>
          <a:xfrm flipH="1" flipV="1">
            <a:off x="1323975" y="4110038"/>
            <a:ext cx="3429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sp>
        <p:nvSpPr>
          <p:cNvPr id="36" name="diagram-20">
            <a:extLst>
              <a:ext uri="{FF2B5EF4-FFF2-40B4-BE49-F238E27FC236}">
                <a16:creationId xmlns:a16="http://schemas.microsoft.com/office/drawing/2014/main" id="{4978BDCD-46C0-4C6E-82A4-9839641C9922}"/>
              </a:ext>
            </a:extLst>
          </p:cNvPr>
          <p:cNvSpPr>
            <a:spLocks noGrp="1"/>
          </p:cNvSpPr>
          <p:nvPr/>
        </p:nvSpPr>
        <p:spPr>
          <a:xfrm>
            <a:off x="581025" y="4781550"/>
            <a:ext cx="74295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V端</a:t>
            </a: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37" name="diagram-21">
            <a:extLst>
              <a:ext uri="{FF2B5EF4-FFF2-40B4-BE49-F238E27FC236}">
                <a16:creationId xmlns:a16="http://schemas.microsoft.com/office/drawing/2014/main" id="{128D888D-D808-4B4F-973B-31A785CD04AA}"/>
              </a:ext>
            </a:extLst>
          </p:cNvPr>
          <p:cNvSpPr>
            <a:spLocks noGrp="1"/>
          </p:cNvSpPr>
          <p:nvPr/>
        </p:nvSpPr>
        <p:spPr>
          <a:xfrm>
            <a:off x="6505575" y="4781550"/>
            <a:ext cx="733425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H端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diagram-22">
            <a:extLst>
              <a:ext uri="{FF2B5EF4-FFF2-40B4-BE49-F238E27FC236}">
                <a16:creationId xmlns:a16="http://schemas.microsoft.com/office/drawing/2014/main" id="{AAAD83ED-00BC-497F-A853-2A53A14B58FF}"/>
              </a:ext>
            </a:extLst>
          </p:cNvPr>
          <p:cNvSpPr>
            <a:spLocks noGrp="1"/>
          </p:cNvSpPr>
          <p:nvPr/>
        </p:nvSpPr>
        <p:spPr>
          <a:xfrm>
            <a:off x="4219575" y="4772025"/>
            <a:ext cx="1885950" cy="5810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H_TO_V_DAT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RD DAT</a:t>
            </a:r>
            <a:endParaRPr sz="135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diagram-23">
            <a:extLst>
              <a:ext uri="{FF2B5EF4-FFF2-40B4-BE49-F238E27FC236}">
                <a16:creationId xmlns:a16="http://schemas.microsoft.com/office/drawing/2014/main" id="{58A8D477-F9F1-4468-A6BA-C15626A0580B}"/>
              </a:ext>
            </a:extLst>
          </p:cNvPr>
          <p:cNvSpPr>
            <a:spLocks noGrp="1"/>
          </p:cNvSpPr>
          <p:nvPr/>
        </p:nvSpPr>
        <p:spPr>
          <a:xfrm>
            <a:off x="1666875" y="4733925"/>
            <a:ext cx="2095500" cy="285750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</a:t>
            </a:r>
            <a:endParaRPr lang="en-US" altLang="zh-CN" sz="14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diagram-24">
            <a:extLst>
              <a:ext uri="{FF2B5EF4-FFF2-40B4-BE49-F238E27FC236}">
                <a16:creationId xmlns:a16="http://schemas.microsoft.com/office/drawing/2014/main" id="{C82615DC-AAAA-4736-93F6-5C9CFCC3D61C}"/>
              </a:ext>
            </a:extLst>
          </p:cNvPr>
          <p:cNvSpPr>
            <a:spLocks noGrp="1"/>
          </p:cNvSpPr>
          <p:nvPr/>
        </p:nvSpPr>
        <p:spPr>
          <a:xfrm>
            <a:off x="1666875" y="5114925"/>
            <a:ext cx="2095500" cy="2857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</a:t>
            </a:r>
            <a:endParaRPr lang="en-US" altLang="zh-CN" sz="14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41" name="直接箭头连接符 90"/>
          <p:cNvCxnSpPr/>
          <p:nvPr/>
        </p:nvCxnSpPr>
        <p:spPr>
          <a:xfrm flipH="1">
            <a:off x="6105525" y="5062538"/>
            <a:ext cx="400050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42" name="连接符: 肘形 91"/>
          <p:cNvCxnSpPr/>
          <p:nvPr/>
        </p:nvCxnSpPr>
        <p:spPr>
          <a:xfrm flipH="1" flipV="1">
            <a:off x="3762375" y="4876800"/>
            <a:ext cx="4572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43" name="连接符: 肘形 92"/>
          <p:cNvCxnSpPr/>
          <p:nvPr/>
        </p:nvCxnSpPr>
        <p:spPr>
          <a:xfrm flipH="1">
            <a:off x="1323975" y="4876800"/>
            <a:ext cx="3429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44" name="连接符: 肘形 93"/>
          <p:cNvCxnSpPr/>
          <p:nvPr/>
        </p:nvCxnSpPr>
        <p:spPr>
          <a:xfrm flipH="1">
            <a:off x="3762375" y="5062538"/>
            <a:ext cx="4572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45" name="连接符: 肘形 94"/>
          <p:cNvCxnSpPr/>
          <p:nvPr/>
        </p:nvCxnSpPr>
        <p:spPr>
          <a:xfrm flipH="1" flipV="1">
            <a:off x="1323975" y="5062538"/>
            <a:ext cx="3429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46" name="txt-25">
            <a:extLst>
              <a:ext uri="{FF2B5EF4-FFF2-40B4-BE49-F238E27FC236}">
                <a16:creationId xmlns:a16="http://schemas.microsoft.com/office/drawing/2014/main" id="{7CD3728F-26F9-4FD3-97AC-6610331B63F6}"/>
              </a:ext>
            </a:extLst>
          </p:cNvPr>
          <p:cNvSpPr>
            <a:spLocks noGrp="1"/>
          </p:cNvSpPr>
          <p:nvPr/>
        </p:nvSpPr>
        <p:spPr>
          <a:xfrm>
            <a:off x="7820025" y="1362075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四条协议路径</a:t>
            </a:r>
          </a:p>
        </p:txBody>
      </p:sp>
      <p:sp>
        <p:nvSpPr>
          <p:cNvPr id="47" name="bullet-list-27">
            <a:extLst>
              <a:ext uri="{FF2B5EF4-FFF2-40B4-BE49-F238E27FC236}">
                <a16:creationId xmlns:a16="http://schemas.microsoft.com/office/drawing/2014/main" id="{98EA8C94-1DC1-40AE-A765-39112D479BC5}"/>
              </a:ext>
            </a:extLst>
          </p:cNvPr>
          <p:cNvSpPr>
            <a:spLocks noGrp="1"/>
          </p:cNvSpPr>
          <p:nvPr/>
        </p:nvSpPr>
        <p:spPr>
          <a:xfrm>
            <a:off x="7820025" y="1800225"/>
            <a:ext cx="39814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V-Ring向H-Ring传递请求和写数据。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H-Ring向V-Ring返回完成响应和读数据。</a:t>
            </a:r>
          </a:p>
        </p:txBody>
      </p:sp>
      <p:sp>
        <p:nvSpPr>
          <p:cNvPr id="48" name="txt-28">
            <a:extLst>
              <a:ext uri="{FF2B5EF4-FFF2-40B4-BE49-F238E27FC236}">
                <a16:creationId xmlns:a16="http://schemas.microsoft.com/office/drawing/2014/main" id="{466259E7-6AB0-4EF9-90EB-7B77F2998CAC}"/>
              </a:ext>
            </a:extLst>
          </p:cNvPr>
          <p:cNvSpPr>
            <a:spLocks noGrp="1"/>
          </p:cNvSpPr>
          <p:nvPr/>
        </p:nvSpPr>
        <p:spPr>
          <a:xfrm>
            <a:off x="7820025" y="3209925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按方向配置资源</a:t>
            </a:r>
          </a:p>
        </p:txBody>
      </p:sp>
      <p:sp>
        <p:nvSpPr>
          <p:cNvPr id="49" name="bullet-list-30">
            <a:extLst>
              <a:ext uri="{FF2B5EF4-FFF2-40B4-BE49-F238E27FC236}">
                <a16:creationId xmlns:a16="http://schemas.microsoft.com/office/drawing/2014/main" id="{E6A25D17-53E8-4675-B00A-F0E63EC83B23}"/>
              </a:ext>
            </a:extLst>
          </p:cNvPr>
          <p:cNvSpPr>
            <a:spLocks noGrp="1"/>
          </p:cNvSpPr>
          <p:nvPr/>
        </p:nvSpPr>
        <p:spPr>
          <a:xfrm>
            <a:off x="7820025" y="3638550"/>
            <a:ext cx="3981450" cy="1533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各路径分别设置CW和CCW</a:t>
            </a:r>
            <a:r>
              <a:rPr lang="en-US"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及串行化资源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目标注入队列可接收，且串行化资源空闲时，才允许换环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0" name="txt-31">
            <a:extLst>
              <a:ext uri="{FF2B5EF4-FFF2-40B4-BE49-F238E27FC236}">
                <a16:creationId xmlns:a16="http://schemas.microsoft.com/office/drawing/2014/main" id="{23D33755-EE18-43E5-870F-8C5C23170DC6}"/>
              </a:ext>
            </a:extLst>
          </p:cNvPr>
          <p:cNvSpPr>
            <a:spLocks noGrp="1"/>
          </p:cNvSpPr>
          <p:nvPr/>
        </p:nvSpPr>
        <p:spPr>
          <a:xfrm>
            <a:off x="7820025" y="5238750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成功后推进队首</a:t>
            </a:r>
          </a:p>
        </p:txBody>
      </p:sp>
      <p:sp>
        <p:nvSpPr>
          <p:cNvPr id="51" name="txt-32">
            <a:extLst>
              <a:ext uri="{FF2B5EF4-FFF2-40B4-BE49-F238E27FC236}">
                <a16:creationId xmlns:a16="http://schemas.microsoft.com/office/drawing/2014/main" id="{9F1062C7-C041-482B-893B-C9DFFBA96AF9}"/>
              </a:ext>
            </a:extLst>
          </p:cNvPr>
          <p:cNvSpPr>
            <a:spLocks noGrp="1"/>
          </p:cNvSpPr>
          <p:nvPr/>
        </p:nvSpPr>
        <p:spPr>
          <a:xfrm>
            <a:off x="7820025" y="5638800"/>
            <a:ext cx="39814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转发成功后才移除来源队首，受阻时保留数据并维持反压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2" name="txt-33">
            <a:extLst>
              <a:ext uri="{FF2B5EF4-FFF2-40B4-BE49-F238E27FC236}">
                <a16:creationId xmlns:a16="http://schemas.microsoft.com/office/drawing/2014/main" id="{E5EB8613-39B6-4328-971B-D63667BAEF18}"/>
              </a:ext>
            </a:extLst>
          </p:cNvPr>
          <p:cNvSpPr>
            <a:spLocks noGrp="1"/>
          </p:cNvSpPr>
          <p:nvPr/>
        </p:nvSpPr>
        <p:spPr>
          <a:xfrm>
            <a:off x="381000" y="6229350"/>
            <a:ext cx="113919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方向说明：CW为顺时针，CCW为逆时针。队列和串行化资源按协议路径与方向组织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3" name="share-155">
            <a:extLst>
              <a:ext uri="{FF2B5EF4-FFF2-40B4-BE49-F238E27FC236}">
                <a16:creationId xmlns:a16="http://schemas.microsoft.com/office/drawing/2014/main" id="{79B90344-085D-471E-8D9C-D2ECADE38832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1019541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56">
            <a:extLst>
              <a:ext uri="{FF2B5EF4-FFF2-40B4-BE49-F238E27FC236}">
                <a16:creationId xmlns:a16="http://schemas.microsoft.com/office/drawing/2014/main" id="{24EB94C4-3CDB-4525-950B-920FD2224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21" y="1066800"/>
            <a:ext cx="6512764" cy="4057650"/>
          </a:xfrm>
          <a:prstGeom prst="rect">
            <a:avLst/>
          </a:prstGeom>
        </p:spPr>
      </p:pic>
      <p:sp>
        <p:nvSpPr>
          <p:cNvPr id="3" name="delivery-add-1">
            <a:extLst>
              <a:ext uri="{FF2B5EF4-FFF2-40B4-BE49-F238E27FC236}">
                <a16:creationId xmlns:a16="http://schemas.microsoft.com/office/drawing/2014/main" id="{0009F314-2752-46BE-947E-1114DA581FAE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附录B：目标架构与当前模型边界</a:t>
            </a:r>
          </a:p>
        </p:txBody>
      </p:sp>
      <p:sp>
        <p:nvSpPr>
          <p:cNvPr id="4" name="delivery-add-2">
            <a:extLst>
              <a:ext uri="{FF2B5EF4-FFF2-40B4-BE49-F238E27FC236}">
                <a16:creationId xmlns:a16="http://schemas.microsoft.com/office/drawing/2014/main" id="{B07EC428-96CA-4A69-9240-91CEA92E66A9}"/>
              </a:ext>
            </a:extLst>
          </p:cNvPr>
          <p:cNvSpPr>
            <a:spLocks noGrp="1"/>
          </p:cNvSpPr>
          <p:nvPr/>
        </p:nvSpPr>
        <p:spPr>
          <a:xfrm>
            <a:off x="6858000" y="1019175"/>
            <a:ext cx="4953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目标架构</a:t>
            </a:r>
          </a:p>
        </p:txBody>
      </p:sp>
      <p:sp>
        <p:nvSpPr>
          <p:cNvPr id="5" name="delivery-add-3">
            <a:extLst>
              <a:ext uri="{FF2B5EF4-FFF2-40B4-BE49-F238E27FC236}">
                <a16:creationId xmlns:a16="http://schemas.microsoft.com/office/drawing/2014/main" id="{17A42560-72AC-4E9B-B5E3-16CC2DDC6A34}"/>
              </a:ext>
            </a:extLst>
          </p:cNvPr>
          <p:cNvSpPr>
            <a:spLocks noGrp="1"/>
          </p:cNvSpPr>
          <p:nvPr/>
        </p:nvSpPr>
        <p:spPr>
          <a:xfrm>
            <a:off x="6858000" y="1428750"/>
            <a:ext cx="4953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垂直环连接计算核，水平环组织存储访问。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RBRG-L1负责环间连接与路径切换。</a:t>
            </a:r>
          </a:p>
        </p:txBody>
      </p:sp>
      <p:sp>
        <p:nvSpPr>
          <p:cNvPr id="6" name="delivery-add-4">
            <a:extLst>
              <a:ext uri="{FF2B5EF4-FFF2-40B4-BE49-F238E27FC236}">
                <a16:creationId xmlns:a16="http://schemas.microsoft.com/office/drawing/2014/main" id="{09C09FC3-809D-4CE2-BEA9-1F373D20F0EB}"/>
              </a:ext>
            </a:extLst>
          </p:cNvPr>
          <p:cNvSpPr>
            <a:spLocks noGrp="1"/>
          </p:cNvSpPr>
          <p:nvPr/>
        </p:nvSpPr>
        <p:spPr>
          <a:xfrm>
            <a:off x="6858000" y="2505075"/>
            <a:ext cx="4953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图示访问流程</a:t>
            </a:r>
          </a:p>
        </p:txBody>
      </p:sp>
      <p:sp>
        <p:nvSpPr>
          <p:cNvPr id="7" name="delivery-add-5">
            <a:extLst>
              <a:ext uri="{FF2B5EF4-FFF2-40B4-BE49-F238E27FC236}">
                <a16:creationId xmlns:a16="http://schemas.microsoft.com/office/drawing/2014/main" id="{291CA85A-7CD8-4EAA-82D6-988258F63967}"/>
              </a:ext>
            </a:extLst>
          </p:cNvPr>
          <p:cNvSpPr>
            <a:spLocks noGrp="1"/>
          </p:cNvSpPr>
          <p:nvPr/>
        </p:nvSpPr>
        <p:spPr>
          <a:xfrm>
            <a:off x="6858000" y="2914650"/>
            <a:ext cx="49530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① 请求进入HA／目录。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② Hit &amp; Snp表示目录查询及侦听流程。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③ 命中数据经L2与垂直环返回。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④ 未命中时访问HBM并回填。</a:t>
            </a:r>
          </a:p>
        </p:txBody>
      </p:sp>
      <p:sp>
        <p:nvSpPr>
          <p:cNvPr id="8" name="delivery-add-6">
            <a:extLst>
              <a:ext uri="{FF2B5EF4-FFF2-40B4-BE49-F238E27FC236}">
                <a16:creationId xmlns:a16="http://schemas.microsoft.com/office/drawing/2014/main" id="{0B8E7805-4F72-4118-847D-AE4FED5778F9}"/>
              </a:ext>
            </a:extLst>
          </p:cNvPr>
          <p:cNvSpPr>
            <a:spLocks noGrp="1"/>
          </p:cNvSpPr>
          <p:nvPr/>
        </p:nvSpPr>
        <p:spPr>
          <a:xfrm>
            <a:off x="6858000" y="4543425"/>
            <a:ext cx="4953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当前ESL建模范围</a:t>
            </a:r>
          </a:p>
        </p:txBody>
      </p:sp>
      <p:sp>
        <p:nvSpPr>
          <p:cNvPr id="9" name="delivery-add-7">
            <a:extLst>
              <a:ext uri="{FF2B5EF4-FFF2-40B4-BE49-F238E27FC236}">
                <a16:creationId xmlns:a16="http://schemas.microsoft.com/office/drawing/2014/main" id="{B4CC9575-5529-442B-809C-137C36AF93AA}"/>
              </a:ext>
            </a:extLst>
          </p:cNvPr>
          <p:cNvSpPr>
            <a:spLocks noGrp="1"/>
          </p:cNvSpPr>
          <p:nvPr/>
        </p:nvSpPr>
        <p:spPr>
          <a:xfrm>
            <a:off x="6858000" y="4953000"/>
            <a:ext cx="4953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实现H/V互连、读写事务与聚合返回。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L2命中由配置近似，HBM由TmMem抽象。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目录一致性和完整缓存微结构未展开。</a:t>
            </a:r>
          </a:p>
        </p:txBody>
      </p:sp>
      <p:sp>
        <p:nvSpPr>
          <p:cNvPr id="10" name="delivery-add-8">
            <a:extLst>
              <a:ext uri="{FF2B5EF4-FFF2-40B4-BE49-F238E27FC236}">
                <a16:creationId xmlns:a16="http://schemas.microsoft.com/office/drawing/2014/main" id="{39BDF7E8-D298-41DD-9E08-1BEB562EDF3F}"/>
              </a:ext>
            </a:extLst>
          </p:cNvPr>
          <p:cNvSpPr>
            <a:spLocks noGrp="1"/>
          </p:cNvSpPr>
          <p:nvPr/>
        </p:nvSpPr>
        <p:spPr>
          <a:xfrm>
            <a:off x="295275" y="5619750"/>
            <a:ext cx="6191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图示为多水平环目标方案。当前实验采用多条垂直环接入一条共享水平环，实际拓扑见正文第5页。</a:t>
            </a:r>
          </a:p>
        </p:txBody>
      </p:sp>
      <p:sp>
        <p:nvSpPr>
          <p:cNvPr id="11" name="share-156">
            <a:extLst>
              <a:ext uri="{FF2B5EF4-FFF2-40B4-BE49-F238E27FC236}">
                <a16:creationId xmlns:a16="http://schemas.microsoft.com/office/drawing/2014/main" id="{40B9B021-C442-47AD-A2F7-8BF23F26006D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A2</a:t>
            </a:r>
          </a:p>
        </p:txBody>
      </p:sp>
    </p:spTree>
    <p:extLst>
      <p:ext uri="{BB962C8B-B14F-4D97-AF65-F5344CB8AC3E}">
        <p14:creationId xmlns:p14="http://schemas.microsoft.com/office/powerpoint/2010/main" val="3665832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visual20260917/slides/charts/_rels/chart1.xml.rels><Relationships xmlns="http://schemas.openxmlformats.org/package/2006/relationships"><Relationship Id="rIdChartSnapshot1" Type="http://schemas.openxmlformats.org/officeDocument/2006/relationships/package" Target="../../../embeddings/chart-data-snapshot-001.xlsx"/></Relationships>
</file>

<file path=ppt/visual20260917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有效吞吐</c:v>
          </c:tx>
          <c:spPr>
            <a:solidFill xmlns:a="http://schemas.openxmlformats.org/drawingml/2006/main">
              <a:srgbClr val="10286B"/>
            </a:solidFill>
          </c:spPr>
          <c:cat>
            <c:strRef>
              <c:f>'Chart Data'!$A$2:$A$4</c:f>
              <c:strCache>
                <c:ptCount val="3"/>
                <c:pt idx="0">
                  <c:v>并发128</c:v>
                </c:pt>
                <c:pt idx="1">
                  <c:v>并发256</c:v>
                </c:pt>
                <c:pt idx="2">
                  <c:v>并发512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0.801336</c:v>
                </c:pt>
                <c:pt idx="1">
                  <c:v>1</c:v>
                </c:pt>
                <c:pt idx="2">
                  <c:v>0.979395</c:v>
                </c:pt>
              </c:numCache>
            </c:numRef>
          </c:val>
        </c:ser>
        <c:ser>
          <c:idx val="1"/>
          <c:order val="1"/>
          <c:tx>
            <c:v>P99延迟</c:v>
          </c:tx>
          <c:spPr>
            <a:solidFill xmlns:a="http://schemas.openxmlformats.org/drawingml/2006/main">
              <a:srgbClr val="C55A11"/>
            </a:solidFill>
          </c:spPr>
          <c:cat>
            <c:strRef>
              <c:f>'Chart Data'!$C$2:$C$4</c:f>
              <c:strCache>
                <c:ptCount val="3"/>
                <c:pt idx="0">
                  <c:v>并发128</c:v>
                </c:pt>
                <c:pt idx="1">
                  <c:v>并发256</c:v>
                </c:pt>
                <c:pt idx="2">
                  <c:v>并发512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0.683507</c:v>
                </c:pt>
                <c:pt idx="1">
                  <c:v>1</c:v>
                </c:pt>
                <c:pt idx="2">
                  <c:v>2.546805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77818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Microsoft YaHei"/>
                    <a:ea typeface="Microsoft YaHei"/>
                    <a:cs typeface="Microsoft YaHei"/>
                  </a:rPr>
                  <a:t>相对并发256的比值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000000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7464</Words>
  <Application>Microsoft Office PowerPoint</Application>
  <DocSecurity>0</DocSecurity>
  <PresentationFormat>宽屏</PresentationFormat>
  <Paragraphs>602</Paragraphs>
  <Slides>26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江 文能</cp:lastModifiedBy>
  <cp:revision>44</cp:revision>
  <dcterms:created xsi:type="dcterms:W3CDTF">2026-08-24T14:44:04Z</dcterms:created>
  <dcterms:modified xsi:type="dcterms:W3CDTF">2026-09-08T08:36:05Z</dcterms:modified>
</cp:coreProperties>
</file>