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visual20260917/slides/charts/chart1.xml" ContentType="application/vnd.openxmlformats-officedocument.drawingml.chart+xml"/>
  <Default Extension="xlsx" ContentType="application/vnd.openxmlformats-officedocument.spreadsheetml.sheet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Arch1"/>
    <p:sldId id="257" r:id="rIdArch2"/>
    <p:sldId id="258" r:id="rIdArch3"/>
    <p:sldId id="259" r:id="rIdArch4"/>
    <p:sldId id="260" r:id="rIdArch5"/>
    <p:sldId id="261" r:id="rIdArch6"/>
    <p:sldId id="262" r:id="rIdArch7"/>
    <p:sldId id="263" r:id="rIdArch8"/>
    <p:sldId id="264" r:id="rIdArch9"/>
    <p:sldId id="265" r:id="rIdArch10"/>
    <p:sldId id="266" r:id="rIdArch11"/>
    <p:sldId id="267" r:id="rIdArch12"/>
    <p:sldId id="268" r:id="rIdArch13"/>
    <p:sldId id="269" r:id="rIdArch14"/>
    <p:sldId id="270" r:id="rIdArch15"/>
    <p:sldId id="271" r:id="rIdArch16"/>
    <p:sldId id="272" r:id="rIdArch17"/>
    <p:sldId id="273" r:id="rIdArch18"/>
    <p:sldId id="274" r:id="rIdArch19"/>
    <p:sldId id="275" r:id="rIdArch20"/>
    <p:sldId id="276" r:id="rIdArch21"/>
    <p:sldId id="277" r:id="rIdArch22"/>
    <p:sldId id="278" r:id="rIdArch23"/>
    <p:sldId id="279" r:id="rIdArch24"/>
    <p:sldId id="280" r:id="rIdArch25"/>
    <p:sldId id="281" r:id="rIdArch26"/>
    <p:sldId id="282" r:id="rIdArch27"/>
    <p:sldId id="283" r:id="rIdArch28"/>
  </p:sldIdLst>
  <p:sldSz cx="12192000" cy="6858000"/>
  <p:notesSz cx="6858000" cy="9144000"/>
  <p:custShowLst>
    <p:custShow name="30分钟重点版" id="0">
      <p:sldLst>
        <p:sld r:id="rIdArch1"/>
        <p:sld r:id="rIdArch3"/>
        <p:sld r:id="rIdArch5"/>
        <p:sld r:id="rIdArch6"/>
        <p:sld r:id="rIdArch7"/>
        <p:sld r:id="rIdArch8"/>
        <p:sld r:id="rIdArch9"/>
        <p:sld r:id="rIdArch10"/>
        <p:sld r:id="rIdArch12"/>
        <p:sld r:id="rIdArch14"/>
        <p:sld r:id="rIdArch15"/>
        <p:sld r:id="rIdArch17"/>
        <p:sld r:id="rIdArch18"/>
        <p:sld r:id="rIdArch20"/>
        <p:sld r:id="rIdArch21"/>
        <p:sld r:id="rIdArch24"/>
      </p:sldLst>
    </p:custShow>
    <p:custShow name="45分钟架构分享" id="1">
      <p:sldLst>
        <p:sld r:id="rIdArch1"/>
        <p:sld r:id="rIdArch2"/>
        <p:sld r:id="rIdArch3"/>
        <p:sld r:id="rIdArch4"/>
        <p:sld r:id="rIdArch5"/>
        <p:sld r:id="rIdArch6"/>
        <p:sld r:id="rIdArch7"/>
        <p:sld r:id="rIdArch8"/>
        <p:sld r:id="rIdArch9"/>
        <p:sld r:id="rIdArch10"/>
        <p:sld r:id="rIdArch11"/>
        <p:sld r:id="rIdArch12"/>
        <p:sld r:id="rIdArch13"/>
        <p:sld r:id="rIdArch14"/>
        <p:sld r:id="rIdArch15"/>
        <p:sld r:id="rIdArch16"/>
        <p:sld r:id="rIdArch17"/>
        <p:sld r:id="rIdArch18"/>
        <p:sld r:id="rIdArch19"/>
        <p:sld r:id="rIdArch20"/>
        <p:sld r:id="rIdArch21"/>
        <p:sld r:id="rIdArch22"/>
        <p:sld r:id="rIdArch23"/>
        <p:sld r:id="rIdArch24"/>
      </p:sldLst>
    </p:custShow>
    <p:custShow name="60分钟含补充讨论" id="2">
      <p:sldLst>
        <p:sld r:id="rIdArch1"/>
        <p:sld r:id="rIdArch2"/>
        <p:sld r:id="rIdArch3"/>
        <p:sld r:id="rIdArch4"/>
        <p:sld r:id="rIdArch5"/>
        <p:sld r:id="rIdArch6"/>
        <p:sld r:id="rIdArch7"/>
        <p:sld r:id="rIdArch8"/>
        <p:sld r:id="rIdArch9"/>
        <p:sld r:id="rIdArch10"/>
        <p:sld r:id="rIdArch11"/>
        <p:sld r:id="rIdArch12"/>
        <p:sld r:id="rIdArch13"/>
        <p:sld r:id="rIdArch14"/>
        <p:sld r:id="rIdArch15"/>
        <p:sld r:id="rIdArch16"/>
        <p:sld r:id="rIdArch17"/>
        <p:sld r:id="rIdArch18"/>
        <p:sld r:id="rIdArch19"/>
        <p:sld r:id="rIdArch20"/>
        <p:sld r:id="rIdArch21"/>
        <p:sld r:id="rIdArch22"/>
        <p:sld r:id="rIdArch25"/>
        <p:sld r:id="rIdArch26"/>
        <p:sld r:id="rIdArch27"/>
        <p:sld r:id="rIdArch23"/>
        <p:sld r:id="rIdArch24"/>
        <p:sld r:id="rIdArch28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A25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73" autoAdjust="0"/>
  </p:normalViewPr>
  <p:slideViewPr>
    <p:cSldViewPr snapToGrid="0" snapToObjects="1">
      <p:cViewPr varScale="1">
        <p:scale>
          <a:sx n="79" d="100"/>
          <a:sy n="79" d="100"/>
        </p:scale>
        <p:origin x="10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22" Type="http://schemas.openxmlformats.org/officeDocument/2006/relationships/theme" Target="theme/theme1.xml"/><Relationship Id="rIdArch1" Type="http://schemas.openxmlformats.org/officeDocument/2006/relationships/slide" Target="slides/slide1.xml"/><Relationship Id="rIdArch2" Type="http://schemas.openxmlformats.org/officeDocument/2006/relationships/slide" Target="slides/slide2.xml"/><Relationship Id="rIdArch3" Type="http://schemas.openxmlformats.org/officeDocument/2006/relationships/slide" Target="slides/slide3.xml"/><Relationship Id="rIdArch4" Type="http://schemas.openxmlformats.org/officeDocument/2006/relationships/slide" Target="slides/slide4.xml"/><Relationship Id="rIdArch5" Type="http://schemas.openxmlformats.org/officeDocument/2006/relationships/slide" Target="slides/slide5.xml"/><Relationship Id="rIdArch6" Type="http://schemas.openxmlformats.org/officeDocument/2006/relationships/slide" Target="slides/slide6.xml"/><Relationship Id="rIdArch7" Type="http://schemas.openxmlformats.org/officeDocument/2006/relationships/slide" Target="slides/slide7.xml"/><Relationship Id="rIdArch8" Type="http://schemas.openxmlformats.org/officeDocument/2006/relationships/slide" Target="slides/slide8.xml"/><Relationship Id="rIdArch9" Type="http://schemas.openxmlformats.org/officeDocument/2006/relationships/slide" Target="slides/slide9.xml"/><Relationship Id="rIdArch10" Type="http://schemas.openxmlformats.org/officeDocument/2006/relationships/slide" Target="slides/slide10.xml"/><Relationship Id="rIdArch11" Type="http://schemas.openxmlformats.org/officeDocument/2006/relationships/slide" Target="slides/slide11.xml"/><Relationship Id="rIdArch12" Type="http://schemas.openxmlformats.org/officeDocument/2006/relationships/slide" Target="slides/slide12.xml"/><Relationship Id="rIdArch13" Type="http://schemas.openxmlformats.org/officeDocument/2006/relationships/slide" Target="slides/slide13.xml"/><Relationship Id="rIdArch14" Type="http://schemas.openxmlformats.org/officeDocument/2006/relationships/slide" Target="slides/slide14.xml"/><Relationship Id="rIdArch15" Type="http://schemas.openxmlformats.org/officeDocument/2006/relationships/slide" Target="slides/slide15.xml"/><Relationship Id="rIdArch16" Type="http://schemas.openxmlformats.org/officeDocument/2006/relationships/slide" Target="slides/slide16.xml"/><Relationship Id="rIdArch17" Type="http://schemas.openxmlformats.org/officeDocument/2006/relationships/slide" Target="slides/slide17.xml"/><Relationship Id="rIdArch18" Type="http://schemas.openxmlformats.org/officeDocument/2006/relationships/slide" Target="slides/slide18.xml"/><Relationship Id="rIdArch19" Type="http://schemas.openxmlformats.org/officeDocument/2006/relationships/slide" Target="slides/slide19.xml"/><Relationship Id="rIdArch20" Type="http://schemas.openxmlformats.org/officeDocument/2006/relationships/slide" Target="slides/slide20.xml"/><Relationship Id="rIdArch21" Type="http://schemas.openxmlformats.org/officeDocument/2006/relationships/slide" Target="slides/slide21.xml"/><Relationship Id="rIdArch22" Type="http://schemas.openxmlformats.org/officeDocument/2006/relationships/slide" Target="slides/slide22.xml"/><Relationship Id="rIdArch23" Type="http://schemas.openxmlformats.org/officeDocument/2006/relationships/slide" Target="slides/slide23.xml"/><Relationship Id="rIdArch24" Type="http://schemas.openxmlformats.org/officeDocument/2006/relationships/slide" Target="slides/slide24.xml"/><Relationship Id="rIdArch25" Type="http://schemas.openxmlformats.org/officeDocument/2006/relationships/slide" Target="slides/slide25.xml"/><Relationship Id="rIdArch26" Type="http://schemas.openxmlformats.org/officeDocument/2006/relationships/slide" Target="slides/slide26.xml"/><Relationship Id="rIdArch27" Type="http://schemas.openxmlformats.org/officeDocument/2006/relationships/slide" Target="slides/slide27.xml"/><Relationship Id="rIdArch28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1】多核SoC总线ESL建模与性能探索实践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今天想结合这三个月的实习工作，分享多核总线性能模型的搭建过程。重点不是逐个介绍模块，而是讲清楚为什么需要这套环境、建模时如何做取舍，以及实验结果怎样帮助我们提出更具体的架构问题。ESL在这里指电子系统级建模，SoC指片上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放映路线：默认主讲第1至29页，约45分钟，讨论另留10分钟。30分钟场次可选择同名自定义放映，压缩机制细节和排查案例。60分钟场次可按听众问题选讲第30至33页附录，不必逐页念完。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这次主要分享架构设计过程。先用总体拓扑和事务路径建立共同背景，再展开互连资源和存储侧事务，最后用少量实验说明这些机制的影响。详细地址模式和补充曲线放在附录，讨论时可以展开。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实现依据：本项目PPT与源码模块划分。示意图中的请求编号和相对时刻用于解释机制，不是新增实验数据。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3】建模背景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选题的出发点，是在早期核仿真中补上一段更接近SoC的总线和存储环境。主管反馈也指出，这正是当前AI核ESL仿真值得补充的一部分。核侧看到的完成时间不只由存储延迟决定，还包括多核竞争、队列等待和返回链路。因此，这个平台希望为MTE以及LD/ST通路的请求组织和资源配置提供可观察的系统环境。这里讲的是能够支持的研究问题，并不表示本阶段已经接入真实核负载或完成架构定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用户提供的主管反馈。MTE采用项目内术语，本文以数据搬运通路说明，不自行扩写未经确认的英文全称。</a:t>
            </a:r>
          </a:p>
          <ns0:p xmlns:ns0="http://schemas.openxmlformats.org/drawingml/2006/main">
            <ns0:r>
              <ns0:t>核与SoC协同讨论：MTE的数据搬运粒度、LD/ST访问顺序、共享数据的责任边界，应放在共同的系统约束中评估。L1.5等共享层议题先对齐语义，再比较方案。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4】本阶段工作与模型边界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主要完成了模型实现、测试和统计分析，并整理架构与接口文档。模型使用C++事件驱动框架，以包和环形槽位为主要调度单位。已经表达了事务、队列、仲裁、反压与逐链路带宽占用。缓存命中和存储后端采用参数化近似，完整目录一致性、真实缓存替换、HBM控制器微结构及Atomic语义不属于这次已验证的范围。先明确这些边界，后面才不会把趋势分析误读成硬件绝对性能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5】当前平台的H/V Ring拓扑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看空间组织。8个请求端分别接入两条垂直环，每条垂直环有4个计算核接入节点和1个桥接节点。共享水平环连接两个桥接端、四个HA端口和四个L2返回缓冲。红色线表示请求发往存储端，蓝色线表示数据返回。RBRG在这里按环间桥接器理解，HA按存储侧事务管理模块理解。图中的HBM由后端模型近似，并非展开完整存储控制器。当前实验是两条垂直环连接一条共享水平环，目标方案的多水平环示意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6】读写事务的端到端路径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读请求沿REQ请求子网发到HA，数据完成后由L2 Buffer组织，沿DAT数据子网返回。写请求和写数据分别传输，内存端口按事务标识配对，后端接收成功后，再经RSP响应子网返回完成状态。一个容易混淆的地方是完成的含义：这里的写响应表示模型约定的后端接收完成，不能直接等同于真实HBM中的持久化完成。把接口语义先说清楚，模块之间才能使用同一个判断标准。</a:t>
            </a:r>
          </a:p>
          <ns0:p xmlns:ns0="http://schemas.openxmlformats.org/drawingml/2006/main">
            <ns0:r>
              <ns0:t>
写路径说明：WR与WR_DAT按事务标识配对。写数据后端响应进入Ring的RSP注入队列后，HA释放该写事务的同缓存行保护。仅接口接收不代表所有端点均已完成消费。源码依据：tm_ring_mem_port.cc::recv_wr_dat_rsp。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7】交叉节点的仲裁与反压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叉节点可以理解为环上经过流量与本地流量的交汇处。两个方向分别进行仲裁，但目的弹出队列共享，所以要额外决定谁能够进入。这里我最关注的不是画出几个多路选择器，而是所有状态在什么条件下推进。队列有没有空间、仲裁有没有成功、下游是否真正接收，这些条件要一致。否则一个局部的提前出队，就可能破坏整个事务的完成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槽位池管理的是每条有向子网的占用数量，数据仍保存在链路和节点中。普通注入先申请一个额度，链路拒收时立即归还，来源队首不动。包转发过程中只搬移已有槽位，不重复申请。没有替换或保留标记时，退出环网会归还额度。若本地包接替原有槽位，计数不变。多播仍有接收者时也不能提前归还。容量公式来自当前模型的存储深度，不能直接解释为实际芯片的物理缓冲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实现依据：aicore/code/tm_ring_slot_pool.h；tm_ring_cross_station.cc::try_normal_injection、try_slot_replacement、release_ring_slot。示意图中的请求编号和相对时刻用于解释机制，不是新增实验数据。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8】I-tag与E-tag活性保护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队列已满，B6虽然到了目的节点，却暂时不能弹出。让它继续绕行可以避免停在节点上阻塞环路，但还要防止它下一轮返回时继续拿不到空间，因此需要E-tag保护弹出容量。与此同时，本地A1拿不到新的环形槽位，需要I-tag保护注入机会。右图表示空间释放后的恢复过程。两个标记保护的资源不同，不能相互替代，也不能只用一个等待计数来解释。这个例子带来的经验是，活性机制应该绑定具体资源及释放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30】RBRG方向队列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问题选讲。RBRG表示本设计的环间桥接模块，不自行扩写英文全称。四条路径分别承担垂直到水平的请求与写数据，以及水平到垂直的完成响应与读数据。路径进一步按方向配置队列和串行化资源。目标队列能接收且串行化资源可用时才换环，成功后推进来源队首。</a:t>
            </a:r>
          </a:p>
          <ns0:p xmlns:ns0="http://schemas.openxmlformats.org/drawingml/2006/main">
            <ns0:r>
              <ns0:t>
当前实现细节：启动时检查目标方向注入容量和串行化资源，来源队首随即出队，RBRG串行化器接管包；经过Sᵦ−1周期交给目标注入队列，Sᵦ周期后恢复带宽。详见下一页。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来源出队和目标入队两个时刻分开。当前实现检查目标方向容量以及串行化资源，满足条件后立即从来源弹出队列取包，由RBRG的串行化状态持有。经过Sᵦ减1周期再交给目标注入队列，而该方向的带宽要到Sᵦ周期才恢复。目标注入空间在交接过程中必须保持可用，这是专用方向路径的设计约束；代码在交接失败时明确报错，不静默丢包。进入目标Ring后，段内序列化标记重新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实现依据：aicore/code/tm_ring_rbrg_l1.cc::schedule_path、start_serializer、handoff_serializer；tm_ring_node_interface.h::push_inject。示意图中的请求编号和相对时刻用于解释机制，不是新增实验数据。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9】包级时序的取舍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降低模型复杂度的一处关键取舍。网络可以逐流控单元，也就是flit，展开传输状态，但本阶段采用包级近似。包在一个环段的首跳计算一次序列化，后续跳只累加传播延迟。与此同时，每条实际经过的链路仍占用S个周期，因此多跳到达更早，不意味着后面的包可以无代价进入。512字节包经过128字节每周期的两跳链路，在每跳1周期且没有排队的条件下，第二跳接收点延迟为5周期。换环、端点处理和排队等待另算。这个模型适合保留架构参数的主要影响，但还需要通过SoC ESL检验近似误差。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张根据模型公式推导的理想时间轴。包A在零时刻进入第一条链路，序列化占用四周期，在第4周期进入第二条链路。段内已经支付完整包序列化，因此第二跳只增加一个传播周期，第5周期即可在输入寄存器观察到它。但第二条链路的串行化资源从第4周期忙到第8周期。包B最早第4周期进入第一条链路，第8周期进入第二条链路，第9周期到达第二跳输入。这种抽象减少逐flit状态，同时仍限制连续包的发送间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实现依据：aicore/code/tm_ring_conn.cc::reserve_slot、release_serializer；段延迟公式(S−1)+H×L。示意图中的请求编号和相对时刻用于解释机制，不是新增实验数据。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10】存储侧建模职责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这页区分目标硬件层次与当前模型的职责。HA维护读取事务及等待请求，并处理同地址写冲突。L2 Buffer暂存完成数据，组织返回方式和返回时延。TmMem提供功能数据访问以及带宽、延迟、队列和在途额度约束。这里的credit是允许同时在后端处理的请求额度。它和普通队列空间有关联，但统计时需要分开。这种拆分方便调整性能参数，同时保持事务语义明确。</a:t>
            </a:r>
          </a:p>
          <ns0:p xmlns:ns0="http://schemas.openxmlformats.org/drawingml/2006/main">
            <ns0:r>
              <ns0:t>
当前HA合并键是缓存行基地址。请求偏移和长度随等待请求保留，扇区粒度用于L2返回范围组织，不能混同为HA按扇区索引。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沿着同一缓存行A上的三个读请求来理解HA。M0首次访问时，HA建立表项并保留返回信息，它不需要等待一个固定的合并定时器就可以参与后端调度。M1在后端尚未提交时到达，M2在读取在途时到达，只要表项仍开放且等待列表有容量，就加入同一事务。后端返回后，HA保存共享数据并将每个请求的返回信息交给L2。当前实现还允许在响应阶段且合并入口未关闭时加入请求。当L2锁定接收端集合并反馈摘要后，HA关闭新请求加入；已接纳而尚未交给L2的请求继续处理。这里的合并键在当前源码中是完整缓存行基地址，扇区参数用于L2组织实际返回范围，不能混写成HA按扇区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实现依据：aicore/code/tm_ring_home_agent.cc::accept_read、commit_backend_request、front_l2_response、consume_l2_group_summary。示意图中的请求编号和相对时刻用于解释机制，不是新增实验数据。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例子说明写冲突保护的范围和释放点。假设缓存行A已有一个等待或在途的读R0。写W进入后先登记写保护，阻止后续读R1继续加入。写W自身要等待R0的数据被HA捕获为可响应状态，再继续提交。这样R0已经保存自己的旧数据，写可以向前推进。写数据的后端响应回到内存端口后，必须成功进入Ring的RSP注入队列，才解除该写事务的保护。若RSP路径反压，保护继续存在。它是模型中的同缓存行顺序约束，不等同于完整一致性协议或原子操作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实现依据：aicore/code/tm_ring_home_agent.cc::reserve_write、has_blocking_read_transaction、complete_write；tm_ring_mem_port.cc::recv_wr_dat_rsp。示意图中的请求编号和相对时刻用于解释机制，不是新增实验数据。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解决后端读几次，L2解决返回路径实际发几份。这里一份完整缓存行数据对应四个逻辑接收者。M0和M1位于同一垂直环并需要同一个128字节范围，因此L2为这个目标环生成一份数据包，在环内多播。M4和M5在另一个垂直环，分别需要偏移0和128处的数据，所以第二个数据包覆盖相应范围，目标节点按自己的偏移取数。对同一个已确定的接收端集合，每个目标环生成一个H-Ring数据包。实际包大小根据扇区对齐与覆盖范围确定，可能带有对齐开销，不能简单按接收端数量推断物理字节数。单接收端在交付语义上是单播，内部也可能复用同一个分发数据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实现依据：aicore/code/tm_ring_l2_buffer_node.cc::make_frozen_carrier、carrier_size、materialize_fanout。示意图中的请求编号和相对时刻用于解释机制，不是新增实验数据。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使用了冻结组这个名字，这里在讲解中改成确定接收端集合。响应队首达到就绪条件后，L2停止向该组追加成员，并向HA反馈。随后按目标垂直环逐一生成数据包。发送令牌不允许或注入队列没有空间时，L2保持待发送包，不能先删除对应接收端。成功提交后，才删除这一目标环的接收端。全部目标环完成提交时，L2释放本地响应队列项。环上的物理数据包则有独立生命周期，最后一名接收端弹出后，原槽位才可回收或被本地包接替。上层真正消费响应与目的弹出也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response_ready、freeze_fanout_group、service；tm_ring_home_agent.cc::consume_l2_group_summary；tm_ring_cross_station.cc::try_fanout_e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13】实验设计与比较条件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要先明确这个扫描到底想回答什么。本阶段保存了三组扫描数据。命中率组主要看后端访问减少后的性能变化。并发度组主要看多少请求才能把系统充分利用起来，以及继续增加并发的代价。请求大小组看读取放大和共享收益。三组实验的固定条件不完全相同，因此不能随意挑两组相同名字的点来归因比较。命中率在当前模型中是输入参数，并不等同于某个真实缓存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历史CSV共有20+6+11=37个点，均记录PASS。此状态为历史运行记录，不代表本次重新执行C++仿真。HA表深度和L2时延在部分CSV缺失，未用当前默认值补写。</a:t>
            </a:r>
          </a:p>
          <ns0:p xmlns:ns0="http://schemas.openxmlformats.org/drawingml/2006/main">
            <ns0:r>
              <ns0:t>
正文使用并发度与物理流量作为代表性实验。四种地址模式、命中率和请求大小曲线分别见附录A、B、C。各组按各自固定条件解释，不将组间差异直接归因为某个单一资源。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一个示例区分逻辑完成量和物理流量。假设四个核需要同一份512字节数据，HA的兼容读请求共享一次后端读取，L2向同一个目标垂直环注入一份数据。在接收端，每个核都完成512字节，所以有效完成量是2048字节。相同统计窗口下，有效带宽可以高于该边界的物理数据带宽。这是复用收益，不是链路变宽。图中512与2048是解释口径的算例，不是新增测试点。真实多目标环场景需要分别统计各环的数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原第15页讲解补充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的实验可以转成一个参数选择案例。蓝色是有效吞吐，橙色是P99延迟，都以并发256的结果为1。增加到512之后，吞吐没有获得收益，P99却升到了约2.55倍。因此先把128和256列为候选，再依据目标负载的延迟要求决定。这个候选范围只适用于当前配置。对请求大小和命中率也采用相同思路，先找到代价在哪里，再改变对应资源，通过一次单变量试验检查解释是否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原第20页讲解补充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原第21页讲解补充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19】物理流量与共享收益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补充网络内部发生了什么。请求变大之后，在相同测试任务下，需要传输的请求次数减少。Scatter通过共享读取和分段返回，也降低了DAT累计传输次数。但图中次数是逐链路累计，不能直接说事务减少了多少倍。右侧Shared的算例更直观：有效带宽890.04，L2注入的DAT带宽222.51，比值为4。这个4表示一份物理数据平均服务多个逻辑接收者，和把物理链路拓宽4倍是两件不同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主管的建议分为两步。第一步是和SoC ESL对齐相同输入、接口语义和观察边界，通过基础延迟与并发扫描找到模型差异。第二步把课题缩小到同地址冲突，先量化热点等待、非热点受影响程度以及尾延迟，再参考公开竞品机制提出候选方案。措施可能落在核侧请求组织、总线调度或存储服务，但需要对照实验支持。Atomic还需要补齐原子性、返回值和顺序约束。本页是后续计划，不代表已经完成校准或Atomic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实现依据：用户提供的主管反馈；当前模型边界。示意图中的请求编号和相对时刻用于解释机制，不是新增实验数据。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一下个人工作。我在现有仿真框架上实现了多核H/V环网及跨环路径，加入容量、仲裁、反压和包级时序约束，并完成HA读合并与L2返回组织。配套工作包括功能测试、性能统计、参数扫描，以及架构、接口和参数文档。通过这次实践，我最深的体会是，架构模型的可信度很大程度上取决于几个边界是否清楚：谁持有数据，什么时候能推进，什么时候可以回收资源。后续希望以SoC ESL校准为基础，把平台用到更具体的架构痛点上。感谢嘉南哥、晨哥和昊哥的指导。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实现依据：原分享版个人工作总结。示意图中的请求编号和相对时刻用于解释机制，不是新增实验数据。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32】地址模式生成规则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实验的地址生成。缓存行512字节，B表示请求字节数。NoMerge每笔访问新缓存行。Private每个请求端拥有独立连续窗口。Scatter按扇区偏移分配同一行的不同范围。Shared让多个请求端访问同一范围。Scatter在B为512字节时没有可拆分的范围，因此现有数据没有512字节Scatter点，不能人为补出一条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ns0:p xmlns:ns0="http://schemas.openxmlformats.org/drawingml/2006/main">
            <ns0:r>
              <ns0:t>地址生成细节：m为请求端编号，k为请求序号。NoMerge使用独立基址加512k。Private按请求字节数B推进。Scatter在缓存行内按(m mod (512/B))×B选择偏移。Shared的各端共同使用同一地址范围。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16】命中率扫描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NoMerge在零命中时约307字节每周期，随着配置命中率增加，吞吐提升到约500。50%以后，继续提高命中率带来的增益已经比较有限。右图说明后端读取确实在全命中时降到了零，但部分中间区间并不单调，因为带宽同时受物理读取量和总完成时间影响。这里得到的是一个排查方向：后端压力下降以后，还应该检查L2输出和返回链路。仅凭这张图，还不能说某条具体链路已经被证明是唯一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18】请求大小与数据复用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大小的影响可以分成两部分。第一部分是读取放大。在缓存行512字节、每次只要128字节而且不能合并时，后端仍读取整行，因此后端字节数是有效字节数的4倍。请求增至256和512字节，这个比例收敛到2倍和1倍。第二部分是共享，Shared在512字节达到较高有效带宽，主要来自多接收端复用。这个结果支持连续数据访问尝试更大粒度，但不能推导出所有访问都应该用大请求。稀疏数据的无效搬运以及大包占用时间，需要另做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31】目标架构与模型边界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保留目标架构层次，但不将图中的目录侦听和完整缓存行为表述为本阶段已实现。当前模型使用一条共享水平环，配置命中率和抽象后端。未来扩展更多水平环、目录或缓存微结构，需要根据课题重新定义资源及验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da429419a2e741ff"/><Relationship Type="http://schemas.openxmlformats.org/officeDocument/2006/relationships/notesSlide" Target="../notesSlides/notesSlide2.xml" Id="Rfbbe7fa8c06d470d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8d53237ba2d34538"/><Relationship Type="http://schemas.openxmlformats.org/officeDocument/2006/relationships/notesSlide" Target="../notesSlides/notesSlide8.xml" Id="R0adf29559f884e5e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7b22656d92b34da1"/><Relationship Type="http://schemas.openxmlformats.org/officeDocument/2006/relationships/notesSlide" Target="../notesSlides/notesSlide11.xml" Id="R737691235cec4f66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7e7c69fd1cbd438c"/><Relationship Type="http://schemas.openxmlformats.org/officeDocument/2006/relationships/notesSlide" Target="../notesSlides/notesSlide13.xml" Id="Rc0871868512042d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7523fcd11dbb4116"/><Relationship Type="http://schemas.openxmlformats.org/officeDocument/2006/relationships/notesSlide" Target="../notesSlides/notesSlide15.xml" Id="R3863e82e387a42b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ec04194532554979"/><Relationship Type="http://schemas.openxmlformats.org/officeDocument/2006/relationships/notesSlide" Target="../notesSlides/notesSlide16.xml" Id="Re3f31b1408ee44a6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45114592475f4297"/><Relationship Type="http://schemas.openxmlformats.org/officeDocument/2006/relationships/notesSlide" Target="../notesSlides/notesSlide17.xml" Id="R398a60248be7487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5a667b62953b498e"/><Relationship Type="http://schemas.openxmlformats.org/officeDocument/2006/relationships/notesSlide" Target="../notesSlides/notesSlide18.xml" Id="Refe56679abf647e2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c32795f8a854887"/><Relationship Type="http://schemas.openxmlformats.org/officeDocument/2006/relationships/notesSlide" Target="../notesSlides/notesSlide20.xml" Id="Rf269e55f932d4f21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b35eed2b3fd4b7e"/><Relationship Type="http://schemas.openxmlformats.org/officeDocument/2006/relationships/chart" Target="/ppt/visual20260917/slides/charts/chart1.xml" Id="R909bec7a63114f13"/><Relationship Type="http://schemas.openxmlformats.org/officeDocument/2006/relationships/notesSlide" Target="../notesSlides/notesSlide21.xml" Id="R7f6cfdab82a74081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/ppt/media/image8.png"/><Relationship Id="rId1" Type="http://schemas.openxmlformats.org/officeDocument/2006/relationships/slideLayout" Target="/ppt/slideLayouts/slideLayout7.xml"/><Relationship Id="rIdNotes19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901001e7f5b642dd"/><Relationship Type="http://schemas.openxmlformats.org/officeDocument/2006/relationships/notesSlide" Target="../notesSlides/notesSlide23.xml" Id="R720c85e57f764b82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eaa5547b6beb4741"/><Relationship Type="http://schemas.openxmlformats.org/officeDocument/2006/relationships/notesSlide" Target="../notesSlides/notesSlide24.xml" Id="R6a05f994e0ba4354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/ppt/media/image2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3.png"/><Relationship Id="rIdNotes1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/ppt/media/image6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7.png"/><Relationship Id="rIdNotes1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/ppt/media/image1.png"/><Relationship Id="rId1" Type="http://schemas.openxmlformats.org/officeDocument/2006/relationships/slideLayout" Target="/ppt/slideLayouts/slideLayout7.xml"/><Relationship Id="rIdNotes31" Type="http://schemas.openxmlformats.org/officeDocument/2006/relationships/notesSlide" Target="../notesSlides/notesSlide2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">
            <a:extLst xmlns:a="http://schemas.openxmlformats.org/drawingml/2006/main">
              <a:ext uri="{FF2B5EF4-FFF2-40B4-BE49-F238E27FC236}">
                <a16:creationId xmlns:a16="http://schemas.microsoft.com/office/drawing/2014/main" id="{8EF65F2D-2B05-4A54-9038-F24A33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多核SoC总线ESL建模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架构设计与建模实践</a:t>
            </a:r>
          </a:p>
        </p:txBody>
      </p:sp>
      <p:sp>
        <p:nvSpPr>
          <p:cNvPr id="3" name="share-2">
            <a:extLst xmlns:a="http://schemas.openxmlformats.org/drawingml/2006/main">
              <a:ext uri="{FF2B5EF4-FFF2-40B4-BE49-F238E27FC236}">
                <a16:creationId xmlns:a16="http://schemas.microsoft.com/office/drawing/2014/main" id="{CC5543C0-50A9-4778-8221-BD7CB3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48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互连资源管理、存储侧聚合与包级时序近似</a:t>
            </a:r>
          </a:p>
        </p:txBody>
      </p:sp>
      <p:sp>
        <p:nvSpPr>
          <p:cNvPr id="4" name="share-3">
            <a:extLst xmlns:a="http://schemas.openxmlformats.org/drawingml/2006/main">
              <a:ext uri="{FF2B5EF4-FFF2-40B4-BE49-F238E27FC236}">
                <a16:creationId xmlns:a16="http://schemas.microsoft.com/office/drawing/2014/main" id="{5F8C3690-B929-4770-A6D4-5212567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5" name="share-4">
            <a:extLst xmlns:a="http://schemas.openxmlformats.org/drawingml/2006/main">
              <a:ext uri="{FF2B5EF4-FFF2-40B4-BE49-F238E27FC236}">
                <a16:creationId xmlns:a16="http://schemas.microsoft.com/office/drawing/2014/main" id="{14E8ECA5-8129-4ECC-A5DE-67E6DB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内部经验交流</a:t>
            </a:r>
          </a:p>
        </p:txBody>
      </p:sp>
      <p:sp>
        <p:nvSpPr>
          <p:cNvPr id="6" name="share-5">
            <a:extLst xmlns:a="http://schemas.openxmlformats.org/drawingml/2006/main">
              <a:ext uri="{FF2B5EF4-FFF2-40B4-BE49-F238E27FC236}">
                <a16:creationId xmlns:a16="http://schemas.microsoft.com/office/drawing/2014/main" id="{4EFE7FEE-4A54-4B82-A742-EE8C01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59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基于三个月实习项目的实践与思考</a:t>
            </a:r>
          </a:p>
        </p:txBody>
      </p:sp>
      <p:sp>
        <p:nvSpPr>
          <p:cNvPr id="7" name="share-6">
            <a:extLst xmlns:a="http://schemas.openxmlformats.org/drawingml/2006/main">
              <a:ext uri="{FF2B5EF4-FFF2-40B4-BE49-F238E27FC236}">
                <a16:creationId xmlns:a16="http://schemas.microsoft.com/office/drawing/2014/main" id="{F150B19B-9E08-4566-A20D-814176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234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rch-text-1">
            <a:extLst xmlns:a="http://schemas.openxmlformats.org/drawingml/2006/main">
              <a:ext uri="{FF2B5EF4-FFF2-40B4-BE49-F238E27FC236}">
                <a16:creationId xmlns:a16="http://schemas.microsoft.com/office/drawing/2014/main" id="{31BAF016-2D10-4093-A420-CE31DE25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分享内容：架构设计与建模取舍</a:t>
            </a:r>
          </a:p>
        </p:txBody>
      </p:sp>
      <p:sp>
        <p:nvSpPr>
          <p:cNvPr id="2" name="arch-text-2">
            <a:extLst xmlns:a="http://schemas.openxmlformats.org/drawingml/2006/main">
              <a:ext uri="{FF2B5EF4-FFF2-40B4-BE49-F238E27FC236}">
                <a16:creationId xmlns:a16="http://schemas.microsoft.com/office/drawing/2014/main" id="{DE78F557-7832-4126-AF97-6DD5CCA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重点讨论一笔事务如何推进，以及竞争、阻塞和数据共享如何进入性能模型。</a:t>
            </a:r>
          </a:p>
        </p:txBody>
      </p:sp>
      <p:sp>
        <p:nvSpPr>
          <p:cNvPr id="3" name="arch-text-3">
            <a:extLst xmlns:a="http://schemas.openxmlformats.org/drawingml/2006/main">
              <a:ext uri="{FF2B5EF4-FFF2-40B4-BE49-F238E27FC236}">
                <a16:creationId xmlns:a16="http://schemas.microsoft.com/office/drawing/2014/main" id="{C18F680C-C802-429F-AD8F-AA55BD3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rch-text-4">
            <a:extLst xmlns:a="http://schemas.openxmlformats.org/drawingml/2006/main">
              <a:ext uri="{FF2B5EF4-FFF2-40B4-BE49-F238E27FC236}">
                <a16:creationId xmlns:a16="http://schemas.microsoft.com/office/drawing/2014/main" id="{8F208301-1D1F-4854-AD1C-3DBABE9E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rch-text-5">
            <a:extLst xmlns:a="http://schemas.openxmlformats.org/drawingml/2006/main">
              <a:ext uri="{FF2B5EF4-FFF2-40B4-BE49-F238E27FC236}">
                <a16:creationId xmlns:a16="http://schemas.microsoft.com/office/drawing/2014/main" id="{4F100BFD-75EB-4B83-B900-D897E56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907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背景与系统边界</a:t>
            </a:r>
          </a:p>
        </p:txBody>
      </p:sp>
      <p:sp>
        <p:nvSpPr>
          <p:cNvPr id="6" name="arch-text-6">
            <a:extLst xmlns:a="http://schemas.openxmlformats.org/drawingml/2006/main">
              <a:ext uri="{FF2B5EF4-FFF2-40B4-BE49-F238E27FC236}">
                <a16:creationId xmlns:a16="http://schemas.microsoft.com/office/drawing/2014/main" id="{25D234B8-295B-4965-952A-45E475C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近SoC环境需要表达哪些约束</a:t>
            </a:r>
          </a:p>
        </p:txBody>
      </p:sp>
      <p:sp>
        <p:nvSpPr>
          <p:cNvPr id="7" name="arch-line-7">
            <a:extLst xmlns:a="http://schemas.openxmlformats.org/drawingml/2006/main">
              <a:ext uri="{FF2B5EF4-FFF2-40B4-BE49-F238E27FC236}">
                <a16:creationId xmlns:a16="http://schemas.microsoft.com/office/drawing/2014/main" id="{2CCC214E-23AA-4882-95F4-E7EF278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432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8" name="arch-text-8">
            <a:extLst xmlns:a="http://schemas.openxmlformats.org/drawingml/2006/main">
              <a:ext uri="{FF2B5EF4-FFF2-40B4-BE49-F238E27FC236}">
                <a16:creationId xmlns:a16="http://schemas.microsoft.com/office/drawing/2014/main" id="{628804A0-5578-45D9-9A96-C96A3AD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rch-text-9">
            <a:extLst xmlns:a="http://schemas.openxmlformats.org/drawingml/2006/main">
              <a:ext uri="{FF2B5EF4-FFF2-40B4-BE49-F238E27FC236}">
                <a16:creationId xmlns:a16="http://schemas.microsoft.com/office/drawing/2014/main" id="{F8100505-FF17-46BD-8CB9-B742CF71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527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互连与资源管理</a:t>
            </a:r>
          </a:p>
        </p:txBody>
      </p:sp>
      <p:sp>
        <p:nvSpPr>
          <p:cNvPr id="10" name="arch-text-10">
            <a:extLst xmlns:a="http://schemas.openxmlformats.org/drawingml/2006/main">
              <a:ext uri="{FF2B5EF4-FFF2-40B4-BE49-F238E27FC236}">
                <a16:creationId xmlns:a16="http://schemas.microsoft.com/office/drawing/2014/main" id="{B5D0E4B9-B3CA-4805-A7CA-2FD388E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385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交叉节点、槽位池、跨环转发与链路时序</a:t>
            </a:r>
          </a:p>
        </p:txBody>
      </p:sp>
      <p:sp>
        <p:nvSpPr>
          <p:cNvPr id="11" name="arch-line-11">
            <a:extLst xmlns:a="http://schemas.openxmlformats.org/drawingml/2006/main">
              <a:ext uri="{FF2B5EF4-FFF2-40B4-BE49-F238E27FC236}">
                <a16:creationId xmlns:a16="http://schemas.microsoft.com/office/drawing/2014/main" id="{822F60DF-698E-407C-944E-F8F7CC5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2">
            <a:extLst xmlns:a="http://schemas.openxmlformats.org/drawingml/2006/main">
              <a:ext uri="{FF2B5EF4-FFF2-40B4-BE49-F238E27FC236}">
                <a16:creationId xmlns:a16="http://schemas.microsoft.com/office/drawing/2014/main" id="{B5E61C50-7ED9-4282-AF8C-DECB56B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arch-text-13">
            <a:extLst xmlns:a="http://schemas.openxmlformats.org/drawingml/2006/main">
              <a:ext uri="{FF2B5EF4-FFF2-40B4-BE49-F238E27FC236}">
                <a16:creationId xmlns:a16="http://schemas.microsoft.com/office/drawing/2014/main" id="{2C4B8523-EB55-4DC1-B1A0-0E83410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148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存储侧事务与聚合</a:t>
            </a:r>
          </a:p>
        </p:txBody>
      </p:sp>
      <p:sp>
        <p:nvSpPr>
          <p:cNvPr id="14" name="arch-text-14">
            <a:extLst xmlns:a="http://schemas.openxmlformats.org/drawingml/2006/main">
              <a:ext uri="{FF2B5EF4-FFF2-40B4-BE49-F238E27FC236}">
                <a16:creationId xmlns:a16="http://schemas.microsoft.com/office/drawing/2014/main" id="{C8916CE2-B41A-4A46-BFC3-2563E55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005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HA读合并、写冲突和L2返回组织</a:t>
            </a:r>
          </a:p>
        </p:txBody>
      </p:sp>
      <p:sp>
        <p:nvSpPr>
          <p:cNvPr id="15" name="arch-line-15">
            <a:extLst xmlns:a="http://schemas.openxmlformats.org/drawingml/2006/main">
              <a:ext uri="{FF2B5EF4-FFF2-40B4-BE49-F238E27FC236}">
                <a16:creationId xmlns:a16="http://schemas.microsoft.com/office/drawing/2014/main" id="{2D8CE76B-D897-4A95-91F3-848644EE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67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6">
            <a:extLst xmlns:a="http://schemas.openxmlformats.org/drawingml/2006/main">
              <a:ext uri="{FF2B5EF4-FFF2-40B4-BE49-F238E27FC236}">
                <a16:creationId xmlns:a16="http://schemas.microsoft.com/office/drawing/2014/main" id="{95257830-4737-4467-AC4D-EF6E319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arch-text-17">
            <a:extLst xmlns:a="http://schemas.openxmlformats.org/drawingml/2006/main">
              <a:ext uri="{FF2B5EF4-FFF2-40B4-BE49-F238E27FC236}">
                <a16:creationId xmlns:a16="http://schemas.microsoft.com/office/drawing/2014/main" id="{D03F04A2-3D28-49C9-B11B-9262C88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768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实验验证与后续方向</a:t>
            </a:r>
          </a:p>
        </p:txBody>
      </p:sp>
      <p:sp>
        <p:nvSpPr>
          <p:cNvPr id="18" name="arch-text-18">
            <a:extLst xmlns:a="http://schemas.openxmlformats.org/drawingml/2006/main">
              <a:ext uri="{FF2B5EF4-FFF2-40B4-BE49-F238E27FC236}">
                <a16:creationId xmlns:a16="http://schemas.microsoft.com/office/drawing/2014/main" id="{93824157-B898-4729-8570-DC33D11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7626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用吞吐、尾延迟和物理流量解释设计影响</a:t>
            </a:r>
          </a:p>
        </p:txBody>
      </p:sp>
    </p:spTree>
    <p:extLst>
      <p:ext uri="{BB962C8B-B14F-4D97-AF65-F5344CB8AC3E}">
        <p14:creationId xmlns:p14="http://schemas.microsoft.com/office/powerpoint/2010/main" val="591131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25">
            <a:extLst xmlns:a="http://schemas.openxmlformats.org/drawingml/2006/main">
              <a:ext uri="{FF2B5EF4-FFF2-40B4-BE49-F238E27FC236}">
                <a16:creationId xmlns:a16="http://schemas.microsoft.com/office/drawing/2014/main" id="{08B460FD-E315-446D-8C65-925A01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建模背景：核侧需要怎样的系统环境</a:t>
            </a:r>
          </a:p>
        </p:txBody>
      </p:sp>
      <p:sp>
        <p:nvSpPr>
          <p:cNvPr id="3" name="share-26">
            <a:extLst xmlns:a="http://schemas.openxmlformats.org/drawingml/2006/main">
              <a:ext uri="{FF2B5EF4-FFF2-40B4-BE49-F238E27FC236}">
                <a16:creationId xmlns:a16="http://schemas.microsoft.com/office/drawing/2014/main" id="{80D5A1BA-A42C-42C1-A74B-3164B63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核发出的访存请求，最终会受到互连竞争和存储服务能力的共同影响。</a:t>
            </a:r>
          </a:p>
        </p:txBody>
      </p:sp>
      <p:sp>
        <p:nvSpPr>
          <p:cNvPr id="4" name="share-27">
            <a:extLst xmlns:a="http://schemas.openxmlformats.org/drawingml/2006/main">
              <a:ext uri="{FF2B5EF4-FFF2-40B4-BE49-F238E27FC236}">
                <a16:creationId xmlns:a16="http://schemas.microsoft.com/office/drawing/2014/main" id="{8C83DEA3-9418-490B-9F46-08FB531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早期架构探索的缺口</a:t>
            </a:r>
          </a:p>
        </p:txBody>
      </p:sp>
      <p:sp>
        <p:nvSpPr>
          <p:cNvPr id="5" name="share-28">
            <a:extLst xmlns:a="http://schemas.openxmlformats.org/drawingml/2006/main">
              <a:ext uri="{FF2B5EF4-FFF2-40B4-BE49-F238E27FC236}">
                <a16:creationId xmlns:a16="http://schemas.microsoft.com/office/drawing/2014/main" id="{F3F04479-7E05-4CC2-8E22-4676FD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1133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如果只给核侧一个固定延迟、无限带宽的存储响应，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就难以观察多核竞争、队列积压和返回路径拥塞。</a:t>
            </a:r>
          </a:p>
        </p:txBody>
      </p:sp>
      <p:sp>
        <p:nvSpPr>
          <p:cNvPr id="6" name="share-29">
            <a:extLst xmlns:a="http://schemas.openxmlformats.org/drawingml/2006/main">
              <a:ext uri="{FF2B5EF4-FFF2-40B4-BE49-F238E27FC236}">
                <a16:creationId xmlns:a16="http://schemas.microsoft.com/office/drawing/2014/main" id="{216549BC-FFEE-4F9C-9B00-99FDDD9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71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7" name="share-30">
            <a:extLst xmlns:a="http://schemas.openxmlformats.org/drawingml/2006/main">
              <a:ext uri="{FF2B5EF4-FFF2-40B4-BE49-F238E27FC236}">
                <a16:creationId xmlns:a16="http://schemas.microsoft.com/office/drawing/2014/main" id="{9898D41B-14F8-4E27-85D3-772661C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MTE与LD/ST通路</a:t>
            </a:r>
          </a:p>
        </p:txBody>
      </p:sp>
      <p:sp>
        <p:nvSpPr>
          <p:cNvPr id="8" name="share-31">
            <a:extLst xmlns:a="http://schemas.openxmlformats.org/drawingml/2006/main">
              <a:ext uri="{FF2B5EF4-FFF2-40B4-BE49-F238E27FC236}">
                <a16:creationId xmlns:a16="http://schemas.microsoft.com/office/drawing/2014/main" id="{E54ADD30-82EC-47B5-9FCB-A8DE469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3382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数据搬运通路（MTE）与加载/存储通路（LD/ST）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需要评估请求粒度、并发深度和反压对完成时间的影响。</a:t>
            </a:r>
          </a:p>
        </p:txBody>
      </p:sp>
      <p:sp>
        <p:nvSpPr>
          <p:cNvPr id="9" name="share-32">
            <a:extLst xmlns:a="http://schemas.openxmlformats.org/drawingml/2006/main">
              <a:ext uri="{FF2B5EF4-FFF2-40B4-BE49-F238E27FC236}">
                <a16:creationId xmlns:a16="http://schemas.microsoft.com/office/drawing/2014/main" id="{DB70EE2D-ACEA-44E9-966B-E7A4907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01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核与SoC协同设计</a:t>
            </a:r>
          </a:p>
        </p:txBody>
      </p:sp>
      <p:sp>
        <p:nvSpPr>
          <p:cNvPr id="10" name="share-33">
            <a:extLst xmlns:a="http://schemas.openxmlformats.org/drawingml/2006/main">
              <a:ext uri="{FF2B5EF4-FFF2-40B4-BE49-F238E27FC236}">
                <a16:creationId xmlns:a16="http://schemas.microsoft.com/office/drawing/2014/main" id="{01FBC113-6A4A-4429-933A-7105299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共享数据在哪里合并、资源由哪一侧管理、请求何时完成，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需要在统一的事务语义和观察口径下讨论。</a:t>
            </a:r>
          </a:p>
        </p:txBody>
      </p:sp>
      <p:sp>
        <p:nvSpPr>
          <p:cNvPr id="11" name="share-34">
            <a:extLst xmlns:a="http://schemas.openxmlformats.org/drawingml/2006/main">
              <a:ext uri="{FF2B5EF4-FFF2-40B4-BE49-F238E27FC236}">
                <a16:creationId xmlns:a16="http://schemas.microsoft.com/office/drawing/2014/main" id="{518A6AEE-5CDE-494A-BB91-8B9EFBF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69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35">
            <a:extLst xmlns:a="http://schemas.openxmlformats.org/drawingml/2006/main">
              <a:ext uri="{FF2B5EF4-FFF2-40B4-BE49-F238E27FC236}">
                <a16:creationId xmlns:a16="http://schemas.microsoft.com/office/drawing/2014/main" id="{E284D04F-1389-4693-9993-0FA9DA9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本阶段工作与模型边界</a:t>
            </a:r>
          </a:p>
        </p:txBody>
      </p:sp>
      <p:sp>
        <p:nvSpPr>
          <p:cNvPr id="3" name="share-36">
            <a:extLst xmlns:a="http://schemas.openxmlformats.org/drawingml/2006/main">
              <a:ext uri="{FF2B5EF4-FFF2-40B4-BE49-F238E27FC236}">
                <a16:creationId xmlns:a16="http://schemas.microsoft.com/office/drawing/2014/main" id="{59E74892-6FE1-490F-841C-940DC43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在现有事件驱动框架中，搭建可配置的总线与存储性能探索环境。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857750"/>
                <a:gridCol w="452437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当前表达方式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H/V环网、读写路径、仲裁与反压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链路序列化、跨环转发、槽位管理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请求能否正确完成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哪些资源限制系统吞吐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存储与数据复用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HA读合并及写冲突保护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L2返回组织、后端队列与在途额度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重复读取和重复返回能减少多少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后端服务能力如何影响核侧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本阶段的近似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包与槽位粒度的时序模型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配置命中率，抽象存储后端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适合做机制与参数趋势分析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尚需SoC ESL校准绝对时延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37">
            <a:extLst xmlns:a="http://schemas.openxmlformats.org/drawingml/2006/main">
              <a:ext uri="{FF2B5EF4-FFF2-40B4-BE49-F238E27FC236}">
                <a16:creationId xmlns:a16="http://schemas.microsoft.com/office/drawing/2014/main" id="{1E4C7A91-A70C-49AF-A0BB-2A77609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本人工作：模型实现、测试与性能统计，以及架构、接口和参数说明。</a:t>
            </a:r>
          </a:p>
        </p:txBody>
      </p:sp>
      <p:sp>
        <p:nvSpPr>
          <p:cNvPr id="6" name="share-38">
            <a:extLst xmlns:a="http://schemas.openxmlformats.org/drawingml/2006/main">
              <a:ext uri="{FF2B5EF4-FFF2-40B4-BE49-F238E27FC236}">
                <a16:creationId xmlns:a16="http://schemas.microsoft.com/office/drawing/2014/main" id="{388DE20F-C48C-4E92-B81F-93FE5DD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364844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0">
            <a:extLst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noGrp="1"/>
          </p:cNvSpPr>
          <p:nvPr/>
        </p:nvSpPr>
        <p:spPr>
          <a:xfrm>
            <a:off x="3714750" y="466566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noGrp="1"/>
          </p:cNvSpPr>
          <p:nvPr/>
        </p:nvSpPr>
        <p:spPr>
          <a:xfrm>
            <a:off x="7286625" y="466458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4" name="Rounded Rectangle 50">
            <a:extLst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noGrp="1"/>
          </p:cNvSpPr>
          <p:nvPr/>
        </p:nvSpPr>
        <p:spPr>
          <a:xfrm>
            <a:off x="7283958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Rounded Rectangle 50">
            <a:extLst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noGrp="1"/>
          </p:cNvSpPr>
          <p:nvPr/>
        </p:nvSpPr>
        <p:spPr>
          <a:xfrm>
            <a:off x="3714750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6" name="连接符: 肘形 250"/>
          <p:cNvCxnSpPr>
            <a:cxnSpLocks/>
          </p:cNvCxnSpPr>
          <p:nvPr/>
        </p:nvCxnSpPr>
        <p:spPr>
          <a:xfrm rot="16200000" flipV="1">
            <a:off x="816836" y="2364514"/>
            <a:ext cx="928690" cy="562111"/>
          </a:xfrm>
          <a:prstGeom prst="bentConnector3">
            <a:avLst>
              <a:gd name="adj1" fmla="val -9487"/>
            </a:avLst>
          </a:prstGeom>
          <a:ln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810750" cy="762000"/>
          </a:xfrm>
          <a:prstGeom prst="roundRect">
            <a:avLst/>
          </a:prstGeom>
          <a:noFill/>
          <a:ln w="14604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noGrp="1"/>
          </p:cNvSpPr>
          <p:nvPr/>
        </p:nvSpPr>
        <p:spPr>
          <a:xfrm>
            <a:off x="1476375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latin typeface="Microsoft YaHei"/>
                <a:ea typeface="Microsoft YaHei"/>
                <a:cs typeface="Microsoft YaHei"/>
              </a:rPr>
              <a:t>当前平台的H/V Ring拓扑</a:t>
            </a:r>
            <a:endParaRPr sz="2500" b="1" i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noGrp="1"/>
          </p:cNvSpPr>
          <p:nvPr/>
        </p:nvSpPr>
        <p:spPr>
          <a:xfrm>
            <a:off x="381000" y="847725"/>
            <a:ext cx="1143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8个计算核分属2条V-Ring，通过共享H-Ring连接4组HA／内存端口与L2 Buffer</a:t>
            </a:r>
            <a:endParaRPr sz="1125" b="0" i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10991088" cy="4137279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noGrp="1"/>
          </p:cNvSpPr>
          <p:nvPr/>
        </p:nvSpPr>
        <p:spPr>
          <a:xfrm>
            <a:off x="758952" y="1307592"/>
            <a:ext cx="3905250" cy="219456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双垂直环与共享水平环拓扑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noGrp="1"/>
          </p:cNvSpPr>
          <p:nvPr/>
        </p:nvSpPr>
        <p:spPr>
          <a:xfrm>
            <a:off x="5476875" y="3257550"/>
            <a:ext cx="1238250" cy="2286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共享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H-Ring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0 · M0–M3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noGrp="1"/>
          </p:cNvSpPr>
          <p:nvPr/>
        </p:nvSpPr>
        <p:spPr>
          <a:xfrm>
            <a:off x="14123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noGrp="1"/>
          </p:cNvSpPr>
          <p:nvPr/>
        </p:nvSpPr>
        <p:spPr>
          <a:xfrm>
            <a:off x="23648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noGrp="1"/>
          </p:cNvSpPr>
          <p:nvPr/>
        </p:nvSpPr>
        <p:spPr>
          <a:xfrm>
            <a:off x="14123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noGrp="1"/>
          </p:cNvSpPr>
          <p:nvPr/>
        </p:nvSpPr>
        <p:spPr>
          <a:xfrm>
            <a:off x="23648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0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1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noGrp="1"/>
          </p:cNvSpPr>
          <p:nvPr/>
        </p:nvSpPr>
        <p:spPr>
          <a:xfrm>
            <a:off x="1562232" y="2794634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noGrp="1"/>
          </p:cNvSpPr>
          <p:nvPr/>
        </p:nvSpPr>
        <p:spPr>
          <a:xfrm>
            <a:off x="412699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noGrp="1"/>
          </p:cNvSpPr>
          <p:nvPr/>
        </p:nvSpPr>
        <p:spPr>
          <a:xfrm>
            <a:off x="412699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noGrp="1"/>
          </p:cNvSpPr>
          <p:nvPr/>
        </p:nvSpPr>
        <p:spPr>
          <a:xfrm>
            <a:off x="9648825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1 · M4–M7</a:t>
            </a: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noGrp="1"/>
          </p:cNvSpPr>
          <p:nvPr/>
        </p:nvSpPr>
        <p:spPr>
          <a:xfrm>
            <a:off x="97467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noGrp="1"/>
          </p:cNvSpPr>
          <p:nvPr/>
        </p:nvSpPr>
        <p:spPr>
          <a:xfrm>
            <a:off x="106992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noGrp="1"/>
          </p:cNvSpPr>
          <p:nvPr/>
        </p:nvSpPr>
        <p:spPr>
          <a:xfrm>
            <a:off x="97467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noGrp="1"/>
          </p:cNvSpPr>
          <p:nvPr/>
        </p:nvSpPr>
        <p:spPr>
          <a:xfrm>
            <a:off x="106992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noGrp="1"/>
          </p:cNvSpPr>
          <p:nvPr/>
        </p:nvSpPr>
        <p:spPr>
          <a:xfrm>
            <a:off x="2524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3</a:t>
            </a: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noGrp="1"/>
          </p:cNvSpPr>
          <p:nvPr/>
        </p:nvSpPr>
        <p:spPr>
          <a:xfrm>
            <a:off x="9906000" y="2886075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noGrp="1"/>
          </p:cNvSpPr>
          <p:nvPr/>
        </p:nvSpPr>
        <p:spPr>
          <a:xfrm>
            <a:off x="531761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noGrp="1"/>
          </p:cNvSpPr>
          <p:nvPr/>
        </p:nvSpPr>
        <p:spPr>
          <a:xfrm>
            <a:off x="531761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noGrp="1"/>
          </p:cNvSpPr>
          <p:nvPr/>
        </p:nvSpPr>
        <p:spPr>
          <a:xfrm>
            <a:off x="650824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noGrp="1"/>
          </p:cNvSpPr>
          <p:nvPr/>
        </p:nvSpPr>
        <p:spPr>
          <a:xfrm>
            <a:off x="650824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9">
            <a:extLst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noGrp="1"/>
          </p:cNvSpPr>
          <p:nvPr/>
        </p:nvSpPr>
        <p:spPr>
          <a:xfrm>
            <a:off x="769886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noGrp="1"/>
          </p:cNvSpPr>
          <p:nvPr/>
        </p:nvSpPr>
        <p:spPr>
          <a:xfrm>
            <a:off x="769886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noGrp="1"/>
          </p:cNvSpPr>
          <p:nvPr/>
        </p:nvSpPr>
        <p:spPr>
          <a:xfrm>
            <a:off x="8810625" y="1866900"/>
            <a:ext cx="8572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4</a:t>
            </a:r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noGrp="1"/>
          </p:cNvSpPr>
          <p:nvPr/>
        </p:nvSpPr>
        <p:spPr>
          <a:xfrm>
            <a:off x="10858500" y="1866900"/>
            <a:ext cx="6667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5</a:t>
            </a:r>
          </a:p>
        </p:txBody>
      </p:sp>
      <p:sp>
        <p:nvSpPr>
          <p:cNvPr id="41" name="Rounded Rectangle 50">
            <a:extLst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42" name="Rounded Rectangle 52">
            <a:extLst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noGrp="1"/>
          </p:cNvSpPr>
          <p:nvPr/>
        </p:nvSpPr>
        <p:spPr>
          <a:xfrm>
            <a:off x="4905375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1</a:t>
            </a:r>
          </a:p>
        </p:txBody>
      </p:sp>
      <p:sp>
        <p:nvSpPr>
          <p:cNvPr id="43" name="Rounded Rectangle 54">
            <a:extLst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noGrp="1"/>
          </p:cNvSpPr>
          <p:nvPr/>
        </p:nvSpPr>
        <p:spPr>
          <a:xfrm>
            <a:off x="4905375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0</a:t>
            </a:r>
          </a:p>
        </p:txBody>
      </p:sp>
      <p:sp>
        <p:nvSpPr>
          <p:cNvPr id="44" name="TextBox 60">
            <a:extLst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noGrp="1"/>
          </p:cNvSpPr>
          <p:nvPr/>
        </p:nvSpPr>
        <p:spPr>
          <a:xfrm>
            <a:off x="2524125" y="3318509"/>
            <a:ext cx="119062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D73A3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V_TO_H_REQ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noGrp="1"/>
          </p:cNvSpPr>
          <p:nvPr/>
        </p:nvSpPr>
        <p:spPr>
          <a:xfrm>
            <a:off x="2557463" y="2781109"/>
            <a:ext cx="147637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A70AD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H_TO_V_DAT</a:t>
            </a:r>
          </a:p>
        </p:txBody>
      </p:sp>
      <p:sp>
        <p:nvSpPr>
          <p:cNvPr id="46" name="Rounded Rectangle 65">
            <a:extLst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1362075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图示核与存储端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单向传输换环1次</a:t>
            </a:r>
          </a:p>
        </p:txBody>
      </p:sp>
      <p:sp>
        <p:nvSpPr>
          <p:cNvPr id="47" name="Master 6">
            <a:extLst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noGrp="1"/>
          </p:cNvSpPr>
          <p:nvPr/>
        </p:nvSpPr>
        <p:spPr>
          <a:xfrm>
            <a:off x="8810625" y="42386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6</a:t>
            </a:r>
          </a:p>
        </p:txBody>
      </p:sp>
      <p:sp>
        <p:nvSpPr>
          <p:cNvPr id="48" name="Master 7">
            <a:extLst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noGrp="1"/>
          </p:cNvSpPr>
          <p:nvPr/>
        </p:nvSpPr>
        <p:spPr>
          <a:xfrm>
            <a:off x="10858500" y="4238625"/>
            <a:ext cx="6667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7</a:t>
            </a:r>
          </a:p>
        </p:txBody>
      </p:sp>
      <p:cxnSp>
        <p:nvCxnSpPr>
          <p:cNvPr id="49" name="直接箭头连接符 225"/>
          <p:cNvCxnSpPr/>
          <p:nvPr/>
        </p:nvCxnSpPr>
        <p:spPr>
          <a:xfrm flipV="1">
            <a:off x="1381125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0" name="直接箭头连接符 226"/>
          <p:cNvCxnSpPr/>
          <p:nvPr/>
        </p:nvCxnSpPr>
        <p:spPr>
          <a:xfrm flipH="1" flipV="1">
            <a:off x="2492883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1" name="直接箭头连接符 227"/>
          <p:cNvCxnSpPr/>
          <p:nvPr/>
        </p:nvCxnSpPr>
        <p:spPr>
          <a:xfrm flipV="1">
            <a:off x="1381125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2" name="直接箭头连接符 228"/>
          <p:cNvCxnSpPr/>
          <p:nvPr/>
        </p:nvCxnSpPr>
        <p:spPr>
          <a:xfrm flipH="1" flipV="1">
            <a:off x="2492883" y="4391025"/>
            <a:ext cx="31242" cy="4762"/>
          </a:xfrm>
          <a:prstGeom prst="straightConnector1">
            <a:avLst/>
          </a:prstGeom>
          <a:ln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53" name="直接箭头连接符 229"/>
          <p:cNvCxnSpPr/>
          <p:nvPr/>
        </p:nvCxnSpPr>
        <p:spPr>
          <a:xfrm flipV="1">
            <a:off x="9667875" y="2019300"/>
            <a:ext cx="78867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4" name="直接箭头连接符 230"/>
          <p:cNvCxnSpPr/>
          <p:nvPr/>
        </p:nvCxnSpPr>
        <p:spPr>
          <a:xfrm flipH="1" flipV="1">
            <a:off x="10827258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5" name="直接箭头连接符 231"/>
          <p:cNvCxnSpPr/>
          <p:nvPr/>
        </p:nvCxnSpPr>
        <p:spPr>
          <a:xfrm flipV="1">
            <a:off x="9667875" y="4391025"/>
            <a:ext cx="78867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6" name="直接箭头连接符 232"/>
          <p:cNvCxnSpPr/>
          <p:nvPr/>
        </p:nvCxnSpPr>
        <p:spPr>
          <a:xfrm flipH="1" flipV="1">
            <a:off x="10827258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sp>
        <p:nvSpPr>
          <p:cNvPr id="57" name="L2 Cache 2">
            <a:extLst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2</a:t>
            </a:r>
          </a:p>
        </p:txBody>
      </p:sp>
      <p:sp>
        <p:nvSpPr>
          <p:cNvPr id="58" name="L2 Cache 3">
            <a:extLst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59" name="HA 2 MemPort">
            <a:extLst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3</a:t>
            </a:r>
          </a:p>
        </p:txBody>
      </p:sp>
      <p:sp>
        <p:nvSpPr>
          <p:cNvPr id="60" name="HA 3 MemPort">
            <a:extLst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3</a:t>
            </a:r>
          </a:p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cxnSp>
        <p:nvCxnSpPr>
          <p:cNvPr id="61" name="直接箭头连接符 237"/>
          <p:cNvCxnSpPr/>
          <p:nvPr/>
        </p:nvCxnSpPr>
        <p:spPr>
          <a:xfrm>
            <a:off x="419100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2" name="直接箭头连接符 238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3" name="直接箭头连接符 239"/>
          <p:cNvCxnSpPr/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4" name="直接箭头连接符 240"/>
          <p:cNvCxnSpPr/>
          <p:nvPr/>
        </p:nvCxnSpPr>
        <p:spPr>
          <a:xfrm>
            <a:off x="538162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5" name="直接箭头连接符 241"/>
          <p:cNvCxnSpPr/>
          <p:nvPr/>
        </p:nvCxnSpPr>
        <p:spPr>
          <a:xfrm>
            <a:off x="657225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6" name="直接箭头连接符 242"/>
          <p:cNvCxnSpPr/>
          <p:nvPr/>
        </p:nvCxnSpPr>
        <p:spPr>
          <a:xfrm>
            <a:off x="657225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7" name="直接箭头连接符 243"/>
          <p:cNvCxnSpPr/>
          <p:nvPr/>
        </p:nvCxnSpPr>
        <p:spPr>
          <a:xfrm>
            <a:off x="776287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" name="直接箭头连接符 244"/>
          <p:cNvCxnSpPr/>
          <p:nvPr/>
        </p:nvCxnSpPr>
        <p:spPr>
          <a:xfrm flipH="1">
            <a:off x="776287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9" name="连接符: 肘形 245"/>
          <p:cNvCxnSpPr/>
          <p:nvPr/>
        </p:nvCxnSpPr>
        <p:spPr>
          <a:xfrm>
            <a:off x="1381125" y="2024063"/>
            <a:ext cx="562107" cy="770571"/>
          </a:xfrm>
          <a:prstGeom prst="bentConnector2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0" name="连接符: 肘形 246"/>
          <p:cNvCxnSpPr>
            <a:cxnSpLocks/>
          </p:cNvCxnSpPr>
          <p:nvPr/>
        </p:nvCxnSpPr>
        <p:spPr>
          <a:xfrm rot="16200000" flipH="1">
            <a:off x="2848612" y="2384554"/>
            <a:ext cx="437008" cy="2247768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71" name="直接箭头连接符 247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2" name="直接箭头连接符 248"/>
          <p:cNvCxnSpPr>
            <a:cxnSpLocks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73" name="连接符: 肘形 249"/>
          <p:cNvCxnSpPr>
            <a:cxnSpLocks/>
          </p:cNvCxnSpPr>
          <p:nvPr/>
        </p:nvCxnSpPr>
        <p:spPr>
          <a:xfrm rot="5400000">
            <a:off x="3810544" y="1606647"/>
            <a:ext cx="84770" cy="3057392"/>
          </a:xfrm>
          <a:prstGeom prst="bentConnector2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74" name="Rounded Rectangle 48">
            <a:extLst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75" name="delivery-add-9">
            <a:extLst>
              <a:ext uri="{FF2B5EF4-FFF2-40B4-BE49-F238E27FC236}">
                <a16:creationId xmlns:a16="http://schemas.microsoft.com/office/drawing/2014/main" id="{5543FF71-1577-4E50-900C-359ADB2C61E9}"/>
              </a:ext>
            </a:extLst>
          </p:cNvPr>
          <p:cNvSpPr>
            <a:spLocks noGrp="1"/>
          </p:cNvSpPr>
          <p:nvPr/>
        </p:nvSpPr>
        <p:spPr>
          <a:xfrm>
            <a:off x="600075" y="5686425"/>
            <a:ext cx="10991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节点组成：每条V-Ring含4个计算核接入节点与1个桥接节点。H-Ring含2个桥接节点、4个HA端口和4个L2 Buffer。</a:t>
            </a:r>
          </a:p>
        </p:txBody>
      </p:sp>
      <p:sp>
        <p:nvSpPr>
          <p:cNvPr id="76" name="delivery-add-10">
            <a:extLst>
              <a:ext uri="{FF2B5EF4-FFF2-40B4-BE49-F238E27FC236}">
                <a16:creationId xmlns:a16="http://schemas.microsoft.com/office/drawing/2014/main" id="{11EBE070-A07F-48AA-8A07-F4E59DAD601B}"/>
              </a:ext>
            </a:extLst>
          </p:cNvPr>
          <p:cNvSpPr>
            <a:spLocks noGrp="1"/>
          </p:cNvSpPr>
          <p:nvPr/>
        </p:nvSpPr>
        <p:spPr>
          <a:xfrm>
            <a:off x="600075" y="6343650"/>
            <a:ext cx="10991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图中HBM表示后端存储抽象。蓝色为数据返回路径，红色为计算核发往存储端的请求路径。</a:t>
            </a:r>
          </a:p>
        </p:txBody>
      </p:sp>
      <p:sp>
        <p:nvSpPr>
          <p:cNvPr id="77" name="share-39">
            <a:extLst>
              <a:ext uri="{FF2B5EF4-FFF2-40B4-BE49-F238E27FC236}">
                <a16:creationId xmlns:a16="http://schemas.microsoft.com/office/drawing/2014/main" id="{8AFEE4DA-EBDA-4E45-8132-28CB7CFDAB7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B8E01F0B-30A3-45F4-B9DA-47665A36CEB0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读写事务的端到端路径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60E21FC1-6455-4E6E-9ABE-3ECBCEDC2E84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7048500" cy="47148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0E41180-8F51-4413-9F10-83940DC8613D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 REQ</a:t>
            </a:r>
          </a:p>
        </p:txBody>
      </p:sp>
      <p:sp>
        <p:nvSpPr>
          <p:cNvPr id="5" name="diagram-4">
            <a:extLst>
              <a:ext uri="{FF2B5EF4-FFF2-40B4-BE49-F238E27FC236}">
                <a16:creationId xmlns:a16="http://schemas.microsoft.com/office/drawing/2014/main" id="{A7B76934-2055-4464-A2B1-AC28560910CA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EC325FDF-496A-4C48-86AE-969C73F1FCB2}"/>
              </a:ext>
            </a:extLst>
          </p:cNvPr>
          <p:cNvSpPr>
            <a:spLocks noGrp="1"/>
          </p:cNvSpPr>
          <p:nvPr/>
        </p:nvSpPr>
        <p:spPr>
          <a:xfrm>
            <a:off x="191452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04E0ADFD-85B8-4F49-8E4C-E7C7BFB21FAF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849BEECC-1D8A-4D93-A69F-EF4B35C3C153}"/>
              </a:ext>
            </a:extLst>
          </p:cNvPr>
          <p:cNvSpPr>
            <a:spLocks noGrp="1"/>
          </p:cNvSpPr>
          <p:nvPr/>
        </p:nvSpPr>
        <p:spPr>
          <a:xfrm>
            <a:off x="460057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2FC0D800-F0C5-46D3-8393-DB02DEB58E80}"/>
              </a:ext>
            </a:extLst>
          </p:cNvPr>
          <p:cNvSpPr>
            <a:spLocks noGrp="1"/>
          </p:cNvSpPr>
          <p:nvPr/>
        </p:nvSpPr>
        <p:spPr>
          <a:xfrm>
            <a:off x="5943600" y="166687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10" name="直接箭头连接符 55"/>
          <p:cNvCxnSpPr/>
          <p:nvPr/>
        </p:nvCxnSpPr>
        <p:spPr>
          <a:xfrm>
            <a:off x="167640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56"/>
          <p:cNvCxnSpPr/>
          <p:nvPr/>
        </p:nvCxnSpPr>
        <p:spPr>
          <a:xfrm>
            <a:off x="301942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57"/>
          <p:cNvCxnSpPr/>
          <p:nvPr/>
        </p:nvCxnSpPr>
        <p:spPr>
          <a:xfrm>
            <a:off x="436245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58"/>
          <p:cNvCxnSpPr/>
          <p:nvPr/>
        </p:nvCxnSpPr>
        <p:spPr>
          <a:xfrm>
            <a:off x="570547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9">
            <a:extLst>
              <a:ext uri="{FF2B5EF4-FFF2-40B4-BE49-F238E27FC236}">
                <a16:creationId xmlns:a16="http://schemas.microsoft.com/office/drawing/2014/main" id="{4F3C347D-0942-45FA-8A54-0CE1EC2D4CFE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 DAT</a:t>
            </a:r>
          </a:p>
        </p:txBody>
      </p:sp>
      <p:sp>
        <p:nvSpPr>
          <p:cNvPr id="15" name="diagram-10">
            <a:extLst>
              <a:ext uri="{FF2B5EF4-FFF2-40B4-BE49-F238E27FC236}">
                <a16:creationId xmlns:a16="http://schemas.microsoft.com/office/drawing/2014/main" id="{9DB916F7-5150-4080-83B4-F369D6C4EA1F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6" name="diagram-11">
            <a:extLst>
              <a:ext uri="{FF2B5EF4-FFF2-40B4-BE49-F238E27FC236}">
                <a16:creationId xmlns:a16="http://schemas.microsoft.com/office/drawing/2014/main" id="{A97AAB42-539D-4226-8210-D37B6C0A5153}"/>
              </a:ext>
            </a:extLst>
          </p:cNvPr>
          <p:cNvSpPr>
            <a:spLocks noGrp="1"/>
          </p:cNvSpPr>
          <p:nvPr/>
        </p:nvSpPr>
        <p:spPr>
          <a:xfrm>
            <a:off x="191452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7" name="diagram-12">
            <a:extLst>
              <a:ext uri="{FF2B5EF4-FFF2-40B4-BE49-F238E27FC236}">
                <a16:creationId xmlns:a16="http://schemas.microsoft.com/office/drawing/2014/main" id="{BBB2761C-26F1-46C2-BBDB-B4C8D3ABE876}"/>
              </a:ext>
            </a:extLst>
          </p:cNvPr>
          <p:cNvSpPr>
            <a:spLocks noGrp="1"/>
          </p:cNvSpPr>
          <p:nvPr/>
        </p:nvSpPr>
        <p:spPr>
          <a:xfrm>
            <a:off x="3257550" y="270510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18" name="diagram-13">
            <a:extLst>
              <a:ext uri="{FF2B5EF4-FFF2-40B4-BE49-F238E27FC236}">
                <a16:creationId xmlns:a16="http://schemas.microsoft.com/office/drawing/2014/main" id="{DF6D5417-6048-4BBF-9ED7-875E5D678449}"/>
              </a:ext>
            </a:extLst>
          </p:cNvPr>
          <p:cNvSpPr>
            <a:spLocks noGrp="1"/>
          </p:cNvSpPr>
          <p:nvPr/>
        </p:nvSpPr>
        <p:spPr>
          <a:xfrm>
            <a:off x="460057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9" name="diagram-14">
            <a:extLst>
              <a:ext uri="{FF2B5EF4-FFF2-40B4-BE49-F238E27FC236}">
                <a16:creationId xmlns:a16="http://schemas.microsoft.com/office/drawing/2014/main" id="{DEECF1E4-4A1E-40A3-AB7C-8B679A15AC47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1104900" cy="5048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cxnSp>
        <p:nvCxnSpPr>
          <p:cNvPr id="20" name="直接箭头连接符 65"/>
          <p:cNvCxnSpPr/>
          <p:nvPr/>
        </p:nvCxnSpPr>
        <p:spPr>
          <a:xfrm flipH="1">
            <a:off x="167640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1" name="直接箭头连接符 66"/>
          <p:cNvCxnSpPr/>
          <p:nvPr/>
        </p:nvCxnSpPr>
        <p:spPr>
          <a:xfrm flipH="1">
            <a:off x="301942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2" name="直接箭头连接符 67"/>
          <p:cNvCxnSpPr/>
          <p:nvPr/>
        </p:nvCxnSpPr>
        <p:spPr>
          <a:xfrm flipH="1">
            <a:off x="436245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3" name="直接箭头连接符 68"/>
          <p:cNvCxnSpPr/>
          <p:nvPr/>
        </p:nvCxnSpPr>
        <p:spPr>
          <a:xfrm flipH="1">
            <a:off x="570547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4" name="txt-15">
            <a:extLst>
              <a:ext uri="{FF2B5EF4-FFF2-40B4-BE49-F238E27FC236}">
                <a16:creationId xmlns:a16="http://schemas.microsoft.com/office/drawing/2014/main" id="{75FBE862-BD5A-4A8F-B864-7DF6717B0F1B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写请求与写数据 REQ / DAT</a:t>
            </a:r>
          </a:p>
        </p:txBody>
      </p:sp>
      <p:sp>
        <p:nvSpPr>
          <p:cNvPr id="25" name="diagram-16">
            <a:extLst>
              <a:ext uri="{FF2B5EF4-FFF2-40B4-BE49-F238E27FC236}">
                <a16:creationId xmlns:a16="http://schemas.microsoft.com/office/drawing/2014/main" id="{55F47B33-7A90-441B-9EF8-384089264586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26" name="diagram-17">
            <a:extLst>
              <a:ext uri="{FF2B5EF4-FFF2-40B4-BE49-F238E27FC236}">
                <a16:creationId xmlns:a16="http://schemas.microsoft.com/office/drawing/2014/main" id="{B41B3F1B-9FF9-4C33-BB88-FE79EA9DA7A4}"/>
              </a:ext>
            </a:extLst>
          </p:cNvPr>
          <p:cNvSpPr>
            <a:spLocks noGrp="1"/>
          </p:cNvSpPr>
          <p:nvPr/>
        </p:nvSpPr>
        <p:spPr>
          <a:xfrm>
            <a:off x="191452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27" name="diagram-18">
            <a:extLst>
              <a:ext uri="{FF2B5EF4-FFF2-40B4-BE49-F238E27FC236}">
                <a16:creationId xmlns:a16="http://schemas.microsoft.com/office/drawing/2014/main" id="{1C48A23A-AADC-476B-B7C7-6179F1BE83F7}"/>
              </a:ext>
            </a:extLst>
          </p:cNvPr>
          <p:cNvSpPr>
            <a:spLocks noGrp="1"/>
          </p:cNvSpPr>
          <p:nvPr/>
        </p:nvSpPr>
        <p:spPr>
          <a:xfrm>
            <a:off x="3257550" y="374332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28" name="diagram-19">
            <a:extLst>
              <a:ext uri="{FF2B5EF4-FFF2-40B4-BE49-F238E27FC236}">
                <a16:creationId xmlns:a16="http://schemas.microsoft.com/office/drawing/2014/main" id="{B4A2505C-8DC1-4F51-8494-FECC9607C913}"/>
              </a:ext>
            </a:extLst>
          </p:cNvPr>
          <p:cNvSpPr>
            <a:spLocks noGrp="1"/>
          </p:cNvSpPr>
          <p:nvPr/>
        </p:nvSpPr>
        <p:spPr>
          <a:xfrm>
            <a:off x="460057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29" name="diagram-20">
            <a:extLst>
              <a:ext uri="{FF2B5EF4-FFF2-40B4-BE49-F238E27FC236}">
                <a16:creationId xmlns:a16="http://schemas.microsoft.com/office/drawing/2014/main" id="{33448C91-312B-4D32-84CF-AD5C6B922FD9}"/>
              </a:ext>
            </a:extLst>
          </p:cNvPr>
          <p:cNvSpPr>
            <a:spLocks noGrp="1"/>
          </p:cNvSpPr>
          <p:nvPr/>
        </p:nvSpPr>
        <p:spPr>
          <a:xfrm>
            <a:off x="5943600" y="374332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  <a:endParaRPr lang="en-US"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  <a:endParaRPr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直接箭头连接符 75"/>
          <p:cNvCxnSpPr/>
          <p:nvPr/>
        </p:nvCxnSpPr>
        <p:spPr>
          <a:xfrm>
            <a:off x="167640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1" name="直接箭头连接符 76"/>
          <p:cNvCxnSpPr/>
          <p:nvPr/>
        </p:nvCxnSpPr>
        <p:spPr>
          <a:xfrm>
            <a:off x="301942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2" name="直接箭头连接符 77"/>
          <p:cNvCxnSpPr/>
          <p:nvPr/>
        </p:nvCxnSpPr>
        <p:spPr>
          <a:xfrm>
            <a:off x="436245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3" name="直接箭头连接符 78"/>
          <p:cNvCxnSpPr/>
          <p:nvPr/>
        </p:nvCxnSpPr>
        <p:spPr>
          <a:xfrm>
            <a:off x="570547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34" name="txt-21">
            <a:extLst>
              <a:ext uri="{FF2B5EF4-FFF2-40B4-BE49-F238E27FC236}">
                <a16:creationId xmlns:a16="http://schemas.microsoft.com/office/drawing/2014/main" id="{66C79496-374B-45A0-AE71-F391E827BDC2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写完成响应 RSP</a:t>
            </a:r>
          </a:p>
        </p:txBody>
      </p:sp>
      <p:sp>
        <p:nvSpPr>
          <p:cNvPr id="35" name="diagram-22">
            <a:extLst>
              <a:ext uri="{FF2B5EF4-FFF2-40B4-BE49-F238E27FC236}">
                <a16:creationId xmlns:a16="http://schemas.microsoft.com/office/drawing/2014/main" id="{AE6B5E69-DB31-4BEE-ACF7-D63DA2C2D109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36" name="diagram-23">
            <a:extLst>
              <a:ext uri="{FF2B5EF4-FFF2-40B4-BE49-F238E27FC236}">
                <a16:creationId xmlns:a16="http://schemas.microsoft.com/office/drawing/2014/main" id="{97331A6E-7AC5-47C9-BE4D-DA9CF60ACA46}"/>
              </a:ext>
            </a:extLst>
          </p:cNvPr>
          <p:cNvSpPr>
            <a:spLocks noGrp="1"/>
          </p:cNvSpPr>
          <p:nvPr/>
        </p:nvSpPr>
        <p:spPr>
          <a:xfrm>
            <a:off x="191452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37" name="diagram-24">
            <a:extLst>
              <a:ext uri="{FF2B5EF4-FFF2-40B4-BE49-F238E27FC236}">
                <a16:creationId xmlns:a16="http://schemas.microsoft.com/office/drawing/2014/main" id="{42E3C578-1D0F-4A5D-9040-41045069EEB3}"/>
              </a:ext>
            </a:extLst>
          </p:cNvPr>
          <p:cNvSpPr>
            <a:spLocks noGrp="1"/>
          </p:cNvSpPr>
          <p:nvPr/>
        </p:nvSpPr>
        <p:spPr>
          <a:xfrm>
            <a:off x="3257550" y="478155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38" name="diagram-25">
            <a:extLst>
              <a:ext uri="{FF2B5EF4-FFF2-40B4-BE49-F238E27FC236}">
                <a16:creationId xmlns:a16="http://schemas.microsoft.com/office/drawing/2014/main" id="{39D4BCCD-8F02-4D6A-8F6F-F31B54001EAD}"/>
              </a:ext>
            </a:extLst>
          </p:cNvPr>
          <p:cNvSpPr>
            <a:spLocks noGrp="1"/>
          </p:cNvSpPr>
          <p:nvPr/>
        </p:nvSpPr>
        <p:spPr>
          <a:xfrm>
            <a:off x="460057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39" name="diagram-26">
            <a:extLst>
              <a:ext uri="{FF2B5EF4-FFF2-40B4-BE49-F238E27FC236}">
                <a16:creationId xmlns:a16="http://schemas.microsoft.com/office/drawing/2014/main" id="{AECC384F-AFFD-4400-ABAE-E884A634A9D4}"/>
              </a:ext>
            </a:extLst>
          </p:cNvPr>
          <p:cNvSpPr>
            <a:spLocks noGrp="1"/>
          </p:cNvSpPr>
          <p:nvPr/>
        </p:nvSpPr>
        <p:spPr>
          <a:xfrm>
            <a:off x="5943600" y="4781550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40" name="直接箭头连接符 85"/>
          <p:cNvCxnSpPr/>
          <p:nvPr/>
        </p:nvCxnSpPr>
        <p:spPr>
          <a:xfrm flipH="1">
            <a:off x="167640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1" name="直接箭头连接符 86"/>
          <p:cNvCxnSpPr/>
          <p:nvPr/>
        </p:nvCxnSpPr>
        <p:spPr>
          <a:xfrm flipH="1">
            <a:off x="301942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2" name="直接箭头连接符 87"/>
          <p:cNvCxnSpPr/>
          <p:nvPr/>
        </p:nvCxnSpPr>
        <p:spPr>
          <a:xfrm flipH="1">
            <a:off x="436245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3" name="直接箭头连接符 88"/>
          <p:cNvCxnSpPr/>
          <p:nvPr/>
        </p:nvCxnSpPr>
        <p:spPr>
          <a:xfrm flipH="1">
            <a:off x="570547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44" name="txt-27">
            <a:extLst>
              <a:ext uri="{FF2B5EF4-FFF2-40B4-BE49-F238E27FC236}">
                <a16:creationId xmlns:a16="http://schemas.microsoft.com/office/drawing/2014/main" id="{DF1B790E-9846-4846-AA07-4DB9FD35BA2E}"/>
              </a:ext>
            </a:extLst>
          </p:cNvPr>
          <p:cNvSpPr>
            <a:spLocks noGrp="1"/>
          </p:cNvSpPr>
          <p:nvPr/>
        </p:nvSpPr>
        <p:spPr>
          <a:xfrm>
            <a:off x="7820025" y="1304925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读事务：请求与数据分离</a:t>
            </a:r>
          </a:p>
        </p:txBody>
      </p:sp>
      <p:sp>
        <p:nvSpPr>
          <p:cNvPr id="45" name="bullet-list-29">
            <a:extLst>
              <a:ext uri="{FF2B5EF4-FFF2-40B4-BE49-F238E27FC236}">
                <a16:creationId xmlns:a16="http://schemas.microsoft.com/office/drawing/2014/main" id="{A5C92875-9106-43AE-8417-98A98AF5110F}"/>
              </a:ext>
            </a:extLst>
          </p:cNvPr>
          <p:cNvSpPr>
            <a:spLocks noGrp="1"/>
          </p:cNvSpPr>
          <p:nvPr/>
        </p:nvSpPr>
        <p:spPr>
          <a:xfrm>
            <a:off x="7820025" y="1733550"/>
            <a:ext cx="39719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读地址沿REQ子网，经V-Ring、RBRG和H-Ring到达HA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HA组织读取，完成数据交由L2 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Buffer缓冲和分发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读数据沿DAT子网返回目标V-Ring，再交付请求端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txt-30">
            <a:extLst>
              <a:ext uri="{FF2B5EF4-FFF2-40B4-BE49-F238E27FC236}">
                <a16:creationId xmlns:a16="http://schemas.microsoft.com/office/drawing/2014/main" id="{0BB9000B-F1BB-4F34-9B52-F76C35F8E45A}"/>
              </a:ext>
            </a:extLst>
          </p:cNvPr>
          <p:cNvSpPr>
            <a:spLocks noGrp="1"/>
          </p:cNvSpPr>
          <p:nvPr/>
        </p:nvSpPr>
        <p:spPr>
          <a:xfrm>
            <a:off x="7820025" y="4019550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写事务：配对后提交</a:t>
            </a:r>
          </a:p>
        </p:txBody>
      </p:sp>
      <p:sp>
        <p:nvSpPr>
          <p:cNvPr id="47" name="bullet-list-32">
            <a:extLst>
              <a:ext uri="{FF2B5EF4-FFF2-40B4-BE49-F238E27FC236}">
                <a16:creationId xmlns:a16="http://schemas.microsoft.com/office/drawing/2014/main" id="{F9B4F450-0910-4AFD-92ED-21D8F05B905A}"/>
              </a:ext>
            </a:extLst>
          </p:cNvPr>
          <p:cNvSpPr>
            <a:spLocks noGrp="1"/>
          </p:cNvSpPr>
          <p:nvPr/>
        </p:nvSpPr>
        <p:spPr>
          <a:xfrm>
            <a:off x="7820025" y="4438650"/>
            <a:ext cx="3971925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写请求WR与写数据WR_DAT分别传输，可在不同周期到达。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内存端口按事务标识配对，后端返回响应后，经RSP子网送回请求端。</a:t>
            </a:r>
          </a:p>
        </p:txBody>
      </p:sp>
      <p:sp>
        <p:nvSpPr>
          <p:cNvPr id="48" name="txt-33">
            <a:extLst>
              <a:ext uri="{FF2B5EF4-FFF2-40B4-BE49-F238E27FC236}">
                <a16:creationId xmlns:a16="http://schemas.microsoft.com/office/drawing/2014/main" id="{4A986A08-5F58-4C4C-96CD-909CA35C14A8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协议分工：REQ传递地址，DAT搬运数据，RSP返回写完成状态。</a:t>
            </a:r>
          </a:p>
        </p:txBody>
      </p:sp>
      <p:sp>
        <p:nvSpPr>
          <p:cNvPr id="49" name="share-40">
            <a:extLst>
              <a:ext uri="{FF2B5EF4-FFF2-40B4-BE49-F238E27FC236}">
                <a16:creationId xmlns:a16="http://schemas.microsoft.com/office/drawing/2014/main" id="{F03D1561-D833-4EBC-84BA-26415D61967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61985"/>
      </p:ext>
    </p:extLst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41">
            <a:extLst xmlns:a="http://schemas.openxmlformats.org/drawingml/2006/main">
              <a:ext uri="{FF2B5EF4-FFF2-40B4-BE49-F238E27FC236}">
                <a16:creationId xmlns:a16="http://schemas.microsoft.com/office/drawing/2014/main" id="{BADAC7F2-4B71-480C-8E67-576E31C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交叉节点：仲裁与反压</a:t>
            </a:r>
          </a:p>
        </p:txBody>
      </p:sp>
      <p:sp>
        <p:nvSpPr>
          <p:cNvPr id="3" name="share-42">
            <a:extLst xmlns:a="http://schemas.openxmlformats.org/drawingml/2006/main">
              <a:ext uri="{FF2B5EF4-FFF2-40B4-BE49-F238E27FC236}">
                <a16:creationId xmlns:a16="http://schemas.microsoft.com/office/drawing/2014/main" id="{C3FDDEF6-9200-4EC6-BA61-053A49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交叉节点（Cross Station）连接本地端点与环网，协调过站转发、注入和弹出。</a:t>
            </a:r>
          </a:p>
        </p:txBody>
      </p:sp>
      <p:sp>
        <p:nvSpPr>
          <p:cNvPr id="4" name="share-43">
            <a:extLst xmlns:a="http://schemas.openxmlformats.org/drawingml/2006/main">
              <a:ext uri="{FF2B5EF4-FFF2-40B4-BE49-F238E27FC236}">
                <a16:creationId xmlns:a16="http://schemas.microsoft.com/office/drawing/2014/main" id="{0E0117B6-7166-4C87-993F-30EB39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双向独立仲裁</a:t>
            </a:r>
          </a:p>
        </p:txBody>
      </p:sp>
      <p:sp>
        <p:nvSpPr>
          <p:cNvPr id="5" name="share-44">
            <a:extLst xmlns:a="http://schemas.openxmlformats.org/drawingml/2006/main">
              <a:ext uri="{FF2B5EF4-FFF2-40B4-BE49-F238E27FC236}">
                <a16:creationId xmlns:a16="http://schemas.microsoft.com/office/drawing/2014/main" id="{33F5CBE7-C73C-470D-B160-A3E5FB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顺时针（CW）与逆时针（CCW）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分别选择过站包或本地待发送包。</a:t>
            </a:r>
          </a:p>
        </p:txBody>
      </p:sp>
      <p:sp>
        <p:nvSpPr>
          <p:cNvPr id="6" name="share-45">
            <a:extLst xmlns:a="http://schemas.openxmlformats.org/drawingml/2006/main">
              <a:ext uri="{FF2B5EF4-FFF2-40B4-BE49-F238E27FC236}">
                <a16:creationId xmlns:a16="http://schemas.microsoft.com/office/drawing/2014/main" id="{540F5A43-67AA-4588-AC42-E6EE96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共享弹出队列</a:t>
            </a:r>
          </a:p>
        </p:txBody>
      </p:sp>
      <p:sp>
        <p:nvSpPr>
          <p:cNvPr id="7" name="share-46">
            <a:extLst xmlns:a="http://schemas.openxmlformats.org/drawingml/2006/main">
              <a:ext uri="{FF2B5EF4-FFF2-40B4-BE49-F238E27FC236}">
                <a16:creationId xmlns:a16="http://schemas.microsoft.com/office/drawing/2014/main" id="{78DF6A29-B866-491C-9F0C-FF761E3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两个方向的目的包竞争同一队列。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弹出仲裁决定本轮由哪一路进入。</a:t>
            </a:r>
          </a:p>
        </p:txBody>
      </p:sp>
      <p:sp>
        <p:nvSpPr>
          <p:cNvPr id="8" name="share-47">
            <a:extLst xmlns:a="http://schemas.openxmlformats.org/drawingml/2006/main">
              <a:ext uri="{FF2B5EF4-FFF2-40B4-BE49-F238E27FC236}">
                <a16:creationId xmlns:a16="http://schemas.microsoft.com/office/drawing/2014/main" id="{82F43054-57A6-478F-BBB2-7FC9878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推进的条件</a:t>
            </a:r>
          </a:p>
        </p:txBody>
      </p:sp>
      <p:sp>
        <p:nvSpPr>
          <p:cNvPr id="9" name="share-48">
            <a:extLst xmlns:a="http://schemas.openxmlformats.org/drawingml/2006/main">
              <a:ext uri="{FF2B5EF4-FFF2-40B4-BE49-F238E27FC236}">
                <a16:creationId xmlns:a16="http://schemas.microsoft.com/office/drawing/2014/main" id="{7629ABAC-6B12-41A8-9C41-4779A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下游成功接收后才推进状态。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受阻时保留数据与队首位置。</a:t>
            </a:r>
          </a:p>
        </p:txBody>
      </p:sp>
      <p:sp>
        <p:nvSpPr>
          <p:cNvPr id="10" name="share-49">
            <a:extLst xmlns:a="http://schemas.openxmlformats.org/drawingml/2006/main">
              <a:ext uri="{FF2B5EF4-FFF2-40B4-BE49-F238E27FC236}">
                <a16:creationId xmlns:a16="http://schemas.microsoft.com/office/drawing/2014/main" id="{7DE5B111-4213-4B5F-B4AA-AA553AE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1924050"/>
            <ns0:ext cx="7124700" cy="4067175"/>
            <ns0:chOff x="190500" y="666750"/>
            <ns0:chExt cx="5619750" cy="3209925"/>
          </ns0:xfrm>
        </p:grpSpPr>
        <p:grpSp xmlns:a="http://schemas.openxmlformats.org/drawingml/2006/main">
          <p:nvGrpSpPr>
            <p:cNvPr id="12" name="组合 13">
              <a:extLst>
                <a:ext uri="{FF2B5EF4-FFF2-40B4-BE49-F238E27FC236}">
                  <a16:creationId xmlns:a16="http://schemas.microsoft.com/office/drawing/2014/main" id="{FC5408E0-95E4-4B0E-9D9C-BD4C0FEBA06F}"/>
                </a:ext>
              </a:extLst>
            </p:cNvPr>
            <p:cNvGrpSpPr/>
            <p:nvPr/>
          </p:nvGrpSpPr>
          <p:grpSpPr>
            <a:xfrm>
              <a:off x="282366" y="719611"/>
              <a:ext cx="5392923" cy="3088863"/>
              <a:chOff x="121030" y="530437"/>
              <a:chExt cx="5392923" cy="3088863"/>
            </a:xfrm>
          </p:grpSpPr>
          <p:grpSp>
            <p:nvGrpSpPr>
              <p:cNvPr id="13" name="组合 538">
                <a:extLst>
                  <a:ext uri="{FF2B5EF4-FFF2-40B4-BE49-F238E27FC236}">
                    <a16:creationId xmlns:a16="http://schemas.microsoft.com/office/drawing/2014/main" id="{927E0B0D-A78F-43A4-A420-BC4BEB1E58BA}"/>
                  </a:ext>
                </a:extLst>
              </p:cNvPr>
              <p:cNvGrpSpPr/>
              <p:nvPr/>
            </p:nvGrpSpPr>
            <p:grpSpPr>
              <a:xfrm>
                <a:off x="121030" y="569009"/>
                <a:ext cx="5392923" cy="3050291"/>
                <a:chOff x="8472737" y="813826"/>
                <a:chExt cx="5392923" cy="3050291"/>
              </a:xfrm>
            </p:grpSpPr>
            <p:sp>
              <p:nvSpPr>
                <p:cNvPr id="14" name="矩形 539">
                  <a:extLst>
                    <a:ext uri="{FF2B5EF4-FFF2-40B4-BE49-F238E27FC236}">
                      <a16:creationId xmlns:a16="http://schemas.microsoft.com/office/drawing/2014/main" id="{5A0581F7-BFA6-40D8-A0C3-B2ECA4DB818D}"/>
                    </a:ext>
                  </a:extLst>
                </p:cNvPr>
                <p:cNvSpPr/>
                <p:nvPr/>
              </p:nvSpPr>
              <p:spPr>
                <a:xfrm>
                  <a:off x="9312918" y="1000418"/>
                  <a:ext cx="3697169" cy="1569660"/>
                </a:xfrm>
                <a:prstGeom prst="rect">
                  <a:avLst/>
                </a:prstGeom>
                <a:solidFill>
                  <a:schemeClr val="bg1">
                    <a:lumMod val="95000"/>
                    <a:alpha val="50196"/>
                  </a:schemeClr>
                </a:solidFill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540">
                  <a:extLst>
                    <a:ext uri="{FF2B5EF4-FFF2-40B4-BE49-F238E27FC236}">
                      <a16:creationId xmlns:a16="http://schemas.microsoft.com/office/drawing/2014/main" id="{C29A41DD-0C69-4C20-8F07-7B3E763CDDCF}"/>
                    </a:ext>
                  </a:extLst>
                </p:cNvPr>
                <p:cNvSpPr/>
                <p:nvPr/>
              </p:nvSpPr>
              <p:spPr>
                <a:xfrm>
                  <a:off x="9404191" y="219648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矩形 541">
                  <a:extLst>
                    <a:ext uri="{FF2B5EF4-FFF2-40B4-BE49-F238E27FC236}">
                      <a16:creationId xmlns:a16="http://schemas.microsoft.com/office/drawing/2014/main" id="{2D3908F7-6B1C-4779-932F-DB875AE4C357}"/>
                    </a:ext>
                  </a:extLst>
                </p:cNvPr>
                <p:cNvSpPr/>
                <p:nvPr/>
              </p:nvSpPr>
              <p:spPr>
                <a:xfrm>
                  <a:off x="9404191" y="1904184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 542">
                  <a:extLst>
                    <a:ext uri="{FF2B5EF4-FFF2-40B4-BE49-F238E27FC236}">
                      <a16:creationId xmlns:a16="http://schemas.microsoft.com/office/drawing/2014/main" id="{8E048994-6BC6-492A-ADE3-6A6153614B27}"/>
                    </a:ext>
                  </a:extLst>
                </p:cNvPr>
                <p:cNvSpPr/>
                <p:nvPr/>
              </p:nvSpPr>
              <p:spPr>
                <a:xfrm>
                  <a:off x="9404191" y="161028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矩形 543">
                  <a:extLst>
                    <a:ext uri="{FF2B5EF4-FFF2-40B4-BE49-F238E27FC236}">
                      <a16:creationId xmlns:a16="http://schemas.microsoft.com/office/drawing/2014/main" id="{60BAB55F-D182-472F-BA2D-7D88242F08D0}"/>
                    </a:ext>
                  </a:extLst>
                </p:cNvPr>
                <p:cNvSpPr/>
                <p:nvPr/>
              </p:nvSpPr>
              <p:spPr>
                <a:xfrm>
                  <a:off x="9404191" y="131797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文本框 544">
                  <a:extLst>
                    <a:ext uri="{FF2B5EF4-FFF2-40B4-BE49-F238E27FC236}">
                      <a16:creationId xmlns:a16="http://schemas.microsoft.com/office/drawing/2014/main" id="{6728543E-B079-4FE0-BE87-D0984A72119B}"/>
                    </a:ext>
                  </a:extLst>
                </p:cNvPr>
                <p:cNvSpPr txBox="1"/>
                <p:nvPr/>
              </p:nvSpPr>
              <p:spPr>
                <a:xfrm>
                  <a:off x="9357997" y="1046216"/>
                  <a:ext cx="9369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矩形 545">
                  <a:extLst>
                    <a:ext uri="{FF2B5EF4-FFF2-40B4-BE49-F238E27FC236}">
                      <a16:creationId xmlns:a16="http://schemas.microsoft.com/office/drawing/2014/main" id="{8C8F9679-5F1D-4B73-BDDC-7EC4B6427A99}"/>
                    </a:ext>
                  </a:extLst>
                </p:cNvPr>
                <p:cNvSpPr/>
                <p:nvPr/>
              </p:nvSpPr>
              <p:spPr>
                <a:xfrm>
                  <a:off x="10785316" y="218940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矩形 546">
                  <a:extLst>
                    <a:ext uri="{FF2B5EF4-FFF2-40B4-BE49-F238E27FC236}">
                      <a16:creationId xmlns:a16="http://schemas.microsoft.com/office/drawing/2014/main" id="{FABFFF21-A711-406D-8D1F-25D44273739A}"/>
                    </a:ext>
                  </a:extLst>
                </p:cNvPr>
                <p:cNvSpPr/>
                <p:nvPr/>
              </p:nvSpPr>
              <p:spPr>
                <a:xfrm>
                  <a:off x="10785316" y="1897102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矩形 547">
                  <a:extLst>
                    <a:ext uri="{FF2B5EF4-FFF2-40B4-BE49-F238E27FC236}">
                      <a16:creationId xmlns:a16="http://schemas.microsoft.com/office/drawing/2014/main" id="{18C40BA7-B8CC-4939-A3AD-4C91D8ED4951}"/>
                    </a:ext>
                  </a:extLst>
                </p:cNvPr>
                <p:cNvSpPr/>
                <p:nvPr/>
              </p:nvSpPr>
              <p:spPr>
                <a:xfrm>
                  <a:off x="10785316" y="1603198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矩形 548">
                  <a:extLst>
                    <a:ext uri="{FF2B5EF4-FFF2-40B4-BE49-F238E27FC236}">
                      <a16:creationId xmlns:a16="http://schemas.microsoft.com/office/drawing/2014/main" id="{1B770934-3EFB-4887-8FC8-DC4C187D42EC}"/>
                    </a:ext>
                  </a:extLst>
                </p:cNvPr>
                <p:cNvSpPr/>
                <p:nvPr/>
              </p:nvSpPr>
              <p:spPr>
                <a:xfrm>
                  <a:off x="10785316" y="131089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文本框 549">
                  <a:extLst>
                    <a:ext uri="{FF2B5EF4-FFF2-40B4-BE49-F238E27FC236}">
                      <a16:creationId xmlns:a16="http://schemas.microsoft.com/office/drawing/2014/main" id="{E0C8159E-7515-4B63-BBBB-DD9B864E9008}"/>
                    </a:ext>
                  </a:extLst>
                </p:cNvPr>
                <p:cNvSpPr txBox="1"/>
                <p:nvPr/>
              </p:nvSpPr>
              <p:spPr>
                <a:xfrm>
                  <a:off x="10650937" y="1028241"/>
                  <a:ext cx="11132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Eject  Queue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矩形 550">
                  <a:extLst>
                    <a:ext uri="{FF2B5EF4-FFF2-40B4-BE49-F238E27FC236}">
                      <a16:creationId xmlns:a16="http://schemas.microsoft.com/office/drawing/2014/main" id="{E2071E71-FF36-46A1-A98A-1D1D89419587}"/>
                    </a:ext>
                  </a:extLst>
                </p:cNvPr>
                <p:cNvSpPr/>
                <p:nvPr/>
              </p:nvSpPr>
              <p:spPr>
                <a:xfrm>
                  <a:off x="12082668" y="217619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矩形 551">
                  <a:extLst>
                    <a:ext uri="{FF2B5EF4-FFF2-40B4-BE49-F238E27FC236}">
                      <a16:creationId xmlns:a16="http://schemas.microsoft.com/office/drawing/2014/main" id="{73D4D4F9-070E-416F-A905-3B1427E729E8}"/>
                    </a:ext>
                  </a:extLst>
                </p:cNvPr>
                <p:cNvSpPr/>
                <p:nvPr/>
              </p:nvSpPr>
              <p:spPr>
                <a:xfrm>
                  <a:off x="12082668" y="188389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矩形 552">
                  <a:extLst>
                    <a:ext uri="{FF2B5EF4-FFF2-40B4-BE49-F238E27FC236}">
                      <a16:creationId xmlns:a16="http://schemas.microsoft.com/office/drawing/2014/main" id="{EEAE748C-0881-4272-B95F-4C960828065C}"/>
                    </a:ext>
                  </a:extLst>
                </p:cNvPr>
                <p:cNvSpPr/>
                <p:nvPr/>
              </p:nvSpPr>
              <p:spPr>
                <a:xfrm>
                  <a:off x="12082668" y="1589986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矩形 553">
                  <a:extLst>
                    <a:ext uri="{FF2B5EF4-FFF2-40B4-BE49-F238E27FC236}">
                      <a16:creationId xmlns:a16="http://schemas.microsoft.com/office/drawing/2014/main" id="{8647D86D-5D13-46BB-A276-6FB05EBC1D03}"/>
                    </a:ext>
                  </a:extLst>
                </p:cNvPr>
                <p:cNvSpPr/>
                <p:nvPr/>
              </p:nvSpPr>
              <p:spPr>
                <a:xfrm>
                  <a:off x="12082668" y="129768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文本框 554">
                  <a:extLst>
                    <a:ext uri="{FF2B5EF4-FFF2-40B4-BE49-F238E27FC236}">
                      <a16:creationId xmlns:a16="http://schemas.microsoft.com/office/drawing/2014/main" id="{2931EAA7-C835-4A18-B6D1-9E8F6F8548FE}"/>
                    </a:ext>
                  </a:extLst>
                </p:cNvPr>
                <p:cNvSpPr txBox="1"/>
                <p:nvPr/>
              </p:nvSpPr>
              <p:spPr>
                <a:xfrm>
                  <a:off x="11973078" y="1025922"/>
                  <a:ext cx="106371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矩形 555">
                  <a:extLst>
                    <a:ext uri="{FF2B5EF4-FFF2-40B4-BE49-F238E27FC236}">
                      <a16:creationId xmlns:a16="http://schemas.microsoft.com/office/drawing/2014/main" id="{782FDE0A-AD8B-41B8-A036-FC8BA3B37493}"/>
                    </a:ext>
                  </a:extLst>
                </p:cNvPr>
                <p:cNvSpPr/>
                <p:nvPr/>
              </p:nvSpPr>
              <p:spPr>
                <a:xfrm>
                  <a:off x="12698673" y="28446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矩形 556">
                  <a:extLst>
                    <a:ext uri="{FF2B5EF4-FFF2-40B4-BE49-F238E27FC236}">
                      <a16:creationId xmlns:a16="http://schemas.microsoft.com/office/drawing/2014/main" id="{6D777C51-9474-49F0-861C-9363BCDBD5D4}"/>
                    </a:ext>
                  </a:extLst>
                </p:cNvPr>
                <p:cNvSpPr/>
                <p:nvPr/>
              </p:nvSpPr>
              <p:spPr>
                <a:xfrm>
                  <a:off x="12709686" y="3416493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矩形 557">
                  <a:extLst>
                    <a:ext uri="{FF2B5EF4-FFF2-40B4-BE49-F238E27FC236}">
                      <a16:creationId xmlns:a16="http://schemas.microsoft.com/office/drawing/2014/main" id="{8B2BFD6C-0B98-4F7A-81F3-7DAFB5831D13}"/>
                    </a:ext>
                  </a:extLst>
                </p:cNvPr>
                <p:cNvSpPr/>
                <p:nvPr/>
              </p:nvSpPr>
              <p:spPr>
                <a:xfrm>
                  <a:off x="8765694" y="2847714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矩形 558">
                  <a:extLst>
                    <a:ext uri="{FF2B5EF4-FFF2-40B4-BE49-F238E27FC236}">
                      <a16:creationId xmlns:a16="http://schemas.microsoft.com/office/drawing/2014/main" id="{501B6CEC-FE8C-4472-A376-BB6E2F322CB5}"/>
                    </a:ext>
                  </a:extLst>
                </p:cNvPr>
                <p:cNvSpPr/>
                <p:nvPr/>
              </p:nvSpPr>
              <p:spPr>
                <a:xfrm>
                  <a:off x="8765694" y="34161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4" name="直接箭头连接符 559">
                  <a:extLst>
                    <a:ext uri="{FF2B5EF4-FFF2-40B4-BE49-F238E27FC236}">
                      <a16:creationId xmlns:a16="http://schemas.microsoft.com/office/drawing/2014/main" id="{7B001D58-2389-4208-AB85-02C21B4560B0}"/>
                    </a:ext>
                  </a:extLst>
                </p:cNvPr>
                <p:cNvCxnSpPr>
                  <a:cxnSpLocks/>
                  <a:stCxn id="30" idx="1"/>
                  <a:endCxn id="35" idx="3"/>
                </p:cNvCxnSpPr>
                <p:nvPr/>
              </p:nvCxnSpPr>
              <p:spPr>
                <a:xfrm flipH="1">
                  <a:off x="10859290" y="3023151"/>
                  <a:ext cx="1839383" cy="289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35" name="矩形 560">
                  <a:extLst>
                    <a:ext uri="{FF2B5EF4-FFF2-40B4-BE49-F238E27FC236}">
                      <a16:creationId xmlns:a16="http://schemas.microsoft.com/office/drawing/2014/main" id="{AC192722-C1BC-4C82-924F-4E04E00F0D33}"/>
                    </a:ext>
                  </a:extLst>
                </p:cNvPr>
                <p:cNvSpPr/>
                <p:nvPr/>
              </p:nvSpPr>
              <p:spPr>
                <a:xfrm>
                  <a:off x="9896259" y="2847714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36" name="直接箭头连接符 561">
                  <a:extLst>
                    <a:ext uri="{FF2B5EF4-FFF2-40B4-BE49-F238E27FC236}">
                      <a16:creationId xmlns:a16="http://schemas.microsoft.com/office/drawing/2014/main" id="{0AB29D92-DB5E-4107-A2C1-FCCE35B5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88436" y="2847714"/>
                  <a:ext cx="0" cy="17543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7" name="直接箭头连接符 562">
                  <a:extLst>
                    <a:ext uri="{FF2B5EF4-FFF2-40B4-BE49-F238E27FC236}">
                      <a16:creationId xmlns:a16="http://schemas.microsoft.com/office/drawing/2014/main" id="{B83E7688-FD65-40C1-B762-0C922B880D9B}"/>
                    </a:ext>
                  </a:extLst>
                </p:cNvPr>
                <p:cNvCxnSpPr>
                  <a:cxnSpLocks/>
                  <a:stCxn id="35" idx="1"/>
                  <a:endCxn id="32" idx="3"/>
                </p:cNvCxnSpPr>
                <p:nvPr/>
              </p:nvCxnSpPr>
              <p:spPr>
                <a:xfrm flipH="1">
                  <a:off x="9610230" y="3026048"/>
                  <a:ext cx="28602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8" name="连接符: 肘形 563">
                  <a:extLst>
                    <a:ext uri="{FF2B5EF4-FFF2-40B4-BE49-F238E27FC236}">
                      <a16:creationId xmlns:a16="http://schemas.microsoft.com/office/drawing/2014/main" id="{014E2EC6-01AC-4806-BB9C-816D34664375}"/>
                    </a:ext>
                  </a:extLst>
                </p:cNvPr>
                <p:cNvCxnSpPr>
                  <a:cxnSpLocks/>
                  <a:stCxn id="15" idx="2"/>
                  <a:endCxn id="35" idx="0"/>
                </p:cNvCxnSpPr>
                <p:nvPr/>
              </p:nvCxnSpPr>
              <p:spPr>
                <a:xfrm rot="16200000" flipH="1">
                  <a:off x="9922655" y="2392594"/>
                  <a:ext cx="358924" cy="551316"/>
                </a:xfrm>
                <a:prstGeom prst="bentConnector3">
                  <a:avLst/>
                </a:prstGeom>
                <a:ln w="19050">
                  <a:solidFill>
                    <a:schemeClr val="accent3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矩形 564">
                  <a:extLst>
                    <a:ext uri="{FF2B5EF4-FFF2-40B4-BE49-F238E27FC236}">
                      <a16:creationId xmlns:a16="http://schemas.microsoft.com/office/drawing/2014/main" id="{F8F281BF-D533-48BB-B05E-28A987C0C6F5}"/>
                    </a:ext>
                  </a:extLst>
                </p:cNvPr>
                <p:cNvSpPr/>
                <p:nvPr/>
              </p:nvSpPr>
              <p:spPr>
                <a:xfrm>
                  <a:off x="11282714" y="3416140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40" name="直接箭头连接符 565">
                  <a:extLst>
                    <a:ext uri="{FF2B5EF4-FFF2-40B4-BE49-F238E27FC236}">
                      <a16:creationId xmlns:a16="http://schemas.microsoft.com/office/drawing/2014/main" id="{0FF9A936-3B89-41A5-A62D-31080031B52D}"/>
                    </a:ext>
                  </a:extLst>
                </p:cNvPr>
                <p:cNvCxnSpPr>
                  <a:cxnSpLocks/>
                  <a:stCxn id="33" idx="3"/>
                  <a:endCxn id="39" idx="1"/>
                </p:cNvCxnSpPr>
                <p:nvPr/>
              </p:nvCxnSpPr>
              <p:spPr>
                <a:xfrm flipV="1">
                  <a:off x="9610230" y="3594474"/>
                  <a:ext cx="1672484" cy="17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1" name="直接箭头连接符 566">
                  <a:extLst>
                    <a:ext uri="{FF2B5EF4-FFF2-40B4-BE49-F238E27FC236}">
                      <a16:creationId xmlns:a16="http://schemas.microsoft.com/office/drawing/2014/main" id="{7A8CC952-E9C6-40B4-8478-4DA6B25084F8}"/>
                    </a:ext>
                  </a:extLst>
                </p:cNvPr>
                <p:cNvCxnSpPr>
                  <a:cxnSpLocks/>
                  <a:stCxn id="39" idx="3"/>
                  <a:endCxn id="31" idx="1"/>
                </p:cNvCxnSpPr>
                <p:nvPr/>
              </p:nvCxnSpPr>
              <p:spPr>
                <a:xfrm>
                  <a:off x="12245745" y="3594474"/>
                  <a:ext cx="463941" cy="353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2" name="连接符: 肘形 567">
                  <a:extLst>
                    <a:ext uri="{FF2B5EF4-FFF2-40B4-BE49-F238E27FC236}">
                      <a16:creationId xmlns:a16="http://schemas.microsoft.com/office/drawing/2014/main" id="{77EDDC7E-BF8F-4E59-8374-FC1834A32EA3}"/>
                    </a:ext>
                  </a:extLst>
                </p:cNvPr>
                <p:cNvCxnSpPr>
                  <a:cxnSpLocks/>
                  <a:stCxn id="25" idx="2"/>
                  <a:endCxn id="39" idx="0"/>
                </p:cNvCxnSpPr>
                <p:nvPr/>
              </p:nvCxnSpPr>
              <p:spPr>
                <a:xfrm rot="5400000">
                  <a:off x="11660761" y="2571965"/>
                  <a:ext cx="947644" cy="740706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accent6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568">
                  <a:extLst>
                    <a:ext uri="{FF2B5EF4-FFF2-40B4-BE49-F238E27FC236}">
                      <a16:creationId xmlns:a16="http://schemas.microsoft.com/office/drawing/2014/main" id="{48BD2F20-B8B3-4410-BCBD-B8E70E965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041428" y="2858582"/>
                  <a:ext cx="0" cy="736245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4" name="文本框 569">
                  <a:extLst>
                    <a:ext uri="{FF2B5EF4-FFF2-40B4-BE49-F238E27FC236}">
                      <a16:creationId xmlns:a16="http://schemas.microsoft.com/office/drawing/2014/main" id="{7CEBD63E-3E89-46F2-82BA-2F372BE4A083}"/>
                    </a:ext>
                  </a:extLst>
                </p:cNvPr>
                <p:cNvSpPr txBox="1"/>
                <p:nvPr/>
              </p:nvSpPr>
              <p:spPr>
                <a:xfrm>
                  <a:off x="12989130" y="953882"/>
                  <a:ext cx="8765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Node</a:t>
                  </a:r>
                </a:p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Interface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5" name="直接箭头连接符 570">
                  <a:extLst>
                    <a:ext uri="{FF2B5EF4-FFF2-40B4-BE49-F238E27FC236}">
                      <a16:creationId xmlns:a16="http://schemas.microsoft.com/office/drawing/2014/main" id="{709FDBAE-B87A-407E-9E3D-3143B5727E2A}"/>
                    </a:ext>
                  </a:extLst>
                </p:cNvPr>
                <p:cNvCxnSpPr>
                  <a:cxnSpLocks/>
                  <a:endCxn id="30" idx="3"/>
                </p:cNvCxnSpPr>
                <p:nvPr/>
              </p:nvCxnSpPr>
              <p:spPr>
                <a:xfrm flipH="1">
                  <a:off x="13543209" y="3023150"/>
                  <a:ext cx="322451" cy="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6" name="直接箭头连接符 571">
                  <a:extLst>
                    <a:ext uri="{FF2B5EF4-FFF2-40B4-BE49-F238E27FC236}">
                      <a16:creationId xmlns:a16="http://schemas.microsoft.com/office/drawing/2014/main" id="{85E4681A-4659-47B9-A0AB-CEC9C4F94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43209" y="3587958"/>
                  <a:ext cx="322451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7" name="直接箭头连接符 572">
                  <a:extLst>
                    <a:ext uri="{FF2B5EF4-FFF2-40B4-BE49-F238E27FC236}">
                      <a16:creationId xmlns:a16="http://schemas.microsoft.com/office/drawing/2014/main" id="{70F17F92-B175-45DB-9189-3CA5A2C4D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2737" y="3569619"/>
                  <a:ext cx="28471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8" name="直接箭头连接符 573">
                  <a:extLst>
                    <a:ext uri="{FF2B5EF4-FFF2-40B4-BE49-F238E27FC236}">
                      <a16:creationId xmlns:a16="http://schemas.microsoft.com/office/drawing/2014/main" id="{DAAB70A7-CDCB-4696-A55F-5910230C5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72737" y="3016777"/>
                  <a:ext cx="28471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9" name="矩形 574">
                  <a:extLst>
                    <a:ext uri="{FF2B5EF4-FFF2-40B4-BE49-F238E27FC236}">
                      <a16:creationId xmlns:a16="http://schemas.microsoft.com/office/drawing/2014/main" id="{06BD8391-C3E8-46FC-A2B2-24CFF3DDBBE7}"/>
                    </a:ext>
                  </a:extLst>
                </p:cNvPr>
                <p:cNvSpPr/>
                <p:nvPr/>
              </p:nvSpPr>
              <p:spPr>
                <a:xfrm>
                  <a:off x="10989328" y="2677494"/>
                  <a:ext cx="445513" cy="17543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bg2">
                          <a:lumMod val="2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RR</a:t>
                  </a:r>
                </a:p>
              </p:txBody>
            </p:sp>
            <p:cxnSp>
              <p:nvCxnSpPr>
                <p:cNvPr id="50" name="直接箭头连接符 575">
                  <a:extLst>
                    <a:ext uri="{FF2B5EF4-FFF2-40B4-BE49-F238E27FC236}">
                      <a16:creationId xmlns:a16="http://schemas.microsoft.com/office/drawing/2014/main" id="{D0B96225-A41D-4860-AD9B-F1F53E042676}"/>
                    </a:ext>
                  </a:extLst>
                </p:cNvPr>
                <p:cNvCxnSpPr>
                  <a:cxnSpLocks/>
                  <a:stCxn id="49" idx="0"/>
                  <a:endCxn id="20" idx="2"/>
                </p:cNvCxnSpPr>
                <p:nvPr/>
              </p:nvCxnSpPr>
              <p:spPr>
                <a:xfrm flipH="1" flipV="1">
                  <a:off x="11207584" y="2481708"/>
                  <a:ext cx="4501" cy="19578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51" name="矩形 576">
                  <a:extLst>
                    <a:ext uri="{FF2B5EF4-FFF2-40B4-BE49-F238E27FC236}">
                      <a16:creationId xmlns:a16="http://schemas.microsoft.com/office/drawing/2014/main" id="{55314992-69FF-436F-8182-2AF81BF3E7B5}"/>
                    </a:ext>
                  </a:extLst>
                </p:cNvPr>
                <p:cNvSpPr/>
                <p:nvPr/>
              </p:nvSpPr>
              <p:spPr>
                <a:xfrm>
                  <a:off x="8582933" y="813826"/>
                  <a:ext cx="5153691" cy="3050291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en-US" altLang="zh-CN" sz="900" b="1" ker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文本框 687">
                <a:extLst>
                  <a:ext uri="{FF2B5EF4-FFF2-40B4-BE49-F238E27FC236}">
                    <a16:creationId xmlns:a16="http://schemas.microsoft.com/office/drawing/2014/main" id="{98BA39DF-CD61-4B34-8CE2-7F889DB9CEE7}"/>
                  </a:ext>
                </a:extLst>
              </p:cNvPr>
              <p:cNvSpPr txBox="1"/>
              <p:nvPr/>
            </p:nvSpPr>
            <p:spPr>
              <a:xfrm>
                <a:off x="231226" y="530437"/>
                <a:ext cx="17739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Cross Station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71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19">
            <a:extLst xmlns:a="http://schemas.openxmlformats.org/drawingml/2006/main">
              <a:ext uri="{FF2B5EF4-FFF2-40B4-BE49-F238E27FC236}">
                <a16:creationId xmlns:a16="http://schemas.microsoft.com/office/drawing/2014/main" id="{E6BC18F8-D586-45A2-838F-EEECEE1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槽位池：环上容量如何申请与归还</a:t>
            </a:r>
          </a:p>
        </p:txBody>
      </p:sp>
      <p:sp>
        <p:nvSpPr>
          <p:cNvPr id="2" name="arch-text-20">
            <a:extLst xmlns:a="http://schemas.openxmlformats.org/drawingml/2006/main">
              <a:ext uri="{FF2B5EF4-FFF2-40B4-BE49-F238E27FC236}">
                <a16:creationId xmlns:a16="http://schemas.microsoft.com/office/drawing/2014/main" id="{08997C42-7D7D-4DCE-8F36-91C24AB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槽位池（Slot Pool）按REQ、RSP、DAT子网及CW、CCW方向分别计数，不另存一份数据。</a:t>
            </a:r>
          </a:p>
        </p:txBody>
      </p:sp>
      <p:sp>
        <p:nvSpPr>
          <p:cNvPr id="3" name="arch-text-21">
            <a:extLst xmlns:a="http://schemas.openxmlformats.org/drawingml/2006/main">
              <a:ext uri="{FF2B5EF4-FFF2-40B4-BE49-F238E27FC236}">
                <a16:creationId xmlns:a16="http://schemas.microsoft.com/office/drawing/2014/main" id="{8FC7AD92-E2E7-4ADD-9F74-A709B21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arch-text-22">
            <a:extLst xmlns:a="http://schemas.openxmlformats.org/drawingml/2006/main">
              <a:ext uri="{FF2B5EF4-FFF2-40B4-BE49-F238E27FC236}">
                <a16:creationId xmlns:a16="http://schemas.microsoft.com/office/drawing/2014/main" id="{2375179D-2709-4FA6-B670-65B7BDA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普通注入与退出</a:t>
            </a:r>
          </a:p>
        </p:txBody>
      </p:sp>
      <p:sp>
        <p:nvSpPr>
          <p:cNvPr id="5" name="arch-diagram-23">
            <a:extLst xmlns:a="http://schemas.openxmlformats.org/drawingml/2006/main">
              <a:ext uri="{FF2B5EF4-FFF2-40B4-BE49-F238E27FC236}">
                <a16:creationId xmlns:a16="http://schemas.microsoft.com/office/drawing/2014/main" id="{4A53BB7E-2A9E-47C1-AC4B-A16C906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860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本地队首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等待注入</a:t>
            </a:r>
          </a:p>
        </p:txBody>
      </p:sp>
      <p:sp>
        <p:nvSpPr>
          <p:cNvPr id="6" name="arch-diagram-24">
            <a:extLst xmlns:a="http://schemas.openxmlformats.org/drawingml/2006/main">
              <a:ext uri="{FF2B5EF4-FFF2-40B4-BE49-F238E27FC236}">
                <a16:creationId xmlns:a16="http://schemas.microsoft.com/office/drawing/2014/main" id="{C7CA85D1-043A-43A6-8B07-A419054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申请一个槽位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占用数加1</a:t>
            </a:r>
          </a:p>
        </p:txBody>
      </p:sp>
      <p:sp>
        <p:nvSpPr>
          <p:cNvPr id="7" name="arch-diagram-25">
            <a:extLst xmlns:a="http://schemas.openxmlformats.org/drawingml/2006/main">
              <a:ext uri="{FF2B5EF4-FFF2-40B4-BE49-F238E27FC236}">
                <a16:creationId xmlns:a16="http://schemas.microsoft.com/office/drawing/2014/main" id="{38F94645-649F-40CC-9532-381B3EC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环上转发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占用保持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194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29194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0" name="arch-diagram-26">
            <a:extLst xmlns:a="http://schemas.openxmlformats.org/drawingml/2006/main">
              <a:ext uri="{FF2B5EF4-FFF2-40B4-BE49-F238E27FC236}">
                <a16:creationId xmlns:a16="http://schemas.microsoft.com/office/drawing/2014/main" id="{A23D7248-FC23-42E5-B64F-24D84D6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退出环网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无替换或保留</a:t>
            </a:r>
          </a:p>
        </p:txBody>
      </p:sp>
      <p:sp>
        <p:nvSpPr>
          <p:cNvPr id="11" name="arch-diagram-27">
            <a:extLst xmlns:a="http://schemas.openxmlformats.org/drawingml/2006/main">
              <a:ext uri="{FF2B5EF4-FFF2-40B4-BE49-F238E27FC236}">
                <a16:creationId xmlns:a16="http://schemas.microsoft.com/office/drawing/2014/main" id="{AE5F10DF-37B9-42F1-8CDF-0ED39E5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归还槽位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占用数减1</a:t>
            </a:r>
          </a:p>
        </p:txBody>
      </p: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567488" y="33528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810125" y="4848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14" name="arch-text-28">
            <a:extLst xmlns:a="http://schemas.openxmlformats.org/drawingml/2006/main">
              <a:ext uri="{FF2B5EF4-FFF2-40B4-BE49-F238E27FC236}">
                <a16:creationId xmlns:a16="http://schemas.microsoft.com/office/drawing/2014/main" id="{01647A75-32CB-4955-B076-ED5F35E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7600"/>
            <a:ext cx="7172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向链路提交失败：撤销申请，队首保留</a:t>
            </a:r>
          </a:p>
        </p:txBody>
      </p:sp>
      <p:sp>
        <p:nvSpPr>
          <p:cNvPr id="15" name="arch-text-29">
            <a:extLst xmlns:a="http://schemas.openxmlformats.org/drawingml/2006/main">
              <a:ext uri="{FF2B5EF4-FFF2-40B4-BE49-F238E27FC236}">
                <a16:creationId xmlns:a16="http://schemas.microsoft.com/office/drawing/2014/main" id="{9927F4FF-8A51-49F7-847F-596A1D55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原位替换：旧包退出、新包接替，占用数不变</a:t>
            </a:r>
          </a:p>
        </p:txBody>
      </p:sp>
      <p:sp>
        <p:nvSpPr>
          <p:cNvPr id="16" name="arch-text-30">
            <a:extLst xmlns:a="http://schemas.openxmlformats.org/drawingml/2006/main">
              <a:ext uri="{FF2B5EF4-FFF2-40B4-BE49-F238E27FC236}">
                <a16:creationId xmlns:a16="http://schemas.microsoft.com/office/drawing/2014/main" id="{C17836AD-7949-4853-B56C-0209B87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1927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容量来自模型存储位置</a:t>
            </a:r>
          </a:p>
        </p:txBody>
      </p:sp>
      <p:sp>
        <p:nvSpPr>
          <p:cNvPr id="17" name="arch-text-31">
            <a:extLst xmlns:a="http://schemas.openxmlformats.org/drawingml/2006/main">
              <a:ext uri="{FF2B5EF4-FFF2-40B4-BE49-F238E27FC236}">
                <a16:creationId xmlns:a16="http://schemas.microsoft.com/office/drawing/2014/main" id="{AA8903D8-8B89-457E-8059-9A172EE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单方向容量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= 节点数 ×（链路流水深度 + 1）</a:t>
            </a:r>
          </a:p>
        </p:txBody>
      </p:sp>
      <p:sp>
        <p:nvSpPr>
          <p:cNvPr id="18" name="arch-text-32">
            <a:extLst xmlns:a="http://schemas.openxmlformats.org/drawingml/2006/main">
              <a:ext uri="{FF2B5EF4-FFF2-40B4-BE49-F238E27FC236}">
                <a16:creationId xmlns:a16="http://schemas.microsoft.com/office/drawing/2014/main" id="{980E1B3D-1E41-462D-8173-4BE107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始终保留一个空槽</a:t>
            </a:r>
          </a:p>
        </p:txBody>
      </p:sp>
      <p:sp>
        <p:nvSpPr>
          <p:cNvPr id="19" name="arch-text-33">
            <a:extLst xmlns:a="http://schemas.openxmlformats.org/drawingml/2006/main">
              <a:ext uri="{FF2B5EF4-FFF2-40B4-BE49-F238E27FC236}">
                <a16:creationId xmlns:a16="http://schemas.microsoft.com/office/drawing/2014/main" id="{F035C73C-115C-4D27-B019-BCCC62B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流水深度 = max(1, L + 1)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5节点、L=1：容量15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普通申请最多占用14个</a:t>
            </a:r>
          </a:p>
        </p:txBody>
      </p:sp>
      <p:sp>
        <p:nvSpPr>
          <p:cNvPr id="20" name="arch-text-34">
            <a:extLst xmlns:a="http://schemas.openxmlformats.org/drawingml/2006/main">
              <a:ext uri="{FF2B5EF4-FFF2-40B4-BE49-F238E27FC236}">
                <a16:creationId xmlns:a16="http://schemas.microsoft.com/office/drawing/2014/main" id="{C0EA3523-826D-4FA8-8963-BBB55A8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预留空槽为闭环反压传播保留空间。I/E-tag进一步处理注入机会和目的弹出容量。</a:t>
            </a:r>
          </a:p>
        </p:txBody>
      </p:sp>
    </p:spTree>
    <p:extLst>
      <p:ext uri="{BB962C8B-B14F-4D97-AF65-F5344CB8AC3E}">
        <p14:creationId xmlns:p14="http://schemas.microsoft.com/office/powerpoint/2010/main" val="95803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50">
            <a:extLst xmlns:a="http://schemas.openxmlformats.org/drawingml/2006/main">
              <a:ext uri="{FF2B5EF4-FFF2-40B4-BE49-F238E27FC236}">
                <a16:creationId xmlns:a16="http://schemas.microsoft.com/office/drawing/2014/main" id="{C1CDF696-C0DA-432C-93EE-F51D7F8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活性保护：注入与弹出分别保留机会</a:t>
            </a:r>
          </a:p>
        </p:txBody>
      </p:sp>
      <p:sp>
        <p:nvSpPr>
          <p:cNvPr id="3" name="share-51">
            <a:extLst xmlns:a="http://schemas.openxmlformats.org/drawingml/2006/main">
              <a:ext uri="{FF2B5EF4-FFF2-40B4-BE49-F238E27FC236}">
                <a16:creationId xmlns:a16="http://schemas.microsoft.com/office/drawing/2014/main" id="{7B0C9810-4957-4183-809B-D0208B8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有限槽位和有限队列下，局部等待可能持续影响环上的其他事务。</a:t>
            </a:r>
          </a:p>
        </p:txBody>
      </p:sp>
      <p:sp>
        <p:nvSpPr>
          <p:cNvPr id="4" name="share-52">
            <a:extLst xmlns:a="http://schemas.openxmlformats.org/drawingml/2006/main">
              <a:ext uri="{FF2B5EF4-FFF2-40B4-BE49-F238E27FC236}">
                <a16:creationId xmlns:a16="http://schemas.microsoft.com/office/drawing/2014/main" id="{2D9C740E-D395-4E84-B646-A6259A7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I-tag保护注入</a:t>
            </a:r>
          </a:p>
        </p:txBody>
      </p:sp>
      <p:sp>
        <p:nvSpPr>
          <p:cNvPr id="5" name="share-53">
            <a:extLst xmlns:a="http://schemas.openxmlformats.org/drawingml/2006/main">
              <a:ext uri="{FF2B5EF4-FFF2-40B4-BE49-F238E27FC236}">
                <a16:creationId xmlns:a16="http://schemas.microsoft.com/office/drawing/2014/main" id="{B9F5CB9F-CFA2-4470-BB7B-E59ED0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槽位池（Slot Pool）分配失败时，为本地队首保留后续注入机会。</a:t>
            </a:r>
          </a:p>
        </p:txBody>
      </p:sp>
      <p:sp>
        <p:nvSpPr>
          <p:cNvPr id="6" name="share-54">
            <a:extLst xmlns:a="http://schemas.openxmlformats.org/drawingml/2006/main">
              <a:ext uri="{FF2B5EF4-FFF2-40B4-BE49-F238E27FC236}">
                <a16:creationId xmlns:a16="http://schemas.microsoft.com/office/drawing/2014/main" id="{E8F3F7DD-D952-4E50-8021-12AA85B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E-tag保护弹出</a:t>
            </a:r>
          </a:p>
        </p:txBody>
      </p:sp>
      <p:sp>
        <p:nvSpPr>
          <p:cNvPr id="7" name="share-55">
            <a:extLst xmlns:a="http://schemas.openxmlformats.org/drawingml/2006/main">
              <a:ext uri="{FF2B5EF4-FFF2-40B4-BE49-F238E27FC236}">
                <a16:creationId xmlns:a16="http://schemas.microsoft.com/office/drawing/2014/main" id="{D8C6D505-AC98-4FC8-BC83-8A0BB1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95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目的队列满时，目标包继续绕行，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并保护返回时需要的弹出空间。</a:t>
            </a:r>
          </a:p>
        </p:txBody>
      </p:sp>
      <p:sp>
        <p:nvSpPr>
          <p:cNvPr id="8" name="share-56">
            <a:extLst xmlns:a="http://schemas.openxmlformats.org/drawingml/2006/main">
              <a:ext uri="{FF2B5EF4-FFF2-40B4-BE49-F238E27FC236}">
                <a16:creationId xmlns:a16="http://schemas.microsoft.com/office/drawing/2014/main" id="{3CDAC2C7-839A-4405-B3B6-4F3388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图中的恢复过程</a:t>
            </a:r>
          </a:p>
        </p:txBody>
      </p:sp>
      <p:sp>
        <p:nvSpPr>
          <p:cNvPr id="9" name="share-57">
            <a:extLst xmlns:a="http://schemas.openxmlformats.org/drawingml/2006/main">
              <a:ext uri="{FF2B5EF4-FFF2-40B4-BE49-F238E27FC236}">
                <a16:creationId xmlns:a16="http://schemas.microsoft.com/office/drawing/2014/main" id="{CCE5853A-B532-4299-9B16-D21C82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消费B1后释放弹出空间。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B6返回并弹出，A1接替槽位注入。</a:t>
            </a:r>
          </a:p>
        </p:txBody>
      </p:sp>
      <p:sp>
        <p:nvSpPr>
          <p:cNvPr id="10" name="share-58">
            <a:extLst xmlns:a="http://schemas.openxmlformats.org/drawingml/2006/main">
              <a:ext uri="{FF2B5EF4-FFF2-40B4-BE49-F238E27FC236}">
                <a16:creationId xmlns:a16="http://schemas.microsoft.com/office/drawing/2014/main" id="{BE8D5280-ACD1-4E19-8DAC-7F3B5B3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2476500"/>
            <ns0:ext cx="7105650" cy="3114675"/>
            <ns0:chOff x="190500" y="3905250"/>
            <ns0:chExt cx="6572250" cy="2876550"/>
          </ns0:xfrm>
        </p:grpSpPr>
        <p:sp xmlns:a="http://schemas.openxmlformats.org/drawingml/2006/main">
          <p:nvSpPr>
            <p:cNvPr id="12" name="矩形 684">
              <a:extLst>
                <a:ext uri="{FF2B5EF4-FFF2-40B4-BE49-F238E27FC236}">
                  <a16:creationId xmlns:a16="http://schemas.microsoft.com/office/drawing/2014/main" id="{A88F28BB-5C43-4745-A34F-81A953258686}"/>
                </a:ext>
              </a:extLst>
            </p:cNvPr>
            <p:cNvSpPr/>
            <p:nvPr/>
          </p:nvSpPr>
          <p:spPr>
            <a:xfrm>
              <a:off x="249774" y="3955267"/>
              <a:ext cx="6112926" cy="276613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en-US" altLang="zh-CN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3" name="矩形 578">
              <a:extLst>
                <a:ext uri="{FF2B5EF4-FFF2-40B4-BE49-F238E27FC236}">
                  <a16:creationId xmlns:a16="http://schemas.microsoft.com/office/drawing/2014/main" id="{E148359F-FF01-4CBD-9CE9-7264D0CA5934}"/>
                </a:ext>
              </a:extLst>
            </p:cNvPr>
            <p:cNvSpPr/>
            <p:nvPr/>
          </p:nvSpPr>
          <p:spPr>
            <a:xfrm>
              <a:off x="1145018" y="5357740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4" name="矩形 579">
              <a:extLst>
                <a:ext uri="{FF2B5EF4-FFF2-40B4-BE49-F238E27FC236}">
                  <a16:creationId xmlns:a16="http://schemas.microsoft.com/office/drawing/2014/main" id="{360968C1-FF12-45D1-A606-35EB382D9E02}"/>
                </a:ext>
              </a:extLst>
            </p:cNvPr>
            <p:cNvSpPr/>
            <p:nvPr/>
          </p:nvSpPr>
          <p:spPr>
            <a:xfrm>
              <a:off x="1148624" y="4683971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5" name="slide5-station-blocked">
              <a:extLst>
                <a:ext uri="{FF2B5EF4-FFF2-40B4-BE49-F238E27FC236}">
                  <a16:creationId xmlns:a16="http://schemas.microsoft.com/office/drawing/2014/main" id="{D0EE7D0C-680C-4AB1-85F1-52EBEE9C8D45}"/>
                </a:ext>
              </a:extLst>
            </p:cNvPr>
            <p:cNvSpPr>
              <a:spLocks noGrp="1"/>
            </p:cNvSpPr>
            <p:nvPr/>
          </p:nvSpPr>
          <p:spPr>
            <a:xfrm>
              <a:off x="505682" y="4079805"/>
              <a:ext cx="2614870" cy="2427814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16" name="slide5-anchor-e-tag-deflect-start">
              <a:extLst>
                <a:ext uri="{FF2B5EF4-FFF2-40B4-BE49-F238E27FC236}">
                  <a16:creationId xmlns:a16="http://schemas.microsoft.com/office/drawing/2014/main" id="{B46F10C5-7FAE-4060-B51E-7D14EBDBFBB2}"/>
                </a:ext>
              </a:extLst>
            </p:cNvPr>
            <p:cNvSpPr>
              <a:spLocks noGrp="1"/>
            </p:cNvSpPr>
            <p:nvPr/>
          </p:nvSpPr>
          <p:spPr>
            <a:xfrm>
              <a:off x="870000" y="557522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7" name="slide5-anchor-e-tag-deflect-output">
              <a:extLst>
                <a:ext uri="{FF2B5EF4-FFF2-40B4-BE49-F238E27FC236}">
                  <a16:creationId xmlns:a16="http://schemas.microsoft.com/office/drawing/2014/main" id="{968411E7-7D9F-4480-96A0-4E500B0D5D02}"/>
                </a:ext>
              </a:extLst>
            </p:cNvPr>
            <p:cNvSpPr>
              <a:spLocks noGrp="1"/>
            </p:cNvSpPr>
            <p:nvPr/>
          </p:nvSpPr>
          <p:spPr>
            <a:xfrm>
              <a:off x="3779710" y="536785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8" name="slide5-anchor-e-tag-blocked-3">
              <a:extLst>
                <a:ext uri="{FF2B5EF4-FFF2-40B4-BE49-F238E27FC236}">
                  <a16:creationId xmlns:a16="http://schemas.microsoft.com/office/drawing/2014/main" id="{95670100-E013-49F4-9167-DBFFDDBF8601}"/>
                </a:ext>
              </a:extLst>
            </p:cNvPr>
            <p:cNvSpPr>
              <a:spLocks noGrp="1"/>
            </p:cNvSpPr>
            <p:nvPr/>
          </p:nvSpPr>
          <p:spPr>
            <a:xfrm>
              <a:off x="5621709" y="6737661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9" name="slide5-anchor-e-tag-blocked-4">
              <a:extLst>
                <a:ext uri="{FF2B5EF4-FFF2-40B4-BE49-F238E27FC236}">
                  <a16:creationId xmlns:a16="http://schemas.microsoft.com/office/drawing/2014/main" id="{1B8FC857-F041-45DB-97FB-0EDB605AF560}"/>
                </a:ext>
              </a:extLst>
            </p:cNvPr>
            <p:cNvSpPr>
              <a:spLocks noGrp="1"/>
            </p:cNvSpPr>
            <p:nvPr/>
          </p:nvSpPr>
          <p:spPr>
            <a:xfrm>
              <a:off x="934342" y="594459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20" name="slide5-anchor-e-tag-blocked-5">
              <a:extLst>
                <a:ext uri="{FF2B5EF4-FFF2-40B4-BE49-F238E27FC236}">
                  <a16:creationId xmlns:a16="http://schemas.microsoft.com/office/drawing/2014/main" id="{A8477F04-28D7-4C0D-83CF-D2E03B3B7831}"/>
                </a:ext>
              </a:extLst>
            </p:cNvPr>
            <p:cNvSpPr>
              <a:spLocks noGrp="1"/>
            </p:cNvSpPr>
            <p:nvPr/>
          </p:nvSpPr>
          <p:spPr>
            <a:xfrm>
              <a:off x="1136700" y="578477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 xmlns:a="http://schemas.openxmlformats.org/drawingml/2006/main">
          <p:nvCxnSpPr>
            <p:cNvPr id="21" name="slide5-e-tag-route-return-final">
              <a:extLst>
                <a:ext uri="{FF2B5EF4-FFF2-40B4-BE49-F238E27FC236}">
                  <a16:creationId xmlns:a16="http://schemas.microsoft.com/office/drawing/2014/main" id="{B7B44E95-64B2-4ADE-B136-18105A7DC182}"/>
                </a:ext>
              </a:extLst>
            </p:cNvPr>
            <p:cNvCxnSpPr>
              <a:cxnSpLocks/>
              <a:stCxn id="27" idx="1"/>
              <a:endCxn id="55" idx="7"/>
            </p:cNvCxnSpPr>
            <p:nvPr/>
          </p:nvCxnSpPr>
          <p:spPr>
            <a:xfrm flipH="1">
              <a:off x="797963" y="5040876"/>
              <a:ext cx="461355" cy="196605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22" name="slide5-queue-label-blocked-inject">
              <a:extLst>
                <a:ext uri="{FF2B5EF4-FFF2-40B4-BE49-F238E27FC236}">
                  <a16:creationId xmlns:a16="http://schemas.microsoft.com/office/drawing/2014/main" id="{9D7A55C4-6DEC-4281-BEEF-7668EC6250F1}"/>
                </a:ext>
              </a:extLst>
            </p:cNvPr>
            <p:cNvSpPr>
              <a:spLocks noGrp="1"/>
            </p:cNvSpPr>
            <p:nvPr/>
          </p:nvSpPr>
          <p:spPr>
            <a:xfrm>
              <a:off x="791132" y="4660812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23" name="slide5-queue-label-blocked-eject">
              <a:extLst>
                <a:ext uri="{FF2B5EF4-FFF2-40B4-BE49-F238E27FC236}">
                  <a16:creationId xmlns:a16="http://schemas.microsoft.com/office/drawing/2014/main" id="{2DBD2D6E-CA1A-4E6A-AADA-A1451CCA7597}"/>
                </a:ext>
              </a:extLst>
            </p:cNvPr>
            <p:cNvSpPr>
              <a:spLocks noGrp="1"/>
            </p:cNvSpPr>
            <p:nvPr/>
          </p:nvSpPr>
          <p:spPr>
            <a:xfrm>
              <a:off x="1330682" y="5699061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24" name="slide5-blocked-marker">
              <a:extLst>
                <a:ext uri="{FF2B5EF4-FFF2-40B4-BE49-F238E27FC236}">
                  <a16:creationId xmlns:a16="http://schemas.microsoft.com/office/drawing/2014/main" id="{BEA14F5A-FBDE-456E-9846-7D48D14B73BA}"/>
                </a:ext>
              </a:extLst>
            </p:cNvPr>
            <p:cNvSpPr>
              <a:spLocks noGrp="1"/>
            </p:cNvSpPr>
            <p:nvPr/>
          </p:nvSpPr>
          <p:spPr>
            <a:xfrm>
              <a:off x="851073" y="4975154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 xmlns:a="http://schemas.openxmlformats.org/drawingml/2006/main">
          <p:nvSpPr>
            <p:cNvPr id="25" name="slide5-queue-frame-blocked-inject">
              <a:extLst>
                <a:ext uri="{FF2B5EF4-FFF2-40B4-BE49-F238E27FC236}">
                  <a16:creationId xmlns:a16="http://schemas.microsoft.com/office/drawing/2014/main" id="{B812A1A3-28FB-4063-99DC-1BCAB38630A3}"/>
                </a:ext>
              </a:extLst>
            </p:cNvPr>
            <p:cNvSpPr>
              <a:spLocks noGrp="1"/>
            </p:cNvSpPr>
            <p:nvPr/>
          </p:nvSpPr>
          <p:spPr>
            <a:xfrm>
              <a:off x="1264092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6" name="slide5-flit-blocked-inject-0">
              <a:extLst>
                <a:ext uri="{FF2B5EF4-FFF2-40B4-BE49-F238E27FC236}">
                  <a16:creationId xmlns:a16="http://schemas.microsoft.com/office/drawing/2014/main" id="{EFCEA250-7D63-4DAE-A726-793B6D1A50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99815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27" name="slide5-label-flit-blocked-inject-1">
              <a:extLst>
                <a:ext uri="{FF2B5EF4-FFF2-40B4-BE49-F238E27FC236}">
                  <a16:creationId xmlns:a16="http://schemas.microsoft.com/office/drawing/2014/main" id="{874C3B3E-D620-43FF-A964-EEAFAC8CA322}"/>
                </a:ext>
              </a:extLst>
            </p:cNvPr>
            <p:cNvSpPr>
              <a:spLocks noGrp="1"/>
            </p:cNvSpPr>
            <p:nvPr/>
          </p:nvSpPr>
          <p:spPr>
            <a:xfrm>
              <a:off x="1259318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28" name="slide5-queue-frame-blocked-inject">
              <a:extLst>
                <a:ext uri="{FF2B5EF4-FFF2-40B4-BE49-F238E27FC236}">
                  <a16:creationId xmlns:a16="http://schemas.microsoft.com/office/drawing/2014/main" id="{40E732EF-EB00-4B67-B301-98DB19A8674C}"/>
                </a:ext>
              </a:extLst>
            </p:cNvPr>
            <p:cNvSpPr>
              <a:spLocks noGrp="1"/>
            </p:cNvSpPr>
            <p:nvPr/>
          </p:nvSpPr>
          <p:spPr>
            <a:xfrm>
              <a:off x="1587538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9" name="slide5-flit-blocked-inject-0">
              <a:extLst>
                <a:ext uri="{FF2B5EF4-FFF2-40B4-BE49-F238E27FC236}">
                  <a16:creationId xmlns:a16="http://schemas.microsoft.com/office/drawing/2014/main" id="{B83C493F-6E06-45D1-9000-2DC46837C4DD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623261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0" name="slide5-label-flit-blocked-inject-1">
              <a:extLst>
                <a:ext uri="{FF2B5EF4-FFF2-40B4-BE49-F238E27FC236}">
                  <a16:creationId xmlns:a16="http://schemas.microsoft.com/office/drawing/2014/main" id="{59ACE1AF-B4E2-4DF4-9044-58340B252425}"/>
                </a:ext>
              </a:extLst>
            </p:cNvPr>
            <p:cNvSpPr>
              <a:spLocks noGrp="1"/>
            </p:cNvSpPr>
            <p:nvPr/>
          </p:nvSpPr>
          <p:spPr>
            <a:xfrm>
              <a:off x="1582764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1" name="slide5-queue-frame-blocked-inject">
              <a:extLst>
                <a:ext uri="{FF2B5EF4-FFF2-40B4-BE49-F238E27FC236}">
                  <a16:creationId xmlns:a16="http://schemas.microsoft.com/office/drawing/2014/main" id="{1D27E493-C32B-462C-AE54-12BD68C52088}"/>
                </a:ext>
              </a:extLst>
            </p:cNvPr>
            <p:cNvSpPr>
              <a:spLocks noGrp="1"/>
            </p:cNvSpPr>
            <p:nvPr/>
          </p:nvSpPr>
          <p:spPr>
            <a:xfrm>
              <a:off x="191656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2" name="slide5-flit-blocked-inject-0">
              <a:extLst>
                <a:ext uri="{FF2B5EF4-FFF2-40B4-BE49-F238E27FC236}">
                  <a16:creationId xmlns:a16="http://schemas.microsoft.com/office/drawing/2014/main" id="{62320932-4676-4CC9-81CA-C3B173F6B63C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5229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3" name="slide5-label-flit-blocked-inject-1">
              <a:extLst>
                <a:ext uri="{FF2B5EF4-FFF2-40B4-BE49-F238E27FC236}">
                  <a16:creationId xmlns:a16="http://schemas.microsoft.com/office/drawing/2014/main" id="{76929ACA-1FD5-4DBF-98F4-8D58DBF38CD8}"/>
                </a:ext>
              </a:extLst>
            </p:cNvPr>
            <p:cNvSpPr>
              <a:spLocks noGrp="1"/>
            </p:cNvSpPr>
            <p:nvPr/>
          </p:nvSpPr>
          <p:spPr>
            <a:xfrm>
              <a:off x="191179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4" name="slide5-queue-frame-blocked-inject">
              <a:extLst>
                <a:ext uri="{FF2B5EF4-FFF2-40B4-BE49-F238E27FC236}">
                  <a16:creationId xmlns:a16="http://schemas.microsoft.com/office/drawing/2014/main" id="{35FF41A8-CBF3-49CF-803F-24A6C88B8225}"/>
                </a:ext>
              </a:extLst>
            </p:cNvPr>
            <p:cNvSpPr>
              <a:spLocks noGrp="1"/>
            </p:cNvSpPr>
            <p:nvPr/>
          </p:nvSpPr>
          <p:spPr>
            <a:xfrm>
              <a:off x="2240015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5" name="slide5-flit-blocked-inject-0">
              <a:extLst>
                <a:ext uri="{FF2B5EF4-FFF2-40B4-BE49-F238E27FC236}">
                  <a16:creationId xmlns:a16="http://schemas.microsoft.com/office/drawing/2014/main" id="{AE547027-8CD9-4CF8-8DF3-7A4904D1DC9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75738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6" name="slide5-label-flit-blocked-inject-1">
              <a:extLst>
                <a:ext uri="{FF2B5EF4-FFF2-40B4-BE49-F238E27FC236}">
                  <a16:creationId xmlns:a16="http://schemas.microsoft.com/office/drawing/2014/main" id="{46A3CB33-CF30-4195-899F-FEBC73CC2BB5}"/>
                </a:ext>
              </a:extLst>
            </p:cNvPr>
            <p:cNvSpPr>
              <a:spLocks noGrp="1"/>
            </p:cNvSpPr>
            <p:nvPr/>
          </p:nvSpPr>
          <p:spPr>
            <a:xfrm>
              <a:off x="2235241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7" name="slide5-queue-frame-blocked-inject">
              <a:extLst>
                <a:ext uri="{FF2B5EF4-FFF2-40B4-BE49-F238E27FC236}">
                  <a16:creationId xmlns:a16="http://schemas.microsoft.com/office/drawing/2014/main" id="{4BACD5AF-0478-4938-8A7C-38D7D0567549}"/>
                </a:ext>
              </a:extLst>
            </p:cNvPr>
            <p:cNvSpPr>
              <a:spLocks noGrp="1"/>
            </p:cNvSpPr>
            <p:nvPr/>
          </p:nvSpPr>
          <p:spPr>
            <a:xfrm>
              <a:off x="256744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8" name="slide5-flit-blocked-inject-0">
              <a:extLst>
                <a:ext uri="{FF2B5EF4-FFF2-40B4-BE49-F238E27FC236}">
                  <a16:creationId xmlns:a16="http://schemas.microsoft.com/office/drawing/2014/main" id="{6D134BDA-9A7E-4864-8FED-A5CFE2B02D86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60317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9" name="slide5-label-flit-blocked-inject-1">
              <a:extLst>
                <a:ext uri="{FF2B5EF4-FFF2-40B4-BE49-F238E27FC236}">
                  <a16:creationId xmlns:a16="http://schemas.microsoft.com/office/drawing/2014/main" id="{AB60A485-B6DF-4823-8353-8FBCC635D487}"/>
                </a:ext>
              </a:extLst>
            </p:cNvPr>
            <p:cNvSpPr>
              <a:spLocks noGrp="1"/>
            </p:cNvSpPr>
            <p:nvPr/>
          </p:nvSpPr>
          <p:spPr>
            <a:xfrm>
              <a:off x="256267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0" name="slide5-queue-frame-blocked-inject">
              <a:extLst>
                <a:ext uri="{FF2B5EF4-FFF2-40B4-BE49-F238E27FC236}">
                  <a16:creationId xmlns:a16="http://schemas.microsoft.com/office/drawing/2014/main" id="{BF24886F-B298-4B11-93F1-B08C29468715}"/>
                </a:ext>
              </a:extLst>
            </p:cNvPr>
            <p:cNvSpPr>
              <a:spLocks noGrp="1"/>
            </p:cNvSpPr>
            <p:nvPr/>
          </p:nvSpPr>
          <p:spPr>
            <a:xfrm>
              <a:off x="1224390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1" name="slide5-flit-blocked-inject-0">
              <a:extLst>
                <a:ext uri="{FF2B5EF4-FFF2-40B4-BE49-F238E27FC236}">
                  <a16:creationId xmlns:a16="http://schemas.microsoft.com/office/drawing/2014/main" id="{1669FB8B-D5F8-471C-B4D6-855C7D28AECE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60113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2" name="slide5-label-flit-blocked-inject-1">
              <a:extLst>
                <a:ext uri="{FF2B5EF4-FFF2-40B4-BE49-F238E27FC236}">
                  <a16:creationId xmlns:a16="http://schemas.microsoft.com/office/drawing/2014/main" id="{85EBCA94-8DED-4EDE-ABA6-6168645FB34D}"/>
                </a:ext>
              </a:extLst>
            </p:cNvPr>
            <p:cNvSpPr>
              <a:spLocks noGrp="1"/>
            </p:cNvSpPr>
            <p:nvPr/>
          </p:nvSpPr>
          <p:spPr>
            <a:xfrm>
              <a:off x="1219616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3" name="slide5-queue-frame-blocked-inject">
              <a:extLst>
                <a:ext uri="{FF2B5EF4-FFF2-40B4-BE49-F238E27FC236}">
                  <a16:creationId xmlns:a16="http://schemas.microsoft.com/office/drawing/2014/main" id="{CAB78D7B-E6F3-4E55-B9ED-AB3DA42CF571}"/>
                </a:ext>
              </a:extLst>
            </p:cNvPr>
            <p:cNvSpPr>
              <a:spLocks noGrp="1"/>
            </p:cNvSpPr>
            <p:nvPr/>
          </p:nvSpPr>
          <p:spPr>
            <a:xfrm>
              <a:off x="1547836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4" name="slide5-flit-blocked-inject-0">
              <a:extLst>
                <a:ext uri="{FF2B5EF4-FFF2-40B4-BE49-F238E27FC236}">
                  <a16:creationId xmlns:a16="http://schemas.microsoft.com/office/drawing/2014/main" id="{FB748746-2E96-4912-AFB1-95A816ADADD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583559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5" name="slide5-label-flit-blocked-inject-1">
              <a:extLst>
                <a:ext uri="{FF2B5EF4-FFF2-40B4-BE49-F238E27FC236}">
                  <a16:creationId xmlns:a16="http://schemas.microsoft.com/office/drawing/2014/main" id="{F14BBC23-EC3D-4085-B737-BB6CE7251A1F}"/>
                </a:ext>
              </a:extLst>
            </p:cNvPr>
            <p:cNvSpPr>
              <a:spLocks noGrp="1"/>
            </p:cNvSpPr>
            <p:nvPr/>
          </p:nvSpPr>
          <p:spPr>
            <a:xfrm>
              <a:off x="1543062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6" name="slide5-queue-frame-blocked-inject">
              <a:extLst>
                <a:ext uri="{FF2B5EF4-FFF2-40B4-BE49-F238E27FC236}">
                  <a16:creationId xmlns:a16="http://schemas.microsoft.com/office/drawing/2014/main" id="{54312FB8-E497-4FBA-84A6-7F91A517EDE9}"/>
                </a:ext>
              </a:extLst>
            </p:cNvPr>
            <p:cNvSpPr>
              <a:spLocks noGrp="1"/>
            </p:cNvSpPr>
            <p:nvPr/>
          </p:nvSpPr>
          <p:spPr>
            <a:xfrm>
              <a:off x="187686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7" name="slide5-flit-blocked-inject-0">
              <a:extLst>
                <a:ext uri="{FF2B5EF4-FFF2-40B4-BE49-F238E27FC236}">
                  <a16:creationId xmlns:a16="http://schemas.microsoft.com/office/drawing/2014/main" id="{AE67E855-29B7-4CBB-BC40-B1094B73A18A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1259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8" name="slide5-label-flit-blocked-inject-1">
              <a:extLst>
                <a:ext uri="{FF2B5EF4-FFF2-40B4-BE49-F238E27FC236}">
                  <a16:creationId xmlns:a16="http://schemas.microsoft.com/office/drawing/2014/main" id="{9808B2EB-5A73-49C2-A437-C817358651DE}"/>
                </a:ext>
              </a:extLst>
            </p:cNvPr>
            <p:cNvSpPr>
              <a:spLocks noGrp="1"/>
            </p:cNvSpPr>
            <p:nvPr/>
          </p:nvSpPr>
          <p:spPr>
            <a:xfrm>
              <a:off x="187209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9" name="slide5-queue-frame-blocked-inject">
              <a:extLst>
                <a:ext uri="{FF2B5EF4-FFF2-40B4-BE49-F238E27FC236}">
                  <a16:creationId xmlns:a16="http://schemas.microsoft.com/office/drawing/2014/main" id="{B4AE5649-59B5-47B5-8C8B-35075283C4AB}"/>
                </a:ext>
              </a:extLst>
            </p:cNvPr>
            <p:cNvSpPr>
              <a:spLocks noGrp="1"/>
            </p:cNvSpPr>
            <p:nvPr/>
          </p:nvSpPr>
          <p:spPr>
            <a:xfrm>
              <a:off x="2200313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0" name="slide5-flit-blocked-inject-0">
              <a:extLst>
                <a:ext uri="{FF2B5EF4-FFF2-40B4-BE49-F238E27FC236}">
                  <a16:creationId xmlns:a16="http://schemas.microsoft.com/office/drawing/2014/main" id="{E2B21476-153F-4398-9D52-1C915957F1F5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36036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1" name="slide5-label-flit-blocked-inject-1">
              <a:extLst>
                <a:ext uri="{FF2B5EF4-FFF2-40B4-BE49-F238E27FC236}">
                  <a16:creationId xmlns:a16="http://schemas.microsoft.com/office/drawing/2014/main" id="{125DF7FD-570D-4238-B2AF-D8EABDBAE802}"/>
                </a:ext>
              </a:extLst>
            </p:cNvPr>
            <p:cNvSpPr>
              <a:spLocks noGrp="1"/>
            </p:cNvSpPr>
            <p:nvPr/>
          </p:nvSpPr>
          <p:spPr>
            <a:xfrm>
              <a:off x="2195539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2" name="slide5-queue-frame-blocked-inject">
              <a:extLst>
                <a:ext uri="{FF2B5EF4-FFF2-40B4-BE49-F238E27FC236}">
                  <a16:creationId xmlns:a16="http://schemas.microsoft.com/office/drawing/2014/main" id="{07F15048-30BE-4151-A659-14DAC4410733}"/>
                </a:ext>
              </a:extLst>
            </p:cNvPr>
            <p:cNvSpPr>
              <a:spLocks noGrp="1"/>
            </p:cNvSpPr>
            <p:nvPr/>
          </p:nvSpPr>
          <p:spPr>
            <a:xfrm>
              <a:off x="252774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3" name="slide5-flit-blocked-inject-0">
              <a:extLst>
                <a:ext uri="{FF2B5EF4-FFF2-40B4-BE49-F238E27FC236}">
                  <a16:creationId xmlns:a16="http://schemas.microsoft.com/office/drawing/2014/main" id="{96213142-C8DD-48FE-A02A-4F55C578F5B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56347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4" name="slide5-label-flit-blocked-inject-1">
              <a:extLst>
                <a:ext uri="{FF2B5EF4-FFF2-40B4-BE49-F238E27FC236}">
                  <a16:creationId xmlns:a16="http://schemas.microsoft.com/office/drawing/2014/main" id="{834DF9B5-34BF-487A-9DC5-BB7B3478D3EF}"/>
                </a:ext>
              </a:extLst>
            </p:cNvPr>
            <p:cNvSpPr>
              <a:spLocks noGrp="1"/>
            </p:cNvSpPr>
            <p:nvPr/>
          </p:nvSpPr>
          <p:spPr>
            <a:xfrm>
              <a:off x="252297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B1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5" name="slide5-flit-blocked-inject-0">
              <a:extLst>
                <a:ext uri="{FF2B5EF4-FFF2-40B4-BE49-F238E27FC236}">
                  <a16:creationId xmlns:a16="http://schemas.microsoft.com/office/drawing/2014/main" id="{DE250A7C-F9C1-4610-9BD2-4A634AF8E458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5200576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6" name="slide5-label-flit-blocked-inject-1">
              <a:extLst>
                <a:ext uri="{FF2B5EF4-FFF2-40B4-BE49-F238E27FC236}">
                  <a16:creationId xmlns:a16="http://schemas.microsoft.com/office/drawing/2014/main" id="{C86D2013-D66E-4AFF-9AE7-FF0D176CB147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52503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57" name="slide5-e-tag-route-return-final">
              <a:extLst>
                <a:ext uri="{FF2B5EF4-FFF2-40B4-BE49-F238E27FC236}">
                  <a16:creationId xmlns:a16="http://schemas.microsoft.com/office/drawing/2014/main" id="{F48DE0A3-552B-444B-B954-F43D2C06705C}"/>
                </a:ext>
              </a:extLst>
            </p:cNvPr>
            <p:cNvCxnSpPr>
              <a:cxnSpLocks/>
              <a:stCxn id="55" idx="5"/>
              <a:endCxn id="41" idx="2"/>
            </p:cNvCxnSpPr>
            <p:nvPr/>
          </p:nvCxnSpPr>
          <p:spPr>
            <a:xfrm>
              <a:off x="797963" y="5415671"/>
              <a:ext cx="462150" cy="179191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58" name="slide5-blocked-marker">
              <a:extLst>
                <a:ext uri="{FF2B5EF4-FFF2-40B4-BE49-F238E27FC236}">
                  <a16:creationId xmlns:a16="http://schemas.microsoft.com/office/drawing/2014/main" id="{586F3A0D-6726-47C8-9179-B0D568888D1B}"/>
                </a:ext>
              </a:extLst>
            </p:cNvPr>
            <p:cNvSpPr>
              <a:spLocks noGrp="1"/>
            </p:cNvSpPr>
            <p:nvPr/>
          </p:nvSpPr>
          <p:spPr>
            <a:xfrm>
              <a:off x="851832" y="5305147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cxnSp xmlns:a="http://schemas.openxmlformats.org/drawingml/2006/main">
          <p:nvCxnSpPr>
            <p:cNvPr id="59" name="直接箭头连接符 624">
              <a:extLst>
                <a:ext uri="{FF2B5EF4-FFF2-40B4-BE49-F238E27FC236}">
                  <a16:creationId xmlns:a16="http://schemas.microsoft.com/office/drawing/2014/main" id="{583E6ABC-8D65-4E99-A122-7CA8FDEC99E9}"/>
                </a:ext>
              </a:extLst>
            </p:cNvPr>
            <p:cNvCxnSpPr>
              <a:cxnSpLocks/>
              <a:stCxn id="62" idx="4"/>
              <a:endCxn id="55" idx="0"/>
            </p:cNvCxnSpPr>
            <p:nvPr/>
          </p:nvCxnSpPr>
          <p:spPr>
            <a:xfrm flipH="1">
              <a:off x="708868" y="4491728"/>
              <a:ext cx="6144" cy="70884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0" name="slide4-node-interface">
              <a:extLst>
                <a:ext uri="{FF2B5EF4-FFF2-40B4-BE49-F238E27FC236}">
                  <a16:creationId xmlns:a16="http://schemas.microsoft.com/office/drawing/2014/main" id="{2EB7C66A-5609-4ADC-B773-04EDF7F89339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00844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1" name="文本框 626">
              <a:extLst>
                <a:ext uri="{FF2B5EF4-FFF2-40B4-BE49-F238E27FC236}">
                  <a16:creationId xmlns:a16="http://schemas.microsoft.com/office/drawing/2014/main" id="{CDE7530D-5D3E-4CBD-8A5C-A04177B326EB}"/>
                </a:ext>
              </a:extLst>
            </p:cNvPr>
            <p:cNvSpPr txBox="1"/>
            <p:nvPr/>
          </p:nvSpPr>
          <p:spPr>
            <a:xfrm>
              <a:off x="2019271" y="4238728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N-1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2" name="slide5-flit-blocked-inject-0">
              <a:extLst>
                <a:ext uri="{FF2B5EF4-FFF2-40B4-BE49-F238E27FC236}">
                  <a16:creationId xmlns:a16="http://schemas.microsoft.com/office/drawing/2014/main" id="{B4C25D35-9650-4097-B0AB-15120BAB26F0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9012" y="4239728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3" name="slide5-label-flit-blocked-inject-1">
              <a:extLst>
                <a:ext uri="{FF2B5EF4-FFF2-40B4-BE49-F238E27FC236}">
                  <a16:creationId xmlns:a16="http://schemas.microsoft.com/office/drawing/2014/main" id="{20BA3DB6-24F7-4EE2-BB8A-CFF5868D5CD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89528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64" name="slide4-node-interface">
              <a:extLst>
                <a:ext uri="{FF2B5EF4-FFF2-40B4-BE49-F238E27FC236}">
                  <a16:creationId xmlns:a16="http://schemas.microsoft.com/office/drawing/2014/main" id="{7DD8BB59-9240-4405-AFBE-D92E674C3F85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6099638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5" name="文本框 630">
              <a:extLst>
                <a:ext uri="{FF2B5EF4-FFF2-40B4-BE49-F238E27FC236}">
                  <a16:creationId xmlns:a16="http://schemas.microsoft.com/office/drawing/2014/main" id="{85319E0C-0022-475D-BF28-4951FE2A6EC6}"/>
                </a:ext>
              </a:extLst>
            </p:cNvPr>
            <p:cNvSpPr txBox="1"/>
            <p:nvPr/>
          </p:nvSpPr>
          <p:spPr>
            <a:xfrm>
              <a:off x="2013127" y="6137522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N+1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6" name="slide5-flit-blocked-inject-0">
              <a:extLst>
                <a:ext uri="{FF2B5EF4-FFF2-40B4-BE49-F238E27FC236}">
                  <a16:creationId xmlns:a16="http://schemas.microsoft.com/office/drawing/2014/main" id="{255FB70B-14EE-4605-8DF3-4653498E8CF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6138522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7" name="slide5-label-flit-blocked-inject-1">
              <a:extLst>
                <a:ext uri="{FF2B5EF4-FFF2-40B4-BE49-F238E27FC236}">
                  <a16:creationId xmlns:a16="http://schemas.microsoft.com/office/drawing/2014/main" id="{2A6E132B-D683-42B8-B8A7-42436C0B0B5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619567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68" name="直接箭头连接符 633">
              <a:extLst>
                <a:ext uri="{FF2B5EF4-FFF2-40B4-BE49-F238E27FC236}">
                  <a16:creationId xmlns:a16="http://schemas.microsoft.com/office/drawing/2014/main" id="{944ACB17-12F8-4C41-8955-838A09717CD6}"/>
                </a:ext>
              </a:extLst>
            </p:cNvPr>
            <p:cNvCxnSpPr>
              <a:cxnSpLocks/>
              <a:stCxn id="55" idx="4"/>
              <a:endCxn id="66" idx="0"/>
            </p:cNvCxnSpPr>
            <p:nvPr/>
          </p:nvCxnSpPr>
          <p:spPr>
            <a:xfrm>
              <a:off x="708868" y="5452576"/>
              <a:ext cx="0" cy="68594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9" name="B5 tag mark">
              <a:extLst>
                <a:ext uri="{FF2B5EF4-FFF2-40B4-BE49-F238E27FC236}">
                  <a16:creationId xmlns:a16="http://schemas.microsoft.com/office/drawing/2014/main" id="{BAD901DB-50B4-4449-BA94-89E85812A586}"/>
                </a:ext>
              </a:extLst>
            </p:cNvPr>
            <p:cNvSpPr>
              <a:spLocks noGrp="1"/>
            </p:cNvSpPr>
            <p:nvPr/>
          </p:nvSpPr>
          <p:spPr>
            <a:xfrm>
              <a:off x="1062882" y="6152878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buNone/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</a:t>
              </a:r>
            </a:p>
          </p:txBody>
        </p:sp>
        <p:cxnSp xmlns:a="http://schemas.openxmlformats.org/drawingml/2006/main">
          <p:nvCxnSpPr>
            <p:cNvPr id="70" name="slide5-e-tag-route-return-final">
              <a:extLst>
                <a:ext uri="{FF2B5EF4-FFF2-40B4-BE49-F238E27FC236}">
                  <a16:creationId xmlns:a16="http://schemas.microsoft.com/office/drawing/2014/main" id="{C266D504-2B9F-4426-AC1E-AB8B2690C35E}"/>
                </a:ext>
              </a:extLst>
            </p:cNvPr>
            <p:cNvCxnSpPr>
              <a:cxnSpLocks/>
              <a:stCxn id="41" idx="4"/>
              <a:endCxn id="69" idx="0"/>
            </p:cNvCxnSpPr>
            <p:nvPr/>
          </p:nvCxnSpPr>
          <p:spPr>
            <a:xfrm flipH="1">
              <a:off x="1329582" y="5720862"/>
              <a:ext cx="56531" cy="432016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1" name="B5 tag mark">
              <a:extLst>
                <a:ext uri="{FF2B5EF4-FFF2-40B4-BE49-F238E27FC236}">
                  <a16:creationId xmlns:a16="http://schemas.microsoft.com/office/drawing/2014/main" id="{42AB07DC-7820-4DA8-AD9E-8F9A067A0819}"/>
                </a:ext>
              </a:extLst>
            </p:cNvPr>
            <p:cNvSpPr>
              <a:spLocks noGrp="1"/>
            </p:cNvSpPr>
            <p:nvPr/>
          </p:nvSpPr>
          <p:spPr>
            <a:xfrm>
              <a:off x="1148624" y="4310592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900" b="1" dirty="0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</a:t>
              </a:r>
              <a:endParaRPr sz="9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cxnSp xmlns:a="http://schemas.openxmlformats.org/drawingml/2006/main">
          <p:nvCxnSpPr>
            <p:cNvPr id="72" name="slide5-e-tag-route-return-final">
              <a:extLst>
                <a:ext uri="{FF2B5EF4-FFF2-40B4-BE49-F238E27FC236}">
                  <a16:creationId xmlns:a16="http://schemas.microsoft.com/office/drawing/2014/main" id="{4CACDD10-EC92-4E21-883E-DEDE89A7F8D8}"/>
                </a:ext>
              </a:extLst>
            </p:cNvPr>
            <p:cNvCxnSpPr>
              <a:cxnSpLocks/>
              <a:stCxn id="26" idx="0"/>
              <a:endCxn id="71" idx="2"/>
            </p:cNvCxnSpPr>
            <p:nvPr/>
          </p:nvCxnSpPr>
          <p:spPr>
            <a:xfrm flipH="1" flipV="1">
              <a:off x="1415324" y="4506256"/>
              <a:ext cx="10491" cy="410793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3" name="矩形 638">
              <a:extLst>
                <a:ext uri="{FF2B5EF4-FFF2-40B4-BE49-F238E27FC236}">
                  <a16:creationId xmlns:a16="http://schemas.microsoft.com/office/drawing/2014/main" id="{89A2E884-81F2-416C-A3AC-A6B57838B8B1}"/>
                </a:ext>
              </a:extLst>
            </p:cNvPr>
            <p:cNvSpPr/>
            <p:nvPr/>
          </p:nvSpPr>
          <p:spPr>
            <a:xfrm>
              <a:off x="4217135" y="5169376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4" name="矩形 639">
              <a:extLst>
                <a:ext uri="{FF2B5EF4-FFF2-40B4-BE49-F238E27FC236}">
                  <a16:creationId xmlns:a16="http://schemas.microsoft.com/office/drawing/2014/main" id="{62948DEB-4442-4127-AFD8-E3C67AF5A635}"/>
                </a:ext>
              </a:extLst>
            </p:cNvPr>
            <p:cNvSpPr/>
            <p:nvPr/>
          </p:nvSpPr>
          <p:spPr>
            <a:xfrm>
              <a:off x="4220741" y="4495607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5" name="slide5-station-blocked">
              <a:extLst>
                <a:ext uri="{FF2B5EF4-FFF2-40B4-BE49-F238E27FC236}">
                  <a16:creationId xmlns:a16="http://schemas.microsoft.com/office/drawing/2014/main" id="{DBDAC3DC-7ABD-40C2-9441-98EF1C2682A3}"/>
                </a:ext>
              </a:extLst>
            </p:cNvPr>
            <p:cNvSpPr>
              <a:spLocks noGrp="1"/>
            </p:cNvSpPr>
            <p:nvPr/>
          </p:nvSpPr>
          <p:spPr>
            <a:xfrm>
              <a:off x="3730309" y="4149007"/>
              <a:ext cx="2486841" cy="2249722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76" name="slide5-anchor-e-tag-deflect-start">
              <a:extLst>
                <a:ext uri="{FF2B5EF4-FFF2-40B4-BE49-F238E27FC236}">
                  <a16:creationId xmlns:a16="http://schemas.microsoft.com/office/drawing/2014/main" id="{186DAF24-1E89-4727-B7A5-2562BCA0EBFC}"/>
                </a:ext>
              </a:extLst>
            </p:cNvPr>
            <p:cNvSpPr>
              <a:spLocks noGrp="1"/>
            </p:cNvSpPr>
            <p:nvPr/>
          </p:nvSpPr>
          <p:spPr>
            <a:xfrm>
              <a:off x="3942117" y="538686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7" name="slide5-anchor-e-tag-blocked-4">
              <a:extLst>
                <a:ext uri="{FF2B5EF4-FFF2-40B4-BE49-F238E27FC236}">
                  <a16:creationId xmlns:a16="http://schemas.microsoft.com/office/drawing/2014/main" id="{2AF8CD26-2100-4B05-B5D8-C915E11601D9}"/>
                </a:ext>
              </a:extLst>
            </p:cNvPr>
            <p:cNvSpPr>
              <a:spLocks noGrp="1"/>
            </p:cNvSpPr>
            <p:nvPr/>
          </p:nvSpPr>
          <p:spPr>
            <a:xfrm>
              <a:off x="4006459" y="5756226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8" name="slide5-anchor-e-tag-blocked-5">
              <a:extLst>
                <a:ext uri="{FF2B5EF4-FFF2-40B4-BE49-F238E27FC236}">
                  <a16:creationId xmlns:a16="http://schemas.microsoft.com/office/drawing/2014/main" id="{B3A74241-13B2-4D72-A563-E8DE07B3C4F0}"/>
                </a:ext>
              </a:extLst>
            </p:cNvPr>
            <p:cNvSpPr>
              <a:spLocks noGrp="1"/>
            </p:cNvSpPr>
            <p:nvPr/>
          </p:nvSpPr>
          <p:spPr>
            <a:xfrm>
              <a:off x="4208817" y="559641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9" name="slide5-queue-label-blocked-inject">
              <a:extLst>
                <a:ext uri="{FF2B5EF4-FFF2-40B4-BE49-F238E27FC236}">
                  <a16:creationId xmlns:a16="http://schemas.microsoft.com/office/drawing/2014/main" id="{8060ABBE-CB2D-4E9A-A26B-EC02690248E3}"/>
                </a:ext>
              </a:extLst>
            </p:cNvPr>
            <p:cNvSpPr>
              <a:spLocks noGrp="1"/>
            </p:cNvSpPr>
            <p:nvPr/>
          </p:nvSpPr>
          <p:spPr>
            <a:xfrm>
              <a:off x="3863249" y="4472448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80" name="slide5-queue-label-blocked-eject">
              <a:extLst>
                <a:ext uri="{FF2B5EF4-FFF2-40B4-BE49-F238E27FC236}">
                  <a16:creationId xmlns:a16="http://schemas.microsoft.com/office/drawing/2014/main" id="{52D49185-4778-4FB0-84D5-CA1C34A52383}"/>
                </a:ext>
              </a:extLst>
            </p:cNvPr>
            <p:cNvSpPr>
              <a:spLocks noGrp="1"/>
            </p:cNvSpPr>
            <p:nvPr/>
          </p:nvSpPr>
          <p:spPr>
            <a:xfrm>
              <a:off x="4402799" y="5510697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81" name="slide5-queue-frame-blocked-inject">
              <a:extLst>
                <a:ext uri="{FF2B5EF4-FFF2-40B4-BE49-F238E27FC236}">
                  <a16:creationId xmlns:a16="http://schemas.microsoft.com/office/drawing/2014/main" id="{19D01822-A40D-4FEE-88BE-DDC2B4BFD377}"/>
                </a:ext>
              </a:extLst>
            </p:cNvPr>
            <p:cNvSpPr>
              <a:spLocks noGrp="1"/>
            </p:cNvSpPr>
            <p:nvPr/>
          </p:nvSpPr>
          <p:spPr>
            <a:xfrm>
              <a:off x="4336209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2" name="slide5-queue-frame-blocked-inject">
              <a:extLst>
                <a:ext uri="{FF2B5EF4-FFF2-40B4-BE49-F238E27FC236}">
                  <a16:creationId xmlns:a16="http://schemas.microsoft.com/office/drawing/2014/main" id="{5893B33C-B44F-4940-99DF-05E30FD2039B}"/>
                </a:ext>
              </a:extLst>
            </p:cNvPr>
            <p:cNvSpPr>
              <a:spLocks noGrp="1"/>
            </p:cNvSpPr>
            <p:nvPr/>
          </p:nvSpPr>
          <p:spPr>
            <a:xfrm>
              <a:off x="4659655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3" name="slide5-flit-blocked-inject-0">
              <a:extLst>
                <a:ext uri="{FF2B5EF4-FFF2-40B4-BE49-F238E27FC236}">
                  <a16:creationId xmlns:a16="http://schemas.microsoft.com/office/drawing/2014/main" id="{80E8C432-DBAA-4FED-8E86-54FA513782C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95378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4" name="slide5-label-flit-blocked-inject-1">
              <a:extLst>
                <a:ext uri="{FF2B5EF4-FFF2-40B4-BE49-F238E27FC236}">
                  <a16:creationId xmlns:a16="http://schemas.microsoft.com/office/drawing/2014/main" id="{F351566F-08BE-44B6-A009-55DE5D9A3CBD}"/>
                </a:ext>
              </a:extLst>
            </p:cNvPr>
            <p:cNvSpPr>
              <a:spLocks noGrp="1"/>
            </p:cNvSpPr>
            <p:nvPr/>
          </p:nvSpPr>
          <p:spPr>
            <a:xfrm>
              <a:off x="4654881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5" name="slide5-queue-frame-blocked-inject">
              <a:extLst>
                <a:ext uri="{FF2B5EF4-FFF2-40B4-BE49-F238E27FC236}">
                  <a16:creationId xmlns:a16="http://schemas.microsoft.com/office/drawing/2014/main" id="{4139F446-83A4-457B-81A7-544F4C4F16AE}"/>
                </a:ext>
              </a:extLst>
            </p:cNvPr>
            <p:cNvSpPr>
              <a:spLocks noGrp="1"/>
            </p:cNvSpPr>
            <p:nvPr/>
          </p:nvSpPr>
          <p:spPr>
            <a:xfrm>
              <a:off x="498868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6" name="slide5-flit-blocked-inject-0">
              <a:extLst>
                <a:ext uri="{FF2B5EF4-FFF2-40B4-BE49-F238E27FC236}">
                  <a16:creationId xmlns:a16="http://schemas.microsoft.com/office/drawing/2014/main" id="{BC6732BF-67A2-461F-A0AE-C99FA50031B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02440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7" name="slide5-label-flit-blocked-inject-1">
              <a:extLst>
                <a:ext uri="{FF2B5EF4-FFF2-40B4-BE49-F238E27FC236}">
                  <a16:creationId xmlns:a16="http://schemas.microsoft.com/office/drawing/2014/main" id="{817E1EF3-D35D-4B02-8CC6-23A8FA4464A6}"/>
                </a:ext>
              </a:extLst>
            </p:cNvPr>
            <p:cNvSpPr>
              <a:spLocks noGrp="1"/>
            </p:cNvSpPr>
            <p:nvPr/>
          </p:nvSpPr>
          <p:spPr>
            <a:xfrm>
              <a:off x="498391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8" name="slide5-queue-frame-blocked-inject">
              <a:extLst>
                <a:ext uri="{FF2B5EF4-FFF2-40B4-BE49-F238E27FC236}">
                  <a16:creationId xmlns:a16="http://schemas.microsoft.com/office/drawing/2014/main" id="{A07B4D42-65AB-4622-B8FF-0BC55855951A}"/>
                </a:ext>
              </a:extLst>
            </p:cNvPr>
            <p:cNvSpPr>
              <a:spLocks noGrp="1"/>
            </p:cNvSpPr>
            <p:nvPr/>
          </p:nvSpPr>
          <p:spPr>
            <a:xfrm>
              <a:off x="5312132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9" name="slide5-flit-blocked-inject-0">
              <a:extLst>
                <a:ext uri="{FF2B5EF4-FFF2-40B4-BE49-F238E27FC236}">
                  <a16:creationId xmlns:a16="http://schemas.microsoft.com/office/drawing/2014/main" id="{8D88D100-DA3B-4ABF-BD3A-33BF2F4EDA9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47855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0" name="slide5-label-flit-blocked-inject-1">
              <a:extLst>
                <a:ext uri="{FF2B5EF4-FFF2-40B4-BE49-F238E27FC236}">
                  <a16:creationId xmlns:a16="http://schemas.microsoft.com/office/drawing/2014/main" id="{E64374F1-22DE-4BA8-841E-04FD7A387037}"/>
                </a:ext>
              </a:extLst>
            </p:cNvPr>
            <p:cNvSpPr>
              <a:spLocks noGrp="1"/>
            </p:cNvSpPr>
            <p:nvPr/>
          </p:nvSpPr>
          <p:spPr>
            <a:xfrm>
              <a:off x="5307358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1" name="slide5-queue-frame-blocked-inject">
              <a:extLst>
                <a:ext uri="{FF2B5EF4-FFF2-40B4-BE49-F238E27FC236}">
                  <a16:creationId xmlns:a16="http://schemas.microsoft.com/office/drawing/2014/main" id="{D305AA98-81D9-49C4-8E5E-6B3A1E8CB4AE}"/>
                </a:ext>
              </a:extLst>
            </p:cNvPr>
            <p:cNvSpPr>
              <a:spLocks noGrp="1"/>
            </p:cNvSpPr>
            <p:nvPr/>
          </p:nvSpPr>
          <p:spPr>
            <a:xfrm>
              <a:off x="563956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2" name="slide5-flit-blocked-inject-0">
              <a:extLst>
                <a:ext uri="{FF2B5EF4-FFF2-40B4-BE49-F238E27FC236}">
                  <a16:creationId xmlns:a16="http://schemas.microsoft.com/office/drawing/2014/main" id="{09C02B31-4F73-4D51-8A76-EC9978638C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7528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3" name="slide5-label-flit-blocked-inject-1">
              <a:extLst>
                <a:ext uri="{FF2B5EF4-FFF2-40B4-BE49-F238E27FC236}">
                  <a16:creationId xmlns:a16="http://schemas.microsoft.com/office/drawing/2014/main" id="{F7392B5F-81B8-45A8-ACBA-3C45C873D445}"/>
                </a:ext>
              </a:extLst>
            </p:cNvPr>
            <p:cNvSpPr>
              <a:spLocks noGrp="1"/>
            </p:cNvSpPr>
            <p:nvPr/>
          </p:nvSpPr>
          <p:spPr>
            <a:xfrm>
              <a:off x="563479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4" name="slide5-queue-frame-blocked-inject">
              <a:extLst>
                <a:ext uri="{FF2B5EF4-FFF2-40B4-BE49-F238E27FC236}">
                  <a16:creationId xmlns:a16="http://schemas.microsoft.com/office/drawing/2014/main" id="{4B895617-6FAE-482A-8585-B5C8F0442474}"/>
                </a:ext>
              </a:extLst>
            </p:cNvPr>
            <p:cNvSpPr>
              <a:spLocks noGrp="1"/>
            </p:cNvSpPr>
            <p:nvPr/>
          </p:nvSpPr>
          <p:spPr>
            <a:xfrm>
              <a:off x="4296507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5" name="slide5-queue-frame-blocked-inject">
              <a:extLst>
                <a:ext uri="{FF2B5EF4-FFF2-40B4-BE49-F238E27FC236}">
                  <a16:creationId xmlns:a16="http://schemas.microsoft.com/office/drawing/2014/main" id="{8D0C3144-912A-417B-9750-18475C01E19B}"/>
                </a:ext>
              </a:extLst>
            </p:cNvPr>
            <p:cNvSpPr>
              <a:spLocks noGrp="1"/>
            </p:cNvSpPr>
            <p:nvPr/>
          </p:nvSpPr>
          <p:spPr>
            <a:xfrm>
              <a:off x="4619953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6" name="slide5-flit-blocked-inject-0">
              <a:extLst>
                <a:ext uri="{FF2B5EF4-FFF2-40B4-BE49-F238E27FC236}">
                  <a16:creationId xmlns:a16="http://schemas.microsoft.com/office/drawing/2014/main" id="{6F29916D-8C8D-4EA4-BCC8-26D14D04A23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55676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7" name="slide5-label-flit-blocked-inject-1">
              <a:extLst>
                <a:ext uri="{FF2B5EF4-FFF2-40B4-BE49-F238E27FC236}">
                  <a16:creationId xmlns:a16="http://schemas.microsoft.com/office/drawing/2014/main" id="{2A916172-65EE-4F4E-9795-369F1F65D577}"/>
                </a:ext>
              </a:extLst>
            </p:cNvPr>
            <p:cNvSpPr>
              <a:spLocks noGrp="1"/>
            </p:cNvSpPr>
            <p:nvPr/>
          </p:nvSpPr>
          <p:spPr>
            <a:xfrm>
              <a:off x="4615179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8" name="slide5-queue-frame-blocked-inject">
              <a:extLst>
                <a:ext uri="{FF2B5EF4-FFF2-40B4-BE49-F238E27FC236}">
                  <a16:creationId xmlns:a16="http://schemas.microsoft.com/office/drawing/2014/main" id="{861188C5-D6C6-46A4-94C2-61CADF4C7DF5}"/>
                </a:ext>
              </a:extLst>
            </p:cNvPr>
            <p:cNvSpPr>
              <a:spLocks noGrp="1"/>
            </p:cNvSpPr>
            <p:nvPr/>
          </p:nvSpPr>
          <p:spPr>
            <a:xfrm>
              <a:off x="494898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9" name="slide5-flit-blocked-inject-0">
              <a:extLst>
                <a:ext uri="{FF2B5EF4-FFF2-40B4-BE49-F238E27FC236}">
                  <a16:creationId xmlns:a16="http://schemas.microsoft.com/office/drawing/2014/main" id="{552909A4-B93A-43E3-8C6A-08225CAF905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98470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0" name="slide5-label-flit-blocked-inject-1">
              <a:extLst>
                <a:ext uri="{FF2B5EF4-FFF2-40B4-BE49-F238E27FC236}">
                  <a16:creationId xmlns:a16="http://schemas.microsoft.com/office/drawing/2014/main" id="{CB078BAC-78D5-4A5E-9A3A-88102F609FE5}"/>
                </a:ext>
              </a:extLst>
            </p:cNvPr>
            <p:cNvSpPr>
              <a:spLocks noGrp="1"/>
            </p:cNvSpPr>
            <p:nvPr/>
          </p:nvSpPr>
          <p:spPr>
            <a:xfrm>
              <a:off x="494421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1" name="slide5-queue-frame-blocked-inject">
              <a:extLst>
                <a:ext uri="{FF2B5EF4-FFF2-40B4-BE49-F238E27FC236}">
                  <a16:creationId xmlns:a16="http://schemas.microsoft.com/office/drawing/2014/main" id="{3430DF3E-E564-41FE-919A-CD98F781978E}"/>
                </a:ext>
              </a:extLst>
            </p:cNvPr>
            <p:cNvSpPr>
              <a:spLocks noGrp="1"/>
            </p:cNvSpPr>
            <p:nvPr/>
          </p:nvSpPr>
          <p:spPr>
            <a:xfrm>
              <a:off x="5272430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2" name="slide5-flit-blocked-inject-0">
              <a:extLst>
                <a:ext uri="{FF2B5EF4-FFF2-40B4-BE49-F238E27FC236}">
                  <a16:creationId xmlns:a16="http://schemas.microsoft.com/office/drawing/2014/main" id="{F7E66B3B-D940-4C9C-86CE-E3EDE9B3783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08153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3" name="slide5-label-flit-blocked-inject-1">
              <a:extLst>
                <a:ext uri="{FF2B5EF4-FFF2-40B4-BE49-F238E27FC236}">
                  <a16:creationId xmlns:a16="http://schemas.microsoft.com/office/drawing/2014/main" id="{1E18EEAB-7913-4B7A-8804-27BBAD3E8D0F}"/>
                </a:ext>
              </a:extLst>
            </p:cNvPr>
            <p:cNvSpPr>
              <a:spLocks noGrp="1"/>
            </p:cNvSpPr>
            <p:nvPr/>
          </p:nvSpPr>
          <p:spPr>
            <a:xfrm>
              <a:off x="5267656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4" name="slide5-queue-frame-blocked-inject">
              <a:extLst>
                <a:ext uri="{FF2B5EF4-FFF2-40B4-BE49-F238E27FC236}">
                  <a16:creationId xmlns:a16="http://schemas.microsoft.com/office/drawing/2014/main" id="{AEC78860-E987-406B-99CD-486FC7C5ED3B}"/>
                </a:ext>
              </a:extLst>
            </p:cNvPr>
            <p:cNvSpPr>
              <a:spLocks noGrp="1"/>
            </p:cNvSpPr>
            <p:nvPr/>
          </p:nvSpPr>
          <p:spPr>
            <a:xfrm>
              <a:off x="559986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5" name="slide5-flit-blocked-inject-0">
              <a:extLst>
                <a:ext uri="{FF2B5EF4-FFF2-40B4-BE49-F238E27FC236}">
                  <a16:creationId xmlns:a16="http://schemas.microsoft.com/office/drawing/2014/main" id="{5839F619-3D1A-464A-8E09-80D61F83FE4F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3558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6" name="slide5-label-flit-blocked-inject-1">
              <a:extLst>
                <a:ext uri="{FF2B5EF4-FFF2-40B4-BE49-F238E27FC236}">
                  <a16:creationId xmlns:a16="http://schemas.microsoft.com/office/drawing/2014/main" id="{5E17B4D6-DC33-4CF2-89C0-EF3DF161229D}"/>
                </a:ext>
              </a:extLst>
            </p:cNvPr>
            <p:cNvSpPr>
              <a:spLocks noGrp="1"/>
            </p:cNvSpPr>
            <p:nvPr/>
          </p:nvSpPr>
          <p:spPr>
            <a:xfrm>
              <a:off x="559509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7" name="slide5-flit-blocked-inject-0">
              <a:extLst>
                <a:ext uri="{FF2B5EF4-FFF2-40B4-BE49-F238E27FC236}">
                  <a16:creationId xmlns:a16="http://schemas.microsoft.com/office/drawing/2014/main" id="{BB8A507A-B9DE-4E4D-AB02-B65EC99609B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321588" y="5281617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8" name="slide5-label-flit-blocked-inject-1">
              <a:extLst>
                <a:ext uri="{FF2B5EF4-FFF2-40B4-BE49-F238E27FC236}">
                  <a16:creationId xmlns:a16="http://schemas.microsoft.com/office/drawing/2014/main" id="{EFD0AC84-499D-4F4B-9068-4DA9FCDEE672}"/>
                </a:ext>
              </a:extLst>
            </p:cNvPr>
            <p:cNvSpPr>
              <a:spLocks noGrp="1"/>
            </p:cNvSpPr>
            <p:nvPr/>
          </p:nvSpPr>
          <p:spPr>
            <a:xfrm>
              <a:off x="4274352" y="5331417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9" name="slide5-flit-blocked-inject-0">
              <a:extLst>
                <a:ext uri="{FF2B5EF4-FFF2-40B4-BE49-F238E27FC236}">
                  <a16:creationId xmlns:a16="http://schemas.microsoft.com/office/drawing/2014/main" id="{B71F0802-116A-4E4D-9749-8CEC2B845C0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3737249" y="497630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10" name="slide5-label-flit-blocked-inject-1">
              <a:extLst>
                <a:ext uri="{FF2B5EF4-FFF2-40B4-BE49-F238E27FC236}">
                  <a16:creationId xmlns:a16="http://schemas.microsoft.com/office/drawing/2014/main" id="{0B280C07-A63A-4FCC-BC35-CD791E0757BF}"/>
                </a:ext>
              </a:extLst>
            </p:cNvPr>
            <p:cNvSpPr>
              <a:spLocks noGrp="1"/>
            </p:cNvSpPr>
            <p:nvPr/>
          </p:nvSpPr>
          <p:spPr>
            <a:xfrm>
              <a:off x="3696752" y="502393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111" name="连接符: 肘形 676">
              <a:extLst>
                <a:ext uri="{FF2B5EF4-FFF2-40B4-BE49-F238E27FC236}">
                  <a16:creationId xmlns:a16="http://schemas.microsoft.com/office/drawing/2014/main" id="{68D0DFF2-DAFD-495D-9395-D6DCF79A74EC}"/>
                </a:ext>
              </a:extLst>
            </p:cNvPr>
            <p:cNvCxnSpPr>
              <a:cxnSpLocks/>
              <a:endCxn id="109" idx="0"/>
            </p:cNvCxnSpPr>
            <p:nvPr/>
          </p:nvCxnSpPr>
          <p:spPr>
            <a:xfrm rot="10800000" flipV="1">
              <a:off x="3863249" y="4855687"/>
              <a:ext cx="616548" cy="120618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2" name="连接符: 肘形 677">
              <a:extLst>
                <a:ext uri="{FF2B5EF4-FFF2-40B4-BE49-F238E27FC236}">
                  <a16:creationId xmlns:a16="http://schemas.microsoft.com/office/drawing/2014/main" id="{8D58D70D-076A-4CDC-B33A-D28AFEA68A4E}"/>
                </a:ext>
              </a:extLst>
            </p:cNvPr>
            <p:cNvCxnSpPr>
              <a:cxnSpLocks/>
              <a:stCxn id="109" idx="4"/>
              <a:endCxn id="107" idx="2"/>
            </p:cNvCxnSpPr>
            <p:nvPr/>
          </p:nvCxnSpPr>
          <p:spPr>
            <a:xfrm rot="16200000" flipH="1">
              <a:off x="4002762" y="5088791"/>
              <a:ext cx="179312" cy="458339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3" name="箭头: 下 678">
              <a:extLst>
                <a:ext uri="{FF2B5EF4-FFF2-40B4-BE49-F238E27FC236}">
                  <a16:creationId xmlns:a16="http://schemas.microsoft.com/office/drawing/2014/main" id="{15E3FBB9-BBD3-4B18-8747-740090D6CED4}"/>
                </a:ext>
              </a:extLst>
            </p:cNvPr>
            <p:cNvSpPr/>
            <p:nvPr/>
          </p:nvSpPr>
          <p:spPr>
            <a:xfrm rot="16200000">
              <a:off x="3318103" y="5050465"/>
              <a:ext cx="181346" cy="418513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xmlns:a="http://schemas.openxmlformats.org/drawingml/2006/main">
          <p:nvSpPr>
            <p:cNvPr id="114" name="文本框 679">
              <a:extLst>
                <a:ext uri="{FF2B5EF4-FFF2-40B4-BE49-F238E27FC236}">
                  <a16:creationId xmlns:a16="http://schemas.microsoft.com/office/drawing/2014/main" id="{ED1175A4-1A61-43F1-A299-113CDC7B4EE6}"/>
                </a:ext>
              </a:extLst>
            </p:cNvPr>
            <p:cNvSpPr txBox="1"/>
            <p:nvPr/>
          </p:nvSpPr>
          <p:spPr>
            <a:xfrm>
              <a:off x="5200305" y="4206109"/>
              <a:ext cx="5757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15" name="e tag claim label">
              <a:extLst>
                <a:ext uri="{FF2B5EF4-FFF2-40B4-BE49-F238E27FC236}">
                  <a16:creationId xmlns:a16="http://schemas.microsoft.com/office/drawing/2014/main" id="{725F068A-A911-4416-9935-069C39E5CC0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5829300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E-tag：B6使用预留弹出空间</a:t>
              </a:r>
            </a:p>
          </p:txBody>
        </p:sp>
        <p:sp xmlns:a="http://schemas.openxmlformats.org/drawingml/2006/main">
          <p:nvSpPr>
            <p:cNvPr id="116" name="i tag replacement label">
              <a:extLst>
                <a:ext uri="{FF2B5EF4-FFF2-40B4-BE49-F238E27FC236}">
                  <a16:creationId xmlns:a16="http://schemas.microsoft.com/office/drawing/2014/main" id="{8467EA4E-EB8E-4D09-8DC5-90E00FD1D18B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6067425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I-tag：A1接替释放的环槽位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817550"/>
      </p:ext>
    </p:extLst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7406C44F-01A2-4140-8BEA-D453B6BC00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RBRG跨环路径与方向资源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93E13DB3-CC80-4AE7-B313-795D5FEDD038}"/>
              </a:ext>
            </a:extLst>
          </p:cNvPr>
          <p:cNvSpPr>
            <a:spLocks noGrp="1"/>
          </p:cNvSpPr>
          <p:nvPr/>
        </p:nvSpPr>
        <p:spPr>
          <a:xfrm>
            <a:off x="381000" y="1247775"/>
            <a:ext cx="7048500" cy="46005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7134902-D985-43AC-A84D-ED32F1312581}"/>
              </a:ext>
            </a:extLst>
          </p:cNvPr>
          <p:cNvSpPr>
            <a:spLocks noGrp="1"/>
          </p:cNvSpPr>
          <p:nvPr/>
        </p:nvSpPr>
        <p:spPr>
          <a:xfrm>
            <a:off x="5810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V-Ring端</a:t>
            </a: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645B3A48-EF64-4959-89B5-6D06A30B748D}"/>
              </a:ext>
            </a:extLst>
          </p:cNvPr>
          <p:cNvSpPr>
            <a:spLocks noGrp="1"/>
          </p:cNvSpPr>
          <p:nvPr/>
        </p:nvSpPr>
        <p:spPr>
          <a:xfrm>
            <a:off x="61817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</a:t>
            </a:r>
            <a:r>
              <a:rPr sz="157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Ring端</a:t>
            </a:r>
            <a:endParaRPr sz="15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9EEFE1C3-5A2B-45E2-9C77-69A00401315D}"/>
              </a:ext>
            </a:extLst>
          </p:cNvPr>
          <p:cNvSpPr>
            <a:spLocks noGrp="1"/>
          </p:cNvSpPr>
          <p:nvPr/>
        </p:nvSpPr>
        <p:spPr>
          <a:xfrm>
            <a:off x="581025" y="1924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E2344FA3-3E3B-4AF5-826E-11A0C671094E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5A2B9588-1A36-4BCE-AF0D-F0E8C1CD454D}"/>
              </a:ext>
            </a:extLst>
          </p:cNvPr>
          <p:cNvSpPr>
            <a:spLocks noGrp="1"/>
          </p:cNvSpPr>
          <p:nvPr/>
        </p:nvSpPr>
        <p:spPr>
          <a:xfrm>
            <a:off x="1685925" y="19145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A652ABF8-8BA9-409B-816F-8622D7B7755A}"/>
              </a:ext>
            </a:extLst>
          </p:cNvPr>
          <p:cNvSpPr>
            <a:spLocks noGrp="1"/>
          </p:cNvSpPr>
          <p:nvPr/>
        </p:nvSpPr>
        <p:spPr>
          <a:xfrm>
            <a:off x="4029075" y="1876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-9">
            <a:extLst>
              <a:ext uri="{FF2B5EF4-FFF2-40B4-BE49-F238E27FC236}">
                <a16:creationId xmlns:a16="http://schemas.microsoft.com/office/drawing/2014/main" id="{1A10F845-AF65-4B6C-B6CC-3AD741688409}"/>
              </a:ext>
            </a:extLst>
          </p:cNvPr>
          <p:cNvSpPr>
            <a:spLocks noGrp="1"/>
          </p:cNvSpPr>
          <p:nvPr/>
        </p:nvSpPr>
        <p:spPr>
          <a:xfrm>
            <a:off x="4029075" y="2257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直接箭头连接符 60"/>
          <p:cNvCxnSpPr/>
          <p:nvPr/>
        </p:nvCxnSpPr>
        <p:spPr>
          <a:xfrm>
            <a:off x="1323975" y="22050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连接符: 肘形 61"/>
          <p:cNvCxnSpPr/>
          <p:nvPr/>
        </p:nvCxnSpPr>
        <p:spPr>
          <a:xfrm flipV="1">
            <a:off x="3571875" y="2019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连接符: 肘形 62"/>
          <p:cNvCxnSpPr/>
          <p:nvPr/>
        </p:nvCxnSpPr>
        <p:spPr>
          <a:xfrm>
            <a:off x="6124575" y="20193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连接符: 肘形 63"/>
          <p:cNvCxnSpPr/>
          <p:nvPr/>
        </p:nvCxnSpPr>
        <p:spPr>
          <a:xfrm>
            <a:off x="3571875" y="2205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连接符: 肘形 64"/>
          <p:cNvCxnSpPr/>
          <p:nvPr/>
        </p:nvCxnSpPr>
        <p:spPr>
          <a:xfrm flipV="1">
            <a:off x="6124575" y="22050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6" name="diagram-10">
            <a:extLst>
              <a:ext uri="{FF2B5EF4-FFF2-40B4-BE49-F238E27FC236}">
                <a16:creationId xmlns:a16="http://schemas.microsoft.com/office/drawing/2014/main" id="{ADC96EB2-DCA0-41A8-B70E-3E8038FFD7DB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diagram-11">
            <a:extLst>
              <a:ext uri="{FF2B5EF4-FFF2-40B4-BE49-F238E27FC236}">
                <a16:creationId xmlns:a16="http://schemas.microsoft.com/office/drawing/2014/main" id="{D94E7A71-FD2D-4BEA-81E3-95834D977BDA}"/>
              </a:ext>
            </a:extLst>
          </p:cNvPr>
          <p:cNvSpPr>
            <a:spLocks noGrp="1"/>
          </p:cNvSpPr>
          <p:nvPr/>
        </p:nvSpPr>
        <p:spPr>
          <a:xfrm>
            <a:off x="6505575" y="2876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8" name="diagram-12">
            <a:extLst>
              <a:ext uri="{FF2B5EF4-FFF2-40B4-BE49-F238E27FC236}">
                <a16:creationId xmlns:a16="http://schemas.microsoft.com/office/drawing/2014/main" id="{23CD2078-4E8F-4CBB-A1BE-028989E97349}"/>
              </a:ext>
            </a:extLst>
          </p:cNvPr>
          <p:cNvSpPr>
            <a:spLocks noGrp="1"/>
          </p:cNvSpPr>
          <p:nvPr/>
        </p:nvSpPr>
        <p:spPr>
          <a:xfrm>
            <a:off x="1685925" y="28670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WR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-13">
            <a:extLst>
              <a:ext uri="{FF2B5EF4-FFF2-40B4-BE49-F238E27FC236}">
                <a16:creationId xmlns:a16="http://schemas.microsoft.com/office/drawing/2014/main" id="{8519A240-2982-44BB-B06B-9F1139EB5ED1}"/>
              </a:ext>
            </a:extLst>
          </p:cNvPr>
          <p:cNvSpPr>
            <a:spLocks noGrp="1"/>
          </p:cNvSpPr>
          <p:nvPr/>
        </p:nvSpPr>
        <p:spPr>
          <a:xfrm>
            <a:off x="4029075" y="2828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-14">
            <a:extLst>
              <a:ext uri="{FF2B5EF4-FFF2-40B4-BE49-F238E27FC236}">
                <a16:creationId xmlns:a16="http://schemas.microsoft.com/office/drawing/2014/main" id="{3DDA3D1D-9575-4B8A-8DA6-6812631BBDCD}"/>
              </a:ext>
            </a:extLst>
          </p:cNvPr>
          <p:cNvSpPr>
            <a:spLocks noGrp="1"/>
          </p:cNvSpPr>
          <p:nvPr/>
        </p:nvSpPr>
        <p:spPr>
          <a:xfrm>
            <a:off x="4029075" y="3209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接箭头连接符 70"/>
          <p:cNvCxnSpPr/>
          <p:nvPr/>
        </p:nvCxnSpPr>
        <p:spPr>
          <a:xfrm>
            <a:off x="1323975" y="31575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2" name="连接符: 肘形 71"/>
          <p:cNvCxnSpPr/>
          <p:nvPr/>
        </p:nvCxnSpPr>
        <p:spPr>
          <a:xfrm flipV="1">
            <a:off x="3571875" y="2971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3" name="连接符: 肘形 72"/>
          <p:cNvCxnSpPr/>
          <p:nvPr/>
        </p:nvCxnSpPr>
        <p:spPr>
          <a:xfrm>
            <a:off x="6124575" y="29718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4" name="连接符: 肘形 73"/>
          <p:cNvCxnSpPr/>
          <p:nvPr/>
        </p:nvCxnSpPr>
        <p:spPr>
          <a:xfrm>
            <a:off x="3571875" y="3157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5" name="连接符: 肘形 74"/>
          <p:cNvCxnSpPr/>
          <p:nvPr/>
        </p:nvCxnSpPr>
        <p:spPr>
          <a:xfrm flipV="1">
            <a:off x="6124575" y="31575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26" name="diagram-15">
            <a:extLst>
              <a:ext uri="{FF2B5EF4-FFF2-40B4-BE49-F238E27FC236}">
                <a16:creationId xmlns:a16="http://schemas.microsoft.com/office/drawing/2014/main" id="{8B889D32-CA20-4943-824B-775943D8FEBB}"/>
              </a:ext>
            </a:extLst>
          </p:cNvPr>
          <p:cNvSpPr>
            <a:spLocks noGrp="1"/>
          </p:cNvSpPr>
          <p:nvPr/>
        </p:nvSpPr>
        <p:spPr>
          <a:xfrm>
            <a:off x="581025" y="3829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7" name="diagram-16">
            <a:extLst>
              <a:ext uri="{FF2B5EF4-FFF2-40B4-BE49-F238E27FC236}">
                <a16:creationId xmlns:a16="http://schemas.microsoft.com/office/drawing/2014/main" id="{DDEFEE02-CD56-4C24-B433-C4A953E8C2B1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8" name="diagram-17">
            <a:extLst>
              <a:ext uri="{FF2B5EF4-FFF2-40B4-BE49-F238E27FC236}">
                <a16:creationId xmlns:a16="http://schemas.microsoft.com/office/drawing/2014/main" id="{4F54596D-0C04-43A1-88CA-355CCAC76D02}"/>
              </a:ext>
            </a:extLst>
          </p:cNvPr>
          <p:cNvSpPr>
            <a:spLocks noGrp="1"/>
          </p:cNvSpPr>
          <p:nvPr/>
        </p:nvSpPr>
        <p:spPr>
          <a:xfrm>
            <a:off x="4219575" y="3819525"/>
            <a:ext cx="1885950" cy="5810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diagram-18">
            <a:extLst>
              <a:ext uri="{FF2B5EF4-FFF2-40B4-BE49-F238E27FC236}">
                <a16:creationId xmlns:a16="http://schemas.microsoft.com/office/drawing/2014/main" id="{56A4AEB2-7407-49A0-A179-1606AE5C9F87}"/>
              </a:ext>
            </a:extLst>
          </p:cNvPr>
          <p:cNvSpPr>
            <a:spLocks noGrp="1"/>
          </p:cNvSpPr>
          <p:nvPr/>
        </p:nvSpPr>
        <p:spPr>
          <a:xfrm>
            <a:off x="1666875" y="3781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-19">
            <a:extLst>
              <a:ext uri="{FF2B5EF4-FFF2-40B4-BE49-F238E27FC236}">
                <a16:creationId xmlns:a16="http://schemas.microsoft.com/office/drawing/2014/main" id="{E7CF7BAB-E278-44F7-92FB-D42BF25BFCF1}"/>
              </a:ext>
            </a:extLst>
          </p:cNvPr>
          <p:cNvSpPr>
            <a:spLocks noGrp="1"/>
          </p:cNvSpPr>
          <p:nvPr/>
        </p:nvSpPr>
        <p:spPr>
          <a:xfrm>
            <a:off x="1666875" y="4162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1" name="直接箭头连接符 80"/>
          <p:cNvCxnSpPr/>
          <p:nvPr/>
        </p:nvCxnSpPr>
        <p:spPr>
          <a:xfrm flipH="1">
            <a:off x="6105525" y="4110038"/>
            <a:ext cx="400050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2" name="连接符: 肘形 81"/>
          <p:cNvCxnSpPr/>
          <p:nvPr/>
        </p:nvCxnSpPr>
        <p:spPr>
          <a:xfrm flipH="1" flipV="1">
            <a:off x="3762375" y="3924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3" name="连接符: 肘形 82"/>
          <p:cNvCxnSpPr/>
          <p:nvPr/>
        </p:nvCxnSpPr>
        <p:spPr>
          <a:xfrm flipH="1">
            <a:off x="1323975" y="39243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4" name="连接符: 肘形 83"/>
          <p:cNvCxnSpPr/>
          <p:nvPr/>
        </p:nvCxnSpPr>
        <p:spPr>
          <a:xfrm flipH="1">
            <a:off x="3762375" y="4110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5" name="连接符: 肘形 84"/>
          <p:cNvCxnSpPr/>
          <p:nvPr/>
        </p:nvCxnSpPr>
        <p:spPr>
          <a:xfrm flipH="1" flipV="1">
            <a:off x="1323975" y="41100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36" name="diagram-20">
            <a:extLst>
              <a:ext uri="{FF2B5EF4-FFF2-40B4-BE49-F238E27FC236}">
                <a16:creationId xmlns:a16="http://schemas.microsoft.com/office/drawing/2014/main" id="{4978BDCD-46C0-4C6E-82A4-9839641C9922}"/>
              </a:ext>
            </a:extLst>
          </p:cNvPr>
          <p:cNvSpPr>
            <a:spLocks noGrp="1"/>
          </p:cNvSpPr>
          <p:nvPr/>
        </p:nvSpPr>
        <p:spPr>
          <a:xfrm>
            <a:off x="581025" y="4781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37" name="diagram-21">
            <a:extLst>
              <a:ext uri="{FF2B5EF4-FFF2-40B4-BE49-F238E27FC236}">
                <a16:creationId xmlns:a16="http://schemas.microsoft.com/office/drawing/2014/main" id="{128D888D-D808-4B4F-973B-31A785CD04AA}"/>
              </a:ext>
            </a:extLst>
          </p:cNvPr>
          <p:cNvSpPr>
            <a:spLocks noGrp="1"/>
          </p:cNvSpPr>
          <p:nvPr/>
        </p:nvSpPr>
        <p:spPr>
          <a:xfrm>
            <a:off x="6505575" y="4781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diagram-22">
            <a:extLst>
              <a:ext uri="{FF2B5EF4-FFF2-40B4-BE49-F238E27FC236}">
                <a16:creationId xmlns:a16="http://schemas.microsoft.com/office/drawing/2014/main" id="{AAAD83ED-00BC-497F-A853-2A53A14B58FF}"/>
              </a:ext>
            </a:extLst>
          </p:cNvPr>
          <p:cNvSpPr>
            <a:spLocks noGrp="1"/>
          </p:cNvSpPr>
          <p:nvPr/>
        </p:nvSpPr>
        <p:spPr>
          <a:xfrm>
            <a:off x="4219575" y="4772025"/>
            <a:ext cx="1885950" cy="5810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diagram-23">
            <a:extLst>
              <a:ext uri="{FF2B5EF4-FFF2-40B4-BE49-F238E27FC236}">
                <a16:creationId xmlns:a16="http://schemas.microsoft.com/office/drawing/2014/main" id="{58A8D477-F9F1-4468-A6BA-C15626A0580B}"/>
              </a:ext>
            </a:extLst>
          </p:cNvPr>
          <p:cNvSpPr>
            <a:spLocks noGrp="1"/>
          </p:cNvSpPr>
          <p:nvPr/>
        </p:nvSpPr>
        <p:spPr>
          <a:xfrm>
            <a:off x="1666875" y="4733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agram-24">
            <a:extLst>
              <a:ext uri="{FF2B5EF4-FFF2-40B4-BE49-F238E27FC236}">
                <a16:creationId xmlns:a16="http://schemas.microsoft.com/office/drawing/2014/main" id="{C82615DC-AAAA-4736-93F6-5C9CFCC3D61C}"/>
              </a:ext>
            </a:extLst>
          </p:cNvPr>
          <p:cNvSpPr>
            <a:spLocks noGrp="1"/>
          </p:cNvSpPr>
          <p:nvPr/>
        </p:nvSpPr>
        <p:spPr>
          <a:xfrm>
            <a:off x="1666875" y="5114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1" name="直接箭头连接符 90"/>
          <p:cNvCxnSpPr/>
          <p:nvPr/>
        </p:nvCxnSpPr>
        <p:spPr>
          <a:xfrm flipH="1">
            <a:off x="6105525" y="5062538"/>
            <a:ext cx="400050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2" name="连接符: 肘形 91"/>
          <p:cNvCxnSpPr/>
          <p:nvPr/>
        </p:nvCxnSpPr>
        <p:spPr>
          <a:xfrm flipH="1" flipV="1">
            <a:off x="3762375" y="4876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3" name="连接符: 肘形 92"/>
          <p:cNvCxnSpPr/>
          <p:nvPr/>
        </p:nvCxnSpPr>
        <p:spPr>
          <a:xfrm flipH="1">
            <a:off x="1323975" y="48768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4" name="连接符: 肘形 93"/>
          <p:cNvCxnSpPr/>
          <p:nvPr/>
        </p:nvCxnSpPr>
        <p:spPr>
          <a:xfrm flipH="1">
            <a:off x="3762375" y="5062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5" name="连接符: 肘形 94"/>
          <p:cNvCxnSpPr/>
          <p:nvPr/>
        </p:nvCxnSpPr>
        <p:spPr>
          <a:xfrm flipH="1" flipV="1">
            <a:off x="1323975" y="50625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46" name="txt-25">
            <a:extLst>
              <a:ext uri="{FF2B5EF4-FFF2-40B4-BE49-F238E27FC236}">
                <a16:creationId xmlns:a16="http://schemas.microsoft.com/office/drawing/2014/main" id="{7CD3728F-26F9-4FD3-97AC-6610331B63F6}"/>
              </a:ext>
            </a:extLst>
          </p:cNvPr>
          <p:cNvSpPr>
            <a:spLocks noGrp="1"/>
          </p:cNvSpPr>
          <p:nvPr/>
        </p:nvSpPr>
        <p:spPr>
          <a:xfrm>
            <a:off x="7820025" y="136207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四条协议路径</a:t>
            </a:r>
          </a:p>
        </p:txBody>
      </p:sp>
      <p:sp>
        <p:nvSpPr>
          <p:cNvPr id="47" name="bullet-list-27">
            <a:extLst>
              <a:ext uri="{FF2B5EF4-FFF2-40B4-BE49-F238E27FC236}">
                <a16:creationId xmlns:a16="http://schemas.microsoft.com/office/drawing/2014/main" id="{98EA8C94-1DC1-40AE-A765-39112D479BC5}"/>
              </a:ext>
            </a:extLst>
          </p:cNvPr>
          <p:cNvSpPr>
            <a:spLocks noGrp="1"/>
          </p:cNvSpPr>
          <p:nvPr/>
        </p:nvSpPr>
        <p:spPr>
          <a:xfrm>
            <a:off x="7820025" y="1800225"/>
            <a:ext cx="39814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V-Ring向H-Ring传递请求和写数据。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H-Ring向V-Ring返回完成响应和读数据。</a:t>
            </a:r>
          </a:p>
        </p:txBody>
      </p:sp>
      <p:sp>
        <p:nvSpPr>
          <p:cNvPr id="48" name="txt-28">
            <a:extLst>
              <a:ext uri="{FF2B5EF4-FFF2-40B4-BE49-F238E27FC236}">
                <a16:creationId xmlns:a16="http://schemas.microsoft.com/office/drawing/2014/main" id="{466259E7-6AB0-4EF9-90EB-7B77F2998CAC}"/>
              </a:ext>
            </a:extLst>
          </p:cNvPr>
          <p:cNvSpPr>
            <a:spLocks noGrp="1"/>
          </p:cNvSpPr>
          <p:nvPr/>
        </p:nvSpPr>
        <p:spPr>
          <a:xfrm>
            <a:off x="7820025" y="32099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按方向配置资源</a:t>
            </a:r>
          </a:p>
        </p:txBody>
      </p:sp>
      <p:sp>
        <p:nvSpPr>
          <p:cNvPr id="49" name="bullet-list-30">
            <a:extLst>
              <a:ext uri="{FF2B5EF4-FFF2-40B4-BE49-F238E27FC236}">
                <a16:creationId xmlns:a16="http://schemas.microsoft.com/office/drawing/2014/main" id="{E6A25D17-53E8-4675-B00A-F0E63EC83B23}"/>
              </a:ext>
            </a:extLst>
          </p:cNvPr>
          <p:cNvSpPr>
            <a:spLocks noGrp="1"/>
          </p:cNvSpPr>
          <p:nvPr/>
        </p:nvSpPr>
        <p:spPr>
          <a:xfrm>
            <a:off x="7820025" y="3638550"/>
            <a:ext cx="398145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各路径分别设置CW和CCW</a:t>
            </a:r>
            <a:r>
              <a:rPr lang="en-US"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及串行化资源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目标注入队列可接收，且串行化资源空闲时，才允许换环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0" name="txt-31">
            <a:extLst>
              <a:ext uri="{FF2B5EF4-FFF2-40B4-BE49-F238E27FC236}">
                <a16:creationId xmlns:a16="http://schemas.microsoft.com/office/drawing/2014/main" id="{23D33755-EE18-43E5-870F-8C5C23170DC6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启动后的数据归属</a:t>
            </a:r>
          </a:p>
        </p:txBody>
      </p:sp>
      <p:sp>
        <p:nvSpPr>
          <p:cNvPr id="51" name="txt-32">
            <a:extLst>
              <a:ext uri="{FF2B5EF4-FFF2-40B4-BE49-F238E27FC236}">
                <a16:creationId xmlns:a16="http://schemas.microsoft.com/office/drawing/2014/main" id="{9F1062C7-C041-482B-893B-C9DFFBA96AF9}"/>
              </a:ext>
            </a:extLst>
          </p:cNvPr>
          <p:cNvSpPr>
            <a:spLocks noGrp="1"/>
          </p:cNvSpPr>
          <p:nvPr/>
        </p:nvSpPr>
        <p:spPr>
          <a:xfrm>
            <a:off x="7820025" y="5638800"/>
            <a:ext cx="3981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启动成功后来源出队，由串行化器持有包，随后交给目标注入队列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txt-33">
            <a:extLst>
              <a:ext uri="{FF2B5EF4-FFF2-40B4-BE49-F238E27FC236}">
                <a16:creationId xmlns:a16="http://schemas.microsoft.com/office/drawing/2014/main" id="{E5EB8613-39B6-4328-971B-D63667BAEF18}"/>
              </a:ext>
            </a:extLst>
          </p:cNvPr>
          <p:cNvSpPr>
            <a:spLocks noGrp="1"/>
          </p:cNvSpPr>
          <p:nvPr/>
        </p:nvSpPr>
        <p:spPr>
          <a:xfrm>
            <a:off x="381000" y="6229350"/>
            <a:ext cx="11391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方向说明：CW为顺时针，CCW为逆时针。队列和串行化资源按协议路径与方向组织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share-155">
            <a:extLst>
              <a:ext uri="{FF2B5EF4-FFF2-40B4-BE49-F238E27FC236}">
                <a16:creationId xmlns:a16="http://schemas.microsoft.com/office/drawing/2014/main" id="{79B90344-085D-471E-8D9C-D2ECADE3883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  <p:clrMapOvr>
    <a:masterClrMapping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rch-text-35">
            <a:extLst xmlns:a="http://schemas.openxmlformats.org/drawingml/2006/main">
              <a:ext uri="{FF2B5EF4-FFF2-40B4-BE49-F238E27FC236}">
                <a16:creationId xmlns:a16="http://schemas.microsoft.com/office/drawing/2014/main" id="{F97DE25D-7CCE-4BE2-AA23-58F3255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跨环交接：来源队列与串行化器的责任边界</a:t>
            </a:r>
          </a:p>
        </p:txBody>
      </p:sp>
      <p:sp>
        <p:nvSpPr>
          <p:cNvPr id="2" name="arch-text-36">
            <a:extLst xmlns:a="http://schemas.openxmlformats.org/drawingml/2006/main">
              <a:ext uri="{FF2B5EF4-FFF2-40B4-BE49-F238E27FC236}">
                <a16:creationId xmlns:a16="http://schemas.microsoft.com/office/drawing/2014/main" id="{18AAE34B-C4A3-4689-86EF-AC4EE8B7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一次换环包含启动检查、串行化暂存和目标注入，三个时刻对应不同的状态变化。</a:t>
            </a:r>
          </a:p>
        </p:txBody>
      </p:sp>
      <p:sp>
        <p:nvSpPr>
          <p:cNvPr id="3" name="arch-text-37">
            <a:extLst xmlns:a="http://schemas.openxmlformats.org/drawingml/2006/main">
              <a:ext uri="{FF2B5EF4-FFF2-40B4-BE49-F238E27FC236}">
                <a16:creationId xmlns:a16="http://schemas.microsoft.com/office/drawing/2014/main" id="{14E74434-FA68-447F-A95E-89D59B9D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arch-diagram-38">
            <a:extLst xmlns:a="http://schemas.openxmlformats.org/drawingml/2006/main">
              <a:ext uri="{FF2B5EF4-FFF2-40B4-BE49-F238E27FC236}">
                <a16:creationId xmlns:a16="http://schemas.microsoft.com/office/drawing/2014/main" id="{01B0EF3A-857D-47FD-A5F9-9B40CA3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24003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来源弹出队列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保留队首包</a:t>
            </a:r>
          </a:p>
        </p:txBody>
      </p:sp>
      <p:sp>
        <p:nvSpPr>
          <p:cNvPr id="5" name="arch-diagram-39">
            <a:extLst xmlns:a="http://schemas.openxmlformats.org/drawingml/2006/main">
              <a:ext uri="{FF2B5EF4-FFF2-40B4-BE49-F238E27FC236}">
                <a16:creationId xmlns:a16="http://schemas.microsoft.com/office/drawing/2014/main" id="{757AE926-BE1C-48EF-B7B4-BFE71E3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2952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RBRG串行化器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接管包并占用带宽</a:t>
            </a:r>
          </a:p>
        </p:txBody>
      </p:sp>
      <p:sp>
        <p:nvSpPr>
          <p:cNvPr id="6" name="arch-diagram-40">
            <a:extLst xmlns:a="http://schemas.openxmlformats.org/drawingml/2006/main">
              <a:ext uri="{FF2B5EF4-FFF2-40B4-BE49-F238E27FC236}">
                <a16:creationId xmlns:a16="http://schemas.microsoft.com/office/drawing/2014/main" id="{D8650602-9B5E-473A-A1BF-A203CC0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71700"/>
            <a:ext cx="2714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进入新的Ring段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28925" y="2643188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643188"/>
            <a:ext cx="1552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41">
            <a:extLst xmlns:a="http://schemas.openxmlformats.org/drawingml/2006/main">
              <a:ext uri="{FF2B5EF4-FFF2-40B4-BE49-F238E27FC236}">
                <a16:creationId xmlns:a16="http://schemas.microsoft.com/office/drawing/2014/main" id="{805C4634-D508-454B-9F59-E13A886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29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10" name="arch-text-42">
            <a:extLst xmlns:a="http://schemas.openxmlformats.org/drawingml/2006/main">
              <a:ext uri="{FF2B5EF4-FFF2-40B4-BE49-F238E27FC236}">
                <a16:creationId xmlns:a16="http://schemas.microsoft.com/office/drawing/2014/main" id="{9CF46D4A-72C7-4E1E-916C-67C79A9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81475"/>
            <a:ext cx="3114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目标方向有注入空间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对应串行化器空闲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条件不满足则来源不出队</a:t>
            </a:r>
          </a:p>
        </p:txBody>
      </p:sp>
      <p:sp>
        <p:nvSpPr>
          <p:cNvPr id="11" name="arch-text-43">
            <a:extLst xmlns:a="http://schemas.openxmlformats.org/drawingml/2006/main">
              <a:ext uri="{FF2B5EF4-FFF2-40B4-BE49-F238E27FC236}">
                <a16:creationId xmlns:a16="http://schemas.microsoft.com/office/drawing/2014/main" id="{A2A4895E-149F-4026-BA3E-31A8AA0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启动时刻 t</a:t>
            </a:r>
          </a:p>
        </p:txBody>
      </p:sp>
      <p:sp>
        <p:nvSpPr>
          <p:cNvPr id="12" name="arch-text-44">
            <a:extLst xmlns:a="http://schemas.openxmlformats.org/drawingml/2006/main">
              <a:ext uri="{FF2B5EF4-FFF2-40B4-BE49-F238E27FC236}">
                <a16:creationId xmlns:a16="http://schemas.microsoft.com/office/drawing/2014/main" id="{4D11EB49-D9BA-47E7-A34D-0E5ABE6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81475"/>
            <a:ext cx="3333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来源队首出队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包由串行化器持有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当前方向带宽进入忙状态</a:t>
            </a:r>
          </a:p>
        </p:txBody>
      </p:sp>
      <p:sp>
        <p:nvSpPr>
          <p:cNvPr id="13" name="arch-text-45">
            <a:extLst xmlns:a="http://schemas.openxmlformats.org/drawingml/2006/main">
              <a:ext uri="{FF2B5EF4-FFF2-40B4-BE49-F238E27FC236}">
                <a16:creationId xmlns:a16="http://schemas.microsoft.com/office/drawing/2014/main" id="{1A7D9A37-FED3-4A24-9F63-33031E9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交接与带宽恢复</a:t>
            </a:r>
          </a:p>
        </p:txBody>
      </p:sp>
      <p:sp>
        <p:nvSpPr>
          <p:cNvPr id="14" name="arch-text-46">
            <a:extLst xmlns:a="http://schemas.openxmlformats.org/drawingml/2006/main">
              <a:ext uri="{FF2B5EF4-FFF2-40B4-BE49-F238E27FC236}">
                <a16:creationId xmlns:a16="http://schemas.microsoft.com/office/drawing/2014/main" id="{16CC4E6F-4D1E-4E69-B3A6-D046B88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31527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 − 1：进入目标队列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Sᵦ：换环带宽恢复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目标环首跳重新计序列化</a:t>
            </a:r>
          </a:p>
        </p:txBody>
      </p:sp>
      <p:sp>
        <p:nvSpPr>
          <p:cNvPr id="15" name="arch-line-47">
            <a:extLst xmlns:a="http://schemas.openxmlformats.org/drawingml/2006/main">
              <a:ext uri="{FF2B5EF4-FFF2-40B4-BE49-F238E27FC236}">
                <a16:creationId xmlns:a16="http://schemas.microsoft.com/office/drawing/2014/main" id="{0CD347E4-2774-429D-BCA1-48D8D23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48">
            <a:extLst xmlns:a="http://schemas.openxmlformats.org/drawingml/2006/main">
              <a:ext uri="{FF2B5EF4-FFF2-40B4-BE49-F238E27FC236}">
                <a16:creationId xmlns:a16="http://schemas.microsoft.com/office/drawing/2014/main" id="{A7EC52FA-5588-480D-817C-9CBBFE0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551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Sᵦ = max(1, ceil(P / Wᵦ))</a:t>
            </a:r>
          </a:p>
        </p:txBody>
      </p:sp>
      <p:sp>
        <p:nvSpPr>
          <p:cNvPr id="17" name="arch-text-49">
            <a:extLst xmlns:a="http://schemas.openxmlformats.org/drawingml/2006/main">
              <a:ext uri="{FF2B5EF4-FFF2-40B4-BE49-F238E27FC236}">
                <a16:creationId xmlns:a16="http://schemas.microsoft.com/office/drawing/2014/main" id="{F2AD403F-961B-401C-A8A6-FE7DC84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67425"/>
            <a:ext cx="5553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P为包字节数，Wᵦ为RBRG每周期传输字节数。</a:t>
            </a:r>
          </a:p>
        </p:txBody>
      </p:sp>
    </p:spTree>
    <p:extLst>
      <p:ext uri="{BB962C8B-B14F-4D97-AF65-F5344CB8AC3E}">
        <p14:creationId xmlns:p14="http://schemas.microsoft.com/office/powerpoint/2010/main" val="693287782"/>
      </p:ext>
    </p:extLst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F05D9B5B-F422-4E9D-A3DA-BE99D8F5FAB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包级时序：延迟与带宽分别建模</a:t>
            </a:r>
          </a:p>
        </p:txBody>
      </p:sp>
      <p:sp>
        <p:nvSpPr>
          <p:cNvPr id="3" name="txt-35">
            <a:extLst>
              <a:ext uri="{FF2B5EF4-FFF2-40B4-BE49-F238E27FC236}">
                <a16:creationId xmlns:a16="http://schemas.microsoft.com/office/drawing/2014/main" id="{82AD0238-F06F-4B0F-954A-140B01E6BD2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以包为调度单位。下列段延迟公式适用于无额外排队与仲裁等待的情况。</a:t>
            </a:r>
          </a:p>
        </p:txBody>
      </p:sp>
      <p:sp>
        <p:nvSpPr>
          <p:cNvPr id="4" name="diagram-36">
            <a:extLst>
              <a:ext uri="{FF2B5EF4-FFF2-40B4-BE49-F238E27FC236}">
                <a16:creationId xmlns:a16="http://schemas.microsoft.com/office/drawing/2014/main" id="{2EEE62C7-4483-4B99-9B2D-5914A982F3AB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txt-37">
            <a:extLst>
              <a:ext uri="{FF2B5EF4-FFF2-40B4-BE49-F238E27FC236}">
                <a16:creationId xmlns:a16="http://schemas.microsoft.com/office/drawing/2014/main" id="{294F3497-1C1B-4584-8275-1E4B30D4B5E9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Ring段内的传输流水</a:t>
            </a:r>
          </a:p>
        </p:txBody>
      </p:sp>
      <p:sp>
        <p:nvSpPr>
          <p:cNvPr id="6" name="txt-38">
            <a:extLst>
              <a:ext uri="{FF2B5EF4-FFF2-40B4-BE49-F238E27FC236}">
                <a16:creationId xmlns:a16="http://schemas.microsoft.com/office/drawing/2014/main" id="{04D67B91-3472-4BDE-8B50-AD11EAE19E6E}"/>
              </a:ext>
            </a:extLst>
          </p:cNvPr>
          <p:cNvSpPr>
            <a:spLocks noGrp="1"/>
          </p:cNvSpPr>
          <p:nvPr/>
        </p:nvSpPr>
        <p:spPr>
          <a:xfrm>
            <a:off x="19716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(S − 1) + L</a:t>
            </a:r>
          </a:p>
        </p:txBody>
      </p:sp>
      <p:sp>
        <p:nvSpPr>
          <p:cNvPr id="7" name="txt-39">
            <a:extLst>
              <a:ext uri="{FF2B5EF4-FFF2-40B4-BE49-F238E27FC236}">
                <a16:creationId xmlns:a16="http://schemas.microsoft.com/office/drawing/2014/main" id="{75E7D002-590F-4DC8-9D38-88705C79282B}"/>
              </a:ext>
            </a:extLst>
          </p:cNvPr>
          <p:cNvSpPr>
            <a:spLocks noGrp="1"/>
          </p:cNvSpPr>
          <p:nvPr/>
        </p:nvSpPr>
        <p:spPr>
          <a:xfrm>
            <a:off x="46767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后续每跳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91016AC8-ADD4-4E24-8782-05D37C3068EE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注入队列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431CAA23-3297-44E9-B88F-20263C1591CC}"/>
              </a:ext>
            </a:extLst>
          </p:cNvPr>
          <p:cNvSpPr>
            <a:spLocks noGrp="1"/>
          </p:cNvSpPr>
          <p:nvPr/>
        </p:nvSpPr>
        <p:spPr>
          <a:xfrm>
            <a:off x="191452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</p:txBody>
      </p:sp>
      <p:sp>
        <p:nvSpPr>
          <p:cNvPr id="10" name="diagram-42">
            <a:extLst>
              <a:ext uri="{FF2B5EF4-FFF2-40B4-BE49-F238E27FC236}">
                <a16:creationId xmlns:a16="http://schemas.microsoft.com/office/drawing/2014/main" id="{6B9514ED-1BFA-48E1-B46D-C044B77F0A9D}"/>
              </a:ext>
            </a:extLst>
          </p:cNvPr>
          <p:cNvSpPr>
            <a:spLocks noGrp="1"/>
          </p:cNvSpPr>
          <p:nvPr/>
        </p:nvSpPr>
        <p:spPr>
          <a:xfrm>
            <a:off x="3257550" y="2800350"/>
            <a:ext cx="1104900" cy="5619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</a:t>
            </a:r>
          </a:p>
        </p:txBody>
      </p:sp>
      <p:sp>
        <p:nvSpPr>
          <p:cNvPr id="11" name="diagram-43">
            <a:extLst>
              <a:ext uri="{FF2B5EF4-FFF2-40B4-BE49-F238E27FC236}">
                <a16:creationId xmlns:a16="http://schemas.microsoft.com/office/drawing/2014/main" id="{22C5EAD2-456F-47AA-A53C-4746E8D3A665}"/>
              </a:ext>
            </a:extLst>
          </p:cNvPr>
          <p:cNvSpPr>
            <a:spLocks noGrp="1"/>
          </p:cNvSpPr>
          <p:nvPr/>
        </p:nvSpPr>
        <p:spPr>
          <a:xfrm>
            <a:off x="460057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</p:txBody>
      </p:sp>
      <p:sp>
        <p:nvSpPr>
          <p:cNvPr id="12" name="diagram-44">
            <a:extLst>
              <a:ext uri="{FF2B5EF4-FFF2-40B4-BE49-F238E27FC236}">
                <a16:creationId xmlns:a16="http://schemas.microsoft.com/office/drawing/2014/main" id="{02A667F3-B69B-40D1-9DBE-67883F2FC482}"/>
              </a:ext>
            </a:extLst>
          </p:cNvPr>
          <p:cNvSpPr>
            <a:spLocks noGrp="1"/>
          </p:cNvSpPr>
          <p:nvPr/>
        </p:nvSpPr>
        <p:spPr>
          <a:xfrm>
            <a:off x="59436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弹出队列</a:t>
            </a:r>
          </a:p>
        </p:txBody>
      </p:sp>
      <p:cxnSp>
        <p:nvCxnSpPr>
          <p:cNvPr id="13" name="直接箭头连接符 41"/>
          <p:cNvCxnSpPr/>
          <p:nvPr/>
        </p:nvCxnSpPr>
        <p:spPr>
          <a:xfrm>
            <a:off x="1676400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直接箭头连接符 42"/>
          <p:cNvCxnSpPr/>
          <p:nvPr/>
        </p:nvCxnSpPr>
        <p:spPr>
          <a:xfrm>
            <a:off x="3019425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直接箭头连接符 43"/>
          <p:cNvCxnSpPr/>
          <p:nvPr/>
        </p:nvCxnSpPr>
        <p:spPr>
          <a:xfrm>
            <a:off x="4362450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16" name="直接箭头连接符 44"/>
          <p:cNvCxnSpPr/>
          <p:nvPr/>
        </p:nvCxnSpPr>
        <p:spPr>
          <a:xfrm>
            <a:off x="5705475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7" name="txt-45">
            <a:extLst>
              <a:ext uri="{FF2B5EF4-FFF2-40B4-BE49-F238E27FC236}">
                <a16:creationId xmlns:a16="http://schemas.microsoft.com/office/drawing/2014/main" id="{4EC595AA-A1F8-4DA4-9B94-E268579BA62D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进入新段</a:t>
            </a:r>
          </a:p>
        </p:txBody>
      </p:sp>
      <p:sp>
        <p:nvSpPr>
          <p:cNvPr id="18" name="txt-46">
            <a:extLst>
              <a:ext uri="{FF2B5EF4-FFF2-40B4-BE49-F238E27FC236}">
                <a16:creationId xmlns:a16="http://schemas.microsoft.com/office/drawing/2014/main" id="{DFC64EF5-2191-4971-93F0-7C870D64CD66}"/>
              </a:ext>
            </a:extLst>
          </p:cNvPr>
          <p:cNvSpPr>
            <a:spLocks noGrp="1"/>
          </p:cNvSpPr>
          <p:nvPr/>
        </p:nvSpPr>
        <p:spPr>
          <a:xfrm>
            <a:off x="1866900" y="350520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首跳计入序列化</a:t>
            </a:r>
          </a:p>
        </p:txBody>
      </p:sp>
      <p:sp>
        <p:nvSpPr>
          <p:cNvPr id="19" name="txt-47">
            <a:extLst>
              <a:ext uri="{FF2B5EF4-FFF2-40B4-BE49-F238E27FC236}">
                <a16:creationId xmlns:a16="http://schemas.microsoft.com/office/drawing/2014/main" id="{D95E8450-E3F7-4DB6-BACC-F680A276C764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本段后续跳仅累加传播延迟</a:t>
            </a:r>
            <a:endParaRPr sz="135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xt-48">
            <a:extLst>
              <a:ext uri="{FF2B5EF4-FFF2-40B4-BE49-F238E27FC236}">
                <a16:creationId xmlns:a16="http://schemas.microsoft.com/office/drawing/2014/main" id="{88D8FDCF-14A9-41ED-86E3-4C6AEDEAA3C2}"/>
              </a:ext>
            </a:extLst>
          </p:cNvPr>
          <p:cNvSpPr>
            <a:spLocks noGrp="1"/>
          </p:cNvSpPr>
          <p:nvPr/>
        </p:nvSpPr>
        <p:spPr>
          <a:xfrm>
            <a:off x="571500" y="40862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49F2C07D-9BC6-44A1-A27D-89CC0B29A748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包大小512字节，链路宽度128字节/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1575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1AC49BA6-EE1F-4170-8495-ADB1E83C0762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4，H = 2，L = 1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07AFFB5D-462D-474E-87BD-8A53178C7D66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段延迟 = (4 − 1) + 2 × 1 = 5周期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D58203EF-4508-4941-AB93-CC40CA6A7C9E}"/>
              </a:ext>
            </a:extLst>
          </p:cNvPr>
          <p:cNvSpPr>
            <a:spLocks noGrp="1"/>
          </p:cNvSpPr>
          <p:nvPr/>
        </p:nvSpPr>
        <p:spPr>
          <a:xfrm>
            <a:off x="7820025" y="147637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传播与序列化延迟</a:t>
            </a:r>
          </a:p>
        </p:txBody>
      </p:sp>
      <p:sp>
        <p:nvSpPr>
          <p:cNvPr id="25" name="txt-53">
            <a:extLst>
              <a:ext uri="{FF2B5EF4-FFF2-40B4-BE49-F238E27FC236}">
                <a16:creationId xmlns:a16="http://schemas.microsoft.com/office/drawing/2014/main" id="{E2F15427-200D-481C-A054-265BD8D97298}"/>
              </a:ext>
            </a:extLst>
          </p:cNvPr>
          <p:cNvSpPr>
            <a:spLocks noGrp="1"/>
          </p:cNvSpPr>
          <p:nvPr/>
        </p:nvSpPr>
        <p:spPr>
          <a:xfrm>
            <a:off x="7820025" y="1885950"/>
            <a:ext cx="3981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max(1, ceil(P / W))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T段 = (S − 1) + H × L</a:t>
            </a:r>
          </a:p>
        </p:txBody>
      </p:sp>
      <p:sp>
        <p:nvSpPr>
          <p:cNvPr id="26" name="txt-54">
            <a:extLst>
              <a:ext uri="{FF2B5EF4-FFF2-40B4-BE49-F238E27FC236}">
                <a16:creationId xmlns:a16="http://schemas.microsoft.com/office/drawing/2014/main" id="{5F8346FE-A9F0-4878-9388-D18AA671566A}"/>
              </a:ext>
            </a:extLst>
          </p:cNvPr>
          <p:cNvSpPr>
            <a:spLocks noGrp="1"/>
          </p:cNvSpPr>
          <p:nvPr/>
        </p:nvSpPr>
        <p:spPr>
          <a:xfrm>
            <a:off x="7820025" y="2667000"/>
            <a:ext cx="39814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ceil表示向上取整。P为包大小，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W为链路宽度。H为跳数，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L为单跳传播延迟。</a:t>
            </a:r>
          </a:p>
        </p:txBody>
      </p:sp>
      <p:sp>
        <p:nvSpPr>
          <p:cNvPr id="27" name="txt-55">
            <a:extLst>
              <a:ext uri="{FF2B5EF4-FFF2-40B4-BE49-F238E27FC236}">
                <a16:creationId xmlns:a16="http://schemas.microsoft.com/office/drawing/2014/main" id="{80B12A90-A89C-4D02-9F68-D044379C08E8}"/>
              </a:ext>
            </a:extLst>
          </p:cNvPr>
          <p:cNvSpPr>
            <a:spLocks noGrp="1"/>
          </p:cNvSpPr>
          <p:nvPr/>
        </p:nvSpPr>
        <p:spPr>
          <a:xfrm>
            <a:off x="7820025" y="35147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8" name="txt-56">
            <a:extLst>
              <a:ext uri="{FF2B5EF4-FFF2-40B4-BE49-F238E27FC236}">
                <a16:creationId xmlns:a16="http://schemas.microsoft.com/office/drawing/2014/main" id="{34BBB7BD-09FC-46E0-A470-D9A620B6240F}"/>
              </a:ext>
            </a:extLst>
          </p:cNvPr>
          <p:cNvSpPr>
            <a:spLocks noGrp="1"/>
          </p:cNvSpPr>
          <p:nvPr/>
        </p:nvSpPr>
        <p:spPr>
          <a:xfrm>
            <a:off x="7820025" y="3933825"/>
            <a:ext cx="3981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每条Conn仍独立占用S个周期。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序列化结束后，才能接收下一包。</a:t>
            </a:r>
          </a:p>
        </p:txBody>
      </p:sp>
      <p:sp>
        <p:nvSpPr>
          <p:cNvPr id="29" name="txt-57">
            <a:extLst>
              <a:ext uri="{FF2B5EF4-FFF2-40B4-BE49-F238E27FC236}">
                <a16:creationId xmlns:a16="http://schemas.microsoft.com/office/drawing/2014/main" id="{9C552248-B74A-42ED-A947-7200FC59DEEF}"/>
              </a:ext>
            </a:extLst>
          </p:cNvPr>
          <p:cNvSpPr>
            <a:spLocks noGrp="1"/>
          </p:cNvSpPr>
          <p:nvPr/>
        </p:nvSpPr>
        <p:spPr>
          <a:xfrm>
            <a:off x="7820025" y="485775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跨环与端点处理</a:t>
            </a:r>
          </a:p>
        </p:txBody>
      </p:sp>
      <p:sp>
        <p:nvSpPr>
          <p:cNvPr id="30" name="txt-58">
            <a:extLst>
              <a:ext uri="{FF2B5EF4-FFF2-40B4-BE49-F238E27FC236}">
                <a16:creationId xmlns:a16="http://schemas.microsoft.com/office/drawing/2014/main" id="{55CA22D0-5A9B-4586-BFFA-B5B67B4797EA}"/>
              </a:ext>
            </a:extLst>
          </p:cNvPr>
          <p:cNvSpPr>
            <a:spLocks noGrp="1"/>
          </p:cNvSpPr>
          <p:nvPr/>
        </p:nvSpPr>
        <p:spPr>
          <a:xfrm>
            <a:off x="7820025" y="5276850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换环序列化、端点处理及排队等待另计。经RBRG进入新Ring后，重新计入该段序列化。</a:t>
            </a:r>
          </a:p>
        </p:txBody>
      </p:sp>
      <p:sp>
        <p:nvSpPr>
          <p:cNvPr id="31" name="txt-59">
            <a:extLst>
              <a:ext uri="{FF2B5EF4-FFF2-40B4-BE49-F238E27FC236}">
                <a16:creationId xmlns:a16="http://schemas.microsoft.com/office/drawing/2014/main" id="{7E740AF4-E719-4E99-8FC9-00A90D9A4696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两跳算例：第二跳Reg_In在第5周期收到包。若端点另需1周期处理，则在第6周期交付。</a:t>
            </a:r>
          </a:p>
        </p:txBody>
      </p:sp>
      <p:sp>
        <p:nvSpPr>
          <p:cNvPr id="32" name="share-59">
            <a:extLst>
              <a:ext uri="{FF2B5EF4-FFF2-40B4-BE49-F238E27FC236}">
                <a16:creationId xmlns:a16="http://schemas.microsoft.com/office/drawing/2014/main" id="{A34E8F0F-736B-477F-9974-5C8401E7F90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  <p:clrMapOvr>
    <a:masterClrMapping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rch-text-50">
            <a:extLst xmlns:a="http://schemas.openxmlformats.org/drawingml/2006/main">
              <a:ext uri="{FF2B5EF4-FFF2-40B4-BE49-F238E27FC236}">
                <a16:creationId xmlns:a16="http://schemas.microsoft.com/office/drawing/2014/main" id="{E6E231AD-83F3-4BA9-8216-0D2FA4C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两包连续发送：交接时刻与带宽占用</a:t>
            </a:r>
          </a:p>
        </p:txBody>
      </p:sp>
      <p:sp>
        <p:nvSpPr>
          <p:cNvPr id="2" name="arch-text-51">
            <a:extLst xmlns:a="http://schemas.openxmlformats.org/drawingml/2006/main">
              <a:ext uri="{FF2B5EF4-FFF2-40B4-BE49-F238E27FC236}">
                <a16:creationId xmlns:a16="http://schemas.microsoft.com/office/drawing/2014/main" id="{AE7EA5E8-7764-4967-B9EC-C64C539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理想算例：每包512字节，链路128字节/周期，单跳传播1周期，无额外排队或仲裁等待。</a:t>
            </a:r>
          </a:p>
        </p:txBody>
      </p:sp>
      <p:sp>
        <p:nvSpPr>
          <p:cNvPr id="3" name="arch-text-52">
            <a:extLst xmlns:a="http://schemas.openxmlformats.org/drawingml/2006/main">
              <a:ext uri="{FF2B5EF4-FFF2-40B4-BE49-F238E27FC236}">
                <a16:creationId xmlns:a16="http://schemas.microsoft.com/office/drawing/2014/main" id="{5CD26187-56C5-4C65-859E-D3679501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arch-text-53">
            <a:extLst xmlns:a="http://schemas.openxmlformats.org/drawingml/2006/main">
              <a:ext uri="{FF2B5EF4-FFF2-40B4-BE49-F238E27FC236}">
                <a16:creationId xmlns:a16="http://schemas.microsoft.com/office/drawing/2014/main" id="{50D5C70D-8AA9-41D1-ADE2-7D7C427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0225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相对周期</a:t>
            </a:r>
          </a:p>
        </p:txBody>
      </p:sp>
      <p:sp>
        <p:nvSpPr>
          <p:cNvPr id="5" name="arch-text-54">
            <a:extLst xmlns:a="http://schemas.openxmlformats.org/drawingml/2006/main">
              <a:ext uri="{FF2B5EF4-FFF2-40B4-BE49-F238E27FC236}">
                <a16:creationId xmlns:a16="http://schemas.microsoft.com/office/drawing/2014/main" id="{0536852F-8287-4B0B-9CD3-5FE6CA6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arch-text-55">
            <a:extLst xmlns:a="http://schemas.openxmlformats.org/drawingml/2006/main">
              <a:ext uri="{FF2B5EF4-FFF2-40B4-BE49-F238E27FC236}">
                <a16:creationId xmlns:a16="http://schemas.microsoft.com/office/drawing/2014/main" id="{2F760C0F-584F-41CE-BA87-BAAB4D1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arch-text-56">
            <a:extLst xmlns:a="http://schemas.openxmlformats.org/drawingml/2006/main">
              <a:ext uri="{FF2B5EF4-FFF2-40B4-BE49-F238E27FC236}">
                <a16:creationId xmlns:a16="http://schemas.microsoft.com/office/drawing/2014/main" id="{DB5B1591-CDC1-487B-9714-A60EE37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arch-text-57">
            <a:extLst xmlns:a="http://schemas.openxmlformats.org/drawingml/2006/main">
              <a:ext uri="{FF2B5EF4-FFF2-40B4-BE49-F238E27FC236}">
                <a16:creationId xmlns:a16="http://schemas.microsoft.com/office/drawing/2014/main" id="{A0E0BB56-BA30-4E12-9F4B-3C879D4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arch-text-58">
            <a:extLst xmlns:a="http://schemas.openxmlformats.org/drawingml/2006/main">
              <a:ext uri="{FF2B5EF4-FFF2-40B4-BE49-F238E27FC236}">
                <a16:creationId xmlns:a16="http://schemas.microsoft.com/office/drawing/2014/main" id="{933184F3-EAB7-46D2-8F66-E80B8A8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arch-text-59">
            <a:extLst xmlns:a="http://schemas.openxmlformats.org/drawingml/2006/main">
              <a:ext uri="{FF2B5EF4-FFF2-40B4-BE49-F238E27FC236}">
                <a16:creationId xmlns:a16="http://schemas.microsoft.com/office/drawing/2014/main" id="{10FBADBD-20C6-416E-9C4E-9F1CFE5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arch-text-60">
            <a:extLst xmlns:a="http://schemas.openxmlformats.org/drawingml/2006/main">
              <a:ext uri="{FF2B5EF4-FFF2-40B4-BE49-F238E27FC236}">
                <a16:creationId xmlns:a16="http://schemas.microsoft.com/office/drawing/2014/main" id="{CCA5A461-8DC4-487F-ABC2-D021A1D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2" name="arch-text-61">
            <a:extLst xmlns:a="http://schemas.openxmlformats.org/drawingml/2006/main">
              <a:ext uri="{FF2B5EF4-FFF2-40B4-BE49-F238E27FC236}">
                <a16:creationId xmlns:a16="http://schemas.microsoft.com/office/drawing/2014/main" id="{668035E1-8E81-4AE7-BCF9-E0616E0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" name="arch-text-62">
            <a:extLst xmlns:a="http://schemas.openxmlformats.org/drawingml/2006/main">
              <a:ext uri="{FF2B5EF4-FFF2-40B4-BE49-F238E27FC236}">
                <a16:creationId xmlns:a16="http://schemas.microsoft.com/office/drawing/2014/main" id="{3F88FF8D-CFEE-4C3A-A4EC-AADD3EB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4" name="arch-text-63">
            <a:extLst xmlns:a="http://schemas.openxmlformats.org/drawingml/2006/main">
              <a:ext uri="{FF2B5EF4-FFF2-40B4-BE49-F238E27FC236}">
                <a16:creationId xmlns:a16="http://schemas.microsoft.com/office/drawing/2014/main" id="{5CDBB801-64FE-45FC-BE85-A0914DE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arch-text-64">
            <a:extLst xmlns:a="http://schemas.openxmlformats.org/drawingml/2006/main">
              <a:ext uri="{FF2B5EF4-FFF2-40B4-BE49-F238E27FC236}">
                <a16:creationId xmlns:a16="http://schemas.microsoft.com/office/drawing/2014/main" id="{20298BDF-8865-413E-A885-ECCE20F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6" name="arch-text-65">
            <a:extLst xmlns:a="http://schemas.openxmlformats.org/drawingml/2006/main">
              <a:ext uri="{FF2B5EF4-FFF2-40B4-BE49-F238E27FC236}">
                <a16:creationId xmlns:a16="http://schemas.microsoft.com/office/drawing/2014/main" id="{29D72786-B047-415D-8CBB-F057838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arch-text-66">
            <a:extLst xmlns:a="http://schemas.openxmlformats.org/drawingml/2006/main">
              <a:ext uri="{FF2B5EF4-FFF2-40B4-BE49-F238E27FC236}">
                <a16:creationId xmlns:a16="http://schemas.microsoft.com/office/drawing/2014/main" id="{2120D145-B0D8-4F94-8F9E-7EE5081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8" name="arch-line-67">
            <a:extLst xmlns:a="http://schemas.openxmlformats.org/drawingml/2006/main">
              <a:ext uri="{FF2B5EF4-FFF2-40B4-BE49-F238E27FC236}">
                <a16:creationId xmlns:a16="http://schemas.microsoft.com/office/drawing/2014/main" id="{1C452747-9435-4946-A4BE-3901FE3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0275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9" name="arch-text-68">
            <a:extLst xmlns:a="http://schemas.openxmlformats.org/drawingml/2006/main">
              <a:ext uri="{FF2B5EF4-FFF2-40B4-BE49-F238E27FC236}">
                <a16:creationId xmlns:a16="http://schemas.microsoft.com/office/drawing/2014/main" id="{3EDD5689-D292-4DB1-975E-70C0EBD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0" name="arch-diagram-69">
            <a:extLst xmlns:a="http://schemas.openxmlformats.org/drawingml/2006/main">
              <a:ext uri="{FF2B5EF4-FFF2-40B4-BE49-F238E27FC236}">
                <a16:creationId xmlns:a16="http://schemas.microsoft.com/office/drawing/2014/main" id="{C790F7CD-A8AF-4F27-92C6-6FE7526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1" name="arch-diagram-70">
            <a:extLst xmlns:a="http://schemas.openxmlformats.org/drawingml/2006/main">
              <a:ext uri="{FF2B5EF4-FFF2-40B4-BE49-F238E27FC236}">
                <a16:creationId xmlns:a16="http://schemas.microsoft.com/office/drawing/2014/main" id="{E0C54B31-3893-44F9-9051-EC1323A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2" name="arch-text-71">
            <a:extLst xmlns:a="http://schemas.openxmlformats.org/drawingml/2006/main">
              <a:ext uri="{FF2B5EF4-FFF2-40B4-BE49-F238E27FC236}">
                <a16:creationId xmlns:a16="http://schemas.microsoft.com/office/drawing/2014/main" id="{C53E48EE-2428-49CE-819C-D5D67C6D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3" name="arch-diagram-72">
            <a:extLst xmlns:a="http://schemas.openxmlformats.org/drawingml/2006/main">
              <a:ext uri="{FF2B5EF4-FFF2-40B4-BE49-F238E27FC236}">
                <a16:creationId xmlns:a16="http://schemas.microsoft.com/office/drawing/2014/main" id="{BD4FD0DC-E68A-48B2-AD8A-C2D7EA2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4" name="arch-diagram-73">
            <a:extLst xmlns:a="http://schemas.openxmlformats.org/drawingml/2006/main">
              <a:ext uri="{FF2B5EF4-FFF2-40B4-BE49-F238E27FC236}">
                <a16:creationId xmlns:a16="http://schemas.microsoft.com/office/drawing/2014/main" id="{AD86CA60-4CB9-4AC2-84C7-8CEA7CB6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5" name="arch-text-74">
            <a:extLst xmlns:a="http://schemas.openxmlformats.org/drawingml/2006/main">
              <a:ext uri="{FF2B5EF4-FFF2-40B4-BE49-F238E27FC236}">
                <a16:creationId xmlns:a16="http://schemas.microsoft.com/office/drawing/2014/main" id="{3A4C632F-3CDD-405A-98D0-01FBB79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1838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第二跳输入可见</a:t>
            </a:r>
          </a:p>
        </p:txBody>
      </p:sp>
      <p:sp>
        <p:nvSpPr>
          <p:cNvPr id="26" name="arch-text-75">
            <a:extLst xmlns:a="http://schemas.openxmlformats.org/drawingml/2006/main">
              <a:ext uri="{FF2B5EF4-FFF2-40B4-BE49-F238E27FC236}">
                <a16:creationId xmlns:a16="http://schemas.microsoft.com/office/drawing/2014/main" id="{8DC254E1-04C6-4664-9514-3C1FB2E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131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A：t=5</a:t>
            </a:r>
          </a:p>
        </p:txBody>
      </p:sp>
      <p:sp>
        <p:nvSpPr>
          <p:cNvPr id="27" name="arch-text-76">
            <a:extLst xmlns:a="http://schemas.openxmlformats.org/drawingml/2006/main">
              <a:ext uri="{FF2B5EF4-FFF2-40B4-BE49-F238E27FC236}">
                <a16:creationId xmlns:a16="http://schemas.microsoft.com/office/drawing/2014/main" id="{4EFE6654-0F01-4CE0-A2E1-C022BEC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9585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B：t=9</a:t>
            </a:r>
          </a:p>
        </p:txBody>
      </p:sp>
      <p:sp>
        <p:nvSpPr>
          <p:cNvPr id="28" name="arch-line-77">
            <a:extLst xmlns:a="http://schemas.openxmlformats.org/drawingml/2006/main">
              <a:ext uri="{FF2B5EF4-FFF2-40B4-BE49-F238E27FC236}">
                <a16:creationId xmlns:a16="http://schemas.microsoft.com/office/drawing/2014/main" id="{5E5EB1D4-45D2-4336-93D8-B7EEA8A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435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9" name="arch-text-78">
            <a:extLst xmlns:a="http://schemas.openxmlformats.org/drawingml/2006/main">
              <a:ext uri="{FF2B5EF4-FFF2-40B4-BE49-F238E27FC236}">
                <a16:creationId xmlns:a16="http://schemas.microsoft.com/office/drawing/2014/main" id="{AD8ADB2E-B4F9-4995-9250-F472701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38825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包A在第5周期到达第二跳输入，但Conn 1仍忙到第8周期。</a:t>
            </a:r>
          </a:p>
        </p:txBody>
      </p:sp>
      <p:sp>
        <p:nvSpPr>
          <p:cNvPr id="30" name="arch-text-79">
            <a:extLst xmlns:a="http://schemas.openxmlformats.org/drawingml/2006/main">
              <a:ext uri="{FF2B5EF4-FFF2-40B4-BE49-F238E27FC236}">
                <a16:creationId xmlns:a16="http://schemas.microsoft.com/office/drawing/2014/main" id="{17FFB85F-57E4-482B-846D-41398EA6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31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模型分别记录包交接延迟和链路带宽占用。端点消费及实际排队等待需另外计入。</a:t>
            </a:r>
          </a:p>
        </p:txBody>
      </p:sp>
    </p:spTree>
    <p:extLst>
      <p:ext uri="{BB962C8B-B14F-4D97-AF65-F5344CB8AC3E}">
        <p14:creationId xmlns:p14="http://schemas.microsoft.com/office/powerpoint/2010/main" val="756155258"/>
      </p:ext>
    </p:extLst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443CAE52-439A-4E08-BCB0-6C1BB3F3F1D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存储侧建模：事务、返回与后端约束</a:t>
            </a:r>
          </a:p>
        </p:txBody>
      </p:sp>
      <p:sp>
        <p:nvSpPr>
          <p:cNvPr id="3" name="diagram-35">
            <a:extLst>
              <a:ext uri="{FF2B5EF4-FFF2-40B4-BE49-F238E27FC236}">
                <a16:creationId xmlns:a16="http://schemas.microsoft.com/office/drawing/2014/main" id="{0DA3E488-CB85-4FA4-954F-5E3FDC2A36B8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22574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6">
            <a:extLst>
              <a:ext uri="{FF2B5EF4-FFF2-40B4-BE49-F238E27FC236}">
                <a16:creationId xmlns:a16="http://schemas.microsoft.com/office/drawing/2014/main" id="{DE7C0494-4534-4A8F-8CB2-3259415A279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目标存储访问层次</a:t>
            </a:r>
          </a:p>
        </p:txBody>
      </p:sp>
      <p:sp>
        <p:nvSpPr>
          <p:cNvPr id="5" name="diagram-37">
            <a:extLst>
              <a:ext uri="{FF2B5EF4-FFF2-40B4-BE49-F238E27FC236}">
                <a16:creationId xmlns:a16="http://schemas.microsoft.com/office/drawing/2014/main" id="{F61B261B-A069-4C13-B70E-6CE9F1D3E0C1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8667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REQ／DAT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6" name="diagram-38">
            <a:extLst>
              <a:ext uri="{FF2B5EF4-FFF2-40B4-BE49-F238E27FC236}">
                <a16:creationId xmlns:a16="http://schemas.microsoft.com/office/drawing/2014/main" id="{C35195BF-50A5-4B07-B7DF-04DFB7D722A8}"/>
              </a:ext>
            </a:extLst>
          </p:cNvPr>
          <p:cNvSpPr>
            <a:spLocks noGrp="1"/>
          </p:cNvSpPr>
          <p:nvPr/>
        </p:nvSpPr>
        <p:spPr>
          <a:xfrm>
            <a:off x="1724025" y="2085975"/>
            <a:ext cx="1000125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请求合并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冲突保护</a:t>
            </a:r>
          </a:p>
        </p:txBody>
      </p:sp>
      <p:sp>
        <p:nvSpPr>
          <p:cNvPr id="7" name="diagram-39">
            <a:extLst>
              <a:ext uri="{FF2B5EF4-FFF2-40B4-BE49-F238E27FC236}">
                <a16:creationId xmlns:a16="http://schemas.microsoft.com/office/drawing/2014/main" id="{EF500E8E-CCAE-44EA-B2CF-8CD4510454FE}"/>
              </a:ext>
            </a:extLst>
          </p:cNvPr>
          <p:cNvSpPr>
            <a:spLocks noGrp="1"/>
          </p:cNvSpPr>
          <p:nvPr/>
        </p:nvSpPr>
        <p:spPr>
          <a:xfrm>
            <a:off x="3009900" y="2085975"/>
            <a:ext cx="1190625" cy="9620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目标L2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标记／数据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替换／回填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8B4EE3C9-67FF-46D3-828F-B5CF6EE0BD04}"/>
              </a:ext>
            </a:extLst>
          </p:cNvPr>
          <p:cNvSpPr>
            <a:spLocks noGrp="1"/>
          </p:cNvSpPr>
          <p:nvPr/>
        </p:nvSpPr>
        <p:spPr>
          <a:xfrm>
            <a:off x="4476750" y="2085975"/>
            <a:ext cx="1257300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HBM控制器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调度／带宽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在途额度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812A909A-36B8-4801-8717-AAECA41159C4}"/>
              </a:ext>
            </a:extLst>
          </p:cNvPr>
          <p:cNvSpPr>
            <a:spLocks noGrp="1"/>
          </p:cNvSpPr>
          <p:nvPr/>
        </p:nvSpPr>
        <p:spPr>
          <a:xfrm>
            <a:off x="6029325" y="2085975"/>
            <a:ext cx="12096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存储阵列</a:t>
            </a:r>
          </a:p>
        </p:txBody>
      </p:sp>
      <p:cxnSp>
        <p:nvCxnSpPr>
          <p:cNvPr id="10" name="直接箭头连接符 37"/>
          <p:cNvCxnSpPr/>
          <p:nvPr/>
        </p:nvCxnSpPr>
        <p:spPr>
          <a:xfrm>
            <a:off x="1438275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38"/>
          <p:cNvCxnSpPr/>
          <p:nvPr/>
        </p:nvCxnSpPr>
        <p:spPr>
          <a:xfrm>
            <a:off x="2724150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39"/>
          <p:cNvCxnSpPr/>
          <p:nvPr/>
        </p:nvCxnSpPr>
        <p:spPr>
          <a:xfrm>
            <a:off x="4200525" y="2566988"/>
            <a:ext cx="2762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40"/>
          <p:cNvCxnSpPr/>
          <p:nvPr/>
        </p:nvCxnSpPr>
        <p:spPr>
          <a:xfrm>
            <a:off x="5734050" y="2566988"/>
            <a:ext cx="29527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42">
            <a:extLst>
              <a:ext uri="{FF2B5EF4-FFF2-40B4-BE49-F238E27FC236}">
                <a16:creationId xmlns:a16="http://schemas.microsoft.com/office/drawing/2014/main" id="{E2E64EB8-302C-4BB0-9487-36044051C065}"/>
              </a:ext>
            </a:extLst>
          </p:cNvPr>
          <p:cNvSpPr>
            <a:spLocks noGrp="1"/>
          </p:cNvSpPr>
          <p:nvPr/>
        </p:nvSpPr>
        <p:spPr>
          <a:xfrm>
            <a:off x="2286000" y="1800225"/>
            <a:ext cx="3619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请求／未命中访问</a:t>
            </a:r>
          </a:p>
        </p:txBody>
      </p:sp>
      <p:sp>
        <p:nvSpPr>
          <p:cNvPr id="15" name="txt-43">
            <a:extLst>
              <a:ext uri="{FF2B5EF4-FFF2-40B4-BE49-F238E27FC236}">
                <a16:creationId xmlns:a16="http://schemas.microsoft.com/office/drawing/2014/main" id="{213F876B-ED7D-4AA7-94D7-21D0B00EF8F5}"/>
              </a:ext>
            </a:extLst>
          </p:cNvPr>
          <p:cNvSpPr>
            <a:spLocks noGrp="1"/>
          </p:cNvSpPr>
          <p:nvPr/>
        </p:nvSpPr>
        <p:spPr>
          <a:xfrm>
            <a:off x="1695450" y="3190875"/>
            <a:ext cx="5372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数据返回并回填L2，命中时无需访问HBM</a:t>
            </a:r>
          </a:p>
        </p:txBody>
      </p:sp>
      <p:sp>
        <p:nvSpPr>
          <p:cNvPr id="16" name="diagram-44">
            <a:extLst>
              <a:ext uri="{FF2B5EF4-FFF2-40B4-BE49-F238E27FC236}">
                <a16:creationId xmlns:a16="http://schemas.microsoft.com/office/drawing/2014/main" id="{81F4E932-1583-41A9-8E9D-EF6636205E51}"/>
              </a:ext>
            </a:extLst>
          </p:cNvPr>
          <p:cNvSpPr>
            <a:spLocks noGrp="1"/>
          </p:cNvSpPr>
          <p:nvPr/>
        </p:nvSpPr>
        <p:spPr>
          <a:xfrm>
            <a:off x="381000" y="3781425"/>
            <a:ext cx="7048500" cy="22669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7" name="txt-45">
            <a:extLst>
              <a:ext uri="{FF2B5EF4-FFF2-40B4-BE49-F238E27FC236}">
                <a16:creationId xmlns:a16="http://schemas.microsoft.com/office/drawing/2014/main" id="{D2AFB695-D104-4DBA-96A7-934D4FC9372E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当前ESL模型的功能划分</a:t>
            </a:r>
          </a:p>
        </p:txBody>
      </p:sp>
      <p:sp>
        <p:nvSpPr>
          <p:cNvPr id="18" name="diagram-46">
            <a:extLst>
              <a:ext uri="{FF2B5EF4-FFF2-40B4-BE49-F238E27FC236}">
                <a16:creationId xmlns:a16="http://schemas.microsoft.com/office/drawing/2014/main" id="{A0B12DF7-4AC3-4D56-BCAC-B87125895BE5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952625" cy="4191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HA事务管理</a:t>
            </a:r>
          </a:p>
        </p:txBody>
      </p:sp>
      <p:sp>
        <p:nvSpPr>
          <p:cNvPr id="19" name="diagram-47">
            <a:extLst>
              <a:ext uri="{FF2B5EF4-FFF2-40B4-BE49-F238E27FC236}">
                <a16:creationId xmlns:a16="http://schemas.microsoft.com/office/drawing/2014/main" id="{44FCE687-571A-4299-B34D-14F3AB09D68C}"/>
              </a:ext>
            </a:extLst>
          </p:cNvPr>
          <p:cNvSpPr>
            <a:spLocks noGrp="1"/>
          </p:cNvSpPr>
          <p:nvPr/>
        </p:nvSpPr>
        <p:spPr>
          <a:xfrm>
            <a:off x="2924175" y="4438650"/>
            <a:ext cx="1952625" cy="4191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20" name="diagram-48">
            <a:extLst>
              <a:ext uri="{FF2B5EF4-FFF2-40B4-BE49-F238E27FC236}">
                <a16:creationId xmlns:a16="http://schemas.microsoft.com/office/drawing/2014/main" id="{1FCFC761-3203-45B7-8857-26A5AE1D84B0}"/>
              </a:ext>
            </a:extLst>
          </p:cNvPr>
          <p:cNvSpPr>
            <a:spLocks noGrp="1"/>
          </p:cNvSpPr>
          <p:nvPr/>
        </p:nvSpPr>
        <p:spPr>
          <a:xfrm>
            <a:off x="5276850" y="4438650"/>
            <a:ext cx="1952625" cy="4191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TmMem后端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D221D84E-B9A2-4A61-BB5F-42CA1E574A0B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合并同缓存行请求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维护等待与在途状态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保护同地址写冲突</a:t>
            </a: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AACBC914-2918-49F4-B7AB-E57FB00CD555}"/>
              </a:ext>
            </a:extLst>
          </p:cNvPr>
          <p:cNvSpPr>
            <a:spLocks noGrp="1"/>
          </p:cNvSpPr>
          <p:nvPr/>
        </p:nvSpPr>
        <p:spPr>
          <a:xfrm>
            <a:off x="2924175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暂存完成数据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控制返回延迟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单播、多播与分段返回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5449B677-5A75-400E-A175-CB7FC0EAF1DF}"/>
              </a:ext>
            </a:extLst>
          </p:cNvPr>
          <p:cNvSpPr>
            <a:spLocks noGrp="1"/>
          </p:cNvSpPr>
          <p:nvPr/>
        </p:nvSpPr>
        <p:spPr>
          <a:xfrm>
            <a:off x="527685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执行功能数据存取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模拟读写延迟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约束带宽和在途额度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F8BD88DA-DC76-4F4B-A62E-D5D5A6A292D2}"/>
              </a:ext>
            </a:extLst>
          </p:cNvPr>
          <p:cNvSpPr>
            <a:spLocks noGrp="1"/>
          </p:cNvSpPr>
          <p:nvPr/>
        </p:nvSpPr>
        <p:spPr>
          <a:xfrm>
            <a:off x="7820025" y="137160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HA：请求合并与冲突保护</a:t>
            </a:r>
          </a:p>
        </p:txBody>
      </p:sp>
      <p:sp>
        <p:nvSpPr>
          <p:cNvPr id="25" name="bullet-list-54">
            <a:extLst>
              <a:ext uri="{FF2B5EF4-FFF2-40B4-BE49-F238E27FC236}">
                <a16:creationId xmlns:a16="http://schemas.microsoft.com/office/drawing/2014/main" id="{1970EFCE-5E7B-4842-A570-AFF350DE5D29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HA合并兼容的同缓存行读请求，共享后端读取结果。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同缓存行存在未完成写事务时，后续读等待冲突解除。</a:t>
            </a:r>
          </a:p>
        </p:txBody>
      </p:sp>
      <p:sp>
        <p:nvSpPr>
          <p:cNvPr id="26" name="txt-55">
            <a:extLst>
              <a:ext uri="{FF2B5EF4-FFF2-40B4-BE49-F238E27FC236}">
                <a16:creationId xmlns:a16="http://schemas.microsoft.com/office/drawing/2014/main" id="{7FCCA666-7C9A-414D-A806-B43683FD75EA}"/>
              </a:ext>
            </a:extLst>
          </p:cNvPr>
          <p:cNvSpPr>
            <a:spLocks noGrp="1"/>
          </p:cNvSpPr>
          <p:nvPr/>
        </p:nvSpPr>
        <p:spPr>
          <a:xfrm>
            <a:off x="7820025" y="31813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L2：命中与返回组织</a:t>
            </a:r>
          </a:p>
        </p:txBody>
      </p:sp>
      <p:sp>
        <p:nvSpPr>
          <p:cNvPr id="27" name="bullet-list-57">
            <a:extLst>
              <a:ext uri="{FF2B5EF4-FFF2-40B4-BE49-F238E27FC236}">
                <a16:creationId xmlns:a16="http://schemas.microsoft.com/office/drawing/2014/main" id="{D2763EFA-F3D0-45E7-88CF-33C01F516733}"/>
              </a:ext>
            </a:extLst>
          </p:cNvPr>
          <p:cNvSpPr>
            <a:spLocks noGrp="1"/>
          </p:cNvSpPr>
          <p:nvPr/>
        </p:nvSpPr>
        <p:spPr>
          <a:xfrm>
            <a:off x="7820025" y="3600450"/>
            <a:ext cx="398145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目标架构命中直接返回，未命中访问后端并回填。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当前命中采用配置模拟，L2 Buffer负责数据暂存和分发。</a:t>
            </a:r>
          </a:p>
        </p:txBody>
      </p:sp>
      <p:sp>
        <p:nvSpPr>
          <p:cNvPr id="28" name="txt-58">
            <a:extLst>
              <a:ext uri="{FF2B5EF4-FFF2-40B4-BE49-F238E27FC236}">
                <a16:creationId xmlns:a16="http://schemas.microsoft.com/office/drawing/2014/main" id="{64A353A2-A933-4949-B4C0-3158AAA033A9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TmMem：后端约束</a:t>
            </a:r>
          </a:p>
        </p:txBody>
      </p:sp>
      <p:sp>
        <p:nvSpPr>
          <p:cNvPr id="29" name="txt-59">
            <a:extLst>
              <a:ext uri="{FF2B5EF4-FFF2-40B4-BE49-F238E27FC236}">
                <a16:creationId xmlns:a16="http://schemas.microsoft.com/office/drawing/2014/main" id="{FB57479F-5A19-485B-A2F1-07C0A0551AEC}"/>
              </a:ext>
            </a:extLst>
          </p:cNvPr>
          <p:cNvSpPr>
            <a:spLocks noGrp="1"/>
          </p:cNvSpPr>
          <p:nvPr/>
        </p:nvSpPr>
        <p:spPr>
          <a:xfrm>
            <a:off x="7820025" y="5629275"/>
            <a:ext cx="3981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统一模拟HBM／DRAM后端，提供可配置的队列、带宽、读写延迟和在途请求额度。</a:t>
            </a:r>
          </a:p>
        </p:txBody>
      </p:sp>
      <p:sp>
        <p:nvSpPr>
          <p:cNvPr id="30" name="txt-60">
            <a:extLst>
              <a:ext uri="{FF2B5EF4-FFF2-40B4-BE49-F238E27FC236}">
                <a16:creationId xmlns:a16="http://schemas.microsoft.com/office/drawing/2014/main" id="{37676622-5D0D-44BC-A4DD-D21A4414DB6B}"/>
              </a:ext>
            </a:extLst>
          </p:cNvPr>
          <p:cNvSpPr>
            <a:spLocks noGrp="1"/>
          </p:cNvSpPr>
          <p:nvPr/>
        </p:nvSpPr>
        <p:spPr>
          <a:xfrm>
            <a:off x="381000" y="6248400"/>
            <a:ext cx="704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建模边界：保留事务与性能约束，缓存命中和存储后端采用参数化近似。</a:t>
            </a:r>
          </a:p>
        </p:txBody>
      </p:sp>
      <p:sp>
        <p:nvSpPr>
          <p:cNvPr id="31" name="share-60">
            <a:extLst>
              <a:ext uri="{FF2B5EF4-FFF2-40B4-BE49-F238E27FC236}">
                <a16:creationId xmlns:a16="http://schemas.microsoft.com/office/drawing/2014/main" id="{E2064112-C711-45F2-9F95-CC4F4081CD5F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80">
            <a:extLst xmlns:a="http://schemas.openxmlformats.org/drawingml/2006/main">
              <a:ext uri="{FF2B5EF4-FFF2-40B4-BE49-F238E27FC236}">
                <a16:creationId xmlns:a16="http://schemas.microsoft.com/office/drawing/2014/main" id="{9F94D30A-D27B-487F-B2D5-49F47BD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HA读合并：查找表与等待请求的生命周期</a:t>
            </a:r>
          </a:p>
        </p:txBody>
      </p:sp>
      <p:sp>
        <p:nvSpPr>
          <p:cNvPr id="2" name="arch-text-81">
            <a:extLst xmlns:a="http://schemas.openxmlformats.org/drawingml/2006/main">
              <a:ext uri="{FF2B5EF4-FFF2-40B4-BE49-F238E27FC236}">
                <a16:creationId xmlns:a16="http://schemas.microsoft.com/office/drawing/2014/main" id="{074ECDCC-41E2-4205-B4F5-B8E8080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当前实现按缓存行基地址匹配活跃读事务，每个等待请求保留自己的地址偏移和返回信息。</a:t>
            </a:r>
          </a:p>
        </p:txBody>
      </p:sp>
      <p:sp>
        <p:nvSpPr>
          <p:cNvPr id="3" name="arch-text-82">
            <a:extLst xmlns:a="http://schemas.openxmlformats.org/drawingml/2006/main">
              <a:ext uri="{FF2B5EF4-FFF2-40B4-BE49-F238E27FC236}">
                <a16:creationId xmlns:a16="http://schemas.microsoft.com/office/drawing/2014/main" id="{E61ECFCF-D538-44A7-9139-7FD9481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arch-text-83">
            <a:extLst xmlns:a="http://schemas.openxmlformats.org/drawingml/2006/main">
              <a:ext uri="{FF2B5EF4-FFF2-40B4-BE49-F238E27FC236}">
                <a16:creationId xmlns:a16="http://schemas.microsoft.com/office/drawing/2014/main" id="{37A50B8B-49D9-4782-93B6-FFB44F19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同一缓存行A的请求时间线</a:t>
            </a:r>
          </a:p>
        </p:txBody>
      </p:sp>
      <p:sp>
        <p:nvSpPr>
          <p:cNvPr id="5" name="arch-text-84">
            <a:extLst xmlns:a="http://schemas.openxmlformats.org/drawingml/2006/main">
              <a:ext uri="{FF2B5EF4-FFF2-40B4-BE49-F238E27FC236}">
                <a16:creationId xmlns:a16="http://schemas.microsoft.com/office/drawing/2014/main" id="{632EA8C5-708E-4448-A543-845E04E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建立事务</a:t>
            </a:r>
          </a:p>
        </p:txBody>
      </p:sp>
      <p:sp>
        <p:nvSpPr>
          <p:cNvPr id="6" name="arch-diagram-85">
            <a:extLst xmlns:a="http://schemas.openxmlformats.org/drawingml/2006/main">
              <a:ext uri="{FF2B5EF4-FFF2-40B4-BE49-F238E27FC236}">
                <a16:creationId xmlns:a16="http://schemas.microsoft.com/office/drawing/2014/main" id="{EAF875A1-FC21-4B79-9271-5EEE11C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M0读A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等待列表：[M0]</a:t>
            </a:r>
          </a:p>
        </p:txBody>
      </p:sp>
      <p:sp>
        <p:nvSpPr>
          <p:cNvPr id="7" name="arch-text-86">
            <a:extLst xmlns:a="http://schemas.openxmlformats.org/drawingml/2006/main">
              <a:ext uri="{FF2B5EF4-FFF2-40B4-BE49-F238E27FC236}">
                <a16:creationId xmlns:a16="http://schemas.microsoft.com/office/drawing/2014/main" id="{55C21DFA-445C-4ED9-B3AB-37C88A0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等待后端</a:t>
            </a:r>
          </a:p>
        </p:txBody>
      </p:sp>
      <p:sp>
        <p:nvSpPr>
          <p:cNvPr id="8" name="arch-diagram-87">
            <a:extLst xmlns:a="http://schemas.openxmlformats.org/drawingml/2006/main">
              <a:ext uri="{FF2B5EF4-FFF2-40B4-BE49-F238E27FC236}">
                <a16:creationId xmlns:a16="http://schemas.microsoft.com/office/drawing/2014/main" id="{0FD544D7-ABD1-4111-96E0-2BC53CC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列表：[M0, M1]</a:t>
            </a:r>
          </a:p>
        </p:txBody>
      </p:sp>
      <p:sp>
        <p:nvSpPr>
          <p:cNvPr id="9" name="arch-text-88">
            <a:extLst xmlns:a="http://schemas.openxmlformats.org/drawingml/2006/main">
              <a:ext uri="{FF2B5EF4-FFF2-40B4-BE49-F238E27FC236}">
                <a16:creationId xmlns:a16="http://schemas.microsoft.com/office/drawing/2014/main" id="{ACB1F7BC-FFAB-4051-930D-A7BA447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后端在途</a:t>
            </a:r>
          </a:p>
        </p:txBody>
      </p:sp>
      <p:sp>
        <p:nvSpPr>
          <p:cNvPr id="10" name="arch-diagram-89">
            <a:extLst xmlns:a="http://schemas.openxmlformats.org/drawingml/2006/main">
              <a:ext uri="{FF2B5EF4-FFF2-40B4-BE49-F238E27FC236}">
                <a16:creationId xmlns:a16="http://schemas.microsoft.com/office/drawing/2014/main" id="{2585720A-9AA5-4D20-B7E0-B58D5F2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共享本次读取</a:t>
            </a:r>
          </a:p>
        </p:txBody>
      </p:sp>
      <p:sp>
        <p:nvSpPr>
          <p:cNvPr id="11" name="arch-text-90">
            <a:extLst xmlns:a="http://schemas.openxmlformats.org/drawingml/2006/main">
              <a:ext uri="{FF2B5EF4-FFF2-40B4-BE49-F238E27FC236}">
                <a16:creationId xmlns:a16="http://schemas.microsoft.com/office/drawing/2014/main" id="{13A21DE5-19BF-466F-AEBF-A927B2D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组织响应</a:t>
            </a:r>
          </a:p>
        </p:txBody>
      </p:sp>
      <p:sp>
        <p:nvSpPr>
          <p:cNvPr id="12" name="arch-diagram-91">
            <a:extLst xmlns:a="http://schemas.openxmlformats.org/drawingml/2006/main">
              <a:ext uri="{FF2B5EF4-FFF2-40B4-BE49-F238E27FC236}">
                <a16:creationId xmlns:a16="http://schemas.microsoft.com/office/drawing/2014/main" id="{4630DF50-1CFD-4B42-8003-5794813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向L2提交接收端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71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292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86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6" name="arch-text-92">
            <a:extLst xmlns:a="http://schemas.openxmlformats.org/drawingml/2006/main">
              <a:ext uri="{FF2B5EF4-FFF2-40B4-BE49-F238E27FC236}">
                <a16:creationId xmlns:a16="http://schemas.microsoft.com/office/drawing/2014/main" id="{14930810-D4CF-4D51-9022-F3EF02A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197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首笔请求可立即参与后端调度</a:t>
            </a:r>
          </a:p>
        </p:txBody>
      </p:sp>
      <p:sp>
        <p:nvSpPr>
          <p:cNvPr id="17" name="arch-text-93">
            <a:extLst xmlns:a="http://schemas.openxmlformats.org/drawingml/2006/main">
              <a:ext uri="{FF2B5EF4-FFF2-40B4-BE49-F238E27FC236}">
                <a16:creationId xmlns:a16="http://schemas.microsoft.com/office/drawing/2014/main" id="{50CB6E1B-D980-4BD2-AF94-2A031D3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76800"/>
            <a:ext cx="5438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合并发生在事务尚可接纳请求期间。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后端提交成功后进入在途状态，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返回的数据供多个等待请求共享。</a:t>
            </a:r>
          </a:p>
        </p:txBody>
      </p:sp>
      <p:sp>
        <p:nvSpPr>
          <p:cNvPr id="18" name="arch-text-94">
            <a:extLst xmlns:a="http://schemas.openxmlformats.org/drawingml/2006/main">
              <a:ext uri="{FF2B5EF4-FFF2-40B4-BE49-F238E27FC236}">
                <a16:creationId xmlns:a16="http://schemas.microsoft.com/office/drawing/2014/main" id="{8718D30A-D6BD-401D-9B9F-B2588CF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550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响应开始后也需要明确关闭边界</a:t>
            </a:r>
          </a:p>
        </p:txBody>
      </p:sp>
      <p:sp>
        <p:nvSpPr>
          <p:cNvPr id="19" name="arch-text-95">
            <a:extLst xmlns:a="http://schemas.openxmlformats.org/drawingml/2006/main">
              <a:ext uri="{FF2B5EF4-FFF2-40B4-BE49-F238E27FC236}">
                <a16:creationId xmlns:a16="http://schemas.microsoft.com/office/drawing/2014/main" id="{1F4ABB91-AAB7-43B5-8CDF-5BDD2D3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5505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L2确定接收端集合并反馈后，HA关闭合并。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表项满、等待列表满或合并已关闭时，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入口保留请求并在后续重试。</a:t>
            </a:r>
          </a:p>
        </p:txBody>
      </p:sp>
      <p:sp>
        <p:nvSpPr>
          <p:cNvPr id="20" name="arch-text-96">
            <a:extLst xmlns:a="http://schemas.openxmlformats.org/drawingml/2006/main">
              <a:ext uri="{FF2B5EF4-FFF2-40B4-BE49-F238E27FC236}">
                <a16:creationId xmlns:a16="http://schemas.microsoft.com/office/drawing/2014/main" id="{B71BF3FC-308C-44B4-9423-FE6EA66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合并期间仍检查同缓存行写冲突。跨缓存行请求不进入这条完整行合并路径。</a:t>
            </a:r>
          </a:p>
        </p:txBody>
      </p:sp>
    </p:spTree>
    <p:extLst>
      <p:ext uri="{BB962C8B-B14F-4D97-AF65-F5344CB8AC3E}">
        <p14:creationId xmlns:p14="http://schemas.microsoft.com/office/powerpoint/2010/main" val="14786976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rch-text-97">
            <a:extLst xmlns:a="http://schemas.openxmlformats.org/drawingml/2006/main">
              <a:ext uri="{FF2B5EF4-FFF2-40B4-BE49-F238E27FC236}">
                <a16:creationId xmlns:a16="http://schemas.microsoft.com/office/drawing/2014/main" id="{0AFAEB37-D171-461F-ACC1-1102E22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同缓存行写冲突：读写顺序如何保护</a:t>
            </a:r>
          </a:p>
        </p:txBody>
      </p:sp>
      <p:sp>
        <p:nvSpPr>
          <p:cNvPr id="2" name="arch-text-98">
            <a:extLst xmlns:a="http://schemas.openxmlformats.org/drawingml/2006/main">
              <a:ext uri="{FF2B5EF4-FFF2-40B4-BE49-F238E27FC236}">
                <a16:creationId xmlns:a16="http://schemas.microsoft.com/office/drawing/2014/main" id="{01F79E40-090F-4FED-8350-88FCC40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以已有读R0、随后写W、再到达读R1为例。写地址与写数据通过事务标识配对。</a:t>
            </a:r>
          </a:p>
        </p:txBody>
      </p:sp>
      <p:sp>
        <p:nvSpPr>
          <p:cNvPr id="3" name="arch-text-99">
            <a:extLst xmlns:a="http://schemas.openxmlformats.org/drawingml/2006/main">
              <a:ext uri="{FF2B5EF4-FFF2-40B4-BE49-F238E27FC236}">
                <a16:creationId xmlns:a16="http://schemas.microsoft.com/office/drawing/2014/main" id="{F175001E-5C09-468E-B14B-1C92D0B6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arch-diagram-100">
            <a:extLst xmlns:a="http://schemas.openxmlformats.org/drawingml/2006/main">
              <a:ext uri="{FF2B5EF4-FFF2-40B4-BE49-F238E27FC236}">
                <a16:creationId xmlns:a16="http://schemas.microsoft.com/office/drawing/2014/main" id="{D365F2AD-B2C7-443A-B18C-EC4C4DB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R0尚未取得数据</a:t>
            </a:r>
          </a:p>
        </p:txBody>
      </p:sp>
      <p:sp>
        <p:nvSpPr>
          <p:cNvPr id="5" name="arch-diagram-101">
            <a:extLst xmlns:a="http://schemas.openxmlformats.org/drawingml/2006/main">
              <a:ext uri="{FF2B5EF4-FFF2-40B4-BE49-F238E27FC236}">
                <a16:creationId xmlns:a16="http://schemas.microsoft.com/office/drawing/2014/main" id="{75185CA6-7BD6-47A6-889A-F018932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W登记写保护</a:t>
            </a:r>
          </a:p>
        </p:txBody>
      </p:sp>
      <p:sp>
        <p:nvSpPr>
          <p:cNvPr id="6" name="arch-diagram-102">
            <a:extLst xmlns:a="http://schemas.openxmlformats.org/drawingml/2006/main">
              <a:ext uri="{FF2B5EF4-FFF2-40B4-BE49-F238E27FC236}">
                <a16:creationId xmlns:a16="http://schemas.microsoft.com/office/drawing/2014/main" id="{442CDA53-6305-4ACE-A7CF-EBA6C98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R0数据已保存</a:t>
            </a:r>
          </a:p>
        </p:txBody>
      </p:sp>
      <p:sp>
        <p:nvSpPr>
          <p:cNvPr id="7" name="arch-diagram-103">
            <a:extLst xmlns:a="http://schemas.openxmlformats.org/drawingml/2006/main">
              <a:ext uri="{FF2B5EF4-FFF2-40B4-BE49-F238E27FC236}">
                <a16:creationId xmlns:a16="http://schemas.microsoft.com/office/drawing/2014/main" id="{E26492B1-D143-447F-BA7C-5793802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667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W响应进入环网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1" name="arch-text-104">
            <a:extLst xmlns:a="http://schemas.openxmlformats.org/drawingml/2006/main">
              <a:ext uri="{FF2B5EF4-FFF2-40B4-BE49-F238E27FC236}">
                <a16:creationId xmlns:a16="http://schemas.microsoft.com/office/drawing/2014/main" id="{C50B83D0-C80D-4010-9725-6DCC377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已有读处于等待或在途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写先等待旧读数据</a:t>
            </a:r>
          </a:p>
        </p:txBody>
      </p:sp>
      <p:sp>
        <p:nvSpPr>
          <p:cNvPr id="12" name="arch-text-105">
            <a:extLst xmlns:a="http://schemas.openxmlformats.org/drawingml/2006/main">
              <a:ext uri="{FF2B5EF4-FFF2-40B4-BE49-F238E27FC236}">
                <a16:creationId xmlns:a16="http://schemas.microsoft.com/office/drawing/2014/main" id="{2EAA2785-88DD-481C-95A2-E567BD8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同缓存行后续读R1阻塞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防止跨越这笔写事务</a:t>
            </a:r>
          </a:p>
        </p:txBody>
      </p:sp>
      <p:sp>
        <p:nvSpPr>
          <p:cNvPr id="13" name="arch-text-106">
            <a:extLst xmlns:a="http://schemas.openxmlformats.org/drawingml/2006/main">
              <a:ext uri="{FF2B5EF4-FFF2-40B4-BE49-F238E27FC236}">
                <a16:creationId xmlns:a16="http://schemas.microsoft.com/office/drawing/2014/main" id="{63BE61E1-CCD3-4636-805D-7D36592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旧读使用已捕获的数据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写可继续配对并提交</a:t>
            </a:r>
          </a:p>
        </p:txBody>
      </p:sp>
      <p:sp>
        <p:nvSpPr>
          <p:cNvPr id="14" name="arch-text-107">
            <a:extLst xmlns:a="http://schemas.openxmlformats.org/drawingml/2006/main">
              <a:ext uri="{FF2B5EF4-FFF2-40B4-BE49-F238E27FC236}">
                <a16:creationId xmlns:a16="http://schemas.microsoft.com/office/drawing/2014/main" id="{31669DAD-DE6F-4ACF-B355-78EFDE5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667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释放该写事务的保护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后续读R1重新尝试</a:t>
            </a:r>
          </a:p>
        </p:txBody>
      </p:sp>
      <p:sp>
        <p:nvSpPr>
          <p:cNvPr id="15" name="arch-line-108">
            <a:extLst xmlns:a="http://schemas.openxmlformats.org/drawingml/2006/main">
              <a:ext uri="{FF2B5EF4-FFF2-40B4-BE49-F238E27FC236}">
                <a16:creationId xmlns:a16="http://schemas.microsoft.com/office/drawing/2014/main" id="{D4D1FEE5-5755-4858-B99A-D1D235B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0532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09">
            <a:extLst xmlns:a="http://schemas.openxmlformats.org/drawingml/2006/main">
              <a:ext uri="{FF2B5EF4-FFF2-40B4-BE49-F238E27FC236}">
                <a16:creationId xmlns:a16="http://schemas.microsoft.com/office/drawing/2014/main" id="{F5CD0B9F-052B-4D47-BB59-DB00DD8F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053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反压发生时，保护状态继续保留</a:t>
            </a:r>
          </a:p>
        </p:txBody>
      </p:sp>
      <p:sp>
        <p:nvSpPr>
          <p:cNvPr id="17" name="arch-text-110">
            <a:extLst xmlns:a="http://schemas.openxmlformats.org/drawingml/2006/main">
              <a:ext uri="{FF2B5EF4-FFF2-40B4-BE49-F238E27FC236}">
                <a16:creationId xmlns:a16="http://schemas.microsoft.com/office/drawing/2014/main" id="{31B4C92F-C016-4790-93CE-1BADA5C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0545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后端WR_DAT响应尚未成功进入RSP注入队列时，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HA不解除同缓存行的写保护。</a:t>
            </a:r>
          </a:p>
        </p:txBody>
      </p:sp>
      <p:sp>
        <p:nvSpPr>
          <p:cNvPr id="18" name="arch-text-111">
            <a:extLst xmlns:a="http://schemas.openxmlformats.org/drawingml/2006/main">
              <a:ext uri="{FF2B5EF4-FFF2-40B4-BE49-F238E27FC236}">
                <a16:creationId xmlns:a16="http://schemas.microsoft.com/office/drawing/2014/main" id="{FDEACD98-75A8-4E25-8B58-3CD9D657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05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9" name="arch-text-112">
            <a:extLst xmlns:a="http://schemas.openxmlformats.org/drawingml/2006/main">
              <a:ext uri="{FF2B5EF4-FFF2-40B4-BE49-F238E27FC236}">
                <a16:creationId xmlns:a16="http://schemas.microsoft.com/office/drawing/2014/main" id="{547DCAB9-326F-4FF5-8937-318DD72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05450"/>
            <a:ext cx="3333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这里描述读写顺序保护。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完整一致性与原子操作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（Atomic）语义尚未展开。</a:t>
            </a:r>
          </a:p>
        </p:txBody>
      </p:sp>
    </p:spTree>
    <p:extLst>
      <p:ext uri="{BB962C8B-B14F-4D97-AF65-F5344CB8AC3E}">
        <p14:creationId xmlns:p14="http://schemas.microsoft.com/office/powerpoint/2010/main" val="2317370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13">
            <a:extLst xmlns:a="http://schemas.openxmlformats.org/drawingml/2006/main">
              <a:ext uri="{FF2B5EF4-FFF2-40B4-BE49-F238E27FC236}">
                <a16:creationId xmlns:a16="http://schemas.microsoft.com/office/drawing/2014/main" id="{472695E4-C4A2-4FDD-AB35-2F68F89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L2返回组织：先按目标环分组，再确定数据范围</a:t>
            </a:r>
          </a:p>
        </p:txBody>
      </p:sp>
      <p:sp>
        <p:nvSpPr>
          <p:cNvPr id="2" name="arch-text-114">
            <a:extLst xmlns:a="http://schemas.openxmlformats.org/drawingml/2006/main">
              <a:ext uri="{FF2B5EF4-FFF2-40B4-BE49-F238E27FC236}">
                <a16:creationId xmlns:a16="http://schemas.microsoft.com/office/drawing/2014/main" id="{82849937-497C-4936-BDD9-4E9DADB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示例：一份完整缓存行数据，服务4个接收端。接收端信息包含目标环、目标核、偏移与长度。</a:t>
            </a:r>
          </a:p>
        </p:txBody>
      </p:sp>
      <p:sp>
        <p:nvSpPr>
          <p:cNvPr id="3" name="arch-text-115">
            <a:extLst xmlns:a="http://schemas.openxmlformats.org/drawingml/2006/main">
              <a:ext uri="{FF2B5EF4-FFF2-40B4-BE49-F238E27FC236}">
                <a16:creationId xmlns:a16="http://schemas.microsoft.com/office/drawing/2014/main" id="{48C2B427-96EA-48B2-B407-C24D158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arch-diagram-116">
            <a:extLst xmlns:a="http://schemas.openxmlformats.org/drawingml/2006/main">
              <a:ext uri="{FF2B5EF4-FFF2-40B4-BE49-F238E27FC236}">
                <a16:creationId xmlns:a16="http://schemas.microsoft.com/office/drawing/2014/main" id="{0A98D683-7B66-4819-B642-66C2C87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86075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缓存行A</a:t>
            </a:r>
          </a:p>
        </p:txBody>
      </p:sp>
      <p:sp>
        <p:nvSpPr>
          <p:cNvPr id="5" name="arch-diagram-117">
            <a:extLst xmlns:a="http://schemas.openxmlformats.org/drawingml/2006/main">
              <a:ext uri="{FF2B5EF4-FFF2-40B4-BE49-F238E27FC236}">
                <a16:creationId xmlns:a16="http://schemas.microsoft.com/office/drawing/2014/main" id="{25AEFDA6-EA88-4098-A8D5-2644CB2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7908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M0、M1、M4、M5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38400" y="33623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7" name="arch-diagram-118">
            <a:extLst xmlns:a="http://schemas.openxmlformats.org/drawingml/2006/main">
              <a:ext uri="{FF2B5EF4-FFF2-40B4-BE49-F238E27FC236}">
                <a16:creationId xmlns:a16="http://schemas.microsoft.com/office/drawing/2014/main" id="{AF3427DC-7073-459C-B72D-EF3D4B9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71675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0组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M0、M1：相同128字节</a:t>
            </a:r>
          </a:p>
        </p:txBody>
      </p:sp>
      <p:sp>
        <p:nvSpPr>
          <p:cNvPr id="8" name="arch-diagram-119">
            <a:extLst xmlns:a="http://schemas.openxmlformats.org/drawingml/2006/main">
              <a:ext uri="{FF2B5EF4-FFF2-40B4-BE49-F238E27FC236}">
                <a16:creationId xmlns:a16="http://schemas.microsoft.com/office/drawing/2014/main" id="{A963F7CD-D8A6-4497-90C4-94C120D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1组：M4、M5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各128字节，偏移0与128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876925" y="2405063"/>
            <a:ext cx="838200" cy="957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76925" y="3362325"/>
            <a:ext cx="838200" cy="1300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tailEnd type="triangle" w="sm" len="sm"/>
          </a:ln>
        </p:spPr>
      </p:cxnSp>
      <p:sp>
        <p:nvSpPr>
          <p:cNvPr id="11" name="arch-text-120">
            <a:extLst xmlns:a="http://schemas.openxmlformats.org/drawingml/2006/main">
              <a:ext uri="{FF2B5EF4-FFF2-40B4-BE49-F238E27FC236}">
                <a16:creationId xmlns:a16="http://schemas.microsoft.com/office/drawing/2014/main" id="{A0CEF1A3-E9D7-402F-9ADE-0A7FF3D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67050"/>
            <a:ext cx="4581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进入目标V-Ring后多播相同数据</a:t>
            </a:r>
          </a:p>
        </p:txBody>
      </p:sp>
      <p:sp>
        <p:nvSpPr>
          <p:cNvPr id="12" name="arch-text-121">
            <a:extLst xmlns:a="http://schemas.openxmlformats.org/drawingml/2006/main">
              <a:ext uri="{FF2B5EF4-FFF2-40B4-BE49-F238E27FC236}">
                <a16:creationId xmlns:a16="http://schemas.microsoft.com/office/drawing/2014/main" id="{C6B0B0D5-96CF-4860-AC7C-9C1EE11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4581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目标节点按各自范围取出数据</a:t>
            </a:r>
          </a:p>
        </p:txBody>
      </p:sp>
      <p:sp>
        <p:nvSpPr>
          <p:cNvPr id="13" name="arch-text-122">
            <a:extLst xmlns:a="http://schemas.openxmlformats.org/drawingml/2006/main">
              <a:ext uri="{FF2B5EF4-FFF2-40B4-BE49-F238E27FC236}">
                <a16:creationId xmlns:a16="http://schemas.microsoft.com/office/drawing/2014/main" id="{D8114221-C24F-4306-A9B4-9C90FC5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95850"/>
            <a:ext cx="563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4个逻辑响应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组织成2个目标环数据包</a:t>
            </a:r>
          </a:p>
        </p:txBody>
      </p:sp>
      <p:sp>
        <p:nvSpPr>
          <p:cNvPr id="14" name="arch-text-123">
            <a:extLst xmlns:a="http://schemas.openxmlformats.org/drawingml/2006/main">
              <a:ext uri="{FF2B5EF4-FFF2-40B4-BE49-F238E27FC236}">
                <a16:creationId xmlns:a16="http://schemas.microsoft.com/office/drawing/2014/main" id="{0251716A-5AC6-4DA3-9082-B7352D4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单接收端对应单播。多接收端地址与长度相同则多播，不同范围则分段分发。</a:t>
            </a:r>
          </a:p>
        </p:txBody>
      </p:sp>
    </p:spTree>
    <p:extLst>
      <p:ext uri="{BB962C8B-B14F-4D97-AF65-F5344CB8AC3E}">
        <p14:creationId xmlns:p14="http://schemas.microsoft.com/office/powerpoint/2010/main" val="75630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24">
            <a:extLst xmlns:a="http://schemas.openxmlformats.org/drawingml/2006/main">
              <a:ext uri="{FF2B5EF4-FFF2-40B4-BE49-F238E27FC236}">
                <a16:creationId xmlns:a16="http://schemas.microsoft.com/office/drawing/2014/main" id="{0A6FFC0D-1557-475D-99F6-D5591C9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L2分组关闭与返回资源的释放</a:t>
            </a:r>
          </a:p>
        </p:txBody>
      </p:sp>
      <p:sp>
        <p:nvSpPr>
          <p:cNvPr id="2" name="arch-text-125">
            <a:extLst xmlns:a="http://schemas.openxmlformats.org/drawingml/2006/main">
              <a:ext uri="{FF2B5EF4-FFF2-40B4-BE49-F238E27FC236}">
                <a16:creationId xmlns:a16="http://schemas.microsoft.com/office/drawing/2014/main" id="{4276C4B8-03F4-4D29-8040-B0ED9E7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接收端列表确定、L2发包完成和环网槽位释放，是三个不同的边界。</a:t>
            </a:r>
          </a:p>
        </p:txBody>
      </p:sp>
      <p:sp>
        <p:nvSpPr>
          <p:cNvPr id="3" name="arch-text-126">
            <a:extLst xmlns:a="http://schemas.openxmlformats.org/drawingml/2006/main">
              <a:ext uri="{FF2B5EF4-FFF2-40B4-BE49-F238E27FC236}">
                <a16:creationId xmlns:a16="http://schemas.microsoft.com/office/drawing/2014/main" id="{66A2F6B7-D7A5-48B8-AEBC-AD28797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arch-diagram-127">
            <a:extLst xmlns:a="http://schemas.openxmlformats.org/drawingml/2006/main">
              <a:ext uri="{FF2B5EF4-FFF2-40B4-BE49-F238E27FC236}">
                <a16:creationId xmlns:a16="http://schemas.microsoft.com/office/drawing/2014/main" id="{0F6A98E8-E8B5-4412-8D2A-70F2D76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26384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收集响应信息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允许兼容接收端加入</a:t>
            </a:r>
          </a:p>
        </p:txBody>
      </p:sp>
      <p:sp>
        <p:nvSpPr>
          <p:cNvPr id="5" name="arch-diagram-128">
            <a:extLst xmlns:a="http://schemas.openxmlformats.org/drawingml/2006/main">
              <a:ext uri="{FF2B5EF4-FFF2-40B4-BE49-F238E27FC236}">
                <a16:creationId xmlns:a16="http://schemas.microsoft.com/office/drawing/2014/main" id="{4F82A438-0EF4-435D-9914-806E976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2857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确定接收端集合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停止追加并反馈HA</a:t>
            </a:r>
          </a:p>
        </p:txBody>
      </p:sp>
      <p:sp>
        <p:nvSpPr>
          <p:cNvPr id="6" name="arch-diagram-129">
            <a:extLst xmlns:a="http://schemas.openxmlformats.org/drawingml/2006/main">
              <a:ext uri="{FF2B5EF4-FFF2-40B4-BE49-F238E27FC236}">
                <a16:creationId xmlns:a16="http://schemas.microsoft.com/office/drawing/2014/main" id="{7F548763-940E-4455-BBC0-C144920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38375"/>
            <a:ext cx="30861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按目标环逐个发包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成功后移除该环接收端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19425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58050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130">
            <a:extLst xmlns:a="http://schemas.openxmlformats.org/drawingml/2006/main">
              <a:ext uri="{FF2B5EF4-FFF2-40B4-BE49-F238E27FC236}">
                <a16:creationId xmlns:a16="http://schemas.microsoft.com/office/drawing/2014/main" id="{932F818D-65E6-4456-8E28-D1A1327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76650"/>
            <a:ext cx="6791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队首响应就绪时确定集合</a:t>
            </a:r>
          </a:p>
        </p:txBody>
      </p:sp>
      <p:sp>
        <p:nvSpPr>
          <p:cNvPr id="10" name="arch-text-131">
            <a:extLst xmlns:a="http://schemas.openxmlformats.org/drawingml/2006/main">
              <a:ext uri="{FF2B5EF4-FFF2-40B4-BE49-F238E27FC236}">
                <a16:creationId xmlns:a16="http://schemas.microsoft.com/office/drawing/2014/main" id="{B0AA80DA-23EF-450D-B2B8-8BB6299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准备好的包若遇到注入反压，L2保留包与接收端信息。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成功进入注入队列后，才推进这一目标环的发送状态。</a:t>
            </a:r>
          </a:p>
        </p:txBody>
      </p:sp>
      <p:sp>
        <p:nvSpPr>
          <p:cNvPr id="11" name="arch-line-132">
            <a:extLst xmlns:a="http://schemas.openxmlformats.org/drawingml/2006/main">
              <a:ext uri="{FF2B5EF4-FFF2-40B4-BE49-F238E27FC236}">
                <a16:creationId xmlns:a16="http://schemas.microsoft.com/office/drawing/2014/main" id="{56DF4390-0B04-4E6E-9688-82DB692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482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33">
            <a:extLst xmlns:a="http://schemas.openxmlformats.org/drawingml/2006/main">
              <a:ext uri="{FF2B5EF4-FFF2-40B4-BE49-F238E27FC236}">
                <a16:creationId xmlns:a16="http://schemas.microsoft.com/office/drawing/2014/main" id="{C5AF8354-F47C-4F1A-A17C-EE46A51D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911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L2侧</a:t>
            </a:r>
          </a:p>
        </p:txBody>
      </p:sp>
      <p:sp>
        <p:nvSpPr>
          <p:cNvPr id="13" name="arch-text-134">
            <a:extLst xmlns:a="http://schemas.openxmlformats.org/drawingml/2006/main">
              <a:ext uri="{FF2B5EF4-FFF2-40B4-BE49-F238E27FC236}">
                <a16:creationId xmlns:a16="http://schemas.microsoft.com/office/drawing/2014/main" id="{AD78C4AE-27D4-47BF-A1EE-2D796EE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9117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全部目标环的数据包均已提交，释放该响应队列项。</a:t>
            </a:r>
          </a:p>
        </p:txBody>
      </p:sp>
      <p:sp>
        <p:nvSpPr>
          <p:cNvPr id="14" name="arch-text-135">
            <a:extLst xmlns:a="http://schemas.openxmlformats.org/drawingml/2006/main">
              <a:ext uri="{FF2B5EF4-FFF2-40B4-BE49-F238E27FC236}">
                <a16:creationId xmlns:a16="http://schemas.microsoft.com/office/drawing/2014/main" id="{D4C2AF07-F687-467B-9EA7-1829953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8172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Ring侧</a:t>
            </a:r>
          </a:p>
        </p:txBody>
      </p:sp>
      <p:sp>
        <p:nvSpPr>
          <p:cNvPr id="15" name="arch-text-136">
            <a:extLst xmlns:a="http://schemas.openxmlformats.org/drawingml/2006/main">
              <a:ext uri="{FF2B5EF4-FFF2-40B4-BE49-F238E27FC236}">
                <a16:creationId xmlns:a16="http://schemas.microsoft.com/office/drawing/2014/main" id="{D2A5433E-456E-4D69-965A-EAA89F3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8172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最后一名接收端弹出后，槽位才可释放或由本地包接替。</a:t>
            </a:r>
          </a:p>
        </p:txBody>
      </p:sp>
    </p:spTree>
    <p:extLst>
      <p:ext uri="{BB962C8B-B14F-4D97-AF65-F5344CB8AC3E}">
        <p14:creationId xmlns:p14="http://schemas.microsoft.com/office/powerpoint/2010/main" val="950497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5">
            <a:extLst xmlns:a="http://schemas.openxmlformats.org/drawingml/2006/main">
              <a:ext uri="{FF2B5EF4-FFF2-40B4-BE49-F238E27FC236}">
                <a16:creationId xmlns:a16="http://schemas.microsoft.com/office/drawing/2014/main" id="{08590356-D63E-49B2-B838-FEAF87D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实验设计：一次扫描回答一个问题</a:t>
            </a:r>
          </a:p>
        </p:txBody>
      </p:sp>
      <p:sp>
        <p:nvSpPr>
          <p:cNvPr id="3" name="share-66">
            <a:extLst xmlns:a="http://schemas.openxmlformats.org/drawingml/2006/main">
              <a:ext uri="{FF2B5EF4-FFF2-40B4-BE49-F238E27FC236}">
                <a16:creationId xmlns:a16="http://schemas.microsoft.com/office/drawing/2014/main" id="{2B49A84E-7408-4AE4-937D-7758009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固定同组条件，分别观察命中率、每核并发上限和请求大小的影响。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333875"/>
                <a:gridCol w="504825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保持不变的主要条件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变化范围与研究问题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分别比较四种地址模式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0%、25%、50%、75%、100%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后端访问减少后，吞吐还受什么限制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独立缓存行模式（NoMerge）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请求256字节，配置命中率0%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16、32、64、128、256、512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吞吐拐点和尾延迟怎样变化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请求大小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每核并发上限128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128、256、512字节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读取放大与数据复用怎样变化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7">
            <a:extLst xmlns:a="http://schemas.openxmlformats.org/drawingml/2006/main">
              <a:ext uri="{FF2B5EF4-FFF2-40B4-BE49-F238E27FC236}">
                <a16:creationId xmlns:a16="http://schemas.microsoft.com/office/drawing/2014/main" id="{C28E3ADC-B82A-4A56-902A-74C0B6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基础拓扑：8核、2条垂直环、1条共享水平环、4个存储目标端。</a:t>
            </a:r>
          </a:p>
        </p:txBody>
      </p:sp>
      <p:sp>
        <p:nvSpPr>
          <p:cNvPr id="6" name="share-68">
            <a:extLst xmlns:a="http://schemas.openxmlformats.org/drawingml/2006/main">
              <a:ext uri="{FF2B5EF4-FFF2-40B4-BE49-F238E27FC236}">
                <a16:creationId xmlns:a16="http://schemas.microsoft.com/office/drawing/2014/main" id="{37E62626-5E5C-4416-BF15-585E09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链路宽度128字节/周期，缓存行512字节。三组结果来自已保存实验，组间不直接归因比较。</a:t>
            </a:r>
          </a:p>
        </p:txBody>
      </p:sp>
      <p:sp>
        <p:nvSpPr>
          <p:cNvPr id="7" name="share-69">
            <a:extLst xmlns:a="http://schemas.openxmlformats.org/drawingml/2006/main">
              <a:ext uri="{FF2B5EF4-FFF2-40B4-BE49-F238E27FC236}">
                <a16:creationId xmlns:a16="http://schemas.microsoft.com/office/drawing/2014/main" id="{9F88F0AD-CC03-4B41-94E6-F5FB64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49842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isual-18">
            <a:extLst xmlns:a="http://schemas.openxmlformats.org/drawingml/2006/main">
              <a:ext uri="{FF2B5EF4-FFF2-40B4-BE49-F238E27FC236}">
                <a16:creationId xmlns:a16="http://schemas.microsoft.com/office/drawing/2014/main" id="{506E05C9-0C48-41C9-AB20-53F4CD8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统计口径：同一份数据可以完成多次交付</a:t>
            </a:r>
          </a:p>
        </p:txBody>
      </p:sp>
      <p:sp>
        <p:nvSpPr>
          <p:cNvPr id="2" name="visual-19">
            <a:extLst xmlns:a="http://schemas.openxmlformats.org/drawingml/2006/main">
              <a:ext uri="{FF2B5EF4-FFF2-40B4-BE49-F238E27FC236}">
                <a16:creationId xmlns:a16="http://schemas.microsoft.com/office/drawing/2014/main" id="{3A092CD5-6456-40AF-B17D-FB54F9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统计示例：一次512字节读取，向同一目标环上的4个核返回相同数据。此图为口径示意。</a:t>
            </a:r>
          </a:p>
        </p:txBody>
      </p:sp>
      <p:sp>
        <p:nvSpPr>
          <p:cNvPr id="3" name="visual-20">
            <a:extLst xmlns:a="http://schemas.openxmlformats.org/drawingml/2006/main">
              <a:ext uri="{FF2B5EF4-FFF2-40B4-BE49-F238E27FC236}">
                <a16:creationId xmlns:a16="http://schemas.microsoft.com/office/drawing/2014/main" id="{F4922485-2C63-492D-8B3E-DB17F3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diagram-21">
            <a:extLst xmlns:a="http://schemas.openxmlformats.org/drawingml/2006/main">
              <a:ext uri="{FF2B5EF4-FFF2-40B4-BE49-F238E27FC236}">
                <a16:creationId xmlns:a16="http://schemas.microsoft.com/office/drawing/2014/main" id="{E2125534-E083-4F92-B00C-867EA2A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</a:t>
            </a:r>
          </a:p>
        </p:txBody>
      </p:sp>
      <p:sp>
        <p:nvSpPr>
          <p:cNvPr id="5" name="diagram-22">
            <a:extLst xmlns:a="http://schemas.openxmlformats.org/drawingml/2006/main">
              <a:ext uri="{FF2B5EF4-FFF2-40B4-BE49-F238E27FC236}">
                <a16:creationId xmlns:a16="http://schemas.microsoft.com/office/drawing/2014/main" id="{92BEDC71-834A-4092-BADA-D24513C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 / L2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合并并组织返回</a:t>
            </a:r>
          </a:p>
        </p:txBody>
      </p:sp>
      <p:sp>
        <p:nvSpPr>
          <p:cNvPr id="6" name="diagram-23">
            <a:extLst xmlns:a="http://schemas.openxmlformats.org/drawingml/2006/main">
              <a:ext uri="{FF2B5EF4-FFF2-40B4-BE49-F238E27FC236}">
                <a16:creationId xmlns:a16="http://schemas.microsoft.com/office/drawing/2014/main" id="{950C149A-1FB5-4E5A-83C1-1B105E7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目标V-Ring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多播分发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4787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1012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9" name="diagram-24">
            <a:extLst xmlns:a="http://schemas.openxmlformats.org/drawingml/2006/main">
              <a:ext uri="{FF2B5EF4-FFF2-40B4-BE49-F238E27FC236}">
                <a16:creationId xmlns:a16="http://schemas.microsoft.com/office/drawing/2014/main" id="{B361D056-61C1-496D-9E62-1ED767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91425" y="2081213"/>
            <a:ext cx="13906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1" name="diagram-25">
            <a:extLst xmlns:a="http://schemas.openxmlformats.org/drawingml/2006/main">
              <a:ext uri="{FF2B5EF4-FFF2-40B4-BE49-F238E27FC236}">
                <a16:creationId xmlns:a16="http://schemas.microsoft.com/office/drawing/2014/main" id="{247B2305-5DE2-4E8A-A091-E23D44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591425" y="3138488"/>
            <a:ext cx="1390650" cy="157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3" name="diagram-26">
            <a:extLst xmlns:a="http://schemas.openxmlformats.org/drawingml/2006/main">
              <a:ext uri="{FF2B5EF4-FFF2-40B4-BE49-F238E27FC236}">
                <a16:creationId xmlns:a16="http://schemas.microsoft.com/office/drawing/2014/main" id="{CB129658-7D32-403E-A9CC-BBEBE25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3295650"/>
            <a:ext cx="1390650" cy="900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5" name="diagram-27">
            <a:extLst xmlns:a="http://schemas.openxmlformats.org/drawingml/2006/main">
              <a:ext uri="{FF2B5EF4-FFF2-40B4-BE49-F238E27FC236}">
                <a16:creationId xmlns:a16="http://schemas.microsoft.com/office/drawing/2014/main" id="{09CBFA00-679A-4141-9FD6-71C1DC7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9585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91425" y="3295650"/>
            <a:ext cx="1390650" cy="1957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7" name="visual-28">
            <a:extLst xmlns:a="http://schemas.openxmlformats.org/drawingml/2006/main">
              <a:ext uri="{FF2B5EF4-FFF2-40B4-BE49-F238E27FC236}">
                <a16:creationId xmlns:a16="http://schemas.microsoft.com/office/drawing/2014/main" id="{72FA60CB-8DBC-45D3-BBD9-4BD495B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物理读取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8" name="visual-29">
            <a:extLst xmlns:a="http://schemas.openxmlformats.org/drawingml/2006/main">
              <a:ext uri="{FF2B5EF4-FFF2-40B4-BE49-F238E27FC236}">
                <a16:creationId xmlns:a16="http://schemas.microsoft.com/office/drawing/2014/main" id="{F2EFEA9F-0A42-4249-93EF-EFE4A98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2152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L2注入DAT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9" name="visual-30">
            <a:extLst xmlns:a="http://schemas.openxmlformats.org/drawingml/2006/main">
              <a:ext uri="{FF2B5EF4-FFF2-40B4-BE49-F238E27FC236}">
                <a16:creationId xmlns:a16="http://schemas.microsoft.com/office/drawing/2014/main" id="{86BE1BD1-B94F-4F58-BE60-57958B5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029325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有效完成量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4 × 512 = 2048字节</a:t>
            </a:r>
          </a:p>
        </p:txBody>
      </p:sp>
      <p:sp>
        <p:nvSpPr>
          <p:cNvPr id="20" name="line-31">
            <a:extLst xmlns:a="http://schemas.openxmlformats.org/drawingml/2006/main">
              <a:ext uri="{FF2B5EF4-FFF2-40B4-BE49-F238E27FC236}">
                <a16:creationId xmlns:a16="http://schemas.microsoft.com/office/drawing/2014/main" id="{0D5F51C6-2991-430F-9008-2514A40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578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1" name="visual-32">
            <a:extLst xmlns:a="http://schemas.openxmlformats.org/drawingml/2006/main">
              <a:ext uri="{FF2B5EF4-FFF2-40B4-BE49-F238E27FC236}">
                <a16:creationId xmlns:a16="http://schemas.microsoft.com/office/drawing/2014/main" id="{08C3F1AC-92D9-4165-A65B-7BDE0C7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701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 = 对应边界的字节数 ÷ 统一统计窗口</a:t>
            </a:r>
          </a:p>
        </p:txBody>
      </p:sp>
      <p:sp>
        <p:nvSpPr>
          <p:cNvPr id="22" name="visual-33">
            <a:extLst xmlns:a="http://schemas.openxmlformats.org/drawingml/2006/main">
              <a:ext uri="{FF2B5EF4-FFF2-40B4-BE49-F238E27FC236}">
                <a16:creationId xmlns:a16="http://schemas.microsoft.com/office/drawing/2014/main" id="{572B77DA-A45A-4D5A-B0AC-322E5D4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109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REQ / DAT包数按逐链路传输累计，另看P99延迟衡量尾部等待。</a:t>
            </a:r>
          </a:p>
        </p:txBody>
      </p:sp>
    </p:spTree>
    <p:extLst>
      <p:ext uri="{BB962C8B-B14F-4D97-AF65-F5344CB8AC3E}">
        <p14:creationId xmlns:p14="http://schemas.microsoft.com/office/powerpoint/2010/main" val="19229954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isual-34">
            <a:extLst xmlns:a="http://schemas.openxmlformats.org/drawingml/2006/main">
              <a:ext uri="{FF2B5EF4-FFF2-40B4-BE49-F238E27FC236}">
                <a16:creationId xmlns:a16="http://schemas.microsoft.com/office/drawing/2014/main" id="{35C0F0AE-8ABD-4683-A8FD-8057EB4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参数选择：吞吐收益与排队代价</a:t>
            </a:r>
          </a:p>
        </p:txBody>
      </p:sp>
      <p:sp>
        <p:nvSpPr>
          <p:cNvPr id="2" name="visual-35">
            <a:extLst xmlns:a="http://schemas.openxmlformats.org/drawingml/2006/main">
              <a:ext uri="{FF2B5EF4-FFF2-40B4-BE49-F238E27FC236}">
                <a16:creationId xmlns:a16="http://schemas.microsoft.com/office/drawing/2014/main" id="{7DF2A555-F666-4F92-AD52-E915335D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NoMerge，256字节请求，配置命中率0%。图中以每核并发256为1，比较三组已有数据。</a:t>
            </a:r>
          </a:p>
        </p:txBody>
      </p:sp>
      <p:sp>
        <p:nvSpPr>
          <p:cNvPr id="3" name="visual-36">
            <a:extLst xmlns:a="http://schemas.openxmlformats.org/drawingml/2006/main">
              <a:ext uri="{FF2B5EF4-FFF2-40B4-BE49-F238E27FC236}">
                <a16:creationId xmlns:a16="http://schemas.microsoft.com/office/drawing/2014/main" id="{1E171C58-E178-4257-AF29-C2DB860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752600"/>
          <a:ext xmlns:a="http://schemas.openxmlformats.org/drawingml/2006/main" cx="704850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9bec7a63114f13"/>
          </a:graphicData>
        </a:graphic>
      </p:graphicFrame>
      <p:sp>
        <p:nvSpPr>
          <p:cNvPr id="5" name="visual-37">
            <a:extLst xmlns:a="http://schemas.openxmlformats.org/drawingml/2006/main">
              <a:ext uri="{FF2B5EF4-FFF2-40B4-BE49-F238E27FC236}">
                <a16:creationId xmlns:a16="http://schemas.microsoft.com/office/drawing/2014/main" id="{11F8B0A3-E34C-4F77-9DC8-910B728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每核并发256增至512</a:t>
            </a:r>
          </a:p>
        </p:txBody>
      </p:sp>
      <p:sp>
        <p:nvSpPr>
          <p:cNvPr id="6" name="visual-38">
            <a:extLst xmlns:a="http://schemas.openxmlformats.org/drawingml/2006/main">
              <a:ext uri="{FF2B5EF4-FFF2-40B4-BE49-F238E27FC236}">
                <a16:creationId xmlns:a16="http://schemas.microsoft.com/office/drawing/2014/main" id="{D834FE7D-2828-40A0-88B5-B2B29FE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0507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吞吐下降2.1%</a:t>
            </a:r>
          </a:p>
        </p:txBody>
      </p:sp>
      <p:sp>
        <p:nvSpPr>
          <p:cNvPr id="7" name="visual-39">
            <a:extLst xmlns:a="http://schemas.openxmlformats.org/drawingml/2006/main">
              <a:ext uri="{FF2B5EF4-FFF2-40B4-BE49-F238E27FC236}">
                <a16:creationId xmlns:a16="http://schemas.microsoft.com/office/drawing/2014/main" id="{377C83BD-FB36-4F29-B2BB-A4A9C7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P99增至2.55倍</a:t>
            </a:r>
          </a:p>
        </p:txBody>
      </p:sp>
      <p:sp>
        <p:nvSpPr>
          <p:cNvPr id="8" name="visual-40">
            <a:extLst xmlns:a="http://schemas.openxmlformats.org/drawingml/2006/main">
              <a:ext uri="{FF2B5EF4-FFF2-40B4-BE49-F238E27FC236}">
                <a16:creationId xmlns:a16="http://schemas.microsoft.com/office/drawing/2014/main" id="{8129104B-CBBB-410E-A6C8-D4F24E8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686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候选范围先比较128与256，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再结合延迟目标和资源代价取舍。</a:t>
            </a:r>
          </a:p>
        </p:txBody>
      </p:sp>
      <p:sp>
        <p:nvSpPr>
          <p:cNvPr id="9" name="line-41">
            <a:extLst xmlns:a="http://schemas.openxmlformats.org/drawingml/2006/main">
              <a:ext uri="{FF2B5EF4-FFF2-40B4-BE49-F238E27FC236}">
                <a16:creationId xmlns:a16="http://schemas.microsoft.com/office/drawing/2014/main" id="{3D26EA0B-5706-47E0-9B4F-CCDA05E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97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0" name="visual-42">
            <a:extLst xmlns:a="http://schemas.openxmlformats.org/drawingml/2006/main">
              <a:ext uri="{FF2B5EF4-FFF2-40B4-BE49-F238E27FC236}">
                <a16:creationId xmlns:a16="http://schemas.microsoft.com/office/drawing/2014/main" id="{4558A328-3B28-41B7-95F0-6896448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76950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请求粒度</a:t>
            </a:r>
          </a:p>
        </p:txBody>
      </p:sp>
      <p:sp>
        <p:nvSpPr>
          <p:cNvPr id="11" name="visual-43">
            <a:extLst xmlns:a="http://schemas.openxmlformats.org/drawingml/2006/main">
              <a:ext uri="{FF2B5EF4-FFF2-40B4-BE49-F238E27FC236}">
                <a16:creationId xmlns:a16="http://schemas.microsoft.com/office/drawing/2014/main" id="{A5E54F62-4AA3-4308-A833-44E35BF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076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连续访问可评估更大请求，稀疏访问需检查无效搬运。</a:t>
            </a:r>
          </a:p>
        </p:txBody>
      </p:sp>
      <p:sp>
        <p:nvSpPr>
          <p:cNvPr id="12" name="visual-44">
            <a:extLst xmlns:a="http://schemas.openxmlformats.org/drawingml/2006/main">
              <a:ext uri="{FF2B5EF4-FFF2-40B4-BE49-F238E27FC236}">
                <a16:creationId xmlns:a16="http://schemas.microsoft.com/office/drawing/2014/main" id="{775E62A6-AAD0-4D35-9162-7246BD3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高命中区间</a:t>
            </a:r>
          </a:p>
        </p:txBody>
      </p:sp>
      <p:sp>
        <p:nvSpPr>
          <p:cNvPr id="13" name="visual-45">
            <a:extLst xmlns:a="http://schemas.openxmlformats.org/drawingml/2006/main">
              <a:ext uri="{FF2B5EF4-FFF2-40B4-BE49-F238E27FC236}">
                <a16:creationId xmlns:a16="http://schemas.microsoft.com/office/drawing/2014/main" id="{2E6C062B-50F8-4198-B4C7-00ECC66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4770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吞吐趋稳后，通过单资源变化检查返回路径的限制。</a:t>
            </a:r>
          </a:p>
        </p:txBody>
      </p:sp>
    </p:spTree>
    <p:extLst>
      <p:ext uri="{BB962C8B-B14F-4D97-AF65-F5344CB8AC3E}">
        <p14:creationId xmlns:p14="http://schemas.microsoft.com/office/powerpoint/2010/main" val="352847071"/>
      </p:ext>
    </p:extLst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400175"/>
            <a:ext cx="6696075" cy="5095875"/>
          </a:xfrm>
          <a:prstGeom prst="rect">
            <a:avLst/>
          </a:prstGeom>
        </p:spPr>
      </p:pic>
      <p:sp>
        <p:nvSpPr>
          <p:cNvPr id="3" name="exp-text-34">
            <a:extLst>
              <a:ext uri="{FF2B5EF4-FFF2-40B4-BE49-F238E27FC236}">
                <a16:creationId xmlns:a16="http://schemas.microsoft.com/office/drawing/2014/main" id="{7933FECD-8915-4FEE-9D13-4A19C0EA613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流量分析：传输次数与数据复用</a:t>
            </a:r>
          </a:p>
        </p:txBody>
      </p:sp>
      <p:sp>
        <p:nvSpPr>
          <p:cNvPr id="4" name="exp-text-35">
            <a:extLst>
              <a:ext uri="{FF2B5EF4-FFF2-40B4-BE49-F238E27FC236}">
                <a16:creationId xmlns:a16="http://schemas.microsoft.com/office/drawing/2014/main" id="{FB48528A-9CF7-443B-9B8F-45B359C6592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配置命中率0%，每核并发128。图中包数为逐链路累计传输次数，包含多跳和绕行。</a:t>
            </a:r>
          </a:p>
        </p:txBody>
      </p:sp>
      <p:sp>
        <p:nvSpPr>
          <p:cNvPr id="5" name="exp-frame-36">
            <a:extLst>
              <a:ext uri="{FF2B5EF4-FFF2-40B4-BE49-F238E27FC236}">
                <a16:creationId xmlns:a16="http://schemas.microsoft.com/office/drawing/2014/main" id="{C657AB71-65B7-4086-A8B0-E05B656D13C3}"/>
              </a:ext>
            </a:extLst>
          </p:cNvPr>
          <p:cNvSpPr>
            <a:spLocks noGrp="1"/>
          </p:cNvSpPr>
          <p:nvPr/>
        </p:nvSpPr>
        <p:spPr>
          <a:xfrm>
            <a:off x="381000" y="1333500"/>
            <a:ext cx="7048500" cy="526732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6" name="exp-text-37">
            <a:extLst>
              <a:ext uri="{FF2B5EF4-FFF2-40B4-BE49-F238E27FC236}">
                <a16:creationId xmlns:a16="http://schemas.microsoft.com/office/drawing/2014/main" id="{2D94118C-298C-45A1-9768-0460ADBE321E}"/>
              </a:ext>
            </a:extLst>
          </p:cNvPr>
          <p:cNvSpPr>
            <a:spLocks noGrp="1"/>
          </p:cNvSpPr>
          <p:nvPr/>
        </p:nvSpPr>
        <p:spPr>
          <a:xfrm>
            <a:off x="1328906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7" name="exp-text-38">
            <a:extLst>
              <a:ext uri="{FF2B5EF4-FFF2-40B4-BE49-F238E27FC236}">
                <a16:creationId xmlns:a16="http://schemas.microsoft.com/office/drawing/2014/main" id="{005547C9-6FE3-4962-9DB4-AA9460EE565B}"/>
              </a:ext>
            </a:extLst>
          </p:cNvPr>
          <p:cNvSpPr>
            <a:spLocks noGrp="1"/>
          </p:cNvSpPr>
          <p:nvPr/>
        </p:nvSpPr>
        <p:spPr>
          <a:xfrm>
            <a:off x="3093518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8" name="exp-text-39">
            <a:extLst>
              <a:ext uri="{FF2B5EF4-FFF2-40B4-BE49-F238E27FC236}">
                <a16:creationId xmlns:a16="http://schemas.microsoft.com/office/drawing/2014/main" id="{62A0D7E6-58D7-4447-B53E-462BCDEDF8A1}"/>
              </a:ext>
            </a:extLst>
          </p:cNvPr>
          <p:cNvSpPr>
            <a:spLocks noGrp="1"/>
          </p:cNvSpPr>
          <p:nvPr/>
        </p:nvSpPr>
        <p:spPr>
          <a:xfrm>
            <a:off x="6617492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9" name="exp-text-40">
            <a:extLst>
              <a:ext uri="{FF2B5EF4-FFF2-40B4-BE49-F238E27FC236}">
                <a16:creationId xmlns:a16="http://schemas.microsoft.com/office/drawing/2014/main" id="{4CE8EABD-08D6-4437-BD46-1F927FA075DC}"/>
              </a:ext>
            </a:extLst>
          </p:cNvPr>
          <p:cNvSpPr>
            <a:spLocks noGrp="1"/>
          </p:cNvSpPr>
          <p:nvPr/>
        </p:nvSpPr>
        <p:spPr>
          <a:xfrm>
            <a:off x="7820025" y="13811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大请求减少REQ累计传输次数</a:t>
            </a:r>
          </a:p>
        </p:txBody>
      </p:sp>
      <p:sp>
        <p:nvSpPr>
          <p:cNvPr id="10" name="exp-text-41">
            <a:extLst>
              <a:ext uri="{FF2B5EF4-FFF2-40B4-BE49-F238E27FC236}">
                <a16:creationId xmlns:a16="http://schemas.microsoft.com/office/drawing/2014/main" id="{2719A7DD-B80B-440C-B0EE-FB94C88DC78D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NoMerge的REQ累计传输次数由46.59万降至15.56万，体现请求粒度与网络路径的共同影响。</a:t>
            </a:r>
          </a:p>
        </p:txBody>
      </p:sp>
      <p:sp>
        <p:nvSpPr>
          <p:cNvPr id="11" name="exp-text-42">
            <a:extLst>
              <a:ext uri="{FF2B5EF4-FFF2-40B4-BE49-F238E27FC236}">
                <a16:creationId xmlns:a16="http://schemas.microsoft.com/office/drawing/2014/main" id="{1736E157-8100-4A21-97A6-5028B99D2CA3}"/>
              </a:ext>
            </a:extLst>
          </p:cNvPr>
          <p:cNvSpPr>
            <a:spLocks noGrp="1"/>
          </p:cNvSpPr>
          <p:nvPr/>
        </p:nvSpPr>
        <p:spPr>
          <a:xfrm>
            <a:off x="7820025" y="28384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分段返回降低DAT累计传输次数</a:t>
            </a:r>
          </a:p>
        </p:txBody>
      </p:sp>
      <p:sp>
        <p:nvSpPr>
          <p:cNvPr id="12" name="exp-text-43">
            <a:extLst>
              <a:ext uri="{FF2B5EF4-FFF2-40B4-BE49-F238E27FC236}">
                <a16:creationId xmlns:a16="http://schemas.microsoft.com/office/drawing/2014/main" id="{C57B689B-C903-47EF-B385-865D80C434AB}"/>
              </a:ext>
            </a:extLst>
          </p:cNvPr>
          <p:cNvSpPr>
            <a:spLocks noGrp="1"/>
          </p:cNvSpPr>
          <p:nvPr/>
        </p:nvSpPr>
        <p:spPr>
          <a:xfrm>
            <a:off x="7820025" y="3248025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128字节请求下，Scatter为10.65万次，NoMerge为29.11万次。比较口径均为逐链路累计。</a:t>
            </a:r>
          </a:p>
        </p:txBody>
      </p:sp>
      <p:sp>
        <p:nvSpPr>
          <p:cNvPr id="13" name="exp-text-44">
            <a:extLst>
              <a:ext uri="{FF2B5EF4-FFF2-40B4-BE49-F238E27FC236}">
                <a16:creationId xmlns:a16="http://schemas.microsoft.com/office/drawing/2014/main" id="{1697B7BE-2BD1-4F49-B483-69D75F22D754}"/>
              </a:ext>
            </a:extLst>
          </p:cNvPr>
          <p:cNvSpPr>
            <a:spLocks noGrp="1"/>
          </p:cNvSpPr>
          <p:nvPr/>
        </p:nvSpPr>
        <p:spPr>
          <a:xfrm>
            <a:off x="7820025" y="42386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多播提高每份数据的有效利用</a:t>
            </a:r>
          </a:p>
        </p:txBody>
      </p:sp>
      <p:sp>
        <p:nvSpPr>
          <p:cNvPr id="14" name="exp-text-45">
            <a:extLst>
              <a:ext uri="{FF2B5EF4-FFF2-40B4-BE49-F238E27FC236}">
                <a16:creationId xmlns:a16="http://schemas.microsoft.com/office/drawing/2014/main" id="{210945E4-BF60-4C1E-858B-0E47CA3AAF06}"/>
              </a:ext>
            </a:extLst>
          </p:cNvPr>
          <p:cNvSpPr>
            <a:spLocks noGrp="1"/>
          </p:cNvSpPr>
          <p:nvPr/>
        </p:nvSpPr>
        <p:spPr>
          <a:xfrm>
            <a:off x="7820025" y="4648200"/>
            <a:ext cx="3981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Shared在512字节请求下：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有效带宽890.04字节/周期，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物理DAT带宽222.51字节/周期。</a:t>
            </a:r>
          </a:p>
        </p:txBody>
      </p:sp>
      <p:sp>
        <p:nvSpPr>
          <p:cNvPr id="15" name="exp-frame-46">
            <a:extLst>
              <a:ext uri="{FF2B5EF4-FFF2-40B4-BE49-F238E27FC236}">
                <a16:creationId xmlns:a16="http://schemas.microsoft.com/office/drawing/2014/main" id="{99AA4C1A-1022-41E0-A9EA-2C64C4CC90ED}"/>
              </a:ext>
            </a:extLst>
          </p:cNvPr>
          <p:cNvSpPr>
            <a:spLocks noGrp="1"/>
          </p:cNvSpPr>
          <p:nvPr/>
        </p:nvSpPr>
        <p:spPr>
          <a:xfrm>
            <a:off x="7820025" y="5619750"/>
            <a:ext cx="3981450" cy="533400"/>
          </a:xfrm>
          <a:prstGeom prst="rect">
            <a:avLst/>
          </a:prstGeom>
          <a:solidFill>
            <a:srgbClr val="E2F0D9"/>
          </a:solidFill>
          <a:ln w="11430">
            <a:solidFill>
              <a:srgbClr val="10286B"/>
            </a:solidFill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890.04 ÷ 222.51 = 4.0倍</a:t>
            </a:r>
          </a:p>
        </p:txBody>
      </p:sp>
      <p:sp>
        <p:nvSpPr>
          <p:cNvPr id="16" name="exp-text-47">
            <a:extLst>
              <a:ext uri="{FF2B5EF4-FFF2-40B4-BE49-F238E27FC236}">
                <a16:creationId xmlns:a16="http://schemas.microsoft.com/office/drawing/2014/main" id="{40AEB207-5CCA-42B4-BEBC-9A32AAFF5478}"/>
              </a:ext>
            </a:extLst>
          </p:cNvPr>
          <p:cNvSpPr>
            <a:spLocks noGrp="1"/>
          </p:cNvSpPr>
          <p:nvPr/>
        </p:nvSpPr>
        <p:spPr>
          <a:xfrm>
            <a:off x="7820025" y="6286500"/>
            <a:ext cx="3981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4倍表示逻辑数据复用，</a:t>
            </a:r>
          </a:p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不表示链路物理带宽增加4倍。</a:t>
            </a:r>
          </a:p>
        </p:txBody>
      </p:sp>
      <p:sp>
        <p:nvSpPr>
          <p:cNvPr id="17" name="share-87">
            <a:extLst>
              <a:ext uri="{FF2B5EF4-FFF2-40B4-BE49-F238E27FC236}">
                <a16:creationId xmlns:a16="http://schemas.microsoft.com/office/drawing/2014/main" id="{BA5957AF-AD1A-4EA0-B0F8-23024EE6E263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37">
            <a:extLst xmlns:a="http://schemas.openxmlformats.org/drawingml/2006/main">
              <a:ext uri="{FF2B5EF4-FFF2-40B4-BE49-F238E27FC236}">
                <a16:creationId xmlns:a16="http://schemas.microsoft.com/office/drawing/2014/main" id="{36DF08EB-BF2A-45D1-9C12-FB522EA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后续工作：SoC ESL校准与同地址冲突专题</a:t>
            </a:r>
          </a:p>
        </p:txBody>
      </p:sp>
      <p:sp>
        <p:nvSpPr>
          <p:cNvPr id="2" name="arch-text-138">
            <a:extLst xmlns:a="http://schemas.openxmlformats.org/drawingml/2006/main">
              <a:ext uri="{FF2B5EF4-FFF2-40B4-BE49-F238E27FC236}">
                <a16:creationId xmlns:a16="http://schemas.microsoft.com/office/drawing/2014/main" id="{3DDD1FB7-4520-4EAB-8D39-6BD8CE9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在当前平台上缩小研究问题，先对齐参考环境，再评估可量化的架构改进。以下为后续计划。</a:t>
            </a:r>
          </a:p>
        </p:txBody>
      </p:sp>
      <p:sp>
        <p:nvSpPr>
          <p:cNvPr id="3" name="arch-text-139">
            <a:extLst xmlns:a="http://schemas.openxmlformats.org/drawingml/2006/main">
              <a:ext uri="{FF2B5EF4-FFF2-40B4-BE49-F238E27FC236}">
                <a16:creationId xmlns:a16="http://schemas.microsoft.com/office/drawing/2014/main" id="{CA5ABCE9-E914-4845-9A7C-9B8F756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arch-diagram-140">
            <a:extLst xmlns:a="http://schemas.openxmlformats.org/drawingml/2006/main">
              <a:ext uri="{FF2B5EF4-FFF2-40B4-BE49-F238E27FC236}">
                <a16:creationId xmlns:a16="http://schemas.microsoft.com/office/drawing/2014/main" id="{A0E0A6C4-A24C-4206-B722-2633CCB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同一事务输入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本模型与SoC ESL</a:t>
            </a:r>
          </a:p>
        </p:txBody>
      </p:sp>
      <p:sp>
        <p:nvSpPr>
          <p:cNvPr id="5" name="arch-diagram-141">
            <a:extLst xmlns:a="http://schemas.openxmlformats.org/drawingml/2006/main">
              <a:ext uri="{FF2B5EF4-FFF2-40B4-BE49-F238E27FC236}">
                <a16:creationId xmlns:a16="http://schemas.microsoft.com/office/drawing/2014/main" id="{2B7FEDCA-D40F-4832-9289-5E47E8B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校准基础约束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延迟、带宽、队列</a:t>
            </a:r>
          </a:p>
        </p:txBody>
      </p:sp>
      <p:sp>
        <p:nvSpPr>
          <p:cNvPr id="6" name="arch-diagram-142">
            <a:extLst xmlns:a="http://schemas.openxmlformats.org/drawingml/2006/main">
              <a:ext uri="{FF2B5EF4-FFF2-40B4-BE49-F238E27FC236}">
                <a16:creationId xmlns:a16="http://schemas.microsoft.com/office/drawing/2014/main" id="{C75CB43D-F9E6-4CA3-93D3-FB1A2DB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同地址冲突专题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热点读写与Atomic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19475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819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43">
            <a:extLst xmlns:a="http://schemas.openxmlformats.org/drawingml/2006/main">
              <a:ext uri="{FF2B5EF4-FFF2-40B4-BE49-F238E27FC236}">
                <a16:creationId xmlns:a16="http://schemas.microsoft.com/office/drawing/2014/main" id="{3692EE88-73D5-49D1-915B-46DBED3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先对齐</a:t>
            </a:r>
          </a:p>
        </p:txBody>
      </p:sp>
      <p:sp>
        <p:nvSpPr>
          <p:cNvPr id="10" name="arch-text-144">
            <a:extLst xmlns:a="http://schemas.openxmlformats.org/drawingml/2006/main">
              <a:ext uri="{FF2B5EF4-FFF2-40B4-BE49-F238E27FC236}">
                <a16:creationId xmlns:a16="http://schemas.microsoft.com/office/drawing/2014/main" id="{9E143DD3-621A-44AC-9984-ABC6E765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请求含义与完成边界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输入流量与配置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统计位置和时间窗口</a:t>
            </a:r>
          </a:p>
        </p:txBody>
      </p:sp>
      <p:sp>
        <p:nvSpPr>
          <p:cNvPr id="11" name="arch-text-145">
            <a:extLst xmlns:a="http://schemas.openxmlformats.org/drawingml/2006/main">
              <a:ext uri="{FF2B5EF4-FFF2-40B4-BE49-F238E27FC236}">
                <a16:creationId xmlns:a16="http://schemas.microsoft.com/office/drawing/2014/main" id="{2ED749E7-B835-42C7-AD95-7B76CEB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再定位</a:t>
            </a:r>
          </a:p>
        </p:txBody>
      </p:sp>
      <p:sp>
        <p:nvSpPr>
          <p:cNvPr id="12" name="arch-text-146">
            <a:extLst xmlns:a="http://schemas.openxmlformats.org/drawingml/2006/main">
              <a:ext uri="{FF2B5EF4-FFF2-40B4-BE49-F238E27FC236}">
                <a16:creationId xmlns:a16="http://schemas.microsoft.com/office/drawing/2014/main" id="{A3DB9FA8-6633-4C13-9F3C-E74F67C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低负载基础延迟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并发下的吞吐拐点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各模块等待与尾延迟</a:t>
            </a:r>
          </a:p>
        </p:txBody>
      </p:sp>
      <p:sp>
        <p:nvSpPr>
          <p:cNvPr id="13" name="arch-text-147">
            <a:extLst xmlns:a="http://schemas.openxmlformats.org/drawingml/2006/main">
              <a:ext uri="{FF2B5EF4-FFF2-40B4-BE49-F238E27FC236}">
                <a16:creationId xmlns:a16="http://schemas.microsoft.com/office/drawing/2014/main" id="{6FD550D9-8D82-4533-A641-728CCCED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最后比较方案</a:t>
            </a:r>
          </a:p>
        </p:txBody>
      </p:sp>
      <p:sp>
        <p:nvSpPr>
          <p:cNvPr id="14" name="arch-text-148">
            <a:extLst xmlns:a="http://schemas.openxmlformats.org/drawingml/2006/main">
              <a:ext uri="{FF2B5EF4-FFF2-40B4-BE49-F238E27FC236}">
                <a16:creationId xmlns:a16="http://schemas.microsoft.com/office/drawing/2014/main" id="{5125E614-D3D7-4A67-B675-33C7732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量化冲突与非热点干扰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参考公开竞品机制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评估收益、状态与资源代价</a:t>
            </a:r>
          </a:p>
        </p:txBody>
      </p:sp>
      <p:sp>
        <p:nvSpPr>
          <p:cNvPr id="15" name="arch-text-149">
            <a:extLst xmlns:a="http://schemas.openxmlformats.org/drawingml/2006/main">
              <a:ext uri="{FF2B5EF4-FFF2-40B4-BE49-F238E27FC236}">
                <a16:creationId xmlns:a16="http://schemas.microsoft.com/office/drawing/2014/main" id="{6532ED7D-7611-4D3A-B329-9608C32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核侧请求组织、互连调度和存储服务都是候选改进位置。Atomic需要另行补充语义与验证。</a:t>
            </a:r>
          </a:p>
        </p:txBody>
      </p:sp>
    </p:spTree>
    <p:extLst>
      <p:ext uri="{BB962C8B-B14F-4D97-AF65-F5344CB8AC3E}">
        <p14:creationId xmlns:p14="http://schemas.microsoft.com/office/powerpoint/2010/main" val="13992468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50">
            <a:extLst xmlns:a="http://schemas.openxmlformats.org/drawingml/2006/main">
              <a:ext uri="{FF2B5EF4-FFF2-40B4-BE49-F238E27FC236}">
                <a16:creationId xmlns:a16="http://schemas.microsoft.com/office/drawing/2014/main" id="{5AAF8EA3-6794-48FE-9B66-1C5C242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工作总结：架构实现与建模经验</a:t>
            </a:r>
          </a:p>
        </p:txBody>
      </p:sp>
      <p:sp>
        <p:nvSpPr>
          <p:cNvPr id="2" name="arch-text-151">
            <a:extLst xmlns:a="http://schemas.openxmlformats.org/drawingml/2006/main">
              <a:ext uri="{FF2B5EF4-FFF2-40B4-BE49-F238E27FC236}">
                <a16:creationId xmlns:a16="http://schemas.microsoft.com/office/drawing/2014/main" id="{76DC66BA-69E5-424C-BD43-3543FF5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本阶段在现有事件驱动框架上完成多核总线与存储性能探索模型。</a:t>
            </a:r>
          </a:p>
        </p:txBody>
      </p:sp>
      <p:sp>
        <p:nvSpPr>
          <p:cNvPr id="3" name="arch-text-152">
            <a:extLst xmlns:a="http://schemas.openxmlformats.org/drawingml/2006/main">
              <a:ext uri="{FF2B5EF4-FFF2-40B4-BE49-F238E27FC236}">
                <a16:creationId xmlns:a16="http://schemas.microsoft.com/office/drawing/2014/main" id="{CA191A63-63A6-497F-9ECC-6CAF255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arch-diagram-153">
            <a:extLst xmlns:a="http://schemas.openxmlformats.org/drawingml/2006/main">
              <a:ext uri="{FF2B5EF4-FFF2-40B4-BE49-F238E27FC236}">
                <a16:creationId xmlns:a16="http://schemas.microsoft.com/office/drawing/2014/main" id="{B71A0235-5C4E-4D65-8CF4-B410BE7C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互连设计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H/V拓扑与跨环转发</a:t>
            </a:r>
          </a:p>
        </p:txBody>
      </p:sp>
      <p:sp>
        <p:nvSpPr>
          <p:cNvPr id="5" name="arch-diagram-154">
            <a:extLst xmlns:a="http://schemas.openxmlformats.org/drawingml/2006/main">
              <a:ext uri="{FF2B5EF4-FFF2-40B4-BE49-F238E27FC236}">
                <a16:creationId xmlns:a16="http://schemas.microsoft.com/office/drawing/2014/main" id="{4036E67A-B1D6-457D-8359-9BDCCEB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资源与时序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反压、槽位和串行化</a:t>
            </a:r>
          </a:p>
        </p:txBody>
      </p:sp>
      <p:sp>
        <p:nvSpPr>
          <p:cNvPr id="6" name="arch-diagram-155">
            <a:extLst xmlns:a="http://schemas.openxmlformats.org/drawingml/2006/main">
              <a:ext uri="{FF2B5EF4-FFF2-40B4-BE49-F238E27FC236}">
                <a16:creationId xmlns:a16="http://schemas.microsoft.com/office/drawing/2014/main" id="{6F67A62B-057E-40B1-B0D8-3FD2A38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存储侧组织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HA合并与L2分发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91425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56">
            <a:extLst xmlns:a="http://schemas.openxmlformats.org/drawingml/2006/main">
              <a:ext uri="{FF2B5EF4-FFF2-40B4-BE49-F238E27FC236}">
                <a16:creationId xmlns:a16="http://schemas.microsoft.com/office/drawing/2014/main" id="{5BC4D486-1BDD-4D70-BE4B-E7C9074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43325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我的主要产出</a:t>
            </a:r>
          </a:p>
        </p:txBody>
      </p:sp>
      <p:sp>
        <p:nvSpPr>
          <p:cNvPr id="10" name="arch-text-157">
            <a:extLst xmlns:a="http://schemas.openxmlformats.org/drawingml/2006/main">
              <a:ext uri="{FF2B5EF4-FFF2-40B4-BE49-F238E27FC236}">
                <a16:creationId xmlns:a16="http://schemas.microsoft.com/office/drawing/2014/main" id="{2BB8A4A9-1FA7-4038-864B-BDBCBA1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24350"/>
            <a:ext cx="1133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模型实现与功能测试，性能统计及参数扫描，架构、接口和配置文档。</a:t>
            </a:r>
          </a:p>
        </p:txBody>
      </p:sp>
      <p:sp>
        <p:nvSpPr>
          <p:cNvPr id="11" name="arch-line-158">
            <a:extLst xmlns:a="http://schemas.openxmlformats.org/drawingml/2006/main">
              <a:ext uri="{FF2B5EF4-FFF2-40B4-BE49-F238E27FC236}">
                <a16:creationId xmlns:a16="http://schemas.microsoft.com/office/drawing/2014/main" id="{06C08D61-D419-469C-B1C5-1D6191C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59">
            <a:extLst xmlns:a="http://schemas.openxmlformats.org/drawingml/2006/main">
              <a:ext uri="{FF2B5EF4-FFF2-40B4-BE49-F238E27FC236}">
                <a16:creationId xmlns:a16="http://schemas.microsoft.com/office/drawing/2014/main" id="{2D7E87BB-8D02-401E-A2A3-E7FC81F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95925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设计中最重要的边界</a:t>
            </a:r>
          </a:p>
        </p:txBody>
      </p:sp>
      <p:sp>
        <p:nvSpPr>
          <p:cNvPr id="13" name="arch-text-160">
            <a:extLst xmlns:a="http://schemas.openxmlformats.org/drawingml/2006/main">
              <a:ext uri="{FF2B5EF4-FFF2-40B4-BE49-F238E27FC236}">
                <a16:creationId xmlns:a16="http://schemas.microsoft.com/office/drawing/2014/main" id="{3DD7CC75-736A-4E72-B69C-ADBADF5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谁持有数据，什么条件允许推进，何时释放资源。</a:t>
            </a:r>
          </a:p>
        </p:txBody>
      </p:sp>
      <p:sp>
        <p:nvSpPr>
          <p:cNvPr id="14" name="arch-text-161">
            <a:extLst xmlns:a="http://schemas.openxmlformats.org/drawingml/2006/main">
              <a:ext uri="{FF2B5EF4-FFF2-40B4-BE49-F238E27FC236}">
                <a16:creationId xmlns:a16="http://schemas.microsoft.com/office/drawing/2014/main" id="{272F07BC-7FD3-41D6-9D06-5B6DE91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4625"/>
            <a:ext cx="1133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感谢嘉南哥、晨哥、昊哥的指导与帮助，也感谢大家参与交流。</a:t>
            </a:r>
          </a:p>
        </p:txBody>
      </p:sp>
    </p:spTree>
    <p:extLst>
      <p:ext uri="{BB962C8B-B14F-4D97-AF65-F5344CB8AC3E}">
        <p14:creationId xmlns:p14="http://schemas.microsoft.com/office/powerpoint/2010/main" val="1354394998"/>
      </p:ext>
    </p:extLst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1">
            <a:extLst>
              <a:ext uri="{FF2B5EF4-FFF2-40B4-BE49-F238E27FC236}">
                <a16:creationId xmlns:a16="http://schemas.microsoft.com/office/drawing/2014/main" id="{1EC1C73C-422A-4E64-85FB-458EF989CA2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附录A：四种地址模式与共享关系</a:t>
            </a:r>
          </a:p>
        </p:txBody>
      </p:sp>
      <p:sp>
        <p:nvSpPr>
          <p:cNvPr id="3" name="txt-62">
            <a:extLst>
              <a:ext uri="{FF2B5EF4-FFF2-40B4-BE49-F238E27FC236}">
                <a16:creationId xmlns:a16="http://schemas.microsoft.com/office/drawing/2014/main" id="{B89C6F29-03A9-4EDB-AABD-8BE4CE19B31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11430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示意：缓存行512字节，S0～S3代表不同数据范围。图中以128字节分段请求说明共享关系。</a:t>
            </a:r>
          </a:p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diagram-63">
            <a:extLst>
              <a:ext uri="{FF2B5EF4-FFF2-40B4-BE49-F238E27FC236}">
                <a16:creationId xmlns:a16="http://schemas.microsoft.com/office/drawing/2014/main" id="{5BC70951-89CC-41FC-8E4F-24F71029C036}"/>
              </a:ext>
            </a:extLst>
          </p:cNvPr>
          <p:cNvSpPr>
            <a:spLocks noGrp="1"/>
          </p:cNvSpPr>
          <p:nvPr/>
        </p:nvSpPr>
        <p:spPr>
          <a:xfrm>
            <a:off x="381000" y="156210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diagram-64">
            <a:extLst>
              <a:ext uri="{FF2B5EF4-FFF2-40B4-BE49-F238E27FC236}">
                <a16:creationId xmlns:a16="http://schemas.microsoft.com/office/drawing/2014/main" id="{F3C1ACA9-4701-4089-884F-3430167A7EA2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6" name="diagram-65">
            <a:extLst>
              <a:ext uri="{FF2B5EF4-FFF2-40B4-BE49-F238E27FC236}">
                <a16:creationId xmlns:a16="http://schemas.microsoft.com/office/drawing/2014/main" id="{070625C9-46E4-41D1-A116-53B9807461F9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7" name="diagram-66">
            <a:extLst>
              <a:ext uri="{FF2B5EF4-FFF2-40B4-BE49-F238E27FC236}">
                <a16:creationId xmlns:a16="http://schemas.microsoft.com/office/drawing/2014/main" id="{C1C9A0FA-2E11-4A76-A983-5B7D38D192B3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8" name="txt-67">
            <a:extLst>
              <a:ext uri="{FF2B5EF4-FFF2-40B4-BE49-F238E27FC236}">
                <a16:creationId xmlns:a16="http://schemas.microsoft.com/office/drawing/2014/main" id="{07151A78-2D2C-4507-A465-F2BCD6BC8DB0}"/>
              </a:ext>
            </a:extLst>
          </p:cNvPr>
          <p:cNvSpPr>
            <a:spLocks noGrp="1"/>
          </p:cNvSpPr>
          <p:nvPr/>
        </p:nvSpPr>
        <p:spPr>
          <a:xfrm>
            <a:off x="561975" y="1781175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独立缓存行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</p:txBody>
      </p:sp>
      <p:sp>
        <p:nvSpPr>
          <p:cNvPr id="10" name="diagram-69">
            <a:extLst>
              <a:ext uri="{FF2B5EF4-FFF2-40B4-BE49-F238E27FC236}">
                <a16:creationId xmlns:a16="http://schemas.microsoft.com/office/drawing/2014/main" id="{C51F8063-8634-4ED6-A01B-C82E0C219396}"/>
              </a:ext>
            </a:extLst>
          </p:cNvPr>
          <p:cNvSpPr>
            <a:spLocks noGrp="1"/>
          </p:cNvSpPr>
          <p:nvPr/>
        </p:nvSpPr>
        <p:spPr>
          <a:xfrm>
            <a:off x="22860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M0：行0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" name="diagram-70">
            <a:extLst>
              <a:ext uri="{FF2B5EF4-FFF2-40B4-BE49-F238E27FC236}">
                <a16:creationId xmlns:a16="http://schemas.microsoft.com/office/drawing/2014/main" id="{903609BB-0069-404F-89F5-564ED99DFE7D}"/>
              </a:ext>
            </a:extLst>
          </p:cNvPr>
          <p:cNvSpPr>
            <a:spLocks noGrp="1"/>
          </p:cNvSpPr>
          <p:nvPr/>
        </p:nvSpPr>
        <p:spPr>
          <a:xfrm>
            <a:off x="35242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M1：行1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" name="diagram-71">
            <a:extLst>
              <a:ext uri="{FF2B5EF4-FFF2-40B4-BE49-F238E27FC236}">
                <a16:creationId xmlns:a16="http://schemas.microsoft.com/office/drawing/2014/main" id="{CF9BFE7E-6B8A-450A-BD00-6372CC8D9521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M2：行2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" name="diagram-72">
            <a:extLst>
              <a:ext uri="{FF2B5EF4-FFF2-40B4-BE49-F238E27FC236}">
                <a16:creationId xmlns:a16="http://schemas.microsoft.com/office/drawing/2014/main" id="{EF6A854C-D929-4CC3-88B8-617B4D980C50}"/>
              </a:ext>
            </a:extLst>
          </p:cNvPr>
          <p:cNvSpPr>
            <a:spLocks noGrp="1"/>
          </p:cNvSpPr>
          <p:nvPr/>
        </p:nvSpPr>
        <p:spPr>
          <a:xfrm>
            <a:off x="60007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M3：行3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4" name="txt-73">
            <a:extLst>
              <a:ext uri="{FF2B5EF4-FFF2-40B4-BE49-F238E27FC236}">
                <a16:creationId xmlns:a16="http://schemas.microsoft.com/office/drawing/2014/main" id="{71B5CEE4-0811-4B76-BC16-A9CA72E91E57}"/>
              </a:ext>
            </a:extLst>
          </p:cNvPr>
          <p:cNvSpPr>
            <a:spLocks noGrp="1"/>
          </p:cNvSpPr>
          <p:nvPr/>
        </p:nvSpPr>
        <p:spPr>
          <a:xfrm>
            <a:off x="561975" y="2867025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独立地址窗口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</p:txBody>
      </p:sp>
      <p:sp>
        <p:nvSpPr>
          <p:cNvPr id="16" name="diagram-75">
            <a:extLst>
              <a:ext uri="{FF2B5EF4-FFF2-40B4-BE49-F238E27FC236}">
                <a16:creationId xmlns:a16="http://schemas.microsoft.com/office/drawing/2014/main" id="{65B2EF0A-3F5F-4328-A405-61DF24D798B8}"/>
              </a:ext>
            </a:extLst>
          </p:cNvPr>
          <p:cNvSpPr>
            <a:spLocks noGrp="1"/>
          </p:cNvSpPr>
          <p:nvPr/>
        </p:nvSpPr>
        <p:spPr>
          <a:xfrm>
            <a:off x="22860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7" name="diagram-76">
            <a:extLst>
              <a:ext uri="{FF2B5EF4-FFF2-40B4-BE49-F238E27FC236}">
                <a16:creationId xmlns:a16="http://schemas.microsoft.com/office/drawing/2014/main" id="{58503F86-619F-4AF8-80D4-5988C1170CBC}"/>
              </a:ext>
            </a:extLst>
          </p:cNvPr>
          <p:cNvSpPr>
            <a:spLocks noGrp="1"/>
          </p:cNvSpPr>
          <p:nvPr/>
        </p:nvSpPr>
        <p:spPr>
          <a:xfrm>
            <a:off x="35242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8" name="diagram-77">
            <a:extLst>
              <a:ext uri="{FF2B5EF4-FFF2-40B4-BE49-F238E27FC236}">
                <a16:creationId xmlns:a16="http://schemas.microsoft.com/office/drawing/2014/main" id="{374FB6BA-1161-408D-A8B6-B1F20F6B8EC9}"/>
              </a:ext>
            </a:extLst>
          </p:cNvPr>
          <p:cNvSpPr>
            <a:spLocks noGrp="1"/>
          </p:cNvSpPr>
          <p:nvPr/>
        </p:nvSpPr>
        <p:spPr>
          <a:xfrm>
            <a:off x="47625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9" name="diagram-78">
            <a:extLst>
              <a:ext uri="{FF2B5EF4-FFF2-40B4-BE49-F238E27FC236}">
                <a16:creationId xmlns:a16="http://schemas.microsoft.com/office/drawing/2014/main" id="{861A0B86-CEE6-45DA-B772-898C9B838828}"/>
              </a:ext>
            </a:extLst>
          </p:cNvPr>
          <p:cNvSpPr>
            <a:spLocks noGrp="1"/>
          </p:cNvSpPr>
          <p:nvPr/>
        </p:nvSpPr>
        <p:spPr>
          <a:xfrm>
            <a:off x="60007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20" name="txt-79">
            <a:extLst>
              <a:ext uri="{FF2B5EF4-FFF2-40B4-BE49-F238E27FC236}">
                <a16:creationId xmlns:a16="http://schemas.microsoft.com/office/drawing/2014/main" id="{9ABCABD6-4589-4E1E-99F9-9DAAD81649E1}"/>
              </a:ext>
            </a:extLst>
          </p:cNvPr>
          <p:cNvSpPr>
            <a:spLocks noGrp="1"/>
          </p:cNvSpPr>
          <p:nvPr/>
        </p:nvSpPr>
        <p:spPr>
          <a:xfrm>
            <a:off x="561975" y="39624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同行不同范围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</p:txBody>
      </p:sp>
      <p:sp>
        <p:nvSpPr>
          <p:cNvPr id="22" name="diagram-81">
            <a:extLst>
              <a:ext uri="{FF2B5EF4-FFF2-40B4-BE49-F238E27FC236}">
                <a16:creationId xmlns:a16="http://schemas.microsoft.com/office/drawing/2014/main" id="{C47FE2DF-17A6-4F63-805D-FA647C3CB053}"/>
              </a:ext>
            </a:extLst>
          </p:cNvPr>
          <p:cNvSpPr>
            <a:spLocks noGrp="1"/>
          </p:cNvSpPr>
          <p:nvPr/>
        </p:nvSpPr>
        <p:spPr>
          <a:xfrm>
            <a:off x="22860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行A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M0@S0、M1@S1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M2@S2、M3@S3</a:t>
            </a:r>
          </a:p>
        </p:txBody>
      </p:sp>
      <p:sp>
        <p:nvSpPr>
          <p:cNvPr id="23" name="diagram-82">
            <a:extLst>
              <a:ext uri="{FF2B5EF4-FFF2-40B4-BE49-F238E27FC236}">
                <a16:creationId xmlns:a16="http://schemas.microsoft.com/office/drawing/2014/main" id="{A44CF236-28B6-4FFC-8BC3-178925125286}"/>
              </a:ext>
            </a:extLst>
          </p:cNvPr>
          <p:cNvSpPr>
            <a:spLocks noGrp="1"/>
          </p:cNvSpPr>
          <p:nvPr/>
        </p:nvSpPr>
        <p:spPr>
          <a:xfrm>
            <a:off x="48387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行B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M4@S0、M5@S1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M6@S2、M7@S3</a:t>
            </a:r>
          </a:p>
        </p:txBody>
      </p:sp>
      <p:sp>
        <p:nvSpPr>
          <p:cNvPr id="24" name="txt-83">
            <a:extLst>
              <a:ext uri="{FF2B5EF4-FFF2-40B4-BE49-F238E27FC236}">
                <a16:creationId xmlns:a16="http://schemas.microsoft.com/office/drawing/2014/main" id="{4F01EFFD-E5E1-4A07-8301-E75AEDEBF132}"/>
              </a:ext>
            </a:extLst>
          </p:cNvPr>
          <p:cNvSpPr>
            <a:spLocks noGrp="1"/>
          </p:cNvSpPr>
          <p:nvPr/>
        </p:nvSpPr>
        <p:spPr>
          <a:xfrm>
            <a:off x="561975" y="512445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同行相同范围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</p:txBody>
      </p:sp>
      <p:sp>
        <p:nvSpPr>
          <p:cNvPr id="26" name="diagram-85">
            <a:extLst>
              <a:ext uri="{FF2B5EF4-FFF2-40B4-BE49-F238E27FC236}">
                <a16:creationId xmlns:a16="http://schemas.microsoft.com/office/drawing/2014/main" id="{B4A364DB-670A-40D3-A1DC-84D9299172CE}"/>
              </a:ext>
            </a:extLst>
          </p:cNvPr>
          <p:cNvSpPr>
            <a:spLocks noGrp="1"/>
          </p:cNvSpPr>
          <p:nvPr/>
        </p:nvSpPr>
        <p:spPr>
          <a:xfrm>
            <a:off x="2286000" y="5419725"/>
            <a:ext cx="207645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M0、M1…M7</a:t>
            </a:r>
          </a:p>
        </p:txBody>
      </p:sp>
      <p:sp>
        <p:nvSpPr>
          <p:cNvPr id="27" name="diagram-86">
            <a:extLst>
              <a:ext uri="{FF2B5EF4-FFF2-40B4-BE49-F238E27FC236}">
                <a16:creationId xmlns:a16="http://schemas.microsoft.com/office/drawing/2014/main" id="{658F8E1B-AFEB-4655-BE01-43242C80F224}"/>
              </a:ext>
            </a:extLst>
          </p:cNvPr>
          <p:cNvSpPr>
            <a:spLocks noGrp="1"/>
          </p:cNvSpPr>
          <p:nvPr/>
        </p:nvSpPr>
        <p:spPr>
          <a:xfrm>
            <a:off x="4829175" y="5419725"/>
            <a:ext cx="23241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共同访问行A的S0</a:t>
            </a:r>
          </a:p>
        </p:txBody>
      </p:sp>
      <p:cxnSp>
        <p:nvCxnSpPr>
          <p:cNvPr id="28" name="直接箭头连接符 62"/>
          <p:cNvCxnSpPr/>
          <p:nvPr/>
        </p:nvCxnSpPr>
        <p:spPr>
          <a:xfrm>
            <a:off x="4362450" y="5624513"/>
            <a:ext cx="4667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txt-87">
            <a:extLst>
              <a:ext uri="{FF2B5EF4-FFF2-40B4-BE49-F238E27FC236}">
                <a16:creationId xmlns:a16="http://schemas.microsoft.com/office/drawing/2014/main" id="{D98C15FB-ABE5-4122-85E3-BB88A9B1123E}"/>
              </a:ext>
            </a:extLst>
          </p:cNvPr>
          <p:cNvSpPr>
            <a:spLocks noGrp="1"/>
          </p:cNvSpPr>
          <p:nvPr/>
        </p:nvSpPr>
        <p:spPr>
          <a:xfrm>
            <a:off x="7820025" y="16478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</a:p>
        </p:txBody>
      </p:sp>
      <p:sp>
        <p:nvSpPr>
          <p:cNvPr id="30" name="txt-88">
            <a:extLst>
              <a:ext uri="{FF2B5EF4-FFF2-40B4-BE49-F238E27FC236}">
                <a16:creationId xmlns:a16="http://schemas.microsoft.com/office/drawing/2014/main" id="{2EA80D5C-34DE-4A23-A37C-E6ABACFE41D9}"/>
              </a:ext>
            </a:extLst>
          </p:cNvPr>
          <p:cNvSpPr>
            <a:spLocks noGrp="1"/>
          </p:cNvSpPr>
          <p:nvPr/>
        </p:nvSpPr>
        <p:spPr>
          <a:xfrm>
            <a:off x="7820025" y="204787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未命中时，128／256／512字节请求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对应4倍／2倍／1倍后端读取量。</a:t>
            </a:r>
          </a:p>
        </p:txBody>
      </p:sp>
      <p:sp>
        <p:nvSpPr>
          <p:cNvPr id="31" name="txt-89">
            <a:extLst>
              <a:ext uri="{FF2B5EF4-FFF2-40B4-BE49-F238E27FC236}">
                <a16:creationId xmlns:a16="http://schemas.microsoft.com/office/drawing/2014/main" id="{704C6CC2-454C-4683-A04D-023DE34F326D}"/>
              </a:ext>
            </a:extLst>
          </p:cNvPr>
          <p:cNvSpPr>
            <a:spLocks noGrp="1"/>
          </p:cNvSpPr>
          <p:nvPr/>
        </p:nvSpPr>
        <p:spPr>
          <a:xfrm>
            <a:off x="7820025" y="2781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仅在请求端内部复用</a:t>
            </a:r>
          </a:p>
        </p:txBody>
      </p:sp>
      <p:sp>
        <p:nvSpPr>
          <p:cNvPr id="32" name="txt-90">
            <a:extLst>
              <a:ext uri="{FF2B5EF4-FFF2-40B4-BE49-F238E27FC236}">
                <a16:creationId xmlns:a16="http://schemas.microsoft.com/office/drawing/2014/main" id="{A1E8F0EB-CE9F-4BB3-92CF-2215A039125C}"/>
              </a:ext>
            </a:extLst>
          </p:cNvPr>
          <p:cNvSpPr>
            <a:spLocks noGrp="1"/>
          </p:cNvSpPr>
          <p:nvPr/>
        </p:nvSpPr>
        <p:spPr>
          <a:xfrm>
            <a:off x="7820025" y="3171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不同请求端使用独立窗口。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同一端的相邻请求可复用同一缓存行。</a:t>
            </a:r>
          </a:p>
        </p:txBody>
      </p:sp>
      <p:sp>
        <p:nvSpPr>
          <p:cNvPr id="33" name="txt-91">
            <a:extLst>
              <a:ext uri="{FF2B5EF4-FFF2-40B4-BE49-F238E27FC236}">
                <a16:creationId xmlns:a16="http://schemas.microsoft.com/office/drawing/2014/main" id="{08ACD4D1-8A6A-43CA-B140-D7D86F513D32}"/>
              </a:ext>
            </a:extLst>
          </p:cNvPr>
          <p:cNvSpPr>
            <a:spLocks noGrp="1"/>
          </p:cNvSpPr>
          <p:nvPr/>
        </p:nvSpPr>
        <p:spPr>
          <a:xfrm>
            <a:off x="7820025" y="3924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一次读取，分段返回</a:t>
            </a:r>
          </a:p>
        </p:txBody>
      </p:sp>
      <p:sp>
        <p:nvSpPr>
          <p:cNvPr id="34" name="txt-92">
            <a:extLst>
              <a:ext uri="{FF2B5EF4-FFF2-40B4-BE49-F238E27FC236}">
                <a16:creationId xmlns:a16="http://schemas.microsoft.com/office/drawing/2014/main" id="{70D93B1B-00C0-4FB3-AFCC-5B43D4BFE148}"/>
              </a:ext>
            </a:extLst>
          </p:cNvPr>
          <p:cNvSpPr>
            <a:spLocks noGrp="1"/>
          </p:cNvSpPr>
          <p:nvPr/>
        </p:nvSpPr>
        <p:spPr>
          <a:xfrm>
            <a:off x="7820025" y="431482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一行数据服务不同范围的请求。请求覆盖整行时，不再有分段空间。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txt-93">
            <a:extLst>
              <a:ext uri="{FF2B5EF4-FFF2-40B4-BE49-F238E27FC236}">
                <a16:creationId xmlns:a16="http://schemas.microsoft.com/office/drawing/2014/main" id="{D5ED300D-4911-4063-BADA-F420519F14C9}"/>
              </a:ext>
            </a:extLst>
          </p:cNvPr>
          <p:cNvSpPr>
            <a:spLocks noGrp="1"/>
          </p:cNvSpPr>
          <p:nvPr/>
        </p:nvSpPr>
        <p:spPr>
          <a:xfrm>
            <a:off x="7820025" y="5067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相同数据，多播共享</a:t>
            </a:r>
          </a:p>
        </p:txBody>
      </p:sp>
      <p:sp>
        <p:nvSpPr>
          <p:cNvPr id="36" name="txt-94">
            <a:extLst>
              <a:ext uri="{FF2B5EF4-FFF2-40B4-BE49-F238E27FC236}">
                <a16:creationId xmlns:a16="http://schemas.microsoft.com/office/drawing/2014/main" id="{88E8C7D8-BA61-40A5-96CB-55D086113E9B}"/>
              </a:ext>
            </a:extLst>
          </p:cNvPr>
          <p:cNvSpPr>
            <a:spLocks noGrp="1"/>
          </p:cNvSpPr>
          <p:nvPr/>
        </p:nvSpPr>
        <p:spPr>
          <a:xfrm>
            <a:off x="7820025" y="5457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HA合并同址等待请求，一份物理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DAT数据通过多播服务多个请求端。</a:t>
            </a:r>
          </a:p>
        </p:txBody>
      </p:sp>
      <p:sp>
        <p:nvSpPr>
          <p:cNvPr id="37" name="txt-95">
            <a:extLst>
              <a:ext uri="{FF2B5EF4-FFF2-40B4-BE49-F238E27FC236}">
                <a16:creationId xmlns:a16="http://schemas.microsoft.com/office/drawing/2014/main" id="{2897E338-818D-48C5-AFC4-859AE1B50FC0}"/>
              </a:ext>
            </a:extLst>
          </p:cNvPr>
          <p:cNvSpPr>
            <a:spLocks noGrp="1"/>
          </p:cNvSpPr>
          <p:nvPr/>
        </p:nvSpPr>
        <p:spPr>
          <a:xfrm>
            <a:off x="381000" y="6267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地址关系决定能否共享后端读取，以及采用分段返回还是多播分发。</a:t>
            </a:r>
          </a:p>
        </p:txBody>
      </p:sp>
      <p:sp>
        <p:nvSpPr>
          <p:cNvPr id="38" name="share-157">
            <a:extLst>
              <a:ext uri="{FF2B5EF4-FFF2-40B4-BE49-F238E27FC236}">
                <a16:creationId xmlns:a16="http://schemas.microsoft.com/office/drawing/2014/main" id="{BF4B58F7-18DD-4BAD-9282-CE49827E6FB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1">
            <a:extLst>
              <a:ext uri="{FF2B5EF4-FFF2-40B4-BE49-F238E27FC236}">
                <a16:creationId xmlns:a16="http://schemas.microsoft.com/office/drawing/2014/main" id="{5FDECE33-D20C-4AA1-ADD5-D7444329D7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附录B：命中率扫描与吞吐平台</a:t>
            </a:r>
          </a:p>
        </p:txBody>
      </p:sp>
      <p:sp>
        <p:nvSpPr>
          <p:cNvPr id="5" name="exp-text-2">
            <a:extLst>
              <a:ext uri="{FF2B5EF4-FFF2-40B4-BE49-F238E27FC236}">
                <a16:creationId xmlns:a16="http://schemas.microsoft.com/office/drawing/2014/main" id="{0C8C95FE-AB0B-49C1-8FA2-A41FDD8D0707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实验条件：请求大小256字节，比较四种地址模式。</a:t>
            </a:r>
          </a:p>
        </p:txBody>
      </p:sp>
      <p:sp>
        <p:nvSpPr>
          <p:cNvPr id="6" name="exp-text-3">
            <a:extLst>
              <a:ext uri="{FF2B5EF4-FFF2-40B4-BE49-F238E27FC236}">
                <a16:creationId xmlns:a16="http://schemas.microsoft.com/office/drawing/2014/main" id="{4F32480E-A24B-483E-B071-F56C1F0BF63D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4">
            <a:extLst>
              <a:ext uri="{FF2B5EF4-FFF2-40B4-BE49-F238E27FC236}">
                <a16:creationId xmlns:a16="http://schemas.microsoft.com/office/drawing/2014/main" id="{3EA51185-5143-47CE-A331-736AAE537AF7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5">
            <a:extLst>
              <a:ext uri="{FF2B5EF4-FFF2-40B4-BE49-F238E27FC236}">
                <a16:creationId xmlns:a16="http://schemas.microsoft.com/office/drawing/2014/main" id="{5A5FB09E-F2E2-4F68-A4BD-F8E2FE5B8044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6">
            <a:extLst>
              <a:ext uri="{FF2B5EF4-FFF2-40B4-BE49-F238E27FC236}">
                <a16:creationId xmlns:a16="http://schemas.microsoft.com/office/drawing/2014/main" id="{0554A1C8-AEED-49EC-9315-26BE85080135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7">
            <a:extLst>
              <a:ext uri="{FF2B5EF4-FFF2-40B4-BE49-F238E27FC236}">
                <a16:creationId xmlns:a16="http://schemas.microsoft.com/office/drawing/2014/main" id="{140EACCD-617F-4E8D-AF1D-3FDCF1315466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NoMerge在约50%后接近平台区间</a:t>
            </a:r>
          </a:p>
        </p:txBody>
      </p:sp>
      <p:sp>
        <p:nvSpPr>
          <p:cNvPr id="11" name="exp-text-8">
            <a:extLst>
              <a:ext uri="{FF2B5EF4-FFF2-40B4-BE49-F238E27FC236}">
                <a16:creationId xmlns:a16="http://schemas.microsoft.com/office/drawing/2014/main" id="{366B95E1-0371-4F5F-97F3-55889B7EFC52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NoMerge由307提升至约500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50%之后继续提高命中率，吞吐收益明显收窄。</a:t>
            </a:r>
          </a:p>
        </p:txBody>
      </p:sp>
      <p:sp>
        <p:nvSpPr>
          <p:cNvPr id="12" name="exp-text-9">
            <a:extLst>
              <a:ext uri="{FF2B5EF4-FFF2-40B4-BE49-F238E27FC236}">
                <a16:creationId xmlns:a16="http://schemas.microsoft.com/office/drawing/2014/main" id="{F53AAABD-6654-47C8-B883-1D6558C1FDFD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全命中消除后端读取流量</a:t>
            </a:r>
          </a:p>
        </p:txBody>
      </p:sp>
      <p:sp>
        <p:nvSpPr>
          <p:cNvPr id="13" name="exp-text-10">
            <a:extLst>
              <a:ext uri="{FF2B5EF4-FFF2-40B4-BE49-F238E27FC236}">
                <a16:creationId xmlns:a16="http://schemas.microsoft.com/office/drawing/2014/main" id="{AF944B52-F86B-4301-857B-C71C97CC080E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100%命中时，各模式的HBM带宽均降为零。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中低命中区间不完全单调，不能仅按命中率线性估算。</a:t>
            </a:r>
          </a:p>
        </p:txBody>
      </p:sp>
      <p:sp>
        <p:nvSpPr>
          <p:cNvPr id="14" name="exp-text-11">
            <a:extLst>
              <a:ext uri="{FF2B5EF4-FFF2-40B4-BE49-F238E27FC236}">
                <a16:creationId xmlns:a16="http://schemas.microsoft.com/office/drawing/2014/main" id="{AEE0E91B-9934-4AC8-BBED-0486570AE71A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分析含义：吞吐进入平台区间后，应结合PMU检查返回路径，不能仅据曲线锁定瓶颈。</a:t>
            </a:r>
          </a:p>
        </p:txBody>
      </p:sp>
      <p:sp>
        <p:nvSpPr>
          <p:cNvPr id="15" name="share-76">
            <a:extLst>
              <a:ext uri="{FF2B5EF4-FFF2-40B4-BE49-F238E27FC236}">
                <a16:creationId xmlns:a16="http://schemas.microsoft.com/office/drawing/2014/main" id="{8A17C651-7CDE-4157-AF4C-6DF89C7FF24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23">
            <a:extLst>
              <a:ext uri="{FF2B5EF4-FFF2-40B4-BE49-F238E27FC236}">
                <a16:creationId xmlns:a16="http://schemas.microsoft.com/office/drawing/2014/main" id="{DB9C212E-918F-43BF-8119-A71023AA4C0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附录C：请求粒度与读取放大</a:t>
            </a:r>
          </a:p>
        </p:txBody>
      </p:sp>
      <p:sp>
        <p:nvSpPr>
          <p:cNvPr id="5" name="exp-text-24">
            <a:extLst>
              <a:ext uri="{FF2B5EF4-FFF2-40B4-BE49-F238E27FC236}">
                <a16:creationId xmlns:a16="http://schemas.microsoft.com/office/drawing/2014/main" id="{3DCF6EF3-3F32-496D-8933-6DB697BC12D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实验条件：L2命中率0%，并发深度128，请求大小为128／256／512字节。</a:t>
            </a:r>
          </a:p>
        </p:txBody>
      </p:sp>
      <p:sp>
        <p:nvSpPr>
          <p:cNvPr id="6" name="exp-text-25">
            <a:extLst>
              <a:ext uri="{FF2B5EF4-FFF2-40B4-BE49-F238E27FC236}">
                <a16:creationId xmlns:a16="http://schemas.microsoft.com/office/drawing/2014/main" id="{525D3296-4493-49AB-88C7-E35B0D0A2F8F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26">
            <a:extLst>
              <a:ext uri="{FF2B5EF4-FFF2-40B4-BE49-F238E27FC236}">
                <a16:creationId xmlns:a16="http://schemas.microsoft.com/office/drawing/2014/main" id="{8B4AB444-DC1D-4A62-A52D-34D9FFE4A930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27">
            <a:extLst>
              <a:ext uri="{FF2B5EF4-FFF2-40B4-BE49-F238E27FC236}">
                <a16:creationId xmlns:a16="http://schemas.microsoft.com/office/drawing/2014/main" id="{3D976F7D-B7B2-4824-A7C0-12D7B2BCA807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28">
            <a:extLst>
              <a:ext uri="{FF2B5EF4-FFF2-40B4-BE49-F238E27FC236}">
                <a16:creationId xmlns:a16="http://schemas.microsoft.com/office/drawing/2014/main" id="{DCD92544-397B-45DA-A927-E887CECEBF12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29">
            <a:extLst>
              <a:ext uri="{FF2B5EF4-FFF2-40B4-BE49-F238E27FC236}">
                <a16:creationId xmlns:a16="http://schemas.microsoft.com/office/drawing/2014/main" id="{FD7516F3-E97F-43A4-BAF1-2FA95B244CAD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本组连续访问受益于更大请求</a:t>
            </a:r>
          </a:p>
        </p:txBody>
      </p:sp>
      <p:sp>
        <p:nvSpPr>
          <p:cNvPr id="11" name="exp-text-30">
            <a:extLst>
              <a:ext uri="{FF2B5EF4-FFF2-40B4-BE49-F238E27FC236}">
                <a16:creationId xmlns:a16="http://schemas.microsoft.com/office/drawing/2014/main" id="{C3E2FD3D-FA34-4035-A5E1-833C62AE321D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NoMerge随请求增大而提升，512字节时与Private重合。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Shared在512字节时达到890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exp-text-31">
            <a:extLst>
              <a:ext uri="{FF2B5EF4-FFF2-40B4-BE49-F238E27FC236}">
                <a16:creationId xmlns:a16="http://schemas.microsoft.com/office/drawing/2014/main" id="{4073BCE5-4B5B-4A75-9C83-EB4753E10BFB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整行读取放大逐步收敛</a:t>
            </a:r>
          </a:p>
        </p:txBody>
      </p:sp>
      <p:sp>
        <p:nvSpPr>
          <p:cNvPr id="13" name="exp-text-32">
            <a:extLst>
              <a:ext uri="{FF2B5EF4-FFF2-40B4-BE49-F238E27FC236}">
                <a16:creationId xmlns:a16="http://schemas.microsoft.com/office/drawing/2014/main" id="{C229FC8D-AD4A-465B-947D-24401FD3F237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NoMerge的HBM／有效字节比由4倍降至2倍、1倍。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Shared同时维持较低HBM流量和较高有效带宽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exp-text-33">
            <a:extLst>
              <a:ext uri="{FF2B5EF4-FFF2-40B4-BE49-F238E27FC236}">
                <a16:creationId xmlns:a16="http://schemas.microsoft.com/office/drawing/2014/main" id="{B574DE23-7E65-4387-A5C9-02E2F1D643C3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参数含义：结合有效数据范围选择请求大小，稀疏访问还需评估无效搬运与占用时间。</a:t>
            </a:r>
          </a:p>
        </p:txBody>
      </p:sp>
      <p:sp>
        <p:nvSpPr>
          <p:cNvPr id="15" name="share-86">
            <a:extLst>
              <a:ext uri="{FF2B5EF4-FFF2-40B4-BE49-F238E27FC236}">
                <a16:creationId xmlns:a16="http://schemas.microsoft.com/office/drawing/2014/main" id="{42D5F90C-C2D1-4AA8-8EA7-03C58EA1229A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56">
            <a:extLst>
              <a:ext uri="{FF2B5EF4-FFF2-40B4-BE49-F238E27FC236}">
                <a16:creationId xmlns:a16="http://schemas.microsoft.com/office/drawing/2014/main" id="{24EB94C4-3CDB-4525-950B-920FD2224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1" y="1066800"/>
            <a:ext cx="6512764" cy="4057650"/>
          </a:xfrm>
          <a:prstGeom prst="rect">
            <a:avLst/>
          </a:prstGeom>
        </p:spPr>
      </p:pic>
      <p:sp>
        <p:nvSpPr>
          <p:cNvPr id="3" name="delivery-add-1">
            <a:extLst>
              <a:ext uri="{FF2B5EF4-FFF2-40B4-BE49-F238E27FC236}">
                <a16:creationId xmlns:a16="http://schemas.microsoft.com/office/drawing/2014/main" id="{0009F314-2752-46BE-947E-1114DA581FAE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附录D：目标架构与当前模型边界</a:t>
            </a:r>
          </a:p>
        </p:txBody>
      </p:sp>
      <p:sp>
        <p:nvSpPr>
          <p:cNvPr id="4" name="delivery-add-2">
            <a:extLst>
              <a:ext uri="{FF2B5EF4-FFF2-40B4-BE49-F238E27FC236}">
                <a16:creationId xmlns:a16="http://schemas.microsoft.com/office/drawing/2014/main" id="{B07EC428-96CA-4A69-9240-91CEA92E66A9}"/>
              </a:ext>
            </a:extLst>
          </p:cNvPr>
          <p:cNvSpPr>
            <a:spLocks noGrp="1"/>
          </p:cNvSpPr>
          <p:nvPr/>
        </p:nvSpPr>
        <p:spPr>
          <a:xfrm>
            <a:off x="6858000" y="10191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delivery-add-3">
            <a:extLst>
              <a:ext uri="{FF2B5EF4-FFF2-40B4-BE49-F238E27FC236}">
                <a16:creationId xmlns:a16="http://schemas.microsoft.com/office/drawing/2014/main" id="{17A42560-72AC-4E9B-B5E3-16CC2DDC6A34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垂直环连接计算核，水平环组织存储访问。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RBRG-L1负责环间连接与路径切换。</a:t>
            </a:r>
          </a:p>
        </p:txBody>
      </p:sp>
      <p:sp>
        <p:nvSpPr>
          <p:cNvPr id="6" name="delivery-add-4">
            <a:extLst>
              <a:ext uri="{FF2B5EF4-FFF2-40B4-BE49-F238E27FC236}">
                <a16:creationId xmlns:a16="http://schemas.microsoft.com/office/drawing/2014/main" id="{09C09FC3-809D-4CE2-BEA9-1F373D20F0EB}"/>
              </a:ext>
            </a:extLst>
          </p:cNvPr>
          <p:cNvSpPr>
            <a:spLocks noGrp="1"/>
          </p:cNvSpPr>
          <p:nvPr/>
        </p:nvSpPr>
        <p:spPr>
          <a:xfrm>
            <a:off x="6858000" y="25050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图示访问流程</a:t>
            </a:r>
          </a:p>
        </p:txBody>
      </p:sp>
      <p:sp>
        <p:nvSpPr>
          <p:cNvPr id="7" name="delivery-add-5">
            <a:extLst>
              <a:ext uri="{FF2B5EF4-FFF2-40B4-BE49-F238E27FC236}">
                <a16:creationId xmlns:a16="http://schemas.microsoft.com/office/drawing/2014/main" id="{291CA85A-7CD8-4EAA-82D6-988258F63967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请求进入HA／目录。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Hit &amp; Snp表示目录查询及侦听流程。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命中数据经L2与垂直环返回。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未命中时访问HBM并回填。</a:t>
            </a:r>
          </a:p>
        </p:txBody>
      </p:sp>
      <p:sp>
        <p:nvSpPr>
          <p:cNvPr id="8" name="delivery-add-6">
            <a:extLst>
              <a:ext uri="{FF2B5EF4-FFF2-40B4-BE49-F238E27FC236}">
                <a16:creationId xmlns:a16="http://schemas.microsoft.com/office/drawing/2014/main" id="{0B8E7805-4F72-4118-847D-AE4FED5778F9}"/>
              </a:ext>
            </a:extLst>
          </p:cNvPr>
          <p:cNvSpPr>
            <a:spLocks noGrp="1"/>
          </p:cNvSpPr>
          <p:nvPr/>
        </p:nvSpPr>
        <p:spPr>
          <a:xfrm>
            <a:off x="6858000" y="454342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当前ESL建模范围</a:t>
            </a:r>
          </a:p>
        </p:txBody>
      </p:sp>
      <p:sp>
        <p:nvSpPr>
          <p:cNvPr id="9" name="delivery-add-7">
            <a:extLst>
              <a:ext uri="{FF2B5EF4-FFF2-40B4-BE49-F238E27FC236}">
                <a16:creationId xmlns:a16="http://schemas.microsoft.com/office/drawing/2014/main" id="{B4CC9575-5529-442B-809C-137C36AF93AA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实现H/V互连、读写事务与聚合返回。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L2命中由配置近似，HBM由TmMem抽象。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目录一致性和完整缓存微结构未展开。</a:t>
            </a:r>
          </a:p>
        </p:txBody>
      </p:sp>
      <p:sp>
        <p:nvSpPr>
          <p:cNvPr id="10" name="delivery-add-8">
            <a:extLst>
              <a:ext uri="{FF2B5EF4-FFF2-40B4-BE49-F238E27FC236}">
                <a16:creationId xmlns:a16="http://schemas.microsoft.com/office/drawing/2014/main" id="{39BDF7E8-D298-41DD-9E08-1BEB562EDF3F}"/>
              </a:ext>
            </a:extLst>
          </p:cNvPr>
          <p:cNvSpPr>
            <a:spLocks noGrp="1"/>
          </p:cNvSpPr>
          <p:nvPr/>
        </p:nvSpPr>
        <p:spPr>
          <a:xfrm>
            <a:off x="295275" y="56197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图示为多水平环目标方案。当前实验采用多条垂直环接入一条共享水平环，实际拓扑见正文第5页。</a:t>
            </a:r>
          </a:p>
        </p:txBody>
      </p:sp>
      <p:sp>
        <p:nvSpPr>
          <p:cNvPr id="11" name="share-156">
            <a:extLst>
              <a:ext uri="{FF2B5EF4-FFF2-40B4-BE49-F238E27FC236}">
                <a16:creationId xmlns:a16="http://schemas.microsoft.com/office/drawing/2014/main" id="{40B9B021-C442-47AD-A2F7-8BF23F26006D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visual20260917/slides/charts/_rels/chart1.xml.rels><Relationships xmlns="http://schemas.openxmlformats.org/package/2006/relationships"><Relationship Id="rIdChartSnapshot1" Type="http://schemas.openxmlformats.org/officeDocument/2006/relationships/package" Target="../../../embeddings/chart-data-snapshot-001.xlsx"/></Relationships>
</file>

<file path=ppt/visual20260917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有效吞吐</c:v>
          </c:tx>
          <c:spPr>
            <a:solidFill xmlns:a="http://schemas.openxmlformats.org/drawingml/2006/main">
              <a:srgbClr val="10286B"/>
            </a:solidFill>
          </c:spPr>
          <c:cat>
            <c:strRef>
              <c:f>'Chart Data'!$A$2:$A$4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0.801336</c:v>
                </c:pt>
                <c:pt idx="1">
                  <c:v>1</c:v>
                </c:pt>
                <c:pt idx="2">
                  <c:v>0.979395</c:v>
                </c:pt>
              </c:numCache>
            </c:numRef>
          </c:val>
        </c:ser>
        <c:ser>
          <c:idx val="1"/>
          <c:order val="1"/>
          <c:tx>
            <c:v>P99延迟</c:v>
          </c:tx>
          <c:spPr>
            <a:solidFill xmlns:a="http://schemas.openxmlformats.org/drawingml/2006/main">
              <a:srgbClr val="C55A11"/>
            </a:solidFill>
          </c:spPr>
          <c:cat>
            <c:strRef>
              <c:f>'Chart Data'!$C$2:$C$4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0.683507</c:v>
                </c:pt>
                <c:pt idx="1">
                  <c:v>1</c:v>
                </c:pt>
                <c:pt idx="2">
                  <c:v>2.546805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81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相对并发256的比值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0000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7464</Words>
  <Application>Microsoft Office PowerPoint</Application>
  <DocSecurity>0</DocSecurity>
  <PresentationFormat>宽屏</PresentationFormat>
  <Paragraphs>602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江 文能</cp:lastModifiedBy>
  <cp:revision>44</cp:revision>
  <dcterms:created xsi:type="dcterms:W3CDTF">2026-08-24T14:44:04Z</dcterms:created>
  <dcterms:modified xsi:type="dcterms:W3CDTF">2026-09-08T08:36:05Z</dcterms:modified>
</cp:coreProperties>
</file>