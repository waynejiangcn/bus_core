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1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3ba10f71294ae9" /><Relationship Type="http://schemas.openxmlformats.org/officeDocument/2006/relationships/extended-properties" Target="/docProps/app.xml" Id="Rb668fd162e8f43c8" /><Relationship Type="http://schemas.openxmlformats.org/officeDocument/2006/relationships/officeDocument" Target="/ppt/presentation.xml" Id="Ra435c5c31d3447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ea5e71b40d40d9"/>
  </p:sldMasterIdLst>
  <p:notesMasterIdLst>
    <p:notesMasterId xmlns:r="http://schemas.openxmlformats.org/officeDocument/2006/relationships" r:id="R1f2c4104b1e24b18"/>
  </p:notesMasterIdLst>
  <p:sldIdLst>
    <p:sldId xmlns:r="http://schemas.openxmlformats.org/officeDocument/2006/relationships" id="256" r:id="R27d73875795f417f"/>
    <p:sldId xmlns:r="http://schemas.openxmlformats.org/officeDocument/2006/relationships" id="257" r:id="Rb9bacc1c96a54b07"/>
    <p:sldId xmlns:r="http://schemas.openxmlformats.org/officeDocument/2006/relationships" id="258" r:id="R4d36e182ddd64353"/>
    <p:sldId xmlns:r="http://schemas.openxmlformats.org/officeDocument/2006/relationships" id="259" r:id="R425d179ad37a4f90"/>
    <p:sldId xmlns:r="http://schemas.openxmlformats.org/officeDocument/2006/relationships" id="260" r:id="R4b1334e1b89c4eff"/>
    <p:sldId xmlns:r="http://schemas.openxmlformats.org/officeDocument/2006/relationships" id="261" r:id="R771f3e6308734d13"/>
    <p:sldId xmlns:r="http://schemas.openxmlformats.org/officeDocument/2006/relationships" id="262" r:id="Rc85f9900af344c35"/>
    <p:sldId xmlns:r="http://schemas.openxmlformats.org/officeDocument/2006/relationships" id="263" r:id="R967dc23805c5467b"/>
    <p:sldId xmlns:r="http://schemas.openxmlformats.org/officeDocument/2006/relationships" id="264" r:id="Rf83a6a30fdbb4f7a"/>
    <p:sldId xmlns:r="http://schemas.openxmlformats.org/officeDocument/2006/relationships" id="265" r:id="Ra3034a7e52c24e8e"/>
    <p:sldId xmlns:r="http://schemas.openxmlformats.org/officeDocument/2006/relationships" id="266" r:id="R0dcf494ea84f4b56"/>
    <p:sldId xmlns:r="http://schemas.openxmlformats.org/officeDocument/2006/relationships" id="267" r:id="R05ca6130b8384851"/>
    <p:sldId xmlns:r="http://schemas.openxmlformats.org/officeDocument/2006/relationships" id="268" r:id="Ra302d71e6a24465c"/>
    <p:sldId xmlns:r="http://schemas.openxmlformats.org/officeDocument/2006/relationships" id="269" r:id="R69bef955238b4143"/>
    <p:sldId xmlns:r="http://schemas.openxmlformats.org/officeDocument/2006/relationships" id="270" r:id="R66e4411e738d4b70"/>
    <p:sldId xmlns:r="http://schemas.openxmlformats.org/officeDocument/2006/relationships" id="271" r:id="R434d6b6b6d374530"/>
    <p:sldId xmlns:r="http://schemas.openxmlformats.org/officeDocument/2006/relationships" id="272" r:id="Rdc518377077f4d53"/>
    <p:sldId xmlns:r="http://schemas.openxmlformats.org/officeDocument/2006/relationships" id="273" r:id="R679e8445b36a44d9"/>
    <p:sldId xmlns:r="http://schemas.openxmlformats.org/officeDocument/2006/relationships" id="274" r:id="R4378e878f17a48ec"/>
    <p:sldId xmlns:r="http://schemas.openxmlformats.org/officeDocument/2006/relationships" id="275" r:id="R8416ab2a84454957"/>
    <p:sldId xmlns:r="http://schemas.openxmlformats.org/officeDocument/2006/relationships" id="276" r:id="R220d03f6bd194bff"/>
    <p:sldId xmlns:r="http://schemas.openxmlformats.org/officeDocument/2006/relationships" id="277" r:id="Rd7db7d730b764fa7"/>
    <p:sldId xmlns:r="http://schemas.openxmlformats.org/officeDocument/2006/relationships" id="278" r:id="R2f374a9a30004a5f"/>
    <p:sldId xmlns:r="http://schemas.openxmlformats.org/officeDocument/2006/relationships" id="279" r:id="Rb8a9b911cc7e4919"/>
    <p:sldId xmlns:r="http://schemas.openxmlformats.org/officeDocument/2006/relationships" id="280" r:id="R023049e8d9f346bc"/>
    <p:sldId xmlns:r="http://schemas.openxmlformats.org/officeDocument/2006/relationships" id="281" r:id="Rdf88697d0eb548c7"/>
    <p:sldId xmlns:r="http://schemas.openxmlformats.org/officeDocument/2006/relationships" id="282" r:id="R0412f77bc4734e3d"/>
    <p:sldId xmlns:r="http://schemas.openxmlformats.org/officeDocument/2006/relationships" id="283" r:id="Rb71664b43c204484"/>
  </p:sldIdLst>
  <p:sldSz cx="12192000" cy="6858000"/>
  <p:notesSz cx="6858000" cy="9144000"/>
  <p:custShowLst>
    <p:custShow name="30分钟重点版" id="0">
      <p:sldLst>
        <p:sld xmlns:r="http://schemas.openxmlformats.org/officeDocument/2006/relationships" r:id="R27d73875795f417f"/>
        <p:sld xmlns:r="http://schemas.openxmlformats.org/officeDocument/2006/relationships" r:id="Rb9bacc1c96a54b07"/>
        <p:sld xmlns:r="http://schemas.openxmlformats.org/officeDocument/2006/relationships" r:id="R4d36e182ddd64353"/>
        <p:sld xmlns:r="http://schemas.openxmlformats.org/officeDocument/2006/relationships" r:id="R4b1334e1b89c4eff"/>
        <p:sld xmlns:r="http://schemas.openxmlformats.org/officeDocument/2006/relationships" r:id="R771f3e6308734d13"/>
        <p:sld xmlns:r="http://schemas.openxmlformats.org/officeDocument/2006/relationships" r:id="Rc85f9900af344c35"/>
        <p:sld xmlns:r="http://schemas.openxmlformats.org/officeDocument/2006/relationships" r:id="R967dc23805c5467b"/>
        <p:sld xmlns:r="http://schemas.openxmlformats.org/officeDocument/2006/relationships" r:id="Rf83a6a30fdbb4f7a"/>
        <p:sld xmlns:r="http://schemas.openxmlformats.org/officeDocument/2006/relationships" r:id="Ra3034a7e52c24e8e"/>
        <p:sld xmlns:r="http://schemas.openxmlformats.org/officeDocument/2006/relationships" r:id="R05ca6130b8384851"/>
        <p:sld xmlns:r="http://schemas.openxmlformats.org/officeDocument/2006/relationships" r:id="R69bef955238b4143"/>
        <p:sld xmlns:r="http://schemas.openxmlformats.org/officeDocument/2006/relationships" r:id="R66e4411e738d4b70"/>
        <p:sld xmlns:r="http://schemas.openxmlformats.org/officeDocument/2006/relationships" r:id="Rdc518377077f4d53"/>
        <p:sld xmlns:r="http://schemas.openxmlformats.org/officeDocument/2006/relationships" r:id="R4378e878f17a48ec"/>
        <p:sld xmlns:r="http://schemas.openxmlformats.org/officeDocument/2006/relationships" r:id="R8416ab2a84454957"/>
        <p:sld xmlns:r="http://schemas.openxmlformats.org/officeDocument/2006/relationships" r:id="R220d03f6bd194bff"/>
        <p:sld xmlns:r="http://schemas.openxmlformats.org/officeDocument/2006/relationships" r:id="Rd7db7d730b764fa7"/>
        <p:sld xmlns:r="http://schemas.openxmlformats.org/officeDocument/2006/relationships" r:id="R2f374a9a30004a5f"/>
        <p:sld xmlns:r="http://schemas.openxmlformats.org/officeDocument/2006/relationships" r:id="Rb8a9b911cc7e4919"/>
      </p:sldLst>
    </p:custShow>
    <p:custShow name="45分钟架构与实验分享" id="1">
      <p:sldLst>
        <p:sld xmlns:r="http://schemas.openxmlformats.org/officeDocument/2006/relationships" r:id="R27d73875795f417f"/>
        <p:sld xmlns:r="http://schemas.openxmlformats.org/officeDocument/2006/relationships" r:id="Rb9bacc1c96a54b07"/>
        <p:sld xmlns:r="http://schemas.openxmlformats.org/officeDocument/2006/relationships" r:id="R4d36e182ddd64353"/>
        <p:sld xmlns:r="http://schemas.openxmlformats.org/officeDocument/2006/relationships" r:id="R425d179ad37a4f90"/>
        <p:sld xmlns:r="http://schemas.openxmlformats.org/officeDocument/2006/relationships" r:id="R4b1334e1b89c4eff"/>
        <p:sld xmlns:r="http://schemas.openxmlformats.org/officeDocument/2006/relationships" r:id="R771f3e6308734d13"/>
        <p:sld xmlns:r="http://schemas.openxmlformats.org/officeDocument/2006/relationships" r:id="Rc85f9900af344c35"/>
        <p:sld xmlns:r="http://schemas.openxmlformats.org/officeDocument/2006/relationships" r:id="R967dc23805c5467b"/>
        <p:sld xmlns:r="http://schemas.openxmlformats.org/officeDocument/2006/relationships" r:id="Rf83a6a30fdbb4f7a"/>
        <p:sld xmlns:r="http://schemas.openxmlformats.org/officeDocument/2006/relationships" r:id="Ra3034a7e52c24e8e"/>
        <p:sld xmlns:r="http://schemas.openxmlformats.org/officeDocument/2006/relationships" r:id="R0dcf494ea84f4b56"/>
        <p:sld xmlns:r="http://schemas.openxmlformats.org/officeDocument/2006/relationships" r:id="R05ca6130b8384851"/>
        <p:sld xmlns:r="http://schemas.openxmlformats.org/officeDocument/2006/relationships" r:id="Ra302d71e6a24465c"/>
        <p:sld xmlns:r="http://schemas.openxmlformats.org/officeDocument/2006/relationships" r:id="R69bef955238b4143"/>
        <p:sld xmlns:r="http://schemas.openxmlformats.org/officeDocument/2006/relationships" r:id="R66e4411e738d4b70"/>
        <p:sld xmlns:r="http://schemas.openxmlformats.org/officeDocument/2006/relationships" r:id="R434d6b6b6d374530"/>
        <p:sld xmlns:r="http://schemas.openxmlformats.org/officeDocument/2006/relationships" r:id="Rdc518377077f4d53"/>
        <p:sld xmlns:r="http://schemas.openxmlformats.org/officeDocument/2006/relationships" r:id="R679e8445b36a44d9"/>
        <p:sld xmlns:r="http://schemas.openxmlformats.org/officeDocument/2006/relationships" r:id="R4378e878f17a48ec"/>
        <p:sld xmlns:r="http://schemas.openxmlformats.org/officeDocument/2006/relationships" r:id="R8416ab2a84454957"/>
        <p:sld xmlns:r="http://schemas.openxmlformats.org/officeDocument/2006/relationships" r:id="R220d03f6bd194bff"/>
        <p:sld xmlns:r="http://schemas.openxmlformats.org/officeDocument/2006/relationships" r:id="Rd7db7d730b764fa7"/>
        <p:sld xmlns:r="http://schemas.openxmlformats.org/officeDocument/2006/relationships" r:id="R2f374a9a30004a5f"/>
        <p:sld xmlns:r="http://schemas.openxmlformats.org/officeDocument/2006/relationships" r:id="Rb8a9b911cc7e4919"/>
      </p:sldLst>
    </p:custShow>
    <p:custShow name="60分钟含补充讨论" id="2">
      <p:sldLst>
        <p:sld xmlns:r="http://schemas.openxmlformats.org/officeDocument/2006/relationships" r:id="R27d73875795f417f"/>
        <p:sld xmlns:r="http://schemas.openxmlformats.org/officeDocument/2006/relationships" r:id="Rb9bacc1c96a54b07"/>
        <p:sld xmlns:r="http://schemas.openxmlformats.org/officeDocument/2006/relationships" r:id="R4d36e182ddd64353"/>
        <p:sld xmlns:r="http://schemas.openxmlformats.org/officeDocument/2006/relationships" r:id="R425d179ad37a4f90"/>
        <p:sld xmlns:r="http://schemas.openxmlformats.org/officeDocument/2006/relationships" r:id="R4b1334e1b89c4eff"/>
        <p:sld xmlns:r="http://schemas.openxmlformats.org/officeDocument/2006/relationships" r:id="R771f3e6308734d13"/>
        <p:sld xmlns:r="http://schemas.openxmlformats.org/officeDocument/2006/relationships" r:id="Rc85f9900af344c35"/>
        <p:sld xmlns:r="http://schemas.openxmlformats.org/officeDocument/2006/relationships" r:id="R967dc23805c5467b"/>
        <p:sld xmlns:r="http://schemas.openxmlformats.org/officeDocument/2006/relationships" r:id="Rf83a6a30fdbb4f7a"/>
        <p:sld xmlns:r="http://schemas.openxmlformats.org/officeDocument/2006/relationships" r:id="Ra3034a7e52c24e8e"/>
        <p:sld xmlns:r="http://schemas.openxmlformats.org/officeDocument/2006/relationships" r:id="R0dcf494ea84f4b56"/>
        <p:sld xmlns:r="http://schemas.openxmlformats.org/officeDocument/2006/relationships" r:id="R05ca6130b8384851"/>
        <p:sld xmlns:r="http://schemas.openxmlformats.org/officeDocument/2006/relationships" r:id="Ra302d71e6a24465c"/>
        <p:sld xmlns:r="http://schemas.openxmlformats.org/officeDocument/2006/relationships" r:id="R69bef955238b4143"/>
        <p:sld xmlns:r="http://schemas.openxmlformats.org/officeDocument/2006/relationships" r:id="R66e4411e738d4b70"/>
        <p:sld xmlns:r="http://schemas.openxmlformats.org/officeDocument/2006/relationships" r:id="R434d6b6b6d374530"/>
        <p:sld xmlns:r="http://schemas.openxmlformats.org/officeDocument/2006/relationships" r:id="Rdc518377077f4d53"/>
        <p:sld xmlns:r="http://schemas.openxmlformats.org/officeDocument/2006/relationships" r:id="R679e8445b36a44d9"/>
        <p:sld xmlns:r="http://schemas.openxmlformats.org/officeDocument/2006/relationships" r:id="R4378e878f17a48ec"/>
        <p:sld xmlns:r="http://schemas.openxmlformats.org/officeDocument/2006/relationships" r:id="R8416ab2a84454957"/>
        <p:sld xmlns:r="http://schemas.openxmlformats.org/officeDocument/2006/relationships" r:id="R220d03f6bd194bff"/>
        <p:sld xmlns:r="http://schemas.openxmlformats.org/officeDocument/2006/relationships" r:id="Rd7db7d730b764fa7"/>
        <p:sld xmlns:r="http://schemas.openxmlformats.org/officeDocument/2006/relationships" r:id="R023049e8d9f346bc"/>
        <p:sld xmlns:r="http://schemas.openxmlformats.org/officeDocument/2006/relationships" r:id="Rdf88697d0eb548c7"/>
        <p:sld xmlns:r="http://schemas.openxmlformats.org/officeDocument/2006/relationships" r:id="R0412f77bc4734e3d"/>
        <p:sld xmlns:r="http://schemas.openxmlformats.org/officeDocument/2006/relationships" r:id="R2f374a9a30004a5f"/>
        <p:sld xmlns:r="http://schemas.openxmlformats.org/officeDocument/2006/relationships" r:id="Rb8a9b911cc7e4919"/>
        <p:sld xmlns:r="http://schemas.openxmlformats.org/officeDocument/2006/relationships" r:id="Rb71664b43c204484"/>
      </p:sldLst>
    </p:custShow>
  </p:custShow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e32c51463a4143" /><Relationship Type="http://schemas.openxmlformats.org/officeDocument/2006/relationships/slideMaster" Target="/ppt/slideMasters/slideMaster1.xml" Id="R6dea5e71b40d40d9" /><Relationship Type="http://schemas.openxmlformats.org/officeDocument/2006/relationships/notesMaster" Target="/ppt/notesMasters/notesMaster1.xml" Id="R1f2c4104b1e24b18" /><Relationship Type="http://schemas.openxmlformats.org/officeDocument/2006/relationships/presProps" Target="/ppt/presProps.xml" Id="R711352d6d76f41be" /><Relationship Type="http://schemas.openxmlformats.org/officeDocument/2006/relationships/viewProps" Target="/ppt/viewProps.xml" Id="Re712ff30c09c4de4" /><Relationship Type="http://schemas.openxmlformats.org/officeDocument/2006/relationships/tableStyles" Target="/ppt/tableStyles.xml" Id="Rc3631be60ce44650" /><Relationship Type="http://schemas.openxmlformats.org/officeDocument/2006/relationships/slide" Target="/ppt/slides/slide1.xml" Id="R27d73875795f417f" /><Relationship Type="http://schemas.openxmlformats.org/officeDocument/2006/relationships/slide" Target="/ppt/slides/slide2.xml" Id="Rb9bacc1c96a54b07" /><Relationship Type="http://schemas.openxmlformats.org/officeDocument/2006/relationships/slide" Target="/ppt/slides/slide3.xml" Id="R4d36e182ddd64353" /><Relationship Type="http://schemas.openxmlformats.org/officeDocument/2006/relationships/slide" Target="/ppt/slides/slide4.xml" Id="R425d179ad37a4f90" /><Relationship Type="http://schemas.openxmlformats.org/officeDocument/2006/relationships/slide" Target="/ppt/slides/slide5.xml" Id="R4b1334e1b89c4eff" /><Relationship Type="http://schemas.openxmlformats.org/officeDocument/2006/relationships/slide" Target="/ppt/slides/slide6.xml" Id="R771f3e6308734d13" /><Relationship Type="http://schemas.openxmlformats.org/officeDocument/2006/relationships/slide" Target="/ppt/slides/slide7.xml" Id="Rc85f9900af344c35" /><Relationship Type="http://schemas.openxmlformats.org/officeDocument/2006/relationships/slide" Target="/ppt/slides/slide8.xml" Id="R967dc23805c5467b" /><Relationship Type="http://schemas.openxmlformats.org/officeDocument/2006/relationships/slide" Target="/ppt/slides/slide9.xml" Id="Rf83a6a30fdbb4f7a" /><Relationship Type="http://schemas.openxmlformats.org/officeDocument/2006/relationships/slide" Target="/ppt/slides/slide10.xml" Id="Ra3034a7e52c24e8e" /><Relationship Type="http://schemas.openxmlformats.org/officeDocument/2006/relationships/slide" Target="/ppt/slides/slide11.xml" Id="R0dcf494ea84f4b56" /><Relationship Type="http://schemas.openxmlformats.org/officeDocument/2006/relationships/slide" Target="/ppt/slides/slide12.xml" Id="R05ca6130b8384851" /><Relationship Type="http://schemas.openxmlformats.org/officeDocument/2006/relationships/slide" Target="/ppt/slides/slide13.xml" Id="Ra302d71e6a24465c" /><Relationship Type="http://schemas.openxmlformats.org/officeDocument/2006/relationships/slide" Target="/ppt/slides/slide14.xml" Id="R69bef955238b4143" /><Relationship Type="http://schemas.openxmlformats.org/officeDocument/2006/relationships/slide" Target="/ppt/slides/slide15.xml" Id="R66e4411e738d4b70" /><Relationship Type="http://schemas.openxmlformats.org/officeDocument/2006/relationships/slide" Target="/ppt/slides/slide16.xml" Id="R434d6b6b6d374530" /><Relationship Type="http://schemas.openxmlformats.org/officeDocument/2006/relationships/slide" Target="/ppt/slides/slide17.xml" Id="Rdc518377077f4d53" /><Relationship Type="http://schemas.openxmlformats.org/officeDocument/2006/relationships/slide" Target="/ppt/slides/slide18.xml" Id="R679e8445b36a44d9" /><Relationship Type="http://schemas.openxmlformats.org/officeDocument/2006/relationships/slide" Target="/ppt/slides/slide19.xml" Id="R4378e878f17a48ec" /><Relationship Type="http://schemas.openxmlformats.org/officeDocument/2006/relationships/slide" Target="/ppt/slides/slide20.xml" Id="R8416ab2a84454957" /><Relationship Type="http://schemas.openxmlformats.org/officeDocument/2006/relationships/slide" Target="/ppt/slides/slide21.xml" Id="R220d03f6bd194bff" /><Relationship Type="http://schemas.openxmlformats.org/officeDocument/2006/relationships/slide" Target="/ppt/slides/slide22.xml" Id="Rd7db7d730b764fa7" /><Relationship Type="http://schemas.openxmlformats.org/officeDocument/2006/relationships/slide" Target="/ppt/slides/slide23.xml" Id="R2f374a9a30004a5f" /><Relationship Type="http://schemas.openxmlformats.org/officeDocument/2006/relationships/slide" Target="/ppt/slides/slide24.xml" Id="Rb8a9b911cc7e4919" /><Relationship Type="http://schemas.openxmlformats.org/officeDocument/2006/relationships/slide" Target="/ppt/slides/slide25.xml" Id="R023049e8d9f346bc" /><Relationship Type="http://schemas.openxmlformats.org/officeDocument/2006/relationships/slide" Target="/ppt/slides/slide26.xml" Id="Rdf88697d0eb548c7" /><Relationship Type="http://schemas.openxmlformats.org/officeDocument/2006/relationships/slide" Target="/ppt/slides/slide27.xml" Id="R0412f77bc4734e3d" /><Relationship Type="http://schemas.openxmlformats.org/officeDocument/2006/relationships/slide" Target="/ppt/slides/slide28.xml" Id="Rb71664b43c2044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7c8b6391cf4a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73f8bb071641b9" /><Relationship Type="http://schemas.openxmlformats.org/officeDocument/2006/relationships/notesMaster" Target="/ppt/notesMasters/notesMaster1.xml" Id="Rbd56aa58d77e49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4ac97928b7447f" /><Relationship Type="http://schemas.openxmlformats.org/officeDocument/2006/relationships/notesMaster" Target="/ppt/notesMasters/notesMaster1.xml" Id="R19b3cd770ae54e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a1b25415dd4f94" /><Relationship Type="http://schemas.openxmlformats.org/officeDocument/2006/relationships/notesMaster" Target="/ppt/notesMasters/notesMaster1.xml" Id="R87afedd32e6048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79b3dd3cad46c7" /><Relationship Type="http://schemas.openxmlformats.org/officeDocument/2006/relationships/notesMaster" Target="/ppt/notesMasters/notesMaster1.xml" Id="R4279976608cb44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0da3d22c634e47" /><Relationship Type="http://schemas.openxmlformats.org/officeDocument/2006/relationships/notesMaster" Target="/ppt/notesMasters/notesMaster1.xml" Id="R6bd7012ab1b344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72231142f4437d" /><Relationship Type="http://schemas.openxmlformats.org/officeDocument/2006/relationships/notesMaster" Target="/ppt/notesMasters/notesMaster1.xml" Id="Rb554e047f55544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ce29e462074271" /><Relationship Type="http://schemas.openxmlformats.org/officeDocument/2006/relationships/notesMaster" Target="/ppt/notesMasters/notesMaster1.xml" Id="Rdb1fbed4f2714b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318c37ff884771" /><Relationship Type="http://schemas.openxmlformats.org/officeDocument/2006/relationships/notesMaster" Target="/ppt/notesMasters/notesMaster1.xml" Id="Re54d48a3f65b46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bf521da377401a" /><Relationship Type="http://schemas.openxmlformats.org/officeDocument/2006/relationships/notesMaster" Target="/ppt/notesMasters/notesMaster1.xml" Id="R9ecc20501dc144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83281c20464080" /><Relationship Type="http://schemas.openxmlformats.org/officeDocument/2006/relationships/notesMaster" Target="/ppt/notesMasters/notesMaster1.xml" Id="R4e8c3ea5ba634e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56bbc2e32142da" /><Relationship Type="http://schemas.openxmlformats.org/officeDocument/2006/relationships/notesMaster" Target="/ppt/notesMasters/notesMaster1.xml" Id="R18a5d14532454a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dd9c1ad433c41f8" /><Relationship Type="http://schemas.openxmlformats.org/officeDocument/2006/relationships/notesMaster" Target="/ppt/notesMasters/notesMaster1.xml" Id="R38a57af868d640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8b56cb983e4c88" /><Relationship Type="http://schemas.openxmlformats.org/officeDocument/2006/relationships/notesMaster" Target="/ppt/notesMasters/notesMaster1.xml" Id="Rd6a461808d124d7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dcce7a73fd24a48" /><Relationship Type="http://schemas.openxmlformats.org/officeDocument/2006/relationships/notesMaster" Target="/ppt/notesMasters/notesMaster1.xml" Id="R1ba643b6cf83462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e38bd0a685f4d32" /><Relationship Type="http://schemas.openxmlformats.org/officeDocument/2006/relationships/notesMaster" Target="/ppt/notesMasters/notesMaster1.xml" Id="R490eb59675b3442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380df9d3b74759" /><Relationship Type="http://schemas.openxmlformats.org/officeDocument/2006/relationships/notesMaster" Target="/ppt/notesMasters/notesMaster1.xml" Id="R1d24d4004f7a43b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ec8483af1eb4170" /><Relationship Type="http://schemas.openxmlformats.org/officeDocument/2006/relationships/notesMaster" Target="/ppt/notesMasters/notesMaster1.xml" Id="R808d0c0cb73f452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163eab3dfbc4ca5" /><Relationship Type="http://schemas.openxmlformats.org/officeDocument/2006/relationships/notesMaster" Target="/ppt/notesMasters/notesMaster1.xml" Id="R3524fb77d55141f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ca9cd3797bf45d0" /><Relationship Type="http://schemas.openxmlformats.org/officeDocument/2006/relationships/notesMaster" Target="/ppt/notesMasters/notesMaster1.xml" Id="R59068d97ee3f4d4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ab8dc6e4e794e96" /><Relationship Type="http://schemas.openxmlformats.org/officeDocument/2006/relationships/notesMaster" Target="/ppt/notesMasters/notesMaster1.xml" Id="R3d353bf52674437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5b77eb749fe4cb7" /><Relationship Type="http://schemas.openxmlformats.org/officeDocument/2006/relationships/notesMaster" Target="/ppt/notesMasters/notesMaster1.xml" Id="Rfc27b3ae26fc4bf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25e077c393c454b" /><Relationship Type="http://schemas.openxmlformats.org/officeDocument/2006/relationships/notesMaster" Target="/ppt/notesMasters/notesMaster1.xml" Id="Rdc531bbb88c94f8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93dfd449b174625" /><Relationship Type="http://schemas.openxmlformats.org/officeDocument/2006/relationships/notesMaster" Target="/ppt/notesMasters/notesMaster1.xml" Id="Re0f2ae823b9e430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42ac3509a364944" /><Relationship Type="http://schemas.openxmlformats.org/officeDocument/2006/relationships/notesMaster" Target="/ppt/notesMasters/notesMaster1.xml" Id="R803aa4a98581423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9de6dcb552143e5" /><Relationship Type="http://schemas.openxmlformats.org/officeDocument/2006/relationships/notesMaster" Target="/ppt/notesMasters/notesMaster1.xml" Id="Re52ed0554a8f403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f4d9ecb6b394a4b" /><Relationship Type="http://schemas.openxmlformats.org/officeDocument/2006/relationships/notesMaster" Target="/ppt/notesMasters/notesMaster1.xml" Id="Rbabbce33b8e246f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19d52a28f484a25" /><Relationship Type="http://schemas.openxmlformats.org/officeDocument/2006/relationships/notesMaster" Target="/ppt/notesMasters/notesMaster1.xml" Id="R41a0863dd120486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89ea7315b224edd" /><Relationship Type="http://schemas.openxmlformats.org/officeDocument/2006/relationships/notesMaster" Target="/ppt/notesMasters/notesMaster1.xml" Id="R0066a6ffdab040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【主讲1】多核SoC总线ESL建模与性能探索实践</a:t>
            </a:r>
          </a:p>
          <a:p xmlns:a="http://schemas.openxmlformats.org/drawingml/2006/main">
            <a:r>
              <a:t>建议用时：0.75分钟。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大家好，今天结合三个月的实习工作，分享多核总线性能模型的搭建过程。内容分成两条主线：一条是事务如何在H/V Ring、RBRG、HA和L2之间推进；另一条是现有实验能够回答哪些参数选择问题。当前结果主要覆盖并发深度、请求粒度、地址模式和命中率，同地址访问专题正在继续补充。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建议用时：0.5分钟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用系统边界说明为什么需要近SoC的互连与存储环境，再展开交叉节点、槽位池、RBRG以及HA和L2的设计。后半部分不按参数列表逐项展示，而是围绕三个问题展开：并发开到多少、请求和地址关系怎样改变物理流量，以及同地址冲突应该如何量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3】建模背景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选题的出发点，是在早期核仿真中补上一段更接近SoC的总线和存储环境。主管反馈也指出，这正是当前AI核ESL仿真值得补充的一部分。核侧看到的完成时间不只由存储延迟决定，还包括多核竞争、队列等待和返回链路。因此，这个平台希望为MTE以及LD/ST通路的请求组织和资源配置提供可观察的系统环境。这里讲的是能够支持的研究问题，并不表示本阶段已经接入真实核负载或完成架构定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用户提供的主管反馈。MTE采用项目内术语，本文以数据搬运通路说明，不自行扩写未经确认的英文全称。</a:t>
            </a:r>
          </a:p>
          <a:p xmlns:a="http://schemas.openxmlformats.org/drawingml/2006/main">
            <a:r>
              <a:t>核与SoC协同讨论：MTE的数据搬运粒度、LD/ST访问顺序、共享数据的责任边界，应放在共同的系统约束中评估。L1.5等共享层议题先对齐语义，再比较方案。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4】本阶段工作与模型边界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主要完成了模型实现、测试和统计分析，并整理架构与接口文档。模型使用C++事件驱动框架，以包和环形槽位为主要调度单位。已经表达了事务、队列、仲裁、反压与逐链路带宽占用。缓存命中和存储后端采用参数化近似，完整目录一致性、真实缓存替换、HBM控制器微结构及Atomic语义不属于这次已验证的范围。先明确这些边界，后面才不会把趋势分析误读成硬件绝对性能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5】当前平台的H/V Ring拓扑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先看空间组织。8个请求端分别接入两条垂直环，每条垂直环有4个计算核接入节点和1个桥接节点。共享水平环连接两个桥接端、四个HA端口和四个L2返回缓冲。红色线表示请求发往存储端，蓝色线表示数据返回。RBRG在这里按环间桥接器理解，HA按存储侧事务管理模块理解。图中的HBM由后端模型近似，并非展开完整存储控制器。当前实验是两条垂直环连接一条共享水平环，目标方案的多水平环示意放在附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6】读写事务的端到端路径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读请求沿REQ请求子网发到HA，数据完成后由L2 Buffer组织，沿DAT数据子网返回。写请求和写数据分别传输，内存端口按事务标识配对，后端接收成功后，再经RSP响应子网返回完成状态。一个容易混淆的地方是完成的含义：这里的写响应表示模型约定的后端接收完成，不能直接等同于真实HBM中的持久化完成。把接口语义先说清楚，模块之间才能使用同一个判断标准。</a:t>
            </a:r>
          </a:p>
          <a:p xmlns:a="http://schemas.openxmlformats.org/drawingml/2006/main">
            <a:r>
              <a:t>
写路径说明：WR与WR_DAT按事务标识配对。写数据后端响应进入Ring的RSP注入队列后，HA释放该写事务的同缓存行保护。仅接口接收不代表所有端点均已完成消费。源码依据：tm_ring_mem_port.cc::recv_wr_dat_rsp。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7】交叉节点的仲裁与反压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交叉节点可以理解为环上经过流量与本地流量的交汇处。两个方向分别进行仲裁，但目的弹出队列共享，所以要额外决定谁能够进入。这里我最关注的不是画出几个多路选择器，而是所有状态在什么条件下推进。队列有没有空间、仲裁有没有成功、下游是否真正接收，这些条件要一致。否则一个局部的提前出队，就可能破坏整个事务的完成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槽位池管理的是每条有向子网的占用数量，数据仍保存在链路和节点中。普通注入先申请一个额度，链路拒收时立即归还，来源队首不动。包转发过程中只搬移已有槽位，不重复申请。没有替换或保留标记时，退出环网会归还额度。若本地包接替原有槽位，计数不变。多播仍有接收者时也不能提前归还。容量公式来自当前模型的存储深度，不能直接解释为实际芯片的物理缓冲规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实现依据：aicore/code/tm_ring_slot_pool.h；tm_ring_cross_station.cc::try_normal_injection、try_slot_replacement、release_ring_slot。示意图中的请求编号和相对时刻用于解释机制，不是新增实验数据。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8】I-tag与E-tag活性保护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侧队列已满，B6虽然到了目的节点，却暂时不能弹出。让它继续绕行可以避免停在节点上阻塞环路，但还要防止它下一轮返回时继续拿不到空间，因此需要E-tag保护弹出容量。与此同时，本地A1拿不到新的环形槽位，需要I-tag保护注入机会。右图表示空间释放后的恢复过程。两个标记保护的资源不同，不能相互替代，也不能只用一个等待计数来解释。这个例子带来的经验是，活性机制应该绑定具体资源及释放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【备用页 30】RBRG方向队列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问题选讲。RBRG表示本设计的环间桥接模块，不自行扩写英文全称。四条路径分别承担垂直到水平的请求与写数据，以及水平到垂直的完成响应与读数据。路径进一步按方向配置队列和串行化资源。目标队列能接收且串行化资源可用时才换环，成功后推进来源队首。</a:t>
            </a:r>
          </a:p>
          <a:p xmlns:a="http://schemas.openxmlformats.org/drawingml/2006/main">
            <a:r>
              <a:t>
当前实现细节：启动时检查目标方向注入容量和串行化资源，来源队首随即出队，RBRG串行化器接管包；经过Sᵦ−1周期交给目标注入队列，Sᵦ周期后恢复带宽。详见下一页。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把来源出队和目标入队两个时刻分开。当前实现检查目标方向容量以及串行化资源，满足条件后立即从来源弹出队列取包，由RBRG的串行化状态持有。经过Sᵦ减1周期再交给目标注入队列，而该方向的带宽要到Sᵦ周期才恢复。目标注入空间在交接过程中必须保持可用，这是专用方向路径的设计约束；代码在交接失败时明确报错，不静默丢包。进入目标Ring后，段内序列化标记重新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实现依据：aicore/code/tm_ring_rbrg_l1.cc::schedule_path、start_serializer、handoff_serializer；tm_ring_node_interface.h::push_inject。示意图中的请求编号和相对时刻用于解释机制，不是新增实验数据。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9】包级时序的取舍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是降低模型复杂度的一处关键取舍。网络可以逐流控单元，也就是flit，展开传输状态，但本阶段采用包级近似。包在一个环段的首跳计算一次序列化，后续跳只累加传播延迟。与此同时，每条实际经过的链路仍占用S个周期，因此多跳到达更早，不意味着后面的包可以无代价进入。512字节包经过128字节每周期的两跳链路，在每跳1周期且没有排队的条件下，第二跳接收点延迟为5周期。换环、端点处理和排队等待另算。这个模型适合保留架构参数的主要影响，但还需要通过SoC ESL检验近似误差。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一张根据模型公式推导的理想时间轴。包A在零时刻进入第一条链路，序列化占用四周期，在第4周期进入第二条链路。段内已经支付完整包序列化，因此第二跳只增加一个传播周期，第5周期即可在输入寄存器观察到它。但第二条链路的串行化资源从第4周期忙到第8周期。包B最早第4周期进入第一条链路，第8周期进入第二条链路，第9周期到达第二跳输入。这种抽象减少逐flit状态，同时仍限制连续包的发送间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实现依据：aicore/code/tm_ring_conn.cc::reserve_slot、release_serializer；段延迟公式(S−1)+H×L。示意图中的请求编号和相对时刻用于解释机制，不是新增实验数据。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10】存储侧建模职责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这页区分目标硬件层次与当前模型的职责。HA维护读取事务及等待请求，并处理同地址写冲突。L2 Buffer暂存完成数据，组织返回方式和返回时延。TmMem提供功能数据访问以及带宽、延迟、队列和在途额度约束。这里的credit是允许同时在后端处理的请求额度。它和普通队列空间有关联，但统计时需要分开。这种拆分方便调整性能参数，同时保持事务语义明确。</a:t>
            </a:r>
          </a:p>
          <a:p xmlns:a="http://schemas.openxmlformats.org/drawingml/2006/main">
            <a:r>
              <a:t>
当前HA合并键是缓存行基地址。请求偏移和长度随等待请求保留，扇区粒度用于L2返回范围组织，不能混同为HA按扇区索引。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沿着同一缓存行A上的三个读请求来理解HA。M0首次访问时，HA建立表项并保留返回信息，它不需要等待一个固定的合并定时器就可以参与后端调度。M1在后端尚未提交时到达，M2在读取在途时到达，只要表项仍开放且等待列表有容量，就加入同一事务。后端返回后，HA保存共享数据并将每个请求的返回信息交给L2。当前实现还允许在响应阶段且合并入口未关闭时加入请求。当L2锁定接收端集合并反馈摘要后，HA关闭新请求加入；已接纳而尚未交给L2的请求继续处理。这里的合并键在当前源码中是完整缓存行基地址，扇区参数用于L2组织实际返回范围，不能混写成HA按扇区索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实现依据：aicore/code/tm_ring_home_agent.cc::accept_read、commit_backend_request、front_l2_response、consume_l2_group_summary。示意图中的请求编号和相对时刻用于解释机制，不是新增实验数据。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例子说明写冲突保护的范围和释放点。假设缓存行A已有一个等待或在途的读R0。写W进入后先登记写保护，阻止后续读R1继续加入。写W自身要等待R0的数据被HA捕获为可响应状态，再继续提交。这样R0已经保存自己的旧数据，写可以向前推进。写数据的后端响应回到内存端口后，必须成功进入Ring的RSP注入队列，才解除该写事务的保护。若RSP路径反压，保护继续存在。它是模型中的同缓存行顺序约束，不等同于完整一致性协议或原子操作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实现依据：aicore/code/tm_ring_home_agent.cc::reserve_write、has_blocking_read_transaction、complete_write；tm_ring_mem_port.cc::recv_wr_dat_rsp。示意图中的请求编号和相对时刻用于解释机制，不是新增实验数据。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解决后端读几次，L2解决返回路径实际发几份。这里一份完整缓存行数据对应四个逻辑接收者。M0和M1位于同一垂直环并需要同一个128字节范围，因此L2为这个目标环生成一份数据包，在环内多播。M4和M5在另一个垂直环，分别需要偏移0和128处的数据，所以第二个数据包覆盖相应范围，目标节点按自己的偏移取数。对同一个已确定的接收端集合，每个目标环生成一个H-Ring数据包。实际包大小根据扇区对齐与覆盖范围确定，可能带有对齐开销，不能简单按接收端数量推断物理字节数。单接收端在交付语义上是单播，内部也可能复用同一个分发数据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实现依据：aicore/code/tm_ring_l2_buffer_node.cc::make_frozen_carrier、carrier_size、materialize_fanout。示意图中的请求编号和相对时刻用于解释机制，不是新增实验数据。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建议用时：2.5分钟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使用了冻结组这个名字，这里在讲解中改成确定接收端集合。响应队首达到就绪条件后，L2停止向该组追加成员，并向HA反馈。随后按目标垂直环逐一生成数据包。发送令牌不允许或注入队列没有空间时，L2保持待发送包，不能先删除对应接收端。成功提交后，才删除这一目标环的接收端。全部目标环完成提交时，L2释放本地响应队列项。环上的物理数据包则有独立生命周期，最后一名接收端弹出后，原槽位才可回收或被本地包接替。上层真正消费响应与目的弹出也需要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aicore/code/tm_ring_l2_buffer_node.cc::response_ready、freeze_fanout_group、service；tm_ring_home_agent.cc::consume_l2_group_summary；tm_ring_cross_station.cc::try_fanout_eject。示意图中的请求编号和相对时刻用于解释机制，不是新增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【主讲19】实验问题与比较条件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保存了三组参数扫描，共37个测试点，历史记录均为PASS。并发扫描回答吞吐和P99在哪里出现拐点；请求粒度与地址模式扫描回答包数、读取放大和数据复用怎样变化；命中率扫描用于观察HBM压力下降后吞吐是否进入平台区间。三组实验的固定条件不同，所以每组只回答自己的问题，不做跨组因果比较。同地址冲突专题正在补充，结果生成前不提前给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数据来源：</a:t>
            </a:r>
          </a:p>
          <a:p xmlns:a="http://schemas.openxmlformats.org/drawingml/2006/main">
            <a:r>
              <a:t>aicore/code/logs/outstanding_sweep_2026-08-18/outstanding_sweep_summary.csv</a:t>
            </a:r>
          </a:p>
          <a:p xmlns:a="http://schemas.openxmlformats.org/drawingml/2006/main">
            <a:r>
              <a:t>aicore/code/logs/burst_sweep_l2miss_scatter_2026-08-19/burst_sweep_summary.csv</a:t>
            </a:r>
          </a:p>
          <a:p xmlns:a="http://schemas.openxmlformats.org/drawingml/2006/main">
            <a:r>
              <a:t>aicore/code/logs/l2_sweep_entries256_plots/l2_sweep_summary.csv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先统一统计口径。四个核都需要同一份512字节数据时，后端可以只读取一次，L2也可以在目标环上复用一份物理数据。计算核侧完成了4份512字节请求，所以逻辑完成量是2048字节。物理DAT流量仍是512字节。有效带宽高于物理DAT带宽表示数据复用，并不表示链路宽度增加。图中的数字用于解释统计口径，不是新增测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组实验采用NoMerge、256字节请求和0%命中。并发从128增加到256时，有效带宽由391.75提高到488.88字节每周期；继续增加到512后，吞吐回落约2.1%，P99却从1346增至3428周期，是原来的2.55倍。因此256是当前配置的吞吐候选点，不是所有场景的通用最优值。下一步需要结合额度阻塞、队列占用和后端在途峰值，确定第一个持续饱和的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数据来源：aicore/code/logs/outstanding_sweep_2026-08-18/outstanding_sweep_summary.csv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观察请求大小和地址关系如何改变网络内部流量。NoMerge的REQ累计传输次数由46.59万降至15.56万，说明更大的连续请求可以减少请求包数量。128字节请求下，Scatter的DAT累计传输次数是10.65万，NoMerge是29.11万。Shared在512字节时，有效带宽与L2注入DAT带宽的比值为4，表示一份物理数据平均服务4份逻辑需求。该比值反映数据复用，不表示物理链路带宽提高4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数据来源：aicore/code/logs/burst_sweep_l2miss_scatter_2026-08-19/burst_sweep_summary.csv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地址访问专题正在补充，这一页只说明实验设计。场景包括同地址共享读、同一缓存行不同范围读取，以及同地址读写交叠。实验将保持事务序列和其他配置一致，观察后端读取次数、HA合并次数、DAT物理流量、平均延迟和P99。完成量化后，再判断改进应该放在核侧请求组织、互连调度还是存储服务。Atomic需要先补齐原子性、返回值和顺序语义，因此当前不作为已完成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本阶段完成了近SoC的多核互连与存储性能模型，覆盖H/V Ring、RBRG、反压、槽位、HA合并和L2返回组织，并配套完成参数扫描和结果整理。已有数据能够说明并发拐点、请求粒度、地址关系和物理流量之间的关系。同地址访问专题正在继续推进。当前结论适用于本模型和已测配置，绝对周期性能以及更高层架构判断仍需要与SoC ESL校准。感谢嘉南哥、晨哥和昊哥的指导与帮助。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【备用页 32】地址模式生成规则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用于解释实验的地址生成。缓存行512字节，B表示请求字节数。NoMerge每笔访问新缓存行。Private每个请求端拥有独立连续窗口。Scatter按扇区偏移分配同一行的不同范围。Shared让多个请求端访问同一范围。Scatter在B为512字节时没有可拆分的范围，因此现有数据没有512字节Scatter点，不能人为补出一条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aicore/code/logs/burst_sweep_l2miss_scatter_2026-08-19/burst_sweep_summary.csv</a:t>
            </a:r>
          </a:p>
          <a:p xmlns:a="http://schemas.openxmlformats.org/drawingml/2006/main">
            <a:r>
              <a:t>地址生成细节：m为请求端编号，k为请求序号。NoMerge使用独立基址加512k。Private按请求字节数B推进。Scatter在缓存行内按(m mod (512/B))×B选择偏移。Shared的各端共同使用同一地址范围。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16】命中率扫描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左图。NoMerge在零命中时约307字节每周期，随着配置命中率增加，吞吐提升到约500。50%以后，继续提高命中率带来的增益已经比较有限。右图说明后端读取确实在全命中时降到了零，但部分中间区间并不单调，因为带宽同时受物理读取量和总完成时间影响。这里得到的是一个排查方向：后端压力下降以后，还应该检查L2输出和返回链路。仅凭这张图，还不能说某条具体链路已经被证明是唯一瓶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aicore/code/logs/l2_sweep_entries256_plots/l2_sweep_summary.csv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18】请求大小与数据复用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求大小的影响可以分成两部分。第一部分是读取放大。在缓存行512字节、每次只要128字节而且不能合并时，后端仍读取整行，因此后端字节数是有效字节数的4倍。请求增至256和512字节，这个比例收敛到2倍和1倍。第二部分是共享，Shared在512字节达到较高有效带宽，主要来自多接收端复用。这个结果支持连续数据访问尝试更大粒度，但不能推导出所有访问都应该用大请求。稀疏数据的无效搬运以及大包占用时间，需要另做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aicore/code/logs/burst_sweep_l2miss_scatter_2026-08-19/burst_sweep_summary.csv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【备用页 31】目标架构与模型边界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图保留目标架构层次，但不将图中的目录侦听和完整缓存行为表述为本阶段已实现。当前模型使用一条共享水平环，配置命中率和抽象后端。未来扩展更多水平环、目录或缓存微结构，需要根据课题重新定义资源及验证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74e68f3fde42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dba990939d4e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30a11f36c74a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e7fcb0546641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fd4387d3c845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72ff7ff19c4b6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aaf681afb14fa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a02a124ddb44e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bb4a456b84a2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442703fcc94cd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3109869870488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AE83A53-C2D1-4C83-B3EE-F6C2B706BFA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D921B26-2970-45B4-BBB4-CE3CC6B1A81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EEED526-C63C-45A9-AAD8-4C1C3A8A2F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FB44155-D3E6-444C-8DBF-05DD12BDF3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2558AAE-B987-4239-8BA9-A682319B19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743AE2-E4C9-4E60-9C43-6C69D06805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CFC1563-8708-4A47-A2D7-5E054FEAEBD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DD7E54B-0E50-4ABF-BBB1-4CF0FCC443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DAB8D54-C914-4B58-B5CC-8A01B12603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3D89ECB-5D01-4567-BCAC-6FEB43133E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3ADC559-7D10-417A-BC71-CF3CAADFE2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CA22528-C1BE-406E-B016-DD4737AE82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1D4BDFE-7F0F-46B5-87A6-AA8735CF3E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CA1E905-6D29-4871-AA5C-BF92E1EFD3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4FCC67-0F40-4F35-B1D3-BA4F4E8E5F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231054-D183-4239-B2A1-2DDEEA75C5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D34125-69D4-462F-8DB0-4480F880E3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A2DEBC5-82B1-47D3-8B76-BEB1418265A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04074AB-F580-4510-B2A1-FBC5A11B70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581B943-FA7E-4889-94A8-62D548E1B4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8AFADB2-83AA-4103-976E-7C4F2D94D2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D7EAEB-E0BD-4791-BB54-EBC1109373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63A7A10-7FBF-461E-A515-396E276576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AFEB73A-13A3-4D93-8936-94A90946E96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E64335D-79AC-4FAD-A2F2-9F680F61A18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B853425-F87C-420C-BDAB-3D68BB2A8F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CC155D7-4CA3-4EAA-8207-0B2ADFDBE7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728D8D7-86D9-4631-965B-3AF0CB5FD8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F44A4D0-E648-46C6-89C1-6B98A02465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F312AF-7418-4064-AC5E-5D932B1194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46EC5DD-7E3C-4243-9D88-26BF900275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D17E4189-CC5C-4B7C-85F6-ECC0DE9691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0962D5D-E49C-4234-9BB5-BFB722A37E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300DAAB-BE2A-411D-9688-46534F1B98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2BC8FD6-572E-4799-8BB0-84D086AD84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393F140-8884-4B9B-816D-70F55EC7DA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BDF1FC4-97DA-4690-9AF3-0443EFF7DC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ACB60D-FF95-436E-86AB-AD1012EB062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413C92D-2D5D-4307-9472-2570A08315F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7406AFE-1BC7-485A-ADCA-386D676256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E3D12A7-FD34-45DD-867F-9942ABC074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8B5BF9D-EE19-4E5D-B743-81139F4F17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40C051-A0FA-483D-A8DA-F7C11F2E7E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BDD96B2-8D1B-40C8-90C0-35F137421F6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BD22104-B987-41F1-9270-6CBF683719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6B04C40-2C25-4FE0-A1D6-237BCA645B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3F66775-5583-41A0-AE63-0CA6ACC5A2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32D0603-AA7C-4692-9A1B-E614E9C312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1C53EE-A883-485A-BA0D-996A9E2442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F319FAD-D28B-475C-9C09-B6BF9D959F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640A8A5-8F60-4FC5-B516-8A1F365406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F466C02-2A8F-4ED8-B6F7-6851CCA59D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BD7E41-FE3D-4B4E-9805-B0FF07B720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8CE51D4-17CF-4BAB-A705-EE1A0B278A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DCE1583-AE15-462C-90D6-5CA588FF89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5AD890B-3AED-4EA2-9953-2095168B74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511568-CEBD-4D25-9A25-18FD6670CB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273460-46FA-4652-B499-FAA27A6A12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1a5da30f15428d" /><Relationship Type="http://schemas.openxmlformats.org/officeDocument/2006/relationships/slideLayout" Target="/ppt/slideLayouts/slideLayout1.xml" Id="R323f0a946c2a4f8a" /><Relationship Type="http://schemas.openxmlformats.org/officeDocument/2006/relationships/slideLayout" Target="/ppt/slideLayouts/slideLayout2.xml" Id="R79ade0a041ba4395" /><Relationship Type="http://schemas.openxmlformats.org/officeDocument/2006/relationships/slideLayout" Target="/ppt/slideLayouts/slideLayout3.xml" Id="R415266ab0f044fc5" /><Relationship Type="http://schemas.openxmlformats.org/officeDocument/2006/relationships/slideLayout" Target="/ppt/slideLayouts/slideLayout4.xml" Id="R4514267ba1f14754" /><Relationship Type="http://schemas.openxmlformats.org/officeDocument/2006/relationships/slideLayout" Target="/ppt/slideLayouts/slideLayout5.xml" Id="Rf3100352491a4410" /><Relationship Type="http://schemas.openxmlformats.org/officeDocument/2006/relationships/slideLayout" Target="/ppt/slideLayouts/slideLayout6.xml" Id="R112801a58b024b2c" /><Relationship Type="http://schemas.openxmlformats.org/officeDocument/2006/relationships/slideLayout" Target="/ppt/slideLayouts/slideLayout7.xml" Id="R259f80c2fb2f4515" /><Relationship Type="http://schemas.openxmlformats.org/officeDocument/2006/relationships/slideLayout" Target="/ppt/slideLayouts/slideLayout8.xml" Id="R62b5b52aed194d7f" /><Relationship Type="http://schemas.openxmlformats.org/officeDocument/2006/relationships/slideLayout" Target="/ppt/slideLayouts/slideLayout9.xml" Id="R060619a51e7a4f90" /><Relationship Type="http://schemas.openxmlformats.org/officeDocument/2006/relationships/slideLayout" Target="/ppt/slideLayouts/slideLayout10.xml" Id="Rf648d8d56a8c4ce7" /><Relationship Type="http://schemas.openxmlformats.org/officeDocument/2006/relationships/slideLayout" Target="/ppt/slideLayouts/slideLayout11.xml" Id="R3f555d4801384da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33F6C50-5CE9-40CB-B492-B09A4EC9CF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6DCE8F9-B4C1-4D7B-B240-1B612085BD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691A8C0-0769-43BF-B88A-36474BC15B4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762CE1-1201-40AD-BB48-A1F8DA18D0A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9FE2A22-7B35-417A-8242-6F2E91E3C12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3f0a946c2a4f8a"/>
    <p:sldLayoutId xmlns:r="http://schemas.openxmlformats.org/officeDocument/2006/relationships" id="2147483650" r:id="R79ade0a041ba4395"/>
    <p:sldLayoutId xmlns:r="http://schemas.openxmlformats.org/officeDocument/2006/relationships" id="2147483651" r:id="R415266ab0f044fc5"/>
    <p:sldLayoutId xmlns:r="http://schemas.openxmlformats.org/officeDocument/2006/relationships" id="2147483652" r:id="R4514267ba1f14754"/>
    <p:sldLayoutId xmlns:r="http://schemas.openxmlformats.org/officeDocument/2006/relationships" id="2147483653" r:id="Rf3100352491a4410"/>
    <p:sldLayoutId xmlns:r="http://schemas.openxmlformats.org/officeDocument/2006/relationships" id="2147483654" r:id="R112801a58b024b2c"/>
    <p:sldLayoutId xmlns:r="http://schemas.openxmlformats.org/officeDocument/2006/relationships" id="2147483655" r:id="R259f80c2fb2f4515"/>
    <p:sldLayoutId xmlns:r="http://schemas.openxmlformats.org/officeDocument/2006/relationships" id="2147483656" r:id="R62b5b52aed194d7f"/>
    <p:sldLayoutId xmlns:r="http://schemas.openxmlformats.org/officeDocument/2006/relationships" id="2147483657" r:id="R060619a51e7a4f90"/>
    <p:sldLayoutId xmlns:r="http://schemas.openxmlformats.org/officeDocument/2006/relationships" id="2147483658" r:id="Rf648d8d56a8c4ce7"/>
    <p:sldLayoutId xmlns:r="http://schemas.openxmlformats.org/officeDocument/2006/relationships" id="2147483659" r:id="R3f555d4801384daf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9674c31f29d4036" /><Relationship Type="http://schemas.openxmlformats.org/officeDocument/2006/relationships/notesSlide" Target="/ppt/notesSlides/notesSlide1.xml" Id="Rf2b50c0e58584a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c417db34c88409f" /><Relationship Type="http://schemas.openxmlformats.org/officeDocument/2006/relationships/notesSlide" Target="/ppt/notesSlides/notesSlide2.xml" Id="Re989edfc83754d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2a2a6573d84eaf" /><Relationship Type="http://schemas.openxmlformats.org/officeDocument/2006/relationships/notesSlide" Target="/ppt/notesSlides/notesSlide3.xml" Id="R02bc9c5e0adf40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0a9b196bd3e4058" /><Relationship Type="http://schemas.openxmlformats.org/officeDocument/2006/relationships/notesSlide" Target="/ppt/notesSlides/notesSlide4.xml" Id="R19a8fd52512e44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f9d28ed09d4ceb" /><Relationship Type="http://schemas.openxmlformats.org/officeDocument/2006/relationships/notesSlide" Target="/ppt/notesSlides/notesSlide5.xml" Id="Rb90be2328d3846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5d21cd24ac47b8" /><Relationship Type="http://schemas.openxmlformats.org/officeDocument/2006/relationships/notesSlide" Target="/ppt/notesSlides/notesSlide6.xml" Id="R81b61f3e83a944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f6254f409684c65" /><Relationship Type="http://schemas.openxmlformats.org/officeDocument/2006/relationships/notesSlide" Target="/ppt/notesSlides/notesSlide7.xml" Id="Ra32e8e541fbf4c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274a5423a0543b7" /><Relationship Type="http://schemas.openxmlformats.org/officeDocument/2006/relationships/notesSlide" Target="/ppt/notesSlides/notesSlide8.xml" Id="R4c6c2f8d1ecf46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e6f853da9524089" /><Relationship Type="http://schemas.openxmlformats.org/officeDocument/2006/relationships/notesSlide" Target="/ppt/notesSlides/notesSlide9.xml" Id="R0c9a7f6f224e4d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18b0ae2a47346a4" /><Relationship Type="http://schemas.openxmlformats.org/officeDocument/2006/relationships/notesSlide" Target="/ppt/notesSlides/notesSlide10.xml" Id="R6bf2efe4e7c048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f44b5e433f4496a" /><Relationship Type="http://schemas.openxmlformats.org/officeDocument/2006/relationships/notesSlide" Target="/ppt/notesSlides/notesSlide11.xml" Id="R9323e5e60c504c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ed0ffd93bb45d8" /><Relationship Type="http://schemas.openxmlformats.org/officeDocument/2006/relationships/notesSlide" Target="/ppt/notesSlides/notesSlide12.xml" Id="Rcd8c08631ce648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984f60477ad41a5" /><Relationship Type="http://schemas.openxmlformats.org/officeDocument/2006/relationships/notesSlide" Target="/ppt/notesSlides/notesSlide13.xml" Id="R0c3c977c549d46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d7b58fa6608429e" /><Relationship Type="http://schemas.openxmlformats.org/officeDocument/2006/relationships/notesSlide" Target="/ppt/notesSlides/notesSlide14.xml" Id="R11f7582cab894ff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e9cce64cf5482b" /><Relationship Type="http://schemas.openxmlformats.org/officeDocument/2006/relationships/notesSlide" Target="/ppt/notesSlides/notesSlide15.xml" Id="R5c7f64556dbf4ac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908c8b7edf04b3f" /><Relationship Type="http://schemas.openxmlformats.org/officeDocument/2006/relationships/notesSlide" Target="/ppt/notesSlides/notesSlide16.xml" Id="R9c7dd4bd3d9b4e5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33edefaa5d4084" /><Relationship Type="http://schemas.openxmlformats.org/officeDocument/2006/relationships/notesSlide" Target="/ppt/notesSlides/notesSlide17.xml" Id="R5c21d52ad4af437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caf1bb28ec84a30" /><Relationship Type="http://schemas.openxmlformats.org/officeDocument/2006/relationships/notesSlide" Target="/ppt/notesSlides/notesSlide18.xml" Id="Ra94caa9d5780414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940f5c93abb4776" /><Relationship Type="http://schemas.openxmlformats.org/officeDocument/2006/relationships/notesSlide" Target="/ppt/notesSlides/notesSlide19.xml" Id="R9b669ac2ef70476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5bf16f4cc1e4b50" /><Relationship Type="http://schemas.openxmlformats.org/officeDocument/2006/relationships/notesSlide" Target="/ppt/notesSlides/notesSlide20.xml" Id="R458a40b26ddc495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34a9302f9f4059" /><Relationship Type="http://schemas.openxmlformats.org/officeDocument/2006/relationships/chart" Target="/ppt/slides/charts/chart1.xml" Id="R1d2bc0734a9547e1" /><Relationship Type="http://schemas.openxmlformats.org/officeDocument/2006/relationships/notesSlide" Target="/ppt/notesSlides/notesSlide21.xml" Id="R8c2ce222bbd8416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e41d87cb894310" /><Relationship Type="http://schemas.openxmlformats.org/officeDocument/2006/relationships/image" Target="/ppt/media/image.png" Id="R8d3722165fdf4d88" /><Relationship Type="http://schemas.openxmlformats.org/officeDocument/2006/relationships/notesSlide" Target="/ppt/notesSlides/notesSlide22.xml" Id="R840fd32afbed428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efd9bf57e5e46b2" /><Relationship Type="http://schemas.openxmlformats.org/officeDocument/2006/relationships/notesSlide" Target="/ppt/notesSlides/notesSlide23.xml" Id="Re7335bc00218424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e52da2ff0764201" /><Relationship Type="http://schemas.openxmlformats.org/officeDocument/2006/relationships/notesSlide" Target="/ppt/notesSlides/notesSlide24.xml" Id="Ra681d2df2c3e402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bbb894cd654ff7" /><Relationship Type="http://schemas.openxmlformats.org/officeDocument/2006/relationships/notesSlide" Target="/ppt/notesSlides/notesSlide25.xml" Id="R9bb3a7beb761462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bd62f82b41442c" /><Relationship Type="http://schemas.openxmlformats.org/officeDocument/2006/relationships/image" Target="/ppt/media/image2.png" Id="R735da0ee65cb42ab" /><Relationship Type="http://schemas.openxmlformats.org/officeDocument/2006/relationships/image" Target="/ppt/media/image3.png" Id="Rf84b4e1fd458488e" /><Relationship Type="http://schemas.openxmlformats.org/officeDocument/2006/relationships/notesSlide" Target="/ppt/notesSlides/notesSlide26.xml" Id="Ree5a70dd2cfb4b1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4b70d119bc4379" /><Relationship Type="http://schemas.openxmlformats.org/officeDocument/2006/relationships/image" Target="/ppt/media/image4.png" Id="R338a4adcf23e494b" /><Relationship Type="http://schemas.openxmlformats.org/officeDocument/2006/relationships/image" Target="/ppt/media/image5.png" Id="Ra80b712bedfb4ef6" /><Relationship Type="http://schemas.openxmlformats.org/officeDocument/2006/relationships/notesSlide" Target="/ppt/notesSlides/notesSlide27.xml" Id="Rb88fe1d5753b4f5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90cc1bbacd442b1" /><Relationship Type="http://schemas.openxmlformats.org/officeDocument/2006/relationships/image" Target="/ppt/media/image6.png" Id="Rf4eb23419be84fe7" /><Relationship Type="http://schemas.openxmlformats.org/officeDocument/2006/relationships/notesSlide" Target="/ppt/notesSlides/notesSlide28.xml" Id="R48e329e747554ab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有效吞吐</c:v>
          </c:tx>
          <c:spPr>
            <a:solidFill xmlns:a="http://schemas.openxmlformats.org/drawingml/2006/main">
              <a:srgbClr val="10286B"/>
            </a:solidFill>
          </c:spPr>
          <c:cat>
            <c:strRef>
              <c:f>'Chart Data'!$A$2:$A$4</c:f>
              <c:strCache>
                <c:ptCount val="3"/>
                <c:pt idx="0">
                  <c:v>并发128</c:v>
                </c:pt>
                <c:pt idx="1">
                  <c:v>并发256</c:v>
                </c:pt>
                <c:pt idx="2">
                  <c:v>并发512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0.801336</c:v>
                </c:pt>
                <c:pt idx="1">
                  <c:v>1</c:v>
                </c:pt>
                <c:pt idx="2">
                  <c:v>0.979395</c:v>
                </c:pt>
              </c:numCache>
            </c:numRef>
          </c:val>
        </c:ser>
        <c:ser>
          <c:idx val="1"/>
          <c:order val="1"/>
          <c:tx>
            <c:v>P99延迟</c:v>
          </c:tx>
          <c:spPr>
            <a:solidFill xmlns:a="http://schemas.openxmlformats.org/drawingml/2006/main">
              <a:srgbClr val="C55A11"/>
            </a:solidFill>
          </c:spPr>
          <c:cat>
            <c:strRef>
              <c:f>'Chart Data'!$C$2:$C$4</c:f>
              <c:strCache>
                <c:ptCount val="3"/>
                <c:pt idx="0">
                  <c:v>并发128</c:v>
                </c:pt>
                <c:pt idx="1">
                  <c:v>并发256</c:v>
                </c:pt>
                <c:pt idx="2">
                  <c:v>并发512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0.683507</c:v>
                </c:pt>
                <c:pt idx="1">
                  <c:v>1</c:v>
                </c:pt>
                <c:pt idx="2">
                  <c:v>2.546805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77818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Microsoft YaHei"/>
                    <a:ea typeface="Microsoft YaHei"/>
                    <a:cs typeface="Microsoft YaHei"/>
                  </a:rPr>
                  <a:t>相对并发256的比值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000000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1">
            <a:extLst xmlns:a="http://schemas.openxmlformats.org/drawingml/2006/main">
              <a:ext uri="{FF2B5EF4-FFF2-40B4-BE49-F238E27FC236}">
                <a16:creationId xmlns:a16="http://schemas.microsoft.com/office/drawing/2014/main" id="{8EF65F2D-2B05-4A54-9038-F24A33FE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33525"/>
            <a:ext cx="109347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多核SoC总线ESL建模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架构设计与建模实践</a:t>
            </a:r>
          </a:p>
        </p:txBody>
      </p:sp>
      <p:sp>
        <p:nvSpPr>
          <p:cNvPr id="3" name="share-2">
            <a:extLst xmlns:a="http://schemas.openxmlformats.org/drawingml/2006/main">
              <a:ext uri="{FF2B5EF4-FFF2-40B4-BE49-F238E27FC236}">
                <a16:creationId xmlns:a16="http://schemas.microsoft.com/office/drawing/2014/main" id="{CC5543C0-50A9-4778-8221-BD7CB36A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6480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互连架构设计、参数扫描与同地址访问专题</a:t>
            </a:r>
          </a:p>
        </p:txBody>
      </p:sp>
      <p:sp>
        <p:nvSpPr>
          <p:cNvPr id="4" name="share-3">
            <a:extLst xmlns:a="http://schemas.openxmlformats.org/drawingml/2006/main">
              <a:ext uri="{FF2B5EF4-FFF2-40B4-BE49-F238E27FC236}">
                <a16:creationId xmlns:a16="http://schemas.microsoft.com/office/drawing/2014/main" id="{5F8C3690-B929-4770-A6D4-52125677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24375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AFB9"/>
            </a:solidFill>
          </a:ln>
        </p:spPr>
      </p:sp>
      <p:sp>
        <p:nvSpPr>
          <p:cNvPr id="5" name="share-4">
            <a:extLst xmlns:a="http://schemas.openxmlformats.org/drawingml/2006/main">
              <a:ext uri="{FF2B5EF4-FFF2-40B4-BE49-F238E27FC236}">
                <a16:creationId xmlns:a16="http://schemas.microsoft.com/office/drawing/2014/main" id="{14E8ECA5-8129-4ECC-A5DE-67E6DB00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9720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内部经验交流</a:t>
            </a:r>
          </a:p>
        </p:txBody>
      </p:sp>
      <p:sp>
        <p:nvSpPr>
          <p:cNvPr id="6" name="share-5">
            <a:extLst xmlns:a="http://schemas.openxmlformats.org/drawingml/2006/main">
              <a:ext uri="{FF2B5EF4-FFF2-40B4-BE49-F238E27FC236}">
                <a16:creationId xmlns:a16="http://schemas.microsoft.com/office/drawing/2014/main" id="{4EFE7FEE-4A54-4B82-A742-EE8C0135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495925"/>
            <a:ext cx="1009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基于三个月实习项目的实践与思考</a:t>
            </a:r>
          </a:p>
        </p:txBody>
      </p:sp>
      <p:sp>
        <p:nvSpPr>
          <p:cNvPr id="7" name="share-6">
            <a:extLst xmlns:a="http://schemas.openxmlformats.org/drawingml/2006/main">
              <a:ext uri="{FF2B5EF4-FFF2-40B4-BE49-F238E27FC236}">
                <a16:creationId xmlns:a16="http://schemas.microsoft.com/office/drawing/2014/main" id="{F150B19B-9E08-4566-A20D-8141763C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302342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rch-text-1">
            <a:extLst xmlns:a="http://schemas.openxmlformats.org/drawingml/2006/main">
              <a:ext uri="{FF2B5EF4-FFF2-40B4-BE49-F238E27FC236}">
                <a16:creationId xmlns:a16="http://schemas.microsoft.com/office/drawing/2014/main" id="{31BAF016-2D10-4093-A420-CE31DE25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分享内容：架构设计、实验问题与建模取舍</a:t>
            </a:r>
          </a:p>
        </p:txBody>
      </p:sp>
      <p:sp>
        <p:nvSpPr>
          <p:cNvPr id="2" name="arch-text-2">
            <a:extLst xmlns:a="http://schemas.openxmlformats.org/drawingml/2006/main">
              <a:ext uri="{FF2B5EF4-FFF2-40B4-BE49-F238E27FC236}">
                <a16:creationId xmlns:a16="http://schemas.microsoft.com/office/drawing/2014/main" id="{DE78F557-7832-4126-AF97-6DD5CCA3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先说明事务如何推进，再用吞吐、P99和物理流量回答参数选择问题。</a:t>
            </a:r>
          </a:p>
        </p:txBody>
      </p:sp>
      <p:sp>
        <p:nvSpPr>
          <p:cNvPr id="3" name="arch-text-3">
            <a:extLst xmlns:a="http://schemas.openxmlformats.org/drawingml/2006/main">
              <a:ext uri="{FF2B5EF4-FFF2-40B4-BE49-F238E27FC236}">
                <a16:creationId xmlns:a16="http://schemas.microsoft.com/office/drawing/2014/main" id="{C18F680C-C802-429F-AD8F-AA55BD38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arch-text-4">
            <a:extLst xmlns:a="http://schemas.openxmlformats.org/drawingml/2006/main">
              <a:ext uri="{FF2B5EF4-FFF2-40B4-BE49-F238E27FC236}">
                <a16:creationId xmlns:a16="http://schemas.microsoft.com/office/drawing/2014/main" id="{8F208301-1D1F-4854-AD1C-3DBABE9E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685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arch-text-5">
            <a:extLst xmlns:a="http://schemas.openxmlformats.org/drawingml/2006/main">
              <a:ext uri="{FF2B5EF4-FFF2-40B4-BE49-F238E27FC236}">
                <a16:creationId xmlns:a16="http://schemas.microsoft.com/office/drawing/2014/main" id="{4F100BFD-75EB-4B83-B900-D897E56C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790700"/>
            <a:ext cx="990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背景与系统边界</a:t>
            </a:r>
          </a:p>
        </p:txBody>
      </p:sp>
      <p:sp>
        <p:nvSpPr>
          <p:cNvPr id="6" name="arch-text-6">
            <a:extLst xmlns:a="http://schemas.openxmlformats.org/drawingml/2006/main">
              <a:ext uri="{FF2B5EF4-FFF2-40B4-BE49-F238E27FC236}">
                <a16:creationId xmlns:a16="http://schemas.microsoft.com/office/drawing/2014/main" id="{25D234B8-295B-4965-952A-45E475C4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76475"/>
            <a:ext cx="1009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近SoC环境需要表达哪些约束</a:t>
            </a:r>
          </a:p>
        </p:txBody>
      </p:sp>
      <p:sp>
        <p:nvSpPr>
          <p:cNvPr id="7" name="arch-line-7">
            <a:extLst xmlns:a="http://schemas.openxmlformats.org/drawingml/2006/main">
              <a:ext uri="{FF2B5EF4-FFF2-40B4-BE49-F238E27FC236}">
                <a16:creationId xmlns:a16="http://schemas.microsoft.com/office/drawing/2014/main" id="{2CCC214E-23AA-4882-95F4-E7EF2781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7432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8" name="arch-text-8">
            <a:extLst xmlns:a="http://schemas.openxmlformats.org/drawingml/2006/main">
              <a:ext uri="{FF2B5EF4-FFF2-40B4-BE49-F238E27FC236}">
                <a16:creationId xmlns:a16="http://schemas.microsoft.com/office/drawing/2014/main" id="{628804A0-5578-45D9-9A96-C96A3ADA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685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arch-text-9">
            <a:extLst xmlns:a="http://schemas.openxmlformats.org/drawingml/2006/main">
              <a:ext uri="{FF2B5EF4-FFF2-40B4-BE49-F238E27FC236}">
                <a16:creationId xmlns:a16="http://schemas.microsoft.com/office/drawing/2014/main" id="{F8100505-FF17-46BD-8CB9-B742CF71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52750"/>
            <a:ext cx="990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互连与资源管理</a:t>
            </a:r>
          </a:p>
        </p:txBody>
      </p:sp>
      <p:sp>
        <p:nvSpPr>
          <p:cNvPr id="10" name="arch-text-10">
            <a:extLst xmlns:a="http://schemas.openxmlformats.org/drawingml/2006/main">
              <a:ext uri="{FF2B5EF4-FFF2-40B4-BE49-F238E27FC236}">
                <a16:creationId xmlns:a16="http://schemas.microsoft.com/office/drawing/2014/main" id="{B5D0E4B9-B3CA-4805-A7CA-2FD388E1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438525"/>
            <a:ext cx="1009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交叉节点、槽位池、跨环转发与链路时序</a:t>
            </a:r>
          </a:p>
        </p:txBody>
      </p:sp>
      <p:sp>
        <p:nvSpPr>
          <p:cNvPr id="11" name="arch-line-11">
            <a:extLst xmlns:a="http://schemas.openxmlformats.org/drawingml/2006/main">
              <a:ext uri="{FF2B5EF4-FFF2-40B4-BE49-F238E27FC236}">
                <a16:creationId xmlns:a16="http://schemas.microsoft.com/office/drawing/2014/main" id="{822F60DF-698E-407C-944E-F8F7CC5F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12" name="arch-text-12">
            <a:extLst xmlns:a="http://schemas.openxmlformats.org/drawingml/2006/main">
              <a:ext uri="{FF2B5EF4-FFF2-40B4-BE49-F238E27FC236}">
                <a16:creationId xmlns:a16="http://schemas.microsoft.com/office/drawing/2014/main" id="{B5E61C50-7ED9-4282-AF8C-DECB56B7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685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arch-text-13">
            <a:extLst xmlns:a="http://schemas.openxmlformats.org/drawingml/2006/main">
              <a:ext uri="{FF2B5EF4-FFF2-40B4-BE49-F238E27FC236}">
                <a16:creationId xmlns:a16="http://schemas.microsoft.com/office/drawing/2014/main" id="{2C4B8523-EB55-4DC1-B1A0-0E834103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114800"/>
            <a:ext cx="990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存储侧事务与聚合</a:t>
            </a:r>
          </a:p>
        </p:txBody>
      </p:sp>
      <p:sp>
        <p:nvSpPr>
          <p:cNvPr id="14" name="arch-text-14">
            <a:extLst xmlns:a="http://schemas.openxmlformats.org/drawingml/2006/main">
              <a:ext uri="{FF2B5EF4-FFF2-40B4-BE49-F238E27FC236}">
                <a16:creationId xmlns:a16="http://schemas.microsoft.com/office/drawing/2014/main" id="{C8916CE2-B41A-4A46-BFC3-2563E553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600575"/>
            <a:ext cx="1009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HA读合并、写冲突和L2返回组织</a:t>
            </a:r>
          </a:p>
        </p:txBody>
      </p:sp>
      <p:sp>
        <p:nvSpPr>
          <p:cNvPr id="15" name="arch-line-15">
            <a:extLst xmlns:a="http://schemas.openxmlformats.org/drawingml/2006/main">
              <a:ext uri="{FF2B5EF4-FFF2-40B4-BE49-F238E27FC236}">
                <a16:creationId xmlns:a16="http://schemas.microsoft.com/office/drawing/2014/main" id="{2D8CE76B-D897-4A95-91F3-848644EE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0673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16" name="arch-text-16">
            <a:extLst xmlns:a="http://schemas.openxmlformats.org/drawingml/2006/main">
              <a:ext uri="{FF2B5EF4-FFF2-40B4-BE49-F238E27FC236}">
                <a16:creationId xmlns:a16="http://schemas.microsoft.com/office/drawing/2014/main" id="{95257830-4737-4467-AC4D-EF6E319B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685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arch-text-17">
            <a:extLst xmlns:a="http://schemas.openxmlformats.org/drawingml/2006/main">
              <a:ext uri="{FF2B5EF4-FFF2-40B4-BE49-F238E27FC236}">
                <a16:creationId xmlns:a16="http://schemas.microsoft.com/office/drawing/2014/main" id="{D03F04A2-3D28-49C9-B11B-9262C880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276850"/>
            <a:ext cx="990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实验问题与阶段结果</a:t>
            </a:r>
          </a:p>
        </p:txBody>
      </p:sp>
      <p:sp>
        <p:nvSpPr>
          <p:cNvPr id="18" name="arch-text-18">
            <a:extLst xmlns:a="http://schemas.openxmlformats.org/drawingml/2006/main">
              <a:ext uri="{FF2B5EF4-FFF2-40B4-BE49-F238E27FC236}">
                <a16:creationId xmlns:a16="http://schemas.microsoft.com/office/drawing/2014/main" id="{93824157-B898-4729-8570-DC33D116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762625"/>
            <a:ext cx="1009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并发深度、请求粒度、地址关系与同地址访问专题</a:t>
            </a:r>
          </a:p>
        </p:txBody>
      </p:sp>
    </p:spTree>
    <p:extLst>
      <p:ext uri="{BB962C8B-B14F-4D97-AF65-F5344CB8AC3E}">
        <p14:creationId xmlns:p14="http://schemas.microsoft.com/office/powerpoint/2010/main" val="5911315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25">
            <a:extLst xmlns:a="http://schemas.openxmlformats.org/drawingml/2006/main">
              <a:ext uri="{FF2B5EF4-FFF2-40B4-BE49-F238E27FC236}">
                <a16:creationId xmlns:a16="http://schemas.microsoft.com/office/drawing/2014/main" id="{08B460FD-E315-446D-8C65-925A01B7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建模背景：核侧需要怎样的系统环境</a:t>
            </a:r>
          </a:p>
        </p:txBody>
      </p:sp>
      <p:sp>
        <p:nvSpPr>
          <p:cNvPr id="3" name="share-26">
            <a:extLst xmlns:a="http://schemas.openxmlformats.org/drawingml/2006/main">
              <a:ext uri="{FF2B5EF4-FFF2-40B4-BE49-F238E27FC236}">
                <a16:creationId xmlns:a16="http://schemas.microsoft.com/office/drawing/2014/main" id="{80D5A1BA-A42C-42C1-A74B-3164B63C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核发出的访存请求，最终会受到互连竞争和存储服务能力的共同影响。</a:t>
            </a:r>
          </a:p>
        </p:txBody>
      </p:sp>
      <p:sp>
        <p:nvSpPr>
          <p:cNvPr id="4" name="share-27">
            <a:extLst xmlns:a="http://schemas.openxmlformats.org/drawingml/2006/main">
              <a:ext uri="{FF2B5EF4-FFF2-40B4-BE49-F238E27FC236}">
                <a16:creationId xmlns:a16="http://schemas.microsoft.com/office/drawing/2014/main" id="{8C83DEA3-9418-490B-9F46-08FB5317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85925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早期架构探索的缺口</a:t>
            </a:r>
          </a:p>
        </p:txBody>
      </p:sp>
      <p:sp>
        <p:nvSpPr>
          <p:cNvPr id="5" name="share-28">
            <a:extLst xmlns:a="http://schemas.openxmlformats.org/drawingml/2006/main">
              <a:ext uri="{FF2B5EF4-FFF2-40B4-BE49-F238E27FC236}">
                <a16:creationId xmlns:a16="http://schemas.microsoft.com/office/drawing/2014/main" id="{F3F04479-7E05-4CC2-8E22-4676FDF2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52650"/>
            <a:ext cx="1133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如果只给核侧一个固定延迟、无限带宽的存储响应，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就难以观察多核竞争、队列积压和返回路径拥塞。</a:t>
            </a:r>
          </a:p>
        </p:txBody>
      </p:sp>
      <p:sp>
        <p:nvSpPr>
          <p:cNvPr id="6" name="share-29">
            <a:extLst xmlns:a="http://schemas.openxmlformats.org/drawingml/2006/main">
              <a:ext uri="{FF2B5EF4-FFF2-40B4-BE49-F238E27FC236}">
                <a16:creationId xmlns:a16="http://schemas.microsoft.com/office/drawing/2014/main" id="{216549BC-FFEE-4F9C-9B00-99FDDD91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1718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AFB9"/>
            </a:solidFill>
          </a:ln>
        </p:spPr>
      </p:sp>
      <p:sp>
        <p:nvSpPr>
          <p:cNvPr id="7" name="share-30">
            <a:extLst xmlns:a="http://schemas.openxmlformats.org/drawingml/2006/main">
              <a:ext uri="{FF2B5EF4-FFF2-40B4-BE49-F238E27FC236}">
                <a16:creationId xmlns:a16="http://schemas.microsoft.com/office/drawing/2014/main" id="{9898D41B-14F8-4E27-85D3-772661C6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67100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MTE与LD/ST通路</a:t>
            </a:r>
          </a:p>
        </p:txBody>
      </p:sp>
      <p:sp>
        <p:nvSpPr>
          <p:cNvPr id="8" name="share-31">
            <a:extLst xmlns:a="http://schemas.openxmlformats.org/drawingml/2006/main">
              <a:ext uri="{FF2B5EF4-FFF2-40B4-BE49-F238E27FC236}">
                <a16:creationId xmlns:a16="http://schemas.microsoft.com/office/drawing/2014/main" id="{E54ADD30-82EC-47B5-9FCB-A8DE4692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933825"/>
            <a:ext cx="1133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MTE数据搬运与LD/ST访存均经过片上互连和存储系统；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请求大小、在途数量和下游反压共同决定访存延迟与有效带宽。</a:t>
            </a:r>
          </a:p>
        </p:txBody>
      </p:sp>
      <p:sp>
        <p:nvSpPr>
          <p:cNvPr id="9" name="share-32">
            <a:extLst xmlns:a="http://schemas.openxmlformats.org/drawingml/2006/main">
              <a:ext uri="{FF2B5EF4-FFF2-40B4-BE49-F238E27FC236}">
                <a16:creationId xmlns:a16="http://schemas.microsoft.com/office/drawing/2014/main" id="{DB70EE2D-ACEA-44E9-966B-E7A4907D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10150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核与SoC协同设计</a:t>
            </a:r>
          </a:p>
        </p:txBody>
      </p:sp>
      <p:sp>
        <p:nvSpPr>
          <p:cNvPr id="10" name="share-33">
            <a:extLst xmlns:a="http://schemas.openxmlformats.org/drawingml/2006/main">
              <a:ext uri="{FF2B5EF4-FFF2-40B4-BE49-F238E27FC236}">
                <a16:creationId xmlns:a16="http://schemas.microsoft.com/office/drawing/2014/main" id="{01FBC113-6A4A-4429-933A-7105299D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76875"/>
            <a:ext cx="1133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共享数据在哪里合并、资源由哪一侧管理、请求何时完成，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需要在统一的事务语义和观察口径下讨论。</a:t>
            </a:r>
          </a:p>
        </p:txBody>
      </p:sp>
      <p:sp>
        <p:nvSpPr>
          <p:cNvPr id="11" name="share-34">
            <a:extLst xmlns:a="http://schemas.openxmlformats.org/drawingml/2006/main">
              <a:ext uri="{FF2B5EF4-FFF2-40B4-BE49-F238E27FC236}">
                <a16:creationId xmlns:a16="http://schemas.microsoft.com/office/drawing/2014/main" id="{518A6AEE-5CDE-494A-BB91-8B9EFBF3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646947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35">
            <a:extLst xmlns:a="http://schemas.openxmlformats.org/drawingml/2006/main">
              <a:ext uri="{FF2B5EF4-FFF2-40B4-BE49-F238E27FC236}">
                <a16:creationId xmlns:a16="http://schemas.microsoft.com/office/drawing/2014/main" id="{E284D04F-1389-4693-9993-0FA9DA98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本阶段工作与模型边界</a:t>
            </a:r>
          </a:p>
        </p:txBody>
      </p:sp>
      <p:sp>
        <p:nvSpPr>
          <p:cNvPr id="3" name="share-36">
            <a:extLst xmlns:a="http://schemas.openxmlformats.org/drawingml/2006/main">
              <a:ext uri="{FF2B5EF4-FFF2-40B4-BE49-F238E27FC236}">
                <a16:creationId xmlns:a16="http://schemas.microsoft.com/office/drawing/2014/main" id="{59E74892-6FE1-490F-841C-940DC431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在现有事件驱动框架中，搭建可配置的总线与存储性能探索环境。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381000" y="1685925"/>
          <a:ext xmlns:a="http://schemas.openxmlformats.org/drawingml/2006/main" cx="11430000" cy="3667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47875"/>
                <a:gridCol w="4857750"/>
                <a:gridCol w="4524375"/>
              </a:tblGrid>
              <a:tr h="4953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当前表达方式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可以回答的问题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</a:tr>
              <a:tr h="10572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互连与事务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H/V环网、读写路径、仲裁与反压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链路序列化、跨环转发、槽位管理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请求能否正确完成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哪些资源限制系统吞吐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572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存储与数据复用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HA读合并及写冲突保护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L2返回组织、后端队列与在途额度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重复读取和重复返回能减少多少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后端服务能力如何影响核侧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572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本阶段的近似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包与槽位粒度的时序模型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配置命中率，抽象存储后端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适合做机制与参数趋势分析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尚需SoC ESL校准绝对时延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re-37">
            <a:extLst xmlns:a="http://schemas.openxmlformats.org/drawingml/2006/main">
              <a:ext uri="{FF2B5EF4-FFF2-40B4-BE49-F238E27FC236}">
                <a16:creationId xmlns:a16="http://schemas.microsoft.com/office/drawing/2014/main" id="{1E4C7A91-A70C-49AF-A0BB-2A776099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本人工作：模型实现、测试与性能统计，以及架构、接口和参数说明。</a:t>
            </a:r>
          </a:p>
        </p:txBody>
      </p:sp>
      <p:sp>
        <p:nvSpPr>
          <p:cNvPr id="6" name="share-38">
            <a:extLst xmlns:a="http://schemas.openxmlformats.org/drawingml/2006/main">
              <a:ext uri="{FF2B5EF4-FFF2-40B4-BE49-F238E27FC236}">
                <a16:creationId xmlns:a16="http://schemas.microsoft.com/office/drawing/2014/main" id="{388DE20F-C48C-4E92-B81F-93FE5DD0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983648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50">
            <a:extLst xmlns:a="http://schemas.openxmlformats.org/drawingml/2006/main">
              <a:ext uri="{FF2B5EF4-FFF2-40B4-BE49-F238E27FC236}">
                <a16:creationId xmlns:a16="http://schemas.microsoft.com/office/drawing/2014/main" id="{C1D998D3-A65C-47EE-BEDF-E38DE2B1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65662"/>
            <a:ext cx="952500" cy="28155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DAB2"/>
          </a:solidFill>
          <a:ln xmlns:a="http://schemas.openxmlformats.org/drawingml/2006/main"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HBM</a:t>
            </a:r>
            <a:endParaRPr sz="1100" b="1">
              <a:solidFill>
                <a:srgbClr val="20273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ounded Rectangle 50">
            <a:extLst xmlns:a="http://schemas.openxmlformats.org/drawingml/2006/main">
              <a:ext uri="{FF2B5EF4-FFF2-40B4-BE49-F238E27FC236}">
                <a16:creationId xmlns:a16="http://schemas.microsoft.com/office/drawing/2014/main" id="{3E6F8537-8A43-4D0D-8999-7610512C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64582"/>
            <a:ext cx="952500" cy="28155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DAB2"/>
          </a:solidFill>
          <a:ln xmlns:a="http://schemas.openxmlformats.org/drawingml/2006/main"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HBM</a:t>
            </a:r>
            <a:endParaRPr sz="1100" b="1">
              <a:solidFill>
                <a:srgbClr val="20273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ounded Rectangle 50">
            <a:extLst xmlns:a="http://schemas.openxmlformats.org/drawingml/2006/main">
              <a:ext uri="{FF2B5EF4-FFF2-40B4-BE49-F238E27FC236}">
                <a16:creationId xmlns:a16="http://schemas.microsoft.com/office/drawing/2014/main" id="{17C9239B-8579-45EE-88CE-FB2BA421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958" y="1699640"/>
            <a:ext cx="952500" cy="28155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DAB2"/>
          </a:solidFill>
          <a:ln xmlns:a="http://schemas.openxmlformats.org/drawingml/2006/main"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HBM</a:t>
            </a:r>
            <a:endParaRPr sz="1100" b="1">
              <a:solidFill>
                <a:srgbClr val="20273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ounded Rectangle 50">
            <a:extLst xmlns:a="http://schemas.openxmlformats.org/drawingml/2006/main">
              <a:ext uri="{FF2B5EF4-FFF2-40B4-BE49-F238E27FC236}">
                <a16:creationId xmlns:a16="http://schemas.microsoft.com/office/drawing/2014/main" id="{1CFC52F7-23CD-4A1B-9C86-D2A3E555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99640"/>
            <a:ext cx="952500" cy="28155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DAB2"/>
          </a:solidFill>
          <a:ln xmlns:a="http://schemas.openxmlformats.org/drawingml/2006/main"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HBM</a:t>
            </a:r>
            <a:endParaRPr sz="1100" b="1">
              <a:solidFill>
                <a:srgbClr val="20273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2" name="连接符: 肘形 250"/>
          <p:cNvCxnSpPr/>
          <p:nvPr/>
        </p:nvCxnSpPr>
        <p:spPr>
          <a:xfrm xmlns:a="http://schemas.openxmlformats.org/drawingml/2006/main" rot="16200000" flipV="1">
            <a:off x="816836" y="2364514"/>
            <a:ext cx="928690" cy="562111"/>
          </a:xfrm>
          <a:prstGeom xmlns:a="http://schemas.openxmlformats.org/drawingml/2006/main" prst="bentConnector3">
            <a:avLst>
              <a:gd name="adj1" fmla="val -9487"/>
            </a:avLst>
          </a:prstGeom>
          <a:ln xmlns:a="http://schemas.openxmlformats.org/drawingml/2006/main" w="25400" cap="rnd">
            <a:solidFill>
              <a:srgbClr val="2A70AD"/>
            </a:solidFill>
            <a:prstDash val="solid"/>
            <a:round/>
            <a:tailEnd type="arrow" w="med" len="med"/>
          </a:ln>
        </p:spPr>
      </p:cxnSp>
      <p:sp>
        <p:nvSpPr>
          <p:cNvPr id="7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E585687-C87D-4E16-A60C-9EC41D8F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28950"/>
            <a:ext cx="9810750" cy="76200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4604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600">
              <a:latin typeface="Arial"/>
              <a:ea typeface="Arial"/>
              <a:cs typeface="Arial"/>
            </a:endParaRPr>
          </a:p>
        </p:txBody>
      </p:sp>
      <p:sp>
        <p:nvSpPr>
          <p:cNvPr id="8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9E21BAC4-A8E6-4430-8DB8-5066283C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14500"/>
            <a:ext cx="952500" cy="342900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3335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600">
              <a:latin typeface="Arial"/>
              <a:ea typeface="Arial"/>
              <a:cs typeface="Arial"/>
            </a:endParaRPr>
          </a:p>
        </p:txBody>
      </p:sp>
      <p:sp>
        <p:nvSpPr>
          <p:cNvPr id="9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E709A57-22DC-461D-954B-C6B3EAA2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714500"/>
            <a:ext cx="952500" cy="342900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3335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600">
              <a:latin typeface="Arial"/>
              <a:ea typeface="Arial"/>
              <a:cs typeface="Arial"/>
            </a:endParaRPr>
          </a:p>
        </p:txBody>
      </p:sp>
      <p:sp>
        <p:nvSpPr>
          <p:cNvPr id="10" name="TextBox 2">
            <a:extLst xmlns:a="http://schemas.openxmlformats.org/drawingml/2006/main">
              <a:ext uri="{FF2B5EF4-FFF2-40B4-BE49-F238E27FC236}">
                <a16:creationId xmlns:a16="http://schemas.microsoft.com/office/drawing/2014/main" id="{A707202B-A515-4157-A105-258570C0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latin typeface="Microsoft YaHei"/>
                <a:ea typeface="Microsoft YaHei"/>
                <a:cs typeface="Microsoft YaHei"/>
              </a:rPr>
              <a:t>当前平台的H/V Ring拓扑</a:t>
            </a:r>
            <a:endParaRPr sz="2500" b="1" i="0">
              <a:solidFill>
                <a:srgbClr val="1F4A7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TextBox 3">
            <a:extLst xmlns:a="http://schemas.openxmlformats.org/drawingml/2006/main">
              <a:ext uri="{FF2B5EF4-FFF2-40B4-BE49-F238E27FC236}">
                <a16:creationId xmlns:a16="http://schemas.microsoft.com/office/drawing/2014/main" id="{593C8979-5414-4D82-A96E-B55E4EF0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47725"/>
            <a:ext cx="1143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8个计算核分属2条V-Ring，通过共享H-Ring连接4组HA／内存端口与L2 Buffer</a:t>
            </a:r>
            <a:endParaRPr sz="1125" b="0" i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B510448-B51C-4DC3-A5F8-BB2478F3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34440"/>
            <a:ext cx="10991088" cy="4137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70777E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3" name="TextBox 6">
            <a:extLst xmlns:a="http://schemas.openxmlformats.org/drawingml/2006/main">
              <a:ext uri="{FF2B5EF4-FFF2-40B4-BE49-F238E27FC236}">
                <a16:creationId xmlns:a16="http://schemas.microsoft.com/office/drawing/2014/main" id="{006017C4-6640-4287-9181-C815640C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307592"/>
            <a:ext cx="390525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双垂直环与共享水平环拓扑</a:t>
            </a:r>
          </a:p>
        </p:txBody>
      </p:sp>
      <p:sp>
        <p:nvSpPr>
          <p:cNvPr id="14" name="TextBox 8">
            <a:extLst xmlns:a="http://schemas.openxmlformats.org/drawingml/2006/main">
              <a:ext uri="{FF2B5EF4-FFF2-40B4-BE49-F238E27FC236}">
                <a16:creationId xmlns:a16="http://schemas.microsoft.com/office/drawing/2014/main" id="{84A75578-204E-470E-B78D-55451F6E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2575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1F4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共享</a:t>
            </a:r>
            <a:r>
              <a:rPr sz="1400" b="1" i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 H-Ring</a:t>
            </a:r>
          </a:p>
        </p:txBody>
      </p:sp>
      <p:sp>
        <p:nvSpPr>
          <p:cNvPr id="15" name="TextBox 10">
            <a:extLst xmlns:a="http://schemas.openxmlformats.org/drawingml/2006/main">
              <a:ext uri="{FF2B5EF4-FFF2-40B4-BE49-F238E27FC236}">
                <a16:creationId xmlns:a16="http://schemas.microsoft.com/office/drawing/2014/main" id="{A5CD8212-8189-49F8-9A3F-9C045FEB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04950"/>
            <a:ext cx="1276350" cy="219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40" b="1">
                <a:solidFill>
                  <a:srgbClr val="5D6570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V-Ring 0 · M0–M3</a:t>
            </a:r>
          </a:p>
        </p:txBody>
      </p:sp>
      <p:sp>
        <p:nvSpPr>
          <p:cNvPr id="16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3F43DE8-43E9-4791-A2B5-E552274C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367" y="1955292"/>
            <a:ext cx="128016" cy="1280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08488"/>
          </a:solidFill>
          <a:ln xmlns:a="http://schemas.openxmlformats.org/drawingml/2006/main" w="6668">
            <a:solidFill>
              <a:srgbClr val="808488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600">
              <a:latin typeface="Arial"/>
              <a:ea typeface="Arial"/>
              <a:cs typeface="Arial"/>
            </a:endParaRPr>
          </a:p>
        </p:txBody>
      </p:sp>
      <p:sp>
        <p:nvSpPr>
          <p:cNvPr id="17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4886928-C84B-48AB-87D3-00262C7A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867" y="1955292"/>
            <a:ext cx="128016" cy="1280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08488"/>
          </a:solidFill>
          <a:ln xmlns:a="http://schemas.openxmlformats.org/drawingml/2006/main" w="6668">
            <a:solidFill>
              <a:srgbClr val="808488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600">
              <a:latin typeface="Arial"/>
              <a:ea typeface="Arial"/>
              <a:cs typeface="Arial"/>
            </a:endParaRPr>
          </a:p>
        </p:txBody>
      </p:sp>
      <p:sp>
        <p:nvSpPr>
          <p:cNvPr id="18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5D040F24-C822-477F-AE65-4480492C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367" y="4327017"/>
            <a:ext cx="128016" cy="1280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08488"/>
          </a:solidFill>
          <a:ln xmlns:a="http://schemas.openxmlformats.org/drawingml/2006/main" w="6668">
            <a:solidFill>
              <a:srgbClr val="808488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600">
              <a:latin typeface="Arial"/>
              <a:ea typeface="Arial"/>
              <a:cs typeface="Arial"/>
            </a:endParaRPr>
          </a:p>
        </p:txBody>
      </p:sp>
      <p:sp>
        <p:nvSpPr>
          <p:cNvPr id="19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2E8A0DFC-41BE-458F-9DC4-A42096E1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867" y="4327017"/>
            <a:ext cx="128016" cy="1280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08488"/>
          </a:solidFill>
          <a:ln xmlns:a="http://schemas.openxmlformats.org/drawingml/2006/main" w="6668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600">
              <a:latin typeface="Arial"/>
              <a:ea typeface="Arial"/>
              <a:cs typeface="Arial"/>
            </a:endParaRPr>
          </a:p>
        </p:txBody>
      </p:sp>
      <p:sp>
        <p:nvSpPr>
          <p:cNvPr id="20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0D558A31-D14E-4D7E-BBF7-72BCA8BC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66900"/>
            <a:ext cx="762000" cy="3143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8EACA"/>
          </a:solidFill>
          <a:ln xmlns:a="http://schemas.openxmlformats.org/drawingml/2006/main" w="11430">
            <a:solidFill>
              <a:srgbClr val="70777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730"/>
                </a:solidFill>
                <a:latin typeface="Arial"/>
                <a:ea typeface="Arial"/>
                <a:cs typeface="Arial"/>
              </a:rPr>
              <a:t>Master 0</a:t>
            </a:r>
          </a:p>
        </p:txBody>
      </p:sp>
      <p:sp>
        <p:nvSpPr>
          <p:cNvPr id="21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9136FD3-CF97-413C-8DE7-D22C9A14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866900"/>
            <a:ext cx="762000" cy="3143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8EACA"/>
          </a:solidFill>
          <a:ln xmlns:a="http://schemas.openxmlformats.org/drawingml/2006/main" w="11430">
            <a:solidFill>
              <a:srgbClr val="70777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730"/>
                </a:solidFill>
                <a:latin typeface="Arial"/>
                <a:ea typeface="Arial"/>
                <a:cs typeface="Arial"/>
              </a:rPr>
              <a:t>Master 1</a:t>
            </a:r>
          </a:p>
        </p:txBody>
      </p:sp>
      <p:sp>
        <p:nvSpPr>
          <p:cNvPr id="22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097F1546-118A-46E9-9DA8-053C83B2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232" y="2794634"/>
            <a:ext cx="762000" cy="495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AEBF3"/>
          </a:solidFill>
          <a:ln xmlns:a="http://schemas.openxmlformats.org/drawingml/2006/main" w="11430">
            <a:solidFill>
              <a:srgbClr val="1F4A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825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RBRG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825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-L1</a:t>
            </a:r>
          </a:p>
        </p:txBody>
      </p:sp>
      <p:sp>
        <p:nvSpPr>
          <p:cNvPr id="23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FEC3FE95-D3C8-43B2-935E-A8D131C3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992" y="2964942"/>
            <a:ext cx="128016" cy="1280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08488"/>
          </a:solidFill>
          <a:ln xmlns:a="http://schemas.openxmlformats.org/drawingml/2006/main" w="6668">
            <a:solidFill>
              <a:srgbClr val="808488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600">
              <a:latin typeface="Arial"/>
              <a:ea typeface="Arial"/>
              <a:cs typeface="Arial"/>
            </a:endParaRPr>
          </a:p>
        </p:txBody>
      </p:sp>
      <p:sp>
        <p:nvSpPr>
          <p:cNvPr id="24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FF45AF23-D62A-4F15-9626-699DF0AB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992" y="3726942"/>
            <a:ext cx="128016" cy="1280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08488"/>
          </a:solidFill>
          <a:ln xmlns:a="http://schemas.openxmlformats.org/drawingml/2006/main" w="6668">
            <a:solidFill>
              <a:srgbClr val="808488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600">
              <a:latin typeface="Arial"/>
              <a:ea typeface="Arial"/>
              <a:cs typeface="Arial"/>
            </a:endParaRPr>
          </a:p>
        </p:txBody>
      </p:sp>
      <p:sp>
        <p:nvSpPr>
          <p:cNvPr id="25" name="TextBox 23">
            <a:extLst xmlns:a="http://schemas.openxmlformats.org/drawingml/2006/main">
              <a:ext uri="{FF2B5EF4-FFF2-40B4-BE49-F238E27FC236}">
                <a16:creationId xmlns:a16="http://schemas.microsoft.com/office/drawing/2014/main" id="{076C7D23-17C6-4C66-A201-5D24D4F2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504950"/>
            <a:ext cx="1276350" cy="219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40" b="1">
                <a:solidFill>
                  <a:srgbClr val="5D6570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V-Ring 1 · M4–M7</a:t>
            </a:r>
          </a:p>
        </p:txBody>
      </p:sp>
      <p:sp>
        <p:nvSpPr>
          <p:cNvPr id="26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5F0F1E94-BD60-4C4F-993D-933433CA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6742" y="1955292"/>
            <a:ext cx="128016" cy="1280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08488"/>
          </a:solidFill>
          <a:ln xmlns:a="http://schemas.openxmlformats.org/drawingml/2006/main" w="6668">
            <a:solidFill>
              <a:srgbClr val="808488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600">
              <a:latin typeface="Arial"/>
              <a:ea typeface="Arial"/>
              <a:cs typeface="Arial"/>
            </a:endParaRPr>
          </a:p>
        </p:txBody>
      </p:sp>
      <p:sp>
        <p:nvSpPr>
          <p:cNvPr id="27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69FFB035-70BE-4DCD-B69E-0AEFFEFD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9242" y="1955292"/>
            <a:ext cx="128016" cy="1280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08488"/>
          </a:solidFill>
          <a:ln xmlns:a="http://schemas.openxmlformats.org/drawingml/2006/main" w="6668">
            <a:solidFill>
              <a:srgbClr val="808488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600">
              <a:latin typeface="Arial"/>
              <a:ea typeface="Arial"/>
              <a:cs typeface="Arial"/>
            </a:endParaRPr>
          </a:p>
        </p:txBody>
      </p:sp>
      <p:sp>
        <p:nvSpPr>
          <p:cNvPr id="28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B98AAA46-4A34-4518-B682-BCE9AD0D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6742" y="4327017"/>
            <a:ext cx="128016" cy="1280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08488"/>
          </a:solidFill>
          <a:ln xmlns:a="http://schemas.openxmlformats.org/drawingml/2006/main" w="6668">
            <a:solidFill>
              <a:srgbClr val="808488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600">
              <a:latin typeface="Arial"/>
              <a:ea typeface="Arial"/>
              <a:cs typeface="Arial"/>
            </a:endParaRPr>
          </a:p>
        </p:txBody>
      </p:sp>
      <p:sp>
        <p:nvSpPr>
          <p:cNvPr id="29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4DE0626C-A4FA-412E-A830-D02CE313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9242" y="4327017"/>
            <a:ext cx="128016" cy="1280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08488"/>
          </a:solidFill>
          <a:ln xmlns:a="http://schemas.openxmlformats.org/drawingml/2006/main" w="6668">
            <a:solidFill>
              <a:srgbClr val="808488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600">
              <a:latin typeface="Arial"/>
              <a:ea typeface="Arial"/>
              <a:cs typeface="Arial"/>
            </a:endParaRPr>
          </a:p>
        </p:txBody>
      </p:sp>
      <p:sp>
        <p:nvSpPr>
          <p:cNvPr id="30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77EF9D28-FA0A-4BE6-82A7-00A82601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38625"/>
            <a:ext cx="762000" cy="3143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8EACA"/>
          </a:solidFill>
          <a:ln xmlns:a="http://schemas.openxmlformats.org/drawingml/2006/main" w="11430">
            <a:solidFill>
              <a:srgbClr val="70777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730"/>
                </a:solidFill>
                <a:latin typeface="Arial"/>
                <a:ea typeface="Arial"/>
                <a:cs typeface="Arial"/>
              </a:rPr>
              <a:t>Master 2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F98AC260-54D3-47F8-A6B4-4509451F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238625"/>
            <a:ext cx="762000" cy="3143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8EACA"/>
          </a:solidFill>
          <a:ln xmlns:a="http://schemas.openxmlformats.org/drawingml/2006/main"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730"/>
                </a:solidFill>
                <a:latin typeface="Arial"/>
                <a:ea typeface="Arial"/>
                <a:cs typeface="Arial"/>
              </a:rPr>
              <a:t>Master 3</a:t>
            </a:r>
          </a:p>
        </p:txBody>
      </p:sp>
      <p:sp>
        <p:nvSpPr>
          <p:cNvPr id="32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2CDDE5D8-96F1-4776-A689-9E3C7F93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86075"/>
            <a:ext cx="762000" cy="495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AEBF3"/>
          </a:solidFill>
          <a:ln xmlns:a="http://schemas.openxmlformats.org/drawingml/2006/main" w="11430">
            <a:solidFill>
              <a:srgbClr val="1F4A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825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RBRG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825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-L1</a:t>
            </a:r>
          </a:p>
        </p:txBody>
      </p:sp>
      <p:sp>
        <p:nvSpPr>
          <p:cNvPr id="33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6850E310-67D3-4C55-B7F3-C4C5F101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617" y="2964942"/>
            <a:ext cx="128016" cy="1280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08488"/>
          </a:solidFill>
          <a:ln xmlns:a="http://schemas.openxmlformats.org/drawingml/2006/main" w="6668">
            <a:solidFill>
              <a:srgbClr val="808488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600">
              <a:latin typeface="Arial"/>
              <a:ea typeface="Arial"/>
              <a:cs typeface="Arial"/>
            </a:endParaRPr>
          </a:p>
        </p:txBody>
      </p:sp>
      <p:sp>
        <p:nvSpPr>
          <p:cNvPr id="34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905350F7-E1EB-4A69-8362-682A0305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617" y="3726942"/>
            <a:ext cx="128016" cy="1280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08488"/>
          </a:solidFill>
          <a:ln xmlns:a="http://schemas.openxmlformats.org/drawingml/2006/main" w="6668">
            <a:solidFill>
              <a:srgbClr val="808488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600">
              <a:latin typeface="Arial"/>
              <a:ea typeface="Arial"/>
              <a:cs typeface="Arial"/>
            </a:endParaRPr>
          </a:p>
        </p:txBody>
      </p:sp>
      <p:sp>
        <p:nvSpPr>
          <p:cNvPr id="35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B312D6C7-A488-4E59-8646-E112CEAE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242" y="2964942"/>
            <a:ext cx="128016" cy="1280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08488"/>
          </a:solidFill>
          <a:ln xmlns:a="http://schemas.openxmlformats.org/drawingml/2006/main" w="6668">
            <a:solidFill>
              <a:srgbClr val="808488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600">
              <a:latin typeface="Arial"/>
              <a:ea typeface="Arial"/>
              <a:cs typeface="Arial"/>
            </a:endParaRPr>
          </a:p>
        </p:txBody>
      </p:sp>
      <p:sp>
        <p:nvSpPr>
          <p:cNvPr id="36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DE361B7E-4285-4FFA-AD2F-1B324C86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242" y="3726942"/>
            <a:ext cx="128016" cy="1280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08488"/>
          </a:solidFill>
          <a:ln xmlns:a="http://schemas.openxmlformats.org/drawingml/2006/main" w="6668">
            <a:solidFill>
              <a:srgbClr val="808488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600">
              <a:latin typeface="Arial"/>
              <a:ea typeface="Arial"/>
              <a:cs typeface="Arial"/>
            </a:endParaRPr>
          </a:p>
        </p:txBody>
      </p:sp>
      <p:sp>
        <p:nvSpPr>
          <p:cNvPr id="37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82CC1F90-2C70-404E-809B-92FF58D9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867" y="2964942"/>
            <a:ext cx="128016" cy="1280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08488"/>
          </a:solidFill>
          <a:ln xmlns:a="http://schemas.openxmlformats.org/drawingml/2006/main" w="6668">
            <a:solidFill>
              <a:srgbClr val="808488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600">
              <a:latin typeface="Arial"/>
              <a:ea typeface="Arial"/>
              <a:cs typeface="Arial"/>
            </a:endParaRPr>
          </a:p>
        </p:txBody>
      </p:sp>
      <p:sp>
        <p:nvSpPr>
          <p:cNvPr id="38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05303F5F-64DF-41FE-9F89-D9A99957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867" y="3726942"/>
            <a:ext cx="128016" cy="1280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08488"/>
          </a:solidFill>
          <a:ln xmlns:a="http://schemas.openxmlformats.org/drawingml/2006/main" w="6668">
            <a:solidFill>
              <a:srgbClr val="808488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600">
              <a:latin typeface="Arial"/>
              <a:ea typeface="Arial"/>
              <a:cs typeface="Arial"/>
            </a:endParaRPr>
          </a:p>
        </p:txBody>
      </p:sp>
      <p:sp>
        <p:nvSpPr>
          <p:cNvPr id="39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765137AF-2750-4A48-8105-BCCD3BCC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66900"/>
            <a:ext cx="857250" cy="3143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8EACA"/>
          </a:solidFill>
          <a:ln xmlns:a="http://schemas.openxmlformats.org/drawingml/2006/main" w="11430">
            <a:solidFill>
              <a:srgbClr val="70777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730"/>
                </a:solidFill>
                <a:latin typeface="Arial"/>
                <a:ea typeface="Arial"/>
                <a:cs typeface="Arial"/>
              </a:rPr>
              <a:t>Master 4</a:t>
            </a:r>
          </a:p>
        </p:txBody>
      </p:sp>
      <p:sp>
        <p:nvSpPr>
          <p:cNvPr id="40" name="Rounded Rectangle 43">
            <a:extLst xmlns:a="http://schemas.openxmlformats.org/drawingml/2006/main">
              <a:ext uri="{FF2B5EF4-FFF2-40B4-BE49-F238E27FC236}">
                <a16:creationId xmlns:a16="http://schemas.microsoft.com/office/drawing/2014/main" id="{D89FA340-CE1F-4ABD-B581-9A030102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866900"/>
            <a:ext cx="666750" cy="3143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8EACA"/>
          </a:solidFill>
          <a:ln xmlns:a="http://schemas.openxmlformats.org/drawingml/2006/main" w="11430">
            <a:solidFill>
              <a:srgbClr val="70777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788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202730"/>
                </a:solidFill>
                <a:latin typeface="Arial"/>
                <a:ea typeface="Arial"/>
                <a:cs typeface="Arial"/>
              </a:rPr>
              <a:t>Master 5</a:t>
            </a:r>
          </a:p>
        </p:txBody>
      </p:sp>
      <p:sp>
        <p:nvSpPr>
          <p:cNvPr id="41" name="Rounded Rectangle 50">
            <a:extLst xmlns:a="http://schemas.openxmlformats.org/drawingml/2006/main">
              <a:ext uri="{FF2B5EF4-FFF2-40B4-BE49-F238E27FC236}">
                <a16:creationId xmlns:a16="http://schemas.microsoft.com/office/drawing/2014/main" id="{C2D7DBA4-01C2-484D-8144-4074AD3F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81200"/>
            <a:ext cx="952500" cy="476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DAB2"/>
          </a:solidFill>
          <a:ln xmlns:a="http://schemas.openxmlformats.org/drawingml/2006/main"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HA 0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MemPort</a:t>
            </a:r>
          </a:p>
        </p:txBody>
      </p:sp>
      <p:sp>
        <p:nvSpPr>
          <p:cNvPr id="42" name="Rounded Rectangle 52">
            <a:extLst xmlns:a="http://schemas.openxmlformats.org/drawingml/2006/main">
              <a:ext uri="{FF2B5EF4-FFF2-40B4-BE49-F238E27FC236}">
                <a16:creationId xmlns:a16="http://schemas.microsoft.com/office/drawing/2014/main" id="{2CC4791F-962D-40BD-96C3-710A5DBE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91000"/>
            <a:ext cx="952500" cy="476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DAB2"/>
          </a:solidFill>
          <a:ln xmlns:a="http://schemas.openxmlformats.org/drawingml/2006/main"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rPr>
              <a:t>L2 Buffer 1</a:t>
            </a:r>
          </a:p>
        </p:txBody>
      </p:sp>
      <p:sp>
        <p:nvSpPr>
          <p:cNvPr id="43" name="Rounded Rectangle 54">
            <a:extLst xmlns:a="http://schemas.openxmlformats.org/drawingml/2006/main">
              <a:ext uri="{FF2B5EF4-FFF2-40B4-BE49-F238E27FC236}">
                <a16:creationId xmlns:a16="http://schemas.microsoft.com/office/drawing/2014/main" id="{7201E620-09C5-4E8A-B8CB-C646380B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981200"/>
            <a:ext cx="952500" cy="476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DAB2"/>
          </a:solidFill>
          <a:ln xmlns:a="http://schemas.openxmlformats.org/drawingml/2006/main"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rPr>
              <a:t>L2 Buffer 0</a:t>
            </a:r>
          </a:p>
        </p:txBody>
      </p:sp>
      <p:sp>
        <p:nvSpPr>
          <p:cNvPr id="44" name="TextBox 60">
            <a:extLst xmlns:a="http://schemas.openxmlformats.org/drawingml/2006/main">
              <a:ext uri="{FF2B5EF4-FFF2-40B4-BE49-F238E27FC236}">
                <a16:creationId xmlns:a16="http://schemas.microsoft.com/office/drawing/2014/main" id="{34C58E25-804A-498F-9679-B1C35E82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18509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>
                <a:solidFill>
                  <a:srgbClr val="D73A3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73A32"/>
                </a:solidFill>
                <a:latin typeface="Arial"/>
                <a:ea typeface="Arial"/>
                <a:cs typeface="Arial"/>
              </a:rPr>
              <a:t>V_TO_H_REQ</a:t>
            </a:r>
          </a:p>
        </p:txBody>
      </p:sp>
      <p:sp>
        <p:nvSpPr>
          <p:cNvPr id="45" name="TextBox 64">
            <a:extLst xmlns:a="http://schemas.openxmlformats.org/drawingml/2006/main">
              <a:ext uri="{FF2B5EF4-FFF2-40B4-BE49-F238E27FC236}">
                <a16:creationId xmlns:a16="http://schemas.microsoft.com/office/drawing/2014/main" id="{DC1A7EC1-654E-4527-A728-73DD8974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7463" y="2781109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>
                <a:solidFill>
                  <a:srgbClr val="2A70A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A70AD"/>
                </a:solidFill>
                <a:latin typeface="Arial"/>
                <a:ea typeface="Arial"/>
                <a:cs typeface="Arial"/>
              </a:rPr>
              <a:t>H_TO_V_DAT</a:t>
            </a:r>
          </a:p>
        </p:txBody>
      </p:sp>
      <p:sp>
        <p:nvSpPr>
          <p:cNvPr id="46" name="Rounded Rectangle 65">
            <a:extLst xmlns:a="http://schemas.openxmlformats.org/drawingml/2006/main">
              <a:ext uri="{FF2B5EF4-FFF2-40B4-BE49-F238E27FC236}">
                <a16:creationId xmlns:a16="http://schemas.microsoft.com/office/drawing/2014/main" id="{7CB1E716-3D71-4B4A-A8C2-CDE094A9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81125"/>
            <a:ext cx="1362075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73A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1">
                <a:solidFill>
                  <a:srgbClr val="D73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D73A32"/>
                </a:solidFill>
                <a:latin typeface="Microsoft YaHei"/>
                <a:ea typeface="Microsoft YaHei"/>
                <a:cs typeface="Microsoft YaHei"/>
              </a:rPr>
              <a:t>图示核与存储端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63" b="1">
                <a:solidFill>
                  <a:srgbClr val="D73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D73A32"/>
                </a:solidFill>
                <a:latin typeface="Microsoft YaHei"/>
                <a:ea typeface="Microsoft YaHei"/>
                <a:cs typeface="Microsoft YaHei"/>
              </a:rPr>
              <a:t>单向传输换环1次</a:t>
            </a:r>
          </a:p>
        </p:txBody>
      </p:sp>
      <p:sp>
        <p:nvSpPr>
          <p:cNvPr id="47" name="Master 6">
            <a:extLst xmlns:a="http://schemas.openxmlformats.org/drawingml/2006/main">
              <a:ext uri="{FF2B5EF4-FFF2-40B4-BE49-F238E27FC236}">
                <a16:creationId xmlns:a16="http://schemas.microsoft.com/office/drawing/2014/main" id="{B5C3EF2A-92DE-4C20-8F28-A3B2A3B5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38625"/>
            <a:ext cx="8572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D8EACA"/>
          </a:solidFill>
          <a:ln xmlns:a="http://schemas.openxmlformats.org/drawingml/2006/main" w="11430">
            <a:solidFill>
              <a:srgbClr val="70777E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730"/>
                </a:solidFill>
                <a:latin typeface="Arial"/>
                <a:ea typeface="Arial"/>
                <a:cs typeface="Arial"/>
              </a:rPr>
              <a:t>Master 6</a:t>
            </a:r>
          </a:p>
        </p:txBody>
      </p:sp>
      <p:sp>
        <p:nvSpPr>
          <p:cNvPr id="48" name="Master 7">
            <a:extLst xmlns:a="http://schemas.openxmlformats.org/drawingml/2006/main">
              <a:ext uri="{FF2B5EF4-FFF2-40B4-BE49-F238E27FC236}">
                <a16:creationId xmlns:a16="http://schemas.microsoft.com/office/drawing/2014/main" id="{A9AFEC18-8CA3-417A-92E3-FACC8770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238625"/>
            <a:ext cx="6667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D8EACA"/>
          </a:solidFill>
          <a:ln xmlns:a="http://schemas.openxmlformats.org/drawingml/2006/main" w="11430">
            <a:solidFill>
              <a:srgbClr val="70777E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202730"/>
                </a:solidFill>
                <a:latin typeface="Arial"/>
                <a:ea typeface="Arial"/>
                <a:cs typeface="Arial"/>
              </a:rPr>
              <a:t>Master 7</a:t>
            </a:r>
          </a:p>
        </p:txBody>
      </p:sp>
      <p:cxnSp>
        <p:nvCxnSpPr>
          <p:cNvPr id="125" name="直接箭头连接符 225"/>
          <p:cNvCxnSpPr/>
          <p:nvPr/>
        </p:nvCxnSpPr>
        <p:spPr>
          <a:xfrm xmlns:a="http://schemas.openxmlformats.org/drawingml/2006/main" flipV="1">
            <a:off x="1381125" y="2019300"/>
            <a:ext cx="31242" cy="4763"/>
          </a:xfrm>
          <a:prstGeom xmlns:a="http://schemas.openxmlformats.org/drawingml/2006/main" prst="straightConnector1">
            <a:avLst/>
          </a:prstGeom>
          <a:ln xmlns:a="http://schemas.openxmlformats.org/drawingml/2006/main" w="10001" cap="rnd">
            <a:solidFill>
              <a:srgbClr val="BEC4C9"/>
            </a:solidFill>
            <a:prstDash val="solid"/>
          </a:ln>
        </p:spPr>
      </p:cxnSp>
      <p:cxnSp>
        <p:nvCxnSpPr>
          <p:cNvPr id="126" name="直接箭头连接符 226"/>
          <p:cNvCxnSpPr/>
          <p:nvPr/>
        </p:nvCxnSpPr>
        <p:spPr>
          <a:xfrm xmlns:a="http://schemas.openxmlformats.org/drawingml/2006/main" flipH="1" flipV="1">
            <a:off x="2492883" y="2019300"/>
            <a:ext cx="31242" cy="4763"/>
          </a:xfrm>
          <a:prstGeom xmlns:a="http://schemas.openxmlformats.org/drawingml/2006/main" prst="straightConnector1">
            <a:avLst/>
          </a:prstGeom>
          <a:ln xmlns:a="http://schemas.openxmlformats.org/drawingml/2006/main" w="10001" cap="rnd">
            <a:solidFill>
              <a:srgbClr val="BEC4C9"/>
            </a:solidFill>
            <a:prstDash val="solid"/>
          </a:ln>
        </p:spPr>
      </p:cxnSp>
      <p:cxnSp>
        <p:nvCxnSpPr>
          <p:cNvPr id="127" name="直接箭头连接符 227"/>
          <p:cNvCxnSpPr/>
          <p:nvPr/>
        </p:nvCxnSpPr>
        <p:spPr>
          <a:xfrm xmlns:a="http://schemas.openxmlformats.org/drawingml/2006/main" flipV="1">
            <a:off x="1381125" y="4391025"/>
            <a:ext cx="31242" cy="4762"/>
          </a:xfrm>
          <a:prstGeom xmlns:a="http://schemas.openxmlformats.org/drawingml/2006/main" prst="straightConnector1">
            <a:avLst/>
          </a:prstGeom>
          <a:ln xmlns:a="http://schemas.openxmlformats.org/drawingml/2006/main" w="10001" cap="rnd">
            <a:solidFill>
              <a:srgbClr val="BEC4C9"/>
            </a:solidFill>
            <a:prstDash val="solid"/>
          </a:ln>
        </p:spPr>
      </p:cxnSp>
      <p:cxnSp>
        <p:nvCxnSpPr>
          <p:cNvPr id="128" name="直接箭头连接符 228"/>
          <p:cNvCxnSpPr/>
          <p:nvPr/>
        </p:nvCxnSpPr>
        <p:spPr>
          <a:xfrm xmlns:a="http://schemas.openxmlformats.org/drawingml/2006/main" flipH="1" flipV="1">
            <a:off x="2492883" y="4391025"/>
            <a:ext cx="31242" cy="4762"/>
          </a:xfrm>
          <a:prstGeom xmlns:a="http://schemas.openxmlformats.org/drawingml/2006/main" prst="straightConnector1">
            <a:avLst/>
          </a:prstGeom>
          <a:ln xmlns:a="http://schemas.openxmlformats.org/drawingml/2006/main" w="10001" cap="rnd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</p:cxnSp>
      <p:cxnSp>
        <p:nvCxnSpPr>
          <p:cNvPr id="129" name="直接箭头连接符 229"/>
          <p:cNvCxnSpPr/>
          <p:nvPr/>
        </p:nvCxnSpPr>
        <p:spPr>
          <a:xfrm xmlns:a="http://schemas.openxmlformats.org/drawingml/2006/main" flipV="1">
            <a:off x="9667875" y="2019300"/>
            <a:ext cx="78867" cy="4763"/>
          </a:xfrm>
          <a:prstGeom xmlns:a="http://schemas.openxmlformats.org/drawingml/2006/main" prst="straightConnector1">
            <a:avLst/>
          </a:prstGeom>
          <a:ln xmlns:a="http://schemas.openxmlformats.org/drawingml/2006/main" w="10001" cap="rnd">
            <a:solidFill>
              <a:srgbClr val="BEC4C9"/>
            </a:solidFill>
            <a:prstDash val="solid"/>
          </a:ln>
        </p:spPr>
      </p:cxnSp>
      <p:cxnSp>
        <p:nvCxnSpPr>
          <p:cNvPr id="130" name="直接箭头连接符 230"/>
          <p:cNvCxnSpPr/>
          <p:nvPr/>
        </p:nvCxnSpPr>
        <p:spPr>
          <a:xfrm xmlns:a="http://schemas.openxmlformats.org/drawingml/2006/main" flipH="1" flipV="1">
            <a:off x="10827258" y="2019300"/>
            <a:ext cx="31242" cy="4763"/>
          </a:xfrm>
          <a:prstGeom xmlns:a="http://schemas.openxmlformats.org/drawingml/2006/main" prst="straightConnector1">
            <a:avLst/>
          </a:prstGeom>
          <a:ln xmlns:a="http://schemas.openxmlformats.org/drawingml/2006/main" w="10001" cap="rnd">
            <a:solidFill>
              <a:srgbClr val="BEC4C9"/>
            </a:solidFill>
            <a:prstDash val="solid"/>
          </a:ln>
        </p:spPr>
      </p:cxnSp>
      <p:cxnSp>
        <p:nvCxnSpPr>
          <p:cNvPr id="131" name="直接箭头连接符 231"/>
          <p:cNvCxnSpPr/>
          <p:nvPr/>
        </p:nvCxnSpPr>
        <p:spPr>
          <a:xfrm xmlns:a="http://schemas.openxmlformats.org/drawingml/2006/main" flipV="1">
            <a:off x="9667875" y="4391025"/>
            <a:ext cx="78867" cy="4762"/>
          </a:xfrm>
          <a:prstGeom xmlns:a="http://schemas.openxmlformats.org/drawingml/2006/main" prst="straightConnector1">
            <a:avLst/>
          </a:prstGeom>
          <a:ln xmlns:a="http://schemas.openxmlformats.org/drawingml/2006/main" w="10001" cap="rnd">
            <a:solidFill>
              <a:srgbClr val="BEC4C9"/>
            </a:solidFill>
            <a:prstDash val="solid"/>
          </a:ln>
        </p:spPr>
      </p:cxnSp>
      <p:cxnSp>
        <p:nvCxnSpPr>
          <p:cNvPr id="132" name="直接箭头连接符 232"/>
          <p:cNvCxnSpPr/>
          <p:nvPr/>
        </p:nvCxnSpPr>
        <p:spPr>
          <a:xfrm xmlns:a="http://schemas.openxmlformats.org/drawingml/2006/main" flipH="1" flipV="1">
            <a:off x="10827258" y="4391025"/>
            <a:ext cx="31242" cy="4762"/>
          </a:xfrm>
          <a:prstGeom xmlns:a="http://schemas.openxmlformats.org/drawingml/2006/main" prst="straightConnector1">
            <a:avLst/>
          </a:prstGeom>
          <a:ln xmlns:a="http://schemas.openxmlformats.org/drawingml/2006/main" w="10001" cap="rnd">
            <a:solidFill>
              <a:srgbClr val="BEC4C9"/>
            </a:solidFill>
            <a:prstDash val="solid"/>
          </a:ln>
        </p:spPr>
      </p:cxnSp>
      <p:sp>
        <p:nvSpPr>
          <p:cNvPr id="57" name="L2 Cache 2">
            <a:extLst xmlns:a="http://schemas.openxmlformats.org/drawingml/2006/main">
              <a:ext uri="{FF2B5EF4-FFF2-40B4-BE49-F238E27FC236}">
                <a16:creationId xmlns:a16="http://schemas.microsoft.com/office/drawing/2014/main" id="{9F9C7CBC-0FD3-4EB7-ADCA-B9F3DC76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952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6DAB2"/>
          </a:solidFill>
          <a:ln xmlns:a="http://schemas.openxmlformats.org/drawingml/2006/main"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rPr>
              <a:t>L2 Buffer 2</a:t>
            </a:r>
          </a:p>
        </p:txBody>
      </p:sp>
      <p:sp>
        <p:nvSpPr>
          <p:cNvPr id="58" name="L2 Cache 3">
            <a:extLst xmlns:a="http://schemas.openxmlformats.org/drawingml/2006/main">
              <a:ext uri="{FF2B5EF4-FFF2-40B4-BE49-F238E27FC236}">
                <a16:creationId xmlns:a16="http://schemas.microsoft.com/office/drawing/2014/main" id="{D33C070D-9E7D-4A0E-827D-6796DAD6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81200"/>
            <a:ext cx="952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6DAB2"/>
          </a:solidFill>
          <a:ln xmlns:a="http://schemas.openxmlformats.org/drawingml/2006/main"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HA 2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MemPort</a:t>
            </a:r>
          </a:p>
        </p:txBody>
      </p:sp>
      <p:sp>
        <p:nvSpPr>
          <p:cNvPr id="59" name="HA 2 MemPort">
            <a:extLst xmlns:a="http://schemas.openxmlformats.org/drawingml/2006/main">
              <a:ext uri="{FF2B5EF4-FFF2-40B4-BE49-F238E27FC236}">
                <a16:creationId xmlns:a16="http://schemas.microsoft.com/office/drawing/2014/main" id="{19051119-102C-4207-B475-2773E93A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952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6DAB2"/>
          </a:solidFill>
          <a:ln xmlns:a="http://schemas.openxmlformats.org/drawingml/2006/main"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rPr>
              <a:t>L2 Buffer 3</a:t>
            </a:r>
          </a:p>
        </p:txBody>
      </p:sp>
      <p:sp>
        <p:nvSpPr>
          <p:cNvPr id="60" name="HA 3 MemPort">
            <a:extLst xmlns:a="http://schemas.openxmlformats.org/drawingml/2006/main">
              <a:ext uri="{FF2B5EF4-FFF2-40B4-BE49-F238E27FC236}">
                <a16:creationId xmlns:a16="http://schemas.microsoft.com/office/drawing/2014/main" id="{38152099-C470-409D-9009-3EEE1099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191000"/>
            <a:ext cx="952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6DAB2"/>
          </a:solidFill>
          <a:ln xmlns:a="http://schemas.openxmlformats.org/drawingml/2006/main"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HA 3</a:t>
            </a:r>
          </a:p>
          <a:p xmlns:a="http://schemas.openxmlformats.org/drawingml/2006/main">
            <a:pPr algn="ctr"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MemPort</a:t>
            </a:r>
          </a:p>
        </p:txBody>
      </p:sp>
      <p:cxnSp>
        <p:nvCxnSpPr>
          <p:cNvPr id="137" name="直接箭头连接符 237"/>
          <p:cNvCxnSpPr/>
          <p:nvPr/>
        </p:nvCxnSpPr>
        <p:spPr>
          <a:xfrm xmlns:a="http://schemas.openxmlformats.org/drawingml/2006/main">
            <a:off x="4191000" y="2457450"/>
            <a:ext cx="0" cy="507492"/>
          </a:xfrm>
          <a:prstGeom xmlns:a="http://schemas.openxmlformats.org/drawingml/2006/main" prst="straightConnector1">
            <a:avLst/>
          </a:prstGeom>
          <a:ln xmlns:a="http://schemas.openxmlformats.org/drawingml/2006/main" w="9525" cap="rnd">
            <a:solidFill>
              <a:srgbClr val="BEC4C9"/>
            </a:solidFill>
            <a:prstDash val="solid"/>
          </a:ln>
        </p:spPr>
      </p:cxnSp>
      <p:cxnSp>
        <p:nvCxnSpPr>
          <p:cNvPr id="138" name="直接箭头连接符 238"/>
          <p:cNvCxnSpPr/>
          <p:nvPr/>
        </p:nvCxnSpPr>
        <p:spPr>
          <a:xfrm xmlns:a="http://schemas.openxmlformats.org/drawingml/2006/main" flipH="1">
            <a:off x="4191000" y="3854958"/>
            <a:ext cx="0" cy="336042"/>
          </a:xfrm>
          <a:prstGeom xmlns:a="http://schemas.openxmlformats.org/drawingml/2006/main" prst="straightConnector1">
            <a:avLst/>
          </a:prstGeom>
          <a:ln xmlns:a="http://schemas.openxmlformats.org/drawingml/2006/main" w="9525" cap="rnd">
            <a:solidFill>
              <a:srgbClr val="BEC4C9"/>
            </a:solidFill>
            <a:prstDash val="solid"/>
          </a:ln>
        </p:spPr>
      </p:cxnSp>
      <p:cxnSp>
        <p:nvCxnSpPr>
          <p:cNvPr id="139" name="直接箭头连接符 239"/>
          <p:cNvCxnSpPr/>
          <p:nvPr/>
        </p:nvCxnSpPr>
        <p:spPr>
          <a:xfrm xmlns:a="http://schemas.openxmlformats.org/drawingml/2006/main">
            <a:off x="5381625" y="2457450"/>
            <a:ext cx="0" cy="507492"/>
          </a:xfrm>
          <a:prstGeom xmlns:a="http://schemas.openxmlformats.org/drawingml/2006/main" prst="straightConnector1">
            <a:avLst/>
          </a:prstGeom>
          <a:ln xmlns:a="http://schemas.openxmlformats.org/drawingml/2006/main" w="9525" cap="rnd">
            <a:solidFill>
              <a:srgbClr val="BEC4C9"/>
            </a:solidFill>
            <a:prstDash val="solid"/>
          </a:ln>
        </p:spPr>
      </p:cxnSp>
      <p:cxnSp>
        <p:nvCxnSpPr>
          <p:cNvPr id="140" name="直接箭头连接符 240"/>
          <p:cNvCxnSpPr/>
          <p:nvPr/>
        </p:nvCxnSpPr>
        <p:spPr>
          <a:xfrm xmlns:a="http://schemas.openxmlformats.org/drawingml/2006/main">
            <a:off x="5381625" y="3854958"/>
            <a:ext cx="0" cy="336042"/>
          </a:xfrm>
          <a:prstGeom xmlns:a="http://schemas.openxmlformats.org/drawingml/2006/main" prst="straightConnector1">
            <a:avLst/>
          </a:prstGeom>
          <a:ln xmlns:a="http://schemas.openxmlformats.org/drawingml/2006/main" w="9525" cap="rnd">
            <a:solidFill>
              <a:srgbClr val="BEC4C9"/>
            </a:solidFill>
            <a:prstDash val="solid"/>
          </a:ln>
        </p:spPr>
      </p:cxnSp>
      <p:cxnSp>
        <p:nvCxnSpPr>
          <p:cNvPr id="141" name="直接箭头连接符 241"/>
          <p:cNvCxnSpPr/>
          <p:nvPr/>
        </p:nvCxnSpPr>
        <p:spPr>
          <a:xfrm xmlns:a="http://schemas.openxmlformats.org/drawingml/2006/main">
            <a:off x="6572250" y="2457450"/>
            <a:ext cx="0" cy="507492"/>
          </a:xfrm>
          <a:prstGeom xmlns:a="http://schemas.openxmlformats.org/drawingml/2006/main" prst="straightConnector1">
            <a:avLst/>
          </a:prstGeom>
          <a:ln xmlns:a="http://schemas.openxmlformats.org/drawingml/2006/main" w="9525" cap="rnd">
            <a:solidFill>
              <a:srgbClr val="BEC4C9"/>
            </a:solidFill>
            <a:prstDash val="solid"/>
          </a:ln>
        </p:spPr>
      </p:cxnSp>
      <p:cxnSp>
        <p:nvCxnSpPr>
          <p:cNvPr id="142" name="直接箭头连接符 242"/>
          <p:cNvCxnSpPr/>
          <p:nvPr/>
        </p:nvCxnSpPr>
        <p:spPr>
          <a:xfrm xmlns:a="http://schemas.openxmlformats.org/drawingml/2006/main">
            <a:off x="6572250" y="3854958"/>
            <a:ext cx="0" cy="336042"/>
          </a:xfrm>
          <a:prstGeom xmlns:a="http://schemas.openxmlformats.org/drawingml/2006/main" prst="straightConnector1">
            <a:avLst/>
          </a:prstGeom>
          <a:ln xmlns:a="http://schemas.openxmlformats.org/drawingml/2006/main" w="9525" cap="rnd">
            <a:solidFill>
              <a:srgbClr val="BEC4C9"/>
            </a:solidFill>
            <a:prstDash val="solid"/>
          </a:ln>
        </p:spPr>
      </p:cxnSp>
      <p:cxnSp>
        <p:nvCxnSpPr>
          <p:cNvPr id="143" name="直接箭头连接符 243"/>
          <p:cNvCxnSpPr/>
          <p:nvPr/>
        </p:nvCxnSpPr>
        <p:spPr>
          <a:xfrm xmlns:a="http://schemas.openxmlformats.org/drawingml/2006/main">
            <a:off x="7762875" y="2457450"/>
            <a:ext cx="0" cy="507492"/>
          </a:xfrm>
          <a:prstGeom xmlns:a="http://schemas.openxmlformats.org/drawingml/2006/main" prst="straightConnector1">
            <a:avLst/>
          </a:prstGeom>
          <a:ln xmlns:a="http://schemas.openxmlformats.org/drawingml/2006/main" w="9525" cap="rnd">
            <a:solidFill>
              <a:srgbClr val="BEC4C9"/>
            </a:solidFill>
            <a:prstDash val="solid"/>
          </a:ln>
        </p:spPr>
      </p:cxnSp>
      <p:cxnSp>
        <p:nvCxnSpPr>
          <p:cNvPr id="144" name="直接箭头连接符 244"/>
          <p:cNvCxnSpPr/>
          <p:nvPr/>
        </p:nvCxnSpPr>
        <p:spPr>
          <a:xfrm xmlns:a="http://schemas.openxmlformats.org/drawingml/2006/main" flipH="1">
            <a:off x="7762875" y="3854958"/>
            <a:ext cx="0" cy="336042"/>
          </a:xfrm>
          <a:prstGeom xmlns:a="http://schemas.openxmlformats.org/drawingml/2006/main" prst="straightConnector1">
            <a:avLst/>
          </a:prstGeom>
          <a:ln xmlns:a="http://schemas.openxmlformats.org/drawingml/2006/main" w="9525" cap="rnd">
            <a:solidFill>
              <a:srgbClr val="BEC4C9"/>
            </a:solidFill>
            <a:prstDash val="solid"/>
          </a:ln>
        </p:spPr>
      </p:cxnSp>
      <p:cxnSp>
        <p:nvCxnSpPr>
          <p:cNvPr id="145" name="连接符: 肘形 245"/>
          <p:cNvCxnSpPr/>
          <p:nvPr/>
        </p:nvCxnSpPr>
        <p:spPr>
          <a:xfrm xmlns:a="http://schemas.openxmlformats.org/drawingml/2006/main">
            <a:off x="1381125" y="2024063"/>
            <a:ext cx="562107" cy="770571"/>
          </a:xfrm>
          <a:prstGeom xmlns:a="http://schemas.openxmlformats.org/drawingml/2006/main" prst="bentConnector2">
            <a:avLst/>
          </a:prstGeom>
          <a:ln xmlns:a="http://schemas.openxmlformats.org/drawingml/2006/main" w="25400" cap="rnd">
            <a:solidFill>
              <a:srgbClr val="D73A32"/>
            </a:solidFill>
            <a:prstDash val="solid"/>
            <a:round/>
            <a:tailEnd type="arrow" w="med" len="med"/>
          </a:ln>
        </p:spPr>
      </p:cxnSp>
      <p:cxnSp>
        <p:nvCxnSpPr>
          <p:cNvPr id="146" name="连接符: 肘形 246"/>
          <p:cNvCxnSpPr/>
          <p:nvPr/>
        </p:nvCxnSpPr>
        <p:spPr>
          <a:xfrm xmlns:a="http://schemas.openxmlformats.org/drawingml/2006/main" rot="16200000" flipH="1">
            <a:off x="2848612" y="2384554"/>
            <a:ext cx="437008" cy="224776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5400" cap="rnd">
            <a:solidFill>
              <a:srgbClr val="D73A32"/>
            </a:solidFill>
            <a:prstDash val="solid"/>
            <a:round/>
          </a:ln>
        </p:spPr>
      </p:cxnSp>
      <p:cxnSp>
        <p:nvCxnSpPr>
          <p:cNvPr id="147" name="直接箭头连接符 247"/>
          <p:cNvCxnSpPr/>
          <p:nvPr/>
        </p:nvCxnSpPr>
        <p:spPr>
          <a:xfrm xmlns:a="http://schemas.openxmlformats.org/drawingml/2006/main" flipH="1">
            <a:off x="4191000" y="3854958"/>
            <a:ext cx="0" cy="336042"/>
          </a:xfrm>
          <a:prstGeom xmlns:a="http://schemas.openxmlformats.org/drawingml/2006/main" prst="straightConnector1">
            <a:avLst/>
          </a:prstGeom>
          <a:ln xmlns:a="http://schemas.openxmlformats.org/drawingml/2006/main" w="25400" cap="rnd">
            <a:solidFill>
              <a:srgbClr val="D73A32"/>
            </a:solidFill>
            <a:prstDash val="solid"/>
            <a:round/>
            <a:tailEnd type="arrow" w="med" len="med"/>
          </a:ln>
        </p:spPr>
      </p:cxnSp>
      <p:cxnSp>
        <p:nvCxnSpPr>
          <p:cNvPr id="148" name="直接箭头连接符 248"/>
          <p:cNvCxnSpPr/>
          <p:nvPr/>
        </p:nvCxnSpPr>
        <p:spPr>
          <a:xfrm xmlns:a="http://schemas.openxmlformats.org/drawingml/2006/main">
            <a:off x="5381625" y="2457450"/>
            <a:ext cx="0" cy="507492"/>
          </a:xfrm>
          <a:prstGeom xmlns:a="http://schemas.openxmlformats.org/drawingml/2006/main" prst="straightConnector1">
            <a:avLst/>
          </a:prstGeom>
          <a:ln xmlns:a="http://schemas.openxmlformats.org/drawingml/2006/main" w="25400" cap="rnd">
            <a:solidFill>
              <a:srgbClr val="2A70AD"/>
            </a:solidFill>
            <a:prstDash val="solid"/>
            <a:round/>
          </a:ln>
        </p:spPr>
      </p:cxnSp>
      <p:cxnSp>
        <p:nvCxnSpPr>
          <p:cNvPr id="149" name="连接符: 肘形 249"/>
          <p:cNvCxnSpPr/>
          <p:nvPr/>
        </p:nvCxnSpPr>
        <p:spPr>
          <a:xfrm xmlns:a="http://schemas.openxmlformats.org/drawingml/2006/main" rot="5400000">
            <a:off x="3810544" y="1606647"/>
            <a:ext cx="84770" cy="3057392"/>
          </a:xfrm>
          <a:prstGeom xmlns:a="http://schemas.openxmlformats.org/drawingml/2006/main" prst="bentConnector2">
            <a:avLst/>
          </a:prstGeom>
          <a:ln xmlns:a="http://schemas.openxmlformats.org/drawingml/2006/main" w="25400" cap="rnd">
            <a:solidFill>
              <a:srgbClr val="2A70AD"/>
            </a:solidFill>
            <a:prstDash val="solid"/>
            <a:round/>
          </a:ln>
        </p:spPr>
      </p:cxnSp>
      <p:sp>
        <p:nvSpPr>
          <p:cNvPr id="74" name="Rounded Rectangle 48">
            <a:extLst xmlns:a="http://schemas.openxmlformats.org/drawingml/2006/main">
              <a:ext uri="{FF2B5EF4-FFF2-40B4-BE49-F238E27FC236}">
                <a16:creationId xmlns:a16="http://schemas.microsoft.com/office/drawing/2014/main" id="{79E7AC14-D476-45B2-B37E-A76BC32E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91000"/>
            <a:ext cx="952500" cy="476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DAB2"/>
          </a:solidFill>
          <a:ln xmlns:a="http://schemas.openxmlformats.org/drawingml/2006/main"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HA 1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MemPort</a:t>
            </a:r>
          </a:p>
        </p:txBody>
      </p:sp>
      <p:sp>
        <p:nvSpPr>
          <p:cNvPr id="75" name="delivery-add-9">
            <a:extLst xmlns:a="http://schemas.openxmlformats.org/drawingml/2006/main">
              <a:ext uri="{FF2B5EF4-FFF2-40B4-BE49-F238E27FC236}">
                <a16:creationId xmlns:a16="http://schemas.microsoft.com/office/drawing/2014/main" id="{5543FF71-1577-4E50-900C-359ADB2C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686425"/>
            <a:ext cx="10991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节点组成：每条V-Ring含4个计算核接入节点与1个桥接节点。H-Ring含2个桥接节点、4个HA端口和4个L2 Buffer。</a:t>
            </a:r>
          </a:p>
        </p:txBody>
      </p:sp>
      <p:sp>
        <p:nvSpPr>
          <p:cNvPr id="76" name="delivery-add-10">
            <a:extLst xmlns:a="http://schemas.openxmlformats.org/drawingml/2006/main">
              <a:ext uri="{FF2B5EF4-FFF2-40B4-BE49-F238E27FC236}">
                <a16:creationId xmlns:a16="http://schemas.microsoft.com/office/drawing/2014/main" id="{11EBE070-A07F-48AA-8A07-F4E59DAD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343650"/>
            <a:ext cx="10991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图中HBM表示后端存储抽象。蓝色为数据返回路径，红色为计算核发往存储端的请求路径。</a:t>
            </a:r>
          </a:p>
        </p:txBody>
      </p:sp>
      <p:sp>
        <p:nvSpPr>
          <p:cNvPr id="77" name="share-39">
            <a:extLst xmlns:a="http://schemas.openxmlformats.org/drawingml/2006/main">
              <a:ext uri="{FF2B5EF4-FFF2-40B4-BE49-F238E27FC236}">
                <a16:creationId xmlns:a16="http://schemas.microsoft.com/office/drawing/2014/main" id="{8AFEE4DA-EBDA-4E45-8132-28CB7CFD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9083103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B8E01F0B-30A3-45F4-B9DA-47665A36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读写事务的端到端路径</a:t>
            </a:r>
          </a:p>
        </p:txBody>
      </p:sp>
      <p:sp>
        <p:nvSpPr>
          <p:cNvPr id="3" name="diagram-2">
            <a:extLst xmlns:a="http://schemas.openxmlformats.org/drawingml/2006/main">
              <a:ext uri="{FF2B5EF4-FFF2-40B4-BE49-F238E27FC236}">
                <a16:creationId xmlns:a16="http://schemas.microsoft.com/office/drawing/2014/main" id="{60E21FC1-6455-4E6E-9ABE-3ECBCEDC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00150"/>
            <a:ext cx="7048500" cy="471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0286B"/>
            </a:solidFill>
            <a:prstDash val="solid"/>
          </a:ln>
        </p:spPr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00E41180-8F51-4413-9F10-83940DC8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638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读请求 REQ</a:t>
            </a:r>
          </a:p>
        </p:txBody>
      </p:sp>
      <p:sp>
        <p:nvSpPr>
          <p:cNvPr id="5" name="diagram-4">
            <a:extLst xmlns:a="http://schemas.openxmlformats.org/drawingml/2006/main">
              <a:ext uri="{FF2B5EF4-FFF2-40B4-BE49-F238E27FC236}">
                <a16:creationId xmlns:a16="http://schemas.microsoft.com/office/drawing/2014/main" id="{A7B76934-2055-4464-A2B1-AC285609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1104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Master</a:t>
            </a:r>
          </a:p>
        </p:txBody>
      </p:sp>
      <p:sp>
        <p:nvSpPr>
          <p:cNvPr id="6" name="diagram-5">
            <a:extLst xmlns:a="http://schemas.openxmlformats.org/drawingml/2006/main">
              <a:ext uri="{FF2B5EF4-FFF2-40B4-BE49-F238E27FC236}">
                <a16:creationId xmlns:a16="http://schemas.microsoft.com/office/drawing/2014/main" id="{EC325FDF-496A-4C48-86AE-969C73F1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666875"/>
            <a:ext cx="1104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</a:t>
            </a:r>
          </a:p>
        </p:txBody>
      </p:sp>
      <p:sp>
        <p:nvSpPr>
          <p:cNvPr id="7" name="diagram-6">
            <a:extLst xmlns:a="http://schemas.openxmlformats.org/drawingml/2006/main">
              <a:ext uri="{FF2B5EF4-FFF2-40B4-BE49-F238E27FC236}">
                <a16:creationId xmlns:a16="http://schemas.microsoft.com/office/drawing/2014/main" id="{04E0ADFD-85B8-4F49-8E4C-E7C7BFB2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66875"/>
            <a:ext cx="1104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</a:t>
            </a:r>
          </a:p>
        </p:txBody>
      </p:sp>
      <p:sp>
        <p:nvSpPr>
          <p:cNvPr id="8" name="diagram-7">
            <a:extLst xmlns:a="http://schemas.openxmlformats.org/drawingml/2006/main">
              <a:ext uri="{FF2B5EF4-FFF2-40B4-BE49-F238E27FC236}">
                <a16:creationId xmlns:a16="http://schemas.microsoft.com/office/drawing/2014/main" id="{849BEECC-1D8A-4D93-A69F-EF4B35C3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666875"/>
            <a:ext cx="1104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</a:t>
            </a:r>
          </a:p>
        </p:txBody>
      </p:sp>
      <p:sp>
        <p:nvSpPr>
          <p:cNvPr id="9" name="diagram-8">
            <a:extLst xmlns:a="http://schemas.openxmlformats.org/drawingml/2006/main">
              <a:ext uri="{FF2B5EF4-FFF2-40B4-BE49-F238E27FC236}">
                <a16:creationId xmlns:a16="http://schemas.microsoft.com/office/drawing/2014/main" id="{2FC0D800-F0C5-46D3-8393-DB02DEB5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66875"/>
            <a:ext cx="1104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内存端口</a:t>
            </a:r>
          </a:p>
        </p:txBody>
      </p:sp>
      <p:cxnSp>
        <p:nvCxnSpPr>
          <p:cNvPr id="58" name="直接箭头连接符 55"/>
          <p:cNvCxnSpPr/>
          <p:nvPr/>
        </p:nvCxnSpPr>
        <p:spPr>
          <a:xfrm xmlns:a="http://schemas.openxmlformats.org/drawingml/2006/main">
            <a:off x="1676400" y="1919288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59" name="直接箭头连接符 56"/>
          <p:cNvCxnSpPr/>
          <p:nvPr/>
        </p:nvCxnSpPr>
        <p:spPr>
          <a:xfrm xmlns:a="http://schemas.openxmlformats.org/drawingml/2006/main">
            <a:off x="3019425" y="1919288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60" name="直接箭头连接符 57"/>
          <p:cNvCxnSpPr/>
          <p:nvPr/>
        </p:nvCxnSpPr>
        <p:spPr>
          <a:xfrm xmlns:a="http://schemas.openxmlformats.org/drawingml/2006/main">
            <a:off x="4362450" y="1919288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61" name="直接箭头连接符 58"/>
          <p:cNvCxnSpPr/>
          <p:nvPr/>
        </p:nvCxnSpPr>
        <p:spPr>
          <a:xfrm xmlns:a="http://schemas.openxmlformats.org/drawingml/2006/main">
            <a:off x="5705475" y="1919288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DF5B0B"/>
            </a:solidFill>
            <a:prstDash val="solid"/>
            <a:tailEnd type="triangle" w="med" len="med"/>
          </a:ln>
        </p:spPr>
      </p:cxnSp>
      <p:sp>
        <p:nvSpPr>
          <p:cNvPr id="14" name="txt-9">
            <a:extLst xmlns:a="http://schemas.openxmlformats.org/drawingml/2006/main">
              <a:ext uri="{FF2B5EF4-FFF2-40B4-BE49-F238E27FC236}">
                <a16:creationId xmlns:a16="http://schemas.microsoft.com/office/drawing/2014/main" id="{4F3C347D-0942-45FA-8A54-0CE1EC2D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90775"/>
            <a:ext cx="638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读数据 DAT</a:t>
            </a:r>
          </a:p>
        </p:txBody>
      </p:sp>
      <p:sp>
        <p:nvSpPr>
          <p:cNvPr id="15" name="diagram-10">
            <a:extLst xmlns:a="http://schemas.openxmlformats.org/drawingml/2006/main">
              <a:ext uri="{FF2B5EF4-FFF2-40B4-BE49-F238E27FC236}">
                <a16:creationId xmlns:a16="http://schemas.microsoft.com/office/drawing/2014/main" id="{9DB916F7-5150-4080-83B4-F369D6C4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05100"/>
            <a:ext cx="1104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Master</a:t>
            </a:r>
          </a:p>
        </p:txBody>
      </p:sp>
      <p:sp>
        <p:nvSpPr>
          <p:cNvPr id="16" name="diagram-11">
            <a:extLst xmlns:a="http://schemas.openxmlformats.org/drawingml/2006/main">
              <a:ext uri="{FF2B5EF4-FFF2-40B4-BE49-F238E27FC236}">
                <a16:creationId xmlns:a16="http://schemas.microsoft.com/office/drawing/2014/main" id="{A97AAB42-539D-4226-8210-D37B6C0A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705100"/>
            <a:ext cx="1104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</a:t>
            </a:r>
          </a:p>
        </p:txBody>
      </p:sp>
      <p:sp>
        <p:nvSpPr>
          <p:cNvPr id="17" name="diagram-12">
            <a:extLst xmlns:a="http://schemas.openxmlformats.org/drawingml/2006/main">
              <a:ext uri="{FF2B5EF4-FFF2-40B4-BE49-F238E27FC236}">
                <a16:creationId xmlns:a16="http://schemas.microsoft.com/office/drawing/2014/main" id="{BBB2761C-26F1-46C2-BBDB-B4C8D3AB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05100"/>
            <a:ext cx="1104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</a:t>
            </a:r>
          </a:p>
        </p:txBody>
      </p:sp>
      <p:sp>
        <p:nvSpPr>
          <p:cNvPr id="18" name="diagram-13">
            <a:extLst xmlns:a="http://schemas.openxmlformats.org/drawingml/2006/main">
              <a:ext uri="{FF2B5EF4-FFF2-40B4-BE49-F238E27FC236}">
                <a16:creationId xmlns:a16="http://schemas.microsoft.com/office/drawing/2014/main" id="{DF6D5417-6048-4BBF-9ED7-875E5D67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05100"/>
            <a:ext cx="1104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</a:t>
            </a:r>
          </a:p>
        </p:txBody>
      </p:sp>
      <p:sp>
        <p:nvSpPr>
          <p:cNvPr id="19" name="diagram-14">
            <a:extLst xmlns:a="http://schemas.openxmlformats.org/drawingml/2006/main">
              <a:ext uri="{FF2B5EF4-FFF2-40B4-BE49-F238E27FC236}">
                <a16:creationId xmlns:a16="http://schemas.microsoft.com/office/drawing/2014/main" id="{DEECF1E4-4A1E-40A3-AB7C-8B679A15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05100"/>
            <a:ext cx="1104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9AF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 Buffer</a:t>
            </a:r>
          </a:p>
        </p:txBody>
      </p:sp>
      <p:cxnSp>
        <p:nvCxnSpPr>
          <p:cNvPr id="68" name="直接箭头连接符 65"/>
          <p:cNvCxnSpPr/>
          <p:nvPr/>
        </p:nvCxnSpPr>
        <p:spPr>
          <a:xfrm xmlns:a="http://schemas.openxmlformats.org/drawingml/2006/main" flipH="1">
            <a:off x="1676400" y="2957513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69" name="直接箭头连接符 66"/>
          <p:cNvCxnSpPr/>
          <p:nvPr/>
        </p:nvCxnSpPr>
        <p:spPr>
          <a:xfrm xmlns:a="http://schemas.openxmlformats.org/drawingml/2006/main" flipH="1">
            <a:off x="3019425" y="2957513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70" name="直接箭头连接符 67"/>
          <p:cNvCxnSpPr/>
          <p:nvPr/>
        </p:nvCxnSpPr>
        <p:spPr>
          <a:xfrm xmlns:a="http://schemas.openxmlformats.org/drawingml/2006/main" flipH="1">
            <a:off x="4362450" y="2957513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71" name="直接箭头连接符 68"/>
          <p:cNvCxnSpPr/>
          <p:nvPr/>
        </p:nvCxnSpPr>
        <p:spPr>
          <a:xfrm xmlns:a="http://schemas.openxmlformats.org/drawingml/2006/main" flipH="1">
            <a:off x="5705475" y="2957513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24" name="txt-15">
            <a:extLst xmlns:a="http://schemas.openxmlformats.org/drawingml/2006/main">
              <a:ext uri="{FF2B5EF4-FFF2-40B4-BE49-F238E27FC236}">
                <a16:creationId xmlns:a16="http://schemas.microsoft.com/office/drawing/2014/main" id="{75FBE862-BD5A-4A8F-B864-7DF6717B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638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写请求与写数据 REQ / DAT</a:t>
            </a:r>
          </a:p>
        </p:txBody>
      </p:sp>
      <p:sp>
        <p:nvSpPr>
          <p:cNvPr id="25" name="diagram-16">
            <a:extLst xmlns:a="http://schemas.openxmlformats.org/drawingml/2006/main">
              <a:ext uri="{FF2B5EF4-FFF2-40B4-BE49-F238E27FC236}">
                <a16:creationId xmlns:a16="http://schemas.microsoft.com/office/drawing/2014/main" id="{55F47B33-7A90-441B-9EF8-38408926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43325"/>
            <a:ext cx="1104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Master</a:t>
            </a:r>
          </a:p>
        </p:txBody>
      </p:sp>
      <p:sp>
        <p:nvSpPr>
          <p:cNvPr id="26" name="diagram-17">
            <a:extLst xmlns:a="http://schemas.openxmlformats.org/drawingml/2006/main">
              <a:ext uri="{FF2B5EF4-FFF2-40B4-BE49-F238E27FC236}">
                <a16:creationId xmlns:a16="http://schemas.microsoft.com/office/drawing/2014/main" id="{B41B3F1B-9FF9-4C33-BB88-FE79EA9D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743325"/>
            <a:ext cx="1104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</a:t>
            </a:r>
          </a:p>
        </p:txBody>
      </p:sp>
      <p:sp>
        <p:nvSpPr>
          <p:cNvPr id="27" name="diagram-18">
            <a:extLst xmlns:a="http://schemas.openxmlformats.org/drawingml/2006/main">
              <a:ext uri="{FF2B5EF4-FFF2-40B4-BE49-F238E27FC236}">
                <a16:creationId xmlns:a16="http://schemas.microsoft.com/office/drawing/2014/main" id="{1C48A23A-AADC-476B-B7C7-6179F1BE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43325"/>
            <a:ext cx="1104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</a:t>
            </a:r>
          </a:p>
        </p:txBody>
      </p:sp>
      <p:sp>
        <p:nvSpPr>
          <p:cNvPr id="28" name="diagram-19">
            <a:extLst xmlns:a="http://schemas.openxmlformats.org/drawingml/2006/main">
              <a:ext uri="{FF2B5EF4-FFF2-40B4-BE49-F238E27FC236}">
                <a16:creationId xmlns:a16="http://schemas.microsoft.com/office/drawing/2014/main" id="{B4A2505C-8DC1-4F51-8494-FECC9607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743325"/>
            <a:ext cx="1104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</a:t>
            </a:r>
          </a:p>
        </p:txBody>
      </p:sp>
      <p:sp>
        <p:nvSpPr>
          <p:cNvPr id="29" name="diagram-20">
            <a:extLst xmlns:a="http://schemas.openxmlformats.org/drawingml/2006/main">
              <a:ext uri="{FF2B5EF4-FFF2-40B4-BE49-F238E27FC236}">
                <a16:creationId xmlns:a16="http://schemas.microsoft.com/office/drawing/2014/main" id="{33448C91-312B-4D32-84CF-AD5C6B92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43325"/>
            <a:ext cx="1104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</a:t>
            </a:r>
            <a:endParaRPr sz="1388" b="1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内存端口</a:t>
            </a:r>
            <a:endParaRPr sz="1388" b="1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78" name="直接箭头连接符 75"/>
          <p:cNvCxnSpPr/>
          <p:nvPr/>
        </p:nvCxnSpPr>
        <p:spPr>
          <a:xfrm xmlns:a="http://schemas.openxmlformats.org/drawingml/2006/main">
            <a:off x="1676400" y="3995738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79" name="直接箭头连接符 76"/>
          <p:cNvCxnSpPr/>
          <p:nvPr/>
        </p:nvCxnSpPr>
        <p:spPr>
          <a:xfrm xmlns:a="http://schemas.openxmlformats.org/drawingml/2006/main">
            <a:off x="3019425" y="3995738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80" name="直接箭头连接符 77"/>
          <p:cNvCxnSpPr/>
          <p:nvPr/>
        </p:nvCxnSpPr>
        <p:spPr>
          <a:xfrm xmlns:a="http://schemas.openxmlformats.org/drawingml/2006/main">
            <a:off x="4362450" y="3995738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81" name="直接箭头连接符 78"/>
          <p:cNvCxnSpPr/>
          <p:nvPr/>
        </p:nvCxnSpPr>
        <p:spPr>
          <a:xfrm xmlns:a="http://schemas.openxmlformats.org/drawingml/2006/main">
            <a:off x="5705475" y="3995738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DF5B0B"/>
            </a:solidFill>
            <a:prstDash val="solid"/>
            <a:tailEnd type="triangle" w="med" len="med"/>
          </a:ln>
        </p:spPr>
      </p:cxnSp>
      <p:sp>
        <p:nvSpPr>
          <p:cNvPr id="34" name="txt-21">
            <a:extLst xmlns:a="http://schemas.openxmlformats.org/drawingml/2006/main">
              <a:ext uri="{FF2B5EF4-FFF2-40B4-BE49-F238E27FC236}">
                <a16:creationId xmlns:a16="http://schemas.microsoft.com/office/drawing/2014/main" id="{66C79496-374B-45A0-AE71-F391E827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67225"/>
            <a:ext cx="638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写完成响应 RSP</a:t>
            </a:r>
          </a:p>
        </p:txBody>
      </p:sp>
      <p:sp>
        <p:nvSpPr>
          <p:cNvPr id="35" name="diagram-22">
            <a:extLst xmlns:a="http://schemas.openxmlformats.org/drawingml/2006/main">
              <a:ext uri="{FF2B5EF4-FFF2-40B4-BE49-F238E27FC236}">
                <a16:creationId xmlns:a16="http://schemas.microsoft.com/office/drawing/2014/main" id="{AE6B5E69-DB31-4BEE-ACF7-D63DA2C2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1104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Master</a:t>
            </a:r>
          </a:p>
        </p:txBody>
      </p:sp>
      <p:sp>
        <p:nvSpPr>
          <p:cNvPr id="36" name="diagram-23">
            <a:extLst xmlns:a="http://schemas.openxmlformats.org/drawingml/2006/main">
              <a:ext uri="{FF2B5EF4-FFF2-40B4-BE49-F238E27FC236}">
                <a16:creationId xmlns:a16="http://schemas.microsoft.com/office/drawing/2014/main" id="{97331A6E-7AC5-47C9-BE4D-DA9CF60A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781550"/>
            <a:ext cx="1104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</a:t>
            </a:r>
          </a:p>
        </p:txBody>
      </p:sp>
      <p:sp>
        <p:nvSpPr>
          <p:cNvPr id="37" name="diagram-24">
            <a:extLst xmlns:a="http://schemas.openxmlformats.org/drawingml/2006/main">
              <a:ext uri="{FF2B5EF4-FFF2-40B4-BE49-F238E27FC236}">
                <a16:creationId xmlns:a16="http://schemas.microsoft.com/office/drawing/2014/main" id="{42E3C578-1D0F-4A5D-9040-41045069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81550"/>
            <a:ext cx="1104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</a:t>
            </a:r>
          </a:p>
        </p:txBody>
      </p:sp>
      <p:sp>
        <p:nvSpPr>
          <p:cNvPr id="38" name="diagram-25">
            <a:extLst xmlns:a="http://schemas.openxmlformats.org/drawingml/2006/main">
              <a:ext uri="{FF2B5EF4-FFF2-40B4-BE49-F238E27FC236}">
                <a16:creationId xmlns:a16="http://schemas.microsoft.com/office/drawing/2014/main" id="{39D4BCCD-8F02-4D6A-8F6F-F31B5400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781550"/>
            <a:ext cx="1104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</a:t>
            </a:r>
          </a:p>
        </p:txBody>
      </p:sp>
      <p:sp>
        <p:nvSpPr>
          <p:cNvPr id="39" name="diagram-26">
            <a:extLst xmlns:a="http://schemas.openxmlformats.org/drawingml/2006/main">
              <a:ext uri="{FF2B5EF4-FFF2-40B4-BE49-F238E27FC236}">
                <a16:creationId xmlns:a16="http://schemas.microsoft.com/office/drawing/2014/main" id="{AECC384F-AFFD-4400-ABAE-E884A634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1550"/>
            <a:ext cx="1104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内存端口</a:t>
            </a:r>
          </a:p>
        </p:txBody>
      </p:sp>
      <p:cxnSp>
        <p:nvCxnSpPr>
          <p:cNvPr id="88" name="直接箭头连接符 85"/>
          <p:cNvCxnSpPr/>
          <p:nvPr/>
        </p:nvCxnSpPr>
        <p:spPr>
          <a:xfrm xmlns:a="http://schemas.openxmlformats.org/drawingml/2006/main" flipH="1">
            <a:off x="1676400" y="5033963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89" name="直接箭头连接符 86"/>
          <p:cNvCxnSpPr/>
          <p:nvPr/>
        </p:nvCxnSpPr>
        <p:spPr>
          <a:xfrm xmlns:a="http://schemas.openxmlformats.org/drawingml/2006/main" flipH="1">
            <a:off x="3019425" y="5033963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90" name="直接箭头连接符 87"/>
          <p:cNvCxnSpPr/>
          <p:nvPr/>
        </p:nvCxnSpPr>
        <p:spPr>
          <a:xfrm xmlns:a="http://schemas.openxmlformats.org/drawingml/2006/main" flipH="1">
            <a:off x="4362450" y="5033963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91" name="直接箭头连接符 88"/>
          <p:cNvCxnSpPr/>
          <p:nvPr/>
        </p:nvCxnSpPr>
        <p:spPr>
          <a:xfrm xmlns:a="http://schemas.openxmlformats.org/drawingml/2006/main" flipH="1">
            <a:off x="5705475" y="5033963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030A0"/>
            </a:solidFill>
            <a:prstDash val="solid"/>
            <a:tailEnd type="triangle" w="med" len="med"/>
          </a:ln>
        </p:spPr>
      </p:cxnSp>
      <p:sp>
        <p:nvSpPr>
          <p:cNvPr id="44" name="txt-27">
            <a:extLst xmlns:a="http://schemas.openxmlformats.org/drawingml/2006/main">
              <a:ext uri="{FF2B5EF4-FFF2-40B4-BE49-F238E27FC236}">
                <a16:creationId xmlns:a16="http://schemas.microsoft.com/office/drawing/2014/main" id="{DF1B790E-9846-4846-AA07-4DB9FD35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304925"/>
            <a:ext cx="3981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读事务：请求与数据分离</a:t>
            </a:r>
          </a:p>
        </p:txBody>
      </p:sp>
      <p:sp>
        <p:nvSpPr>
          <p:cNvPr id="45" name="bullet-list-29">
            <a:extLst xmlns:a="http://schemas.openxmlformats.org/drawingml/2006/main">
              <a:ext uri="{FF2B5EF4-FFF2-40B4-BE49-F238E27FC236}">
                <a16:creationId xmlns:a16="http://schemas.microsoft.com/office/drawing/2014/main" id="{A5C92875-9106-43AE-8417-98A98AF5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733550"/>
            <a:ext cx="39719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读地址沿REQ子网，经V-Ring、RBRG和H-Ring到达HA</a:t>
            </a: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 xmlns:a="http://schemas.openxmlformats.org/drawingml/2006/main"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HA组织读取，完成数据交由L2 </a:t>
            </a: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Buffer缓冲和分发</a:t>
            </a: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 xmlns:a="http://schemas.openxmlformats.org/drawingml/2006/main"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读数据沿DAT子网返回目标V-Ring，再交付请求端</a:t>
            </a: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46" name="txt-30">
            <a:extLst xmlns:a="http://schemas.openxmlformats.org/drawingml/2006/main">
              <a:ext uri="{FF2B5EF4-FFF2-40B4-BE49-F238E27FC236}">
                <a16:creationId xmlns:a16="http://schemas.microsoft.com/office/drawing/2014/main" id="{0BB9000B-F1BB-4F34-9B52-F76C35F8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019550"/>
            <a:ext cx="3981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写事务：配对后提交</a:t>
            </a:r>
          </a:p>
        </p:txBody>
      </p:sp>
      <p:sp>
        <p:nvSpPr>
          <p:cNvPr id="47" name="bullet-list-32">
            <a:extLst xmlns:a="http://schemas.openxmlformats.org/drawingml/2006/main">
              <a:ext uri="{FF2B5EF4-FFF2-40B4-BE49-F238E27FC236}">
                <a16:creationId xmlns:a16="http://schemas.microsoft.com/office/drawing/2014/main" id="{F9B4F450-0910-4AFD-92ED-21D8F05B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438650"/>
            <a:ext cx="39719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写请求WR与写数据WR_DAT分别传输，可在不同周期到达。</a:t>
            </a:r>
          </a:p>
          <a:p xmlns:a="http://schemas.openxmlformats.org/drawingml/2006/main"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内存端口按事务标识配对，后端返回响应后，经RSP子网送回请求端。</a:t>
            </a:r>
          </a:p>
        </p:txBody>
      </p:sp>
      <p:sp>
        <p:nvSpPr>
          <p:cNvPr id="48" name="txt-33">
            <a:extLst xmlns:a="http://schemas.openxmlformats.org/drawingml/2006/main">
              <a:ext uri="{FF2B5EF4-FFF2-40B4-BE49-F238E27FC236}">
                <a16:creationId xmlns:a16="http://schemas.microsoft.com/office/drawing/2014/main" id="{4A986A08-5F58-4C4C-96CD-909CA35C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00775"/>
            <a:ext cx="11382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协议分工：REQ传递地址，DAT搬运数据，RSP返回写完成状态。</a:t>
            </a:r>
          </a:p>
        </p:txBody>
      </p:sp>
      <p:sp>
        <p:nvSpPr>
          <p:cNvPr id="49" name="share-40">
            <a:extLst xmlns:a="http://schemas.openxmlformats.org/drawingml/2006/main">
              <a:ext uri="{FF2B5EF4-FFF2-40B4-BE49-F238E27FC236}">
                <a16:creationId xmlns:a16="http://schemas.microsoft.com/office/drawing/2014/main" id="{F03D1561-D833-4EBC-84BA-26415D61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349619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41">
            <a:extLst xmlns:a="http://schemas.openxmlformats.org/drawingml/2006/main">
              <a:ext uri="{FF2B5EF4-FFF2-40B4-BE49-F238E27FC236}">
                <a16:creationId xmlns:a16="http://schemas.microsoft.com/office/drawing/2014/main" id="{BADAC7F2-4B71-480C-8E67-576E31CE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交叉节点：仲裁与反压</a:t>
            </a:r>
          </a:p>
        </p:txBody>
      </p:sp>
      <p:sp>
        <p:nvSpPr>
          <p:cNvPr id="3" name="share-42">
            <a:extLst xmlns:a="http://schemas.openxmlformats.org/drawingml/2006/main">
              <a:ext uri="{FF2B5EF4-FFF2-40B4-BE49-F238E27FC236}">
                <a16:creationId xmlns:a16="http://schemas.microsoft.com/office/drawing/2014/main" id="{C3FDDEF6-9200-4EC6-BA61-053A492D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交叉节点（Cross Station）连接本地端点与环网，协调过站转发、注入和弹出。</a:t>
            </a:r>
          </a:p>
        </p:txBody>
      </p:sp>
      <p:sp>
        <p:nvSpPr>
          <p:cNvPr id="4" name="share-43">
            <a:extLst xmlns:a="http://schemas.openxmlformats.org/drawingml/2006/main">
              <a:ext uri="{FF2B5EF4-FFF2-40B4-BE49-F238E27FC236}">
                <a16:creationId xmlns:a16="http://schemas.microsoft.com/office/drawing/2014/main" id="{0E0117B6-7166-4C87-993F-30EB3953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3832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双向独立仲裁</a:t>
            </a:r>
          </a:p>
        </p:txBody>
      </p:sp>
      <p:sp>
        <p:nvSpPr>
          <p:cNvPr id="5" name="share-44">
            <a:extLst xmlns:a="http://schemas.openxmlformats.org/drawingml/2006/main">
              <a:ext uri="{FF2B5EF4-FFF2-40B4-BE49-F238E27FC236}">
                <a16:creationId xmlns:a16="http://schemas.microsoft.com/office/drawing/2014/main" id="{33F5CBE7-C73C-470D-B160-A3E5FB18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3952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顺时针（CW）与逆时针（CCW）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分别选择过站包或本地待发送包。</a:t>
            </a:r>
          </a:p>
        </p:txBody>
      </p:sp>
      <p:sp>
        <p:nvSpPr>
          <p:cNvPr id="6" name="share-45">
            <a:extLst xmlns:a="http://schemas.openxmlformats.org/drawingml/2006/main">
              <a:ext uri="{FF2B5EF4-FFF2-40B4-BE49-F238E27FC236}">
                <a16:creationId xmlns:a16="http://schemas.microsoft.com/office/drawing/2014/main" id="{540F5A43-67AA-4588-AC42-E6EE9655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0042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共享弹出队列</a:t>
            </a:r>
          </a:p>
        </p:txBody>
      </p:sp>
      <p:sp>
        <p:nvSpPr>
          <p:cNvPr id="7" name="share-46">
            <a:extLst xmlns:a="http://schemas.openxmlformats.org/drawingml/2006/main">
              <a:ext uri="{FF2B5EF4-FFF2-40B4-BE49-F238E27FC236}">
                <a16:creationId xmlns:a16="http://schemas.microsoft.com/office/drawing/2014/main" id="{78DF6A29-B866-491C-9F0C-FF761E3E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67150"/>
            <a:ext cx="3952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两个方向的目的包竞争同一队列。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弹出仲裁决定本轮由哪一路进入。</a:t>
            </a:r>
          </a:p>
        </p:txBody>
      </p:sp>
      <p:sp>
        <p:nvSpPr>
          <p:cNvPr id="8" name="share-47">
            <a:extLst xmlns:a="http://schemas.openxmlformats.org/drawingml/2006/main">
              <a:ext uri="{FF2B5EF4-FFF2-40B4-BE49-F238E27FC236}">
                <a16:creationId xmlns:a16="http://schemas.microsoft.com/office/drawing/2014/main" id="{82F43054-57A6-478F-BBB2-7FC98788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6252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推进的条件</a:t>
            </a:r>
          </a:p>
        </p:txBody>
      </p:sp>
      <p:sp>
        <p:nvSpPr>
          <p:cNvPr id="9" name="share-48">
            <a:extLst xmlns:a="http://schemas.openxmlformats.org/drawingml/2006/main">
              <a:ext uri="{FF2B5EF4-FFF2-40B4-BE49-F238E27FC236}">
                <a16:creationId xmlns:a16="http://schemas.microsoft.com/office/drawing/2014/main" id="{7629ABAC-6B12-41A8-9C41-4779A3F4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29250"/>
            <a:ext cx="3952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下游成功接收后才推进状态。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受阻时保留数据与队首位置。</a:t>
            </a:r>
          </a:p>
        </p:txBody>
      </p:sp>
      <p:sp>
        <p:nvSpPr>
          <p:cNvPr id="10" name="share-49">
            <a:extLst xmlns:a="http://schemas.openxmlformats.org/drawingml/2006/main">
              <a:ext uri="{FF2B5EF4-FFF2-40B4-BE49-F238E27FC236}">
                <a16:creationId xmlns:a16="http://schemas.microsoft.com/office/drawing/2014/main" id="{7DE5B111-4213-4B5F-B4AA-AA553AEE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14" name="矩形 539">
            <a:extLst xmlns:a="http://schemas.openxmlformats.org/drawingml/2006/main">
              <a:ext uri="{FF2B5EF4-FFF2-40B4-BE49-F238E27FC236}">
                <a16:creationId xmlns:a16="http://schemas.microsoft.com/office/drawing/2014/main" id="{5A0581F7-BFA6-40D8-A0C3-B2ECA4DB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2646" y="2276325"/>
            <a:ext cx="4687258" cy="198885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  <a:alpha val="50196"/>
            </a:schemeClr>
          </a:solidFill>
          <a:ln xmlns:a="http://schemas.openxmlformats.org/drawingml/2006/main" w="19050">
            <a:solidFill>
              <a:schemeClr val="tx1"/>
            </a:solidFill>
            <a:prstDash val="sysDash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矩形 540">
            <a:extLst xmlns:a="http://schemas.openxmlformats.org/drawingml/2006/main">
              <a:ext uri="{FF2B5EF4-FFF2-40B4-BE49-F238E27FC236}">
                <a16:creationId xmlns:a16="http://schemas.microsoft.com/office/drawing/2014/main" id="{C29A41DD-0C69-4C20-8F07-7B3E763C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8362" y="3791819"/>
            <a:ext cx="1070699" cy="3703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  <a:ln xmlns:a="http://schemas.openxmlformats.org/drawingml/2006/main" w="19050" cmpd="sng">
            <a:solidFill>
              <a:schemeClr val="tx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18">
              <a:buNone/>
            </a:pPr>
            <a:r>
              <a:rPr sz="1200" b="1">
                <a:latin typeface="Arial"/>
                <a:ea typeface="Arial"/>
                <a:cs typeface="Arial"/>
              </a:rPr>
              <a:t>Queue</a:t>
            </a:r>
            <a:endParaRPr sz="1200" b="1" kern="0">
              <a:latin typeface="Arial"/>
              <a:ea typeface="Arial"/>
              <a:cs typeface="Arial"/>
            </a:endParaRPr>
          </a:p>
        </p:txBody>
      </p:sp>
      <p:sp>
        <p:nvSpPr>
          <p:cNvPr id="16" name="矩形 541">
            <a:extLst xmlns:a="http://schemas.openxmlformats.org/drawingml/2006/main">
              <a:ext uri="{FF2B5EF4-FFF2-40B4-BE49-F238E27FC236}">
                <a16:creationId xmlns:a16="http://schemas.microsoft.com/office/drawing/2014/main" id="{2D3908F7-6B1C-4779-932F-DB875AE4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8362" y="3421453"/>
            <a:ext cx="1070699" cy="3703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  <a:ln xmlns:a="http://schemas.openxmlformats.org/drawingml/2006/main" w="19050" cmpd="sng">
            <a:solidFill>
              <a:schemeClr val="tx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18">
              <a:buNone/>
            </a:pPr>
            <a:endParaRPr sz="1200" b="1" kern="0">
              <a:latin typeface="Arial"/>
              <a:ea typeface="Arial"/>
              <a:cs typeface="Arial"/>
            </a:endParaRPr>
          </a:p>
        </p:txBody>
      </p:sp>
      <p:sp>
        <p:nvSpPr>
          <p:cNvPr id="17" name="矩形 542">
            <a:extLst xmlns:a="http://schemas.openxmlformats.org/drawingml/2006/main">
              <a:ext uri="{FF2B5EF4-FFF2-40B4-BE49-F238E27FC236}">
                <a16:creationId xmlns:a16="http://schemas.microsoft.com/office/drawing/2014/main" id="{8E048994-6BC6-492A-ADE3-6A615361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8362" y="3049059"/>
            <a:ext cx="1070699" cy="3703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  <a:ln xmlns:a="http://schemas.openxmlformats.org/drawingml/2006/main" w="19050" cmpd="sng">
            <a:solidFill>
              <a:schemeClr val="tx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18">
              <a:buNone/>
            </a:pPr>
            <a:endParaRPr sz="1200" b="1" kern="0">
              <a:latin typeface="Arial"/>
              <a:ea typeface="Arial"/>
              <a:cs typeface="Arial"/>
            </a:endParaRPr>
          </a:p>
        </p:txBody>
      </p:sp>
      <p:sp>
        <p:nvSpPr>
          <p:cNvPr id="18" name="矩形 543">
            <a:extLst xmlns:a="http://schemas.openxmlformats.org/drawingml/2006/main">
              <a:ext uri="{FF2B5EF4-FFF2-40B4-BE49-F238E27FC236}">
                <a16:creationId xmlns:a16="http://schemas.microsoft.com/office/drawing/2014/main" id="{60BAB55F-D182-472F-BA2D-7D88242F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8362" y="2678692"/>
            <a:ext cx="1070699" cy="3703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  <a:ln xmlns:a="http://schemas.openxmlformats.org/drawingml/2006/main" w="19050" cmpd="sng">
            <a:solidFill>
              <a:schemeClr val="tx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18">
              <a:buNone/>
            </a:pPr>
            <a:endParaRPr sz="1200" b="1" kern="0">
              <a:latin typeface="Arial"/>
              <a:ea typeface="Arial"/>
              <a:cs typeface="Arial"/>
            </a:endParaRPr>
          </a:p>
        </p:txBody>
      </p:sp>
      <p:sp>
        <p:nvSpPr>
          <p:cNvPr id="19" name="文本框 544">
            <a:extLst xmlns:a="http://schemas.openxmlformats.org/drawingml/2006/main">
              <a:ext uri="{FF2B5EF4-FFF2-40B4-BE49-F238E27FC236}">
                <a16:creationId xmlns:a16="http://schemas.microsoft.com/office/drawing/2014/main" id="{6728543E-B079-4FE0-BE87-D0984A72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9797" y="2334354"/>
            <a:ext cx="1187829" cy="35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latin typeface="Arial"/>
                <a:ea typeface="Arial"/>
                <a:cs typeface="Arial"/>
              </a:rPr>
              <a:t>Inject  CW</a:t>
            </a:r>
            <a:endParaRPr sz="1600">
              <a:latin typeface="Arial"/>
              <a:ea typeface="Arial"/>
              <a:cs typeface="Arial"/>
            </a:endParaRPr>
          </a:p>
        </p:txBody>
      </p:sp>
      <p:sp>
        <p:nvSpPr>
          <p:cNvPr id="20" name="矩形 545">
            <a:extLst xmlns:a="http://schemas.openxmlformats.org/drawingml/2006/main">
              <a:ext uri="{FF2B5EF4-FFF2-40B4-BE49-F238E27FC236}">
                <a16:creationId xmlns:a16="http://schemas.microsoft.com/office/drawing/2014/main" id="{8C8F9679-5F1D-4B73-BDDC-7EC4B642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29348" y="3782846"/>
            <a:ext cx="1070699" cy="3703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  <a:ln xmlns:a="http://schemas.openxmlformats.org/drawingml/2006/main" w="19050" cmpd="sng">
            <a:solidFill>
              <a:schemeClr val="tx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18">
              <a:buNone/>
            </a:pPr>
            <a:r>
              <a:rPr sz="1200" b="1">
                <a:latin typeface="Arial"/>
                <a:ea typeface="Arial"/>
                <a:cs typeface="Arial"/>
              </a:rPr>
              <a:t>Queue</a:t>
            </a:r>
            <a:endParaRPr sz="1200" b="1" kern="0">
              <a:latin typeface="Arial"/>
              <a:ea typeface="Arial"/>
              <a:cs typeface="Arial"/>
            </a:endParaRPr>
          </a:p>
        </p:txBody>
      </p:sp>
      <p:sp>
        <p:nvSpPr>
          <p:cNvPr id="21" name="矩形 546">
            <a:extLst xmlns:a="http://schemas.openxmlformats.org/drawingml/2006/main">
              <a:ext uri="{FF2B5EF4-FFF2-40B4-BE49-F238E27FC236}">
                <a16:creationId xmlns:a16="http://schemas.microsoft.com/office/drawing/2014/main" id="{FABFFF21-A711-406D-8D1F-25D44273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29348" y="3412480"/>
            <a:ext cx="1070699" cy="3703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  <a:ln xmlns:a="http://schemas.openxmlformats.org/drawingml/2006/main" w="19050" cmpd="sng">
            <a:solidFill>
              <a:schemeClr val="tx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18">
              <a:buNone/>
            </a:pPr>
            <a:endParaRPr sz="1200" b="1" kern="0">
              <a:latin typeface="Arial"/>
              <a:ea typeface="Arial"/>
              <a:cs typeface="Arial"/>
            </a:endParaRPr>
          </a:p>
        </p:txBody>
      </p:sp>
      <p:sp>
        <p:nvSpPr>
          <p:cNvPr id="22" name="矩形 547">
            <a:extLst xmlns:a="http://schemas.openxmlformats.org/drawingml/2006/main">
              <a:ext uri="{FF2B5EF4-FFF2-40B4-BE49-F238E27FC236}">
                <a16:creationId xmlns:a16="http://schemas.microsoft.com/office/drawing/2014/main" id="{18C40BA7-B8CC-4939-A3AD-4C91D8ED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29348" y="3040085"/>
            <a:ext cx="1070699" cy="3703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  <a:ln xmlns:a="http://schemas.openxmlformats.org/drawingml/2006/main" w="19050" cmpd="sng">
            <a:solidFill>
              <a:schemeClr val="tx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18">
              <a:buNone/>
            </a:pPr>
            <a:endParaRPr sz="1200" b="1" kern="0">
              <a:latin typeface="Arial"/>
              <a:ea typeface="Arial"/>
              <a:cs typeface="Arial"/>
            </a:endParaRPr>
          </a:p>
        </p:txBody>
      </p:sp>
      <p:sp>
        <p:nvSpPr>
          <p:cNvPr id="23" name="矩形 548">
            <a:extLst xmlns:a="http://schemas.openxmlformats.org/drawingml/2006/main">
              <a:ext uri="{FF2B5EF4-FFF2-40B4-BE49-F238E27FC236}">
                <a16:creationId xmlns:a16="http://schemas.microsoft.com/office/drawing/2014/main" id="{1B770934-3EFB-4887-8FC8-DC4C187D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29348" y="2669719"/>
            <a:ext cx="1070699" cy="3703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  <a:ln xmlns:a="http://schemas.openxmlformats.org/drawingml/2006/main" w="19050" cmpd="sng">
            <a:solidFill>
              <a:schemeClr val="tx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18">
              <a:buNone/>
            </a:pPr>
            <a:endParaRPr sz="1200" b="1" kern="0">
              <a:latin typeface="Arial"/>
              <a:ea typeface="Arial"/>
              <a:cs typeface="Arial"/>
            </a:endParaRPr>
          </a:p>
        </p:txBody>
      </p:sp>
      <p:sp>
        <p:nvSpPr>
          <p:cNvPr id="24" name="文本框 549">
            <a:extLst xmlns:a="http://schemas.openxmlformats.org/drawingml/2006/main">
              <a:ext uri="{FF2B5EF4-FFF2-40B4-BE49-F238E27FC236}">
                <a16:creationId xmlns:a16="http://schemas.microsoft.com/office/drawing/2014/main" id="{E0C8159E-7515-4B63-BBBB-DD9B864E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58982" y="2311579"/>
            <a:ext cx="1411429" cy="35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latin typeface="Arial"/>
                <a:ea typeface="Arial"/>
                <a:cs typeface="Arial"/>
              </a:rPr>
              <a:t>Eject  Queue</a:t>
            </a:r>
            <a:endParaRPr sz="1600">
              <a:latin typeface="Arial"/>
              <a:ea typeface="Arial"/>
              <a:cs typeface="Arial"/>
            </a:endParaRPr>
          </a:p>
        </p:txBody>
      </p:sp>
      <p:sp>
        <p:nvSpPr>
          <p:cNvPr id="25" name="矩形 550">
            <a:extLst xmlns:a="http://schemas.openxmlformats.org/drawingml/2006/main">
              <a:ext uri="{FF2B5EF4-FFF2-40B4-BE49-F238E27FC236}">
                <a16:creationId xmlns:a16="http://schemas.microsoft.com/office/drawing/2014/main" id="{E2071E71-FF36-46A1-A98A-1D1D8941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4126" y="3766106"/>
            <a:ext cx="1070699" cy="3703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  <a:ln xmlns:a="http://schemas.openxmlformats.org/drawingml/2006/main" w="19050" cmpd="sng">
            <a:solidFill>
              <a:schemeClr val="tx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18">
              <a:buNone/>
            </a:pPr>
            <a:r>
              <a:rPr sz="1200" b="1">
                <a:latin typeface="Arial"/>
                <a:ea typeface="Arial"/>
                <a:cs typeface="Arial"/>
              </a:rPr>
              <a:t>Queue</a:t>
            </a:r>
            <a:endParaRPr sz="1200" b="1" kern="0">
              <a:latin typeface="Arial"/>
              <a:ea typeface="Arial"/>
              <a:cs typeface="Arial"/>
            </a:endParaRPr>
          </a:p>
        </p:txBody>
      </p:sp>
      <p:sp>
        <p:nvSpPr>
          <p:cNvPr id="26" name="矩形 551">
            <a:extLst xmlns:a="http://schemas.openxmlformats.org/drawingml/2006/main">
              <a:ext uri="{FF2B5EF4-FFF2-40B4-BE49-F238E27FC236}">
                <a16:creationId xmlns:a16="http://schemas.microsoft.com/office/drawing/2014/main" id="{73D4D4F9-070E-416F-A905-3B1427E7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4126" y="3395740"/>
            <a:ext cx="1070699" cy="3703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  <a:ln xmlns:a="http://schemas.openxmlformats.org/drawingml/2006/main" w="19050" cmpd="sng">
            <a:solidFill>
              <a:schemeClr val="tx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18">
              <a:buNone/>
            </a:pPr>
            <a:endParaRPr sz="1200" b="1" kern="0">
              <a:latin typeface="Arial"/>
              <a:ea typeface="Arial"/>
              <a:cs typeface="Arial"/>
            </a:endParaRPr>
          </a:p>
        </p:txBody>
      </p:sp>
      <p:sp>
        <p:nvSpPr>
          <p:cNvPr id="27" name="矩形 552">
            <a:extLst xmlns:a="http://schemas.openxmlformats.org/drawingml/2006/main">
              <a:ext uri="{FF2B5EF4-FFF2-40B4-BE49-F238E27FC236}">
                <a16:creationId xmlns:a16="http://schemas.microsoft.com/office/drawing/2014/main" id="{EEAE748C-0881-4272-B95F-4C960828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4126" y="3023345"/>
            <a:ext cx="1070699" cy="3703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  <a:ln xmlns:a="http://schemas.openxmlformats.org/drawingml/2006/main" w="19050" cmpd="sng">
            <a:solidFill>
              <a:schemeClr val="tx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18">
              <a:buNone/>
            </a:pPr>
            <a:endParaRPr sz="1200" b="1" kern="0">
              <a:latin typeface="Arial"/>
              <a:ea typeface="Arial"/>
              <a:cs typeface="Arial"/>
            </a:endParaRPr>
          </a:p>
        </p:txBody>
      </p:sp>
      <p:sp>
        <p:nvSpPr>
          <p:cNvPr id="28" name="矩形 553">
            <a:extLst xmlns:a="http://schemas.openxmlformats.org/drawingml/2006/main">
              <a:ext uri="{FF2B5EF4-FFF2-40B4-BE49-F238E27FC236}">
                <a16:creationId xmlns:a16="http://schemas.microsoft.com/office/drawing/2014/main" id="{8647D86D-5D13-46BB-A276-6FB05EBC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4126" y="2652979"/>
            <a:ext cx="1070699" cy="3703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  <a:ln xmlns:a="http://schemas.openxmlformats.org/drawingml/2006/main" w="19050" cmpd="sng">
            <a:solidFill>
              <a:schemeClr val="tx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18">
              <a:buNone/>
            </a:pPr>
            <a:endParaRPr sz="1200" b="1" kern="0">
              <a:latin typeface="Arial"/>
              <a:ea typeface="Arial"/>
              <a:cs typeface="Arial"/>
            </a:endParaRPr>
          </a:p>
        </p:txBody>
      </p:sp>
      <p:sp>
        <p:nvSpPr>
          <p:cNvPr id="29" name="文本框 554">
            <a:extLst xmlns:a="http://schemas.openxmlformats.org/drawingml/2006/main">
              <a:ext uri="{FF2B5EF4-FFF2-40B4-BE49-F238E27FC236}">
                <a16:creationId xmlns:a16="http://schemas.microsoft.com/office/drawing/2014/main" id="{2931EAA7-C835-4A18-B6D1-9E8F6F85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35188" y="2308641"/>
            <a:ext cx="1348575" cy="35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latin typeface="Arial"/>
                <a:ea typeface="Arial"/>
                <a:cs typeface="Arial"/>
              </a:rPr>
              <a:t>Inject  CCW</a:t>
            </a:r>
            <a:endParaRPr sz="1600">
              <a:latin typeface="Arial"/>
              <a:ea typeface="Arial"/>
              <a:cs typeface="Arial"/>
            </a:endParaRPr>
          </a:p>
        </p:txBody>
      </p:sp>
      <p:sp>
        <p:nvSpPr>
          <p:cNvPr id="30" name="矩形 555">
            <a:extLst xmlns:a="http://schemas.openxmlformats.org/drawingml/2006/main">
              <a:ext uri="{FF2B5EF4-FFF2-40B4-BE49-F238E27FC236}">
                <a16:creationId xmlns:a16="http://schemas.microsoft.com/office/drawing/2014/main" id="{782FDE0A-AD8B-41B8-A036-FC8BA3B3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5095" y="4613070"/>
            <a:ext cx="1070699" cy="4523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8D4"/>
          </a:solidFill>
          <a:ln xmlns:a="http://schemas.openxmlformats.org/drawingml/2006/main" w="19050" cmpd="sng">
            <a:solidFill>
              <a:schemeClr val="tx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18">
              <a:buNone/>
            </a:pPr>
            <a:r>
              <a:rPr sz="1200" b="1">
                <a:latin typeface="Arial"/>
                <a:ea typeface="Arial"/>
                <a:cs typeface="Arial"/>
              </a:rPr>
              <a:t>Reg_In</a:t>
            </a:r>
            <a:endParaRPr sz="1200" b="1" kern="0">
              <a:latin typeface="Arial"/>
              <a:ea typeface="Arial"/>
              <a:cs typeface="Arial"/>
            </a:endParaRPr>
          </a:p>
        </p:txBody>
      </p:sp>
      <p:sp>
        <p:nvSpPr>
          <p:cNvPr id="31" name="矩形 556">
            <a:extLst xmlns:a="http://schemas.openxmlformats.org/drawingml/2006/main">
              <a:ext uri="{FF2B5EF4-FFF2-40B4-BE49-F238E27FC236}">
                <a16:creationId xmlns:a16="http://schemas.microsoft.com/office/drawing/2014/main" id="{6D777C51-9474-49F0-861C-9363BCDB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69057" y="5337643"/>
            <a:ext cx="1070699" cy="45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9BF"/>
          </a:solidFill>
          <a:ln xmlns:a="http://schemas.openxmlformats.org/drawingml/2006/main" w="19050" cmpd="sng">
            <a:solidFill>
              <a:schemeClr val="tx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18">
              <a:buNone/>
            </a:pPr>
            <a:r>
              <a:rPr sz="1200" b="1">
                <a:latin typeface="Arial"/>
                <a:ea typeface="Arial"/>
                <a:cs typeface="Arial"/>
              </a:rPr>
              <a:t>Reg_Out</a:t>
            </a:r>
            <a:endParaRPr sz="1200" b="1" kern="0">
              <a:latin typeface="Arial"/>
              <a:ea typeface="Arial"/>
              <a:cs typeface="Arial"/>
            </a:endParaRPr>
          </a:p>
        </p:txBody>
      </p:sp>
      <p:sp>
        <p:nvSpPr>
          <p:cNvPr id="32" name="矩形 557">
            <a:extLst xmlns:a="http://schemas.openxmlformats.org/drawingml/2006/main">
              <a:ext uri="{FF2B5EF4-FFF2-40B4-BE49-F238E27FC236}">
                <a16:creationId xmlns:a16="http://schemas.microsoft.com/office/drawing/2014/main" id="{8B2BFD6C-0B98-4F7A-81F3-7DAFB583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878" y="4616965"/>
            <a:ext cx="1070699" cy="45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9BF"/>
          </a:solidFill>
          <a:ln xmlns:a="http://schemas.openxmlformats.org/drawingml/2006/main" w="19050" cmpd="sng">
            <a:solidFill>
              <a:schemeClr val="tx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18">
              <a:buNone/>
            </a:pPr>
            <a:r>
              <a:rPr sz="1200" b="1">
                <a:latin typeface="Arial"/>
                <a:ea typeface="Arial"/>
                <a:cs typeface="Arial"/>
              </a:rPr>
              <a:t>Reg_Out</a:t>
            </a:r>
            <a:endParaRPr sz="1200" b="1" kern="0">
              <a:latin typeface="Arial"/>
              <a:ea typeface="Arial"/>
              <a:cs typeface="Arial"/>
            </a:endParaRPr>
          </a:p>
        </p:txBody>
      </p:sp>
      <p:sp>
        <p:nvSpPr>
          <p:cNvPr id="33" name="矩形 558">
            <a:extLst xmlns:a="http://schemas.openxmlformats.org/drawingml/2006/main">
              <a:ext uri="{FF2B5EF4-FFF2-40B4-BE49-F238E27FC236}">
                <a16:creationId xmlns:a16="http://schemas.microsoft.com/office/drawing/2014/main" id="{501B6CEC-FE8C-4472-A376-BB6E2F32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878" y="5337196"/>
            <a:ext cx="1070699" cy="4523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8D4"/>
          </a:solidFill>
          <a:ln xmlns:a="http://schemas.openxmlformats.org/drawingml/2006/main" w="19050" cmpd="sng">
            <a:solidFill>
              <a:schemeClr val="tx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18">
              <a:buNone/>
            </a:pPr>
            <a:r>
              <a:rPr sz="1200" b="1">
                <a:latin typeface="Arial"/>
                <a:ea typeface="Arial"/>
                <a:cs typeface="Arial"/>
              </a:rPr>
              <a:t>Reg_In</a:t>
            </a:r>
            <a:endParaRPr sz="1200" b="1" kern="0">
              <a:latin typeface="Arial"/>
              <a:ea typeface="Arial"/>
              <a:cs typeface="Arial"/>
            </a:endParaRPr>
          </a:p>
        </p:txBody>
      </p:sp>
      <p:cxnSp>
        <p:nvCxnSpPr>
          <p:cNvPr id="82" name="直接箭头连接符 559"/>
          <p:cNvCxnSpPr>
            <a:stCxn xmlns:a="http://schemas.openxmlformats.org/drawingml/2006/main" id="30" idx="1"/>
            <a:endCxn xmlns:a="http://schemas.openxmlformats.org/drawingml/2006/main" id="35" idx="3"/>
          </p:cNvCxnSpPr>
          <p:nvPr/>
        </p:nvCxnSpPr>
        <p:spPr>
          <a:xfrm xmlns:a="http://schemas.openxmlformats.org/drawingml/2006/main" rot="0" flipH="1" flipV="0">
            <a:off x="3523132" y="4839254"/>
            <a:ext cx="2331963" cy="367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3"/>
            </a:solidFill>
            <a:prstDash val="solid"/>
            <a:miter/>
            <a:tailEnd type="triangle"/>
          </a:ln>
        </p:spPr>
      </p:cxnSp>
      <p:sp>
        <p:nvSpPr>
          <p:cNvPr id="35" name="矩形 560">
            <a:extLst xmlns:a="http://schemas.openxmlformats.org/drawingml/2006/main">
              <a:ext uri="{FF2B5EF4-FFF2-40B4-BE49-F238E27FC236}">
                <a16:creationId xmlns:a16="http://schemas.microsoft.com/office/drawing/2014/main" id="{AC192722-C1BC-4C82-924F-4E04E00F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02204" y="4616965"/>
            <a:ext cx="1220927" cy="4519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19050" cmpd="sng">
            <a:solidFill>
              <a:schemeClr val="tx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18">
              <a:buNone/>
            </a:pPr>
            <a:r>
              <a:rPr sz="900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RR_CW</a:t>
            </a:r>
          </a:p>
          <a:p xmlns:a="http://schemas.openxmlformats.org/drawingml/2006/main">
            <a:pPr algn="ctr" defTabSz="914418">
              <a:buNone/>
            </a:pPr>
            <a:r>
              <a:rPr sz="800" b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Transit ↔ Local</a:t>
            </a:r>
          </a:p>
        </p:txBody>
      </p:sp>
      <p:cxnSp>
        <p:nvCxnSpPr>
          <p:cNvPr id="84" name="直接箭头连接符 561"/>
          <p:cNvCxnSpPr/>
          <p:nvPr/>
        </p:nvCxnSpPr>
        <p:spPr>
          <a:xfrm xmlns:a="http://schemas.openxmlformats.org/drawingml/2006/main" rot="0" flipH="0" flipV="1">
            <a:off x="4067201" y="4616965"/>
            <a:ext cx="0" cy="222288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3"/>
            </a:solidFill>
            <a:prstDash val="solid"/>
            <a:miter/>
            <a:tailEnd type="triangle"/>
          </a:ln>
        </p:spPr>
      </p:cxnSp>
      <p:cxnSp>
        <p:nvCxnSpPr>
          <p:cNvPr id="85" name="直接箭头连接符 562"/>
          <p:cNvCxnSpPr>
            <a:stCxn xmlns:a="http://schemas.openxmlformats.org/drawingml/2006/main" id="35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rot="0" flipH="1" flipV="0">
            <a:off x="1939578" y="4842925"/>
            <a:ext cx="362626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3"/>
            </a:solidFill>
            <a:prstDash val="solid"/>
            <a:miter/>
            <a:tailEnd type="triangle"/>
          </a:ln>
        </p:spPr>
      </p:cxnSp>
      <p:cxnSp>
        <p:nvCxnSpPr>
          <p:cNvPr id="86" name="连接符: 肘形 563"/>
          <p:cNvCxnSpPr>
            <a:stCxn xmlns:a="http://schemas.openxmlformats.org/drawingml/2006/main" id="15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 rot="16200000" flipH="1" flipV="0">
            <a:off x="2335669" y="4040299"/>
            <a:ext cx="455042" cy="698551"/>
          </a:xfrm>
          <a:prstGeom xmlns:a="http://schemas.openxmlformats.org/drawingml/2006/main" prst="bentConnector3">
            <a:avLst/>
          </a:prstGeom>
          <a:ln xmlns:a="http://schemas.openxmlformats.org/drawingml/2006/main" w="19050">
            <a:solidFill>
              <a:schemeClr val="accent3"/>
            </a:solidFill>
            <a:miter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9" name="矩形 564">
            <a:extLst xmlns:a="http://schemas.openxmlformats.org/drawingml/2006/main">
              <a:ext uri="{FF2B5EF4-FFF2-40B4-BE49-F238E27FC236}">
                <a16:creationId xmlns:a16="http://schemas.microsoft.com/office/drawing/2014/main" id="{F8F281BF-D533-48BB-B05E-28A987C0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59947" y="5337196"/>
            <a:ext cx="1220927" cy="4519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19050" cmpd="sng">
            <a:solidFill>
              <a:schemeClr val="tx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18">
              <a:buNone/>
            </a:pPr>
            <a:r>
              <a:rPr sz="900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RR_CCW</a:t>
            </a:r>
          </a:p>
          <a:p xmlns:a="http://schemas.openxmlformats.org/drawingml/2006/main">
            <a:pPr algn="ctr" defTabSz="914418">
              <a:buNone/>
            </a:pPr>
            <a:r>
              <a:rPr sz="800" b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Transit ↔ Local</a:t>
            </a:r>
          </a:p>
        </p:txBody>
      </p:sp>
      <p:cxnSp>
        <p:nvCxnSpPr>
          <p:cNvPr id="88" name="直接箭头连接符 565"/>
          <p:cNvCxnSpPr>
            <a:stCxn xmlns:a="http://schemas.openxmlformats.org/drawingml/2006/main" id="33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rot="0" flipH="0" flipV="1">
            <a:off x="1939578" y="5563156"/>
            <a:ext cx="2120369" cy="224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6">
                <a:lumMod val="75000"/>
              </a:schemeClr>
            </a:solidFill>
            <a:prstDash val="solid"/>
            <a:miter/>
            <a:tailEnd type="triangle"/>
          </a:ln>
        </p:spPr>
      </p:cxnSp>
      <p:cxnSp>
        <p:nvCxnSpPr>
          <p:cNvPr id="89" name="直接箭头连接符 566"/>
          <p:cNvCxnSpPr>
            <a:stCxn xmlns:a="http://schemas.openxmlformats.org/drawingml/2006/main" id="39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rot="0" flipH="0" flipV="0">
            <a:off x="5280875" y="5563156"/>
            <a:ext cx="588182" cy="447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6">
                <a:lumMod val="75000"/>
              </a:schemeClr>
            </a:solidFill>
            <a:prstDash val="solid"/>
            <a:miter/>
            <a:tailEnd type="triangle"/>
          </a:ln>
        </p:spPr>
      </p:cxnSp>
      <p:cxnSp>
        <p:nvCxnSpPr>
          <p:cNvPr id="90" name="连接符: 肘形 567"/>
          <p:cNvCxnSpPr>
            <a:stCxn xmlns:a="http://schemas.openxmlformats.org/drawingml/2006/main" id="25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 rot="5400000" flipH="0" flipV="0">
            <a:off x="4539234" y="4267573"/>
            <a:ext cx="1201419" cy="93852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chemeClr val="accent6"/>
            </a:solidFill>
            <a:miter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91" name="直接箭头连接符 568"/>
          <p:cNvCxnSpPr/>
          <p:nvPr/>
        </p:nvCxnSpPr>
        <p:spPr>
          <a:xfrm xmlns:a="http://schemas.openxmlformats.org/drawingml/2006/main" rot="0" flipH="0" flipV="1">
            <a:off x="3754045" y="4630735"/>
            <a:ext cx="0" cy="932868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6">
                <a:lumMod val="75000"/>
              </a:schemeClr>
            </a:solidFill>
            <a:prstDash val="solid"/>
            <a:miter/>
            <a:tailEnd type="triangle"/>
          </a:ln>
        </p:spPr>
      </p:cxnSp>
      <p:sp>
        <p:nvSpPr>
          <p:cNvPr id="44" name="文本框 569">
            <a:extLst xmlns:a="http://schemas.openxmlformats.org/drawingml/2006/main">
              <a:ext uri="{FF2B5EF4-FFF2-40B4-BE49-F238E27FC236}">
                <a16:creationId xmlns:a16="http://schemas.microsoft.com/office/drawing/2014/main" id="{7CEBD63E-3E89-46F2-82BA-2F372BE4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23335" y="2217361"/>
            <a:ext cx="1111257" cy="5849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latin typeface="Arial"/>
                <a:ea typeface="Arial"/>
                <a:cs typeface="Arial"/>
              </a:rPr>
              <a:t>Node</a:t>
            </a:r>
          </a:p>
          <a:p xmlns:a="http://schemas.openxmlformats.org/drawingml/2006/main">
            <a:r>
              <a:rPr sz="1200" b="1">
                <a:latin typeface="Arial"/>
                <a:ea typeface="Arial"/>
                <a:cs typeface="Arial"/>
              </a:rPr>
              <a:t>Interface</a:t>
            </a:r>
            <a:endParaRPr sz="1600">
              <a:latin typeface="Arial"/>
              <a:ea typeface="Arial"/>
              <a:cs typeface="Arial"/>
            </a:endParaRPr>
          </a:p>
        </p:txBody>
      </p:sp>
      <p:cxnSp>
        <p:nvCxnSpPr>
          <p:cNvPr id="93" name="直接箭头连接符 570"/>
          <p:cNvCxnSpPr>
            <a:endCxn xmlns:a="http://schemas.openxmlformats.org/drawingml/2006/main" id="30" idx="3"/>
          </p:cNvCxnSpPr>
          <p:nvPr/>
        </p:nvCxnSpPr>
        <p:spPr>
          <a:xfrm xmlns:a="http://schemas.openxmlformats.org/drawingml/2006/main" rot="0" flipH="1" flipV="0">
            <a:off x="6925795" y="4839253"/>
            <a:ext cx="408802" cy="1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3"/>
            </a:solidFill>
            <a:prstDash val="solid"/>
            <a:miter/>
            <a:tailEnd type="triangle"/>
          </a:ln>
        </p:spPr>
      </p:cxnSp>
      <p:cxnSp>
        <p:nvCxnSpPr>
          <p:cNvPr id="94" name="直接箭头连接符 571"/>
          <p:cNvCxnSpPr/>
          <p:nvPr/>
        </p:nvCxnSpPr>
        <p:spPr>
          <a:xfrm xmlns:a="http://schemas.openxmlformats.org/drawingml/2006/main" rot="0" flipH="0" flipV="0">
            <a:off x="6925795" y="5554900"/>
            <a:ext cx="40880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6">
                <a:lumMod val="75000"/>
              </a:schemeClr>
            </a:solidFill>
            <a:prstDash val="solid"/>
            <a:miter/>
            <a:tailEnd type="triangle"/>
          </a:ln>
        </p:spPr>
      </p:cxnSp>
      <p:cxnSp>
        <p:nvCxnSpPr>
          <p:cNvPr id="95" name="直接箭头连接符 572"/>
          <p:cNvCxnSpPr/>
          <p:nvPr/>
        </p:nvCxnSpPr>
        <p:spPr>
          <a:xfrm xmlns:a="http://schemas.openxmlformats.org/drawingml/2006/main" rot="0" flipH="0" flipV="0">
            <a:off x="497468" y="5531663"/>
            <a:ext cx="360963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6">
                <a:lumMod val="75000"/>
              </a:schemeClr>
            </a:solidFill>
            <a:prstDash val="solid"/>
            <a:miter/>
            <a:tailEnd type="triangle"/>
          </a:ln>
        </p:spPr>
      </p:cxnSp>
      <p:cxnSp>
        <p:nvCxnSpPr>
          <p:cNvPr id="96" name="直接箭头连接符 573"/>
          <p:cNvCxnSpPr/>
          <p:nvPr/>
        </p:nvCxnSpPr>
        <p:spPr>
          <a:xfrm xmlns:a="http://schemas.openxmlformats.org/drawingml/2006/main" rot="0" flipH="1" flipV="0">
            <a:off x="497468" y="4831178"/>
            <a:ext cx="36096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3"/>
            </a:solidFill>
            <a:prstDash val="solid"/>
            <a:miter/>
            <a:tailEnd type="triangle"/>
          </a:ln>
        </p:spPr>
      </p:cxnSp>
      <p:sp>
        <p:nvSpPr>
          <p:cNvPr id="49" name="矩形 574">
            <a:extLst xmlns:a="http://schemas.openxmlformats.org/drawingml/2006/main">
              <a:ext uri="{FF2B5EF4-FFF2-40B4-BE49-F238E27FC236}">
                <a16:creationId xmlns:a16="http://schemas.microsoft.com/office/drawing/2014/main" id="{06BD8391-C3E8-46FC-A2B2-24CFF3DD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7993" y="4401285"/>
            <a:ext cx="564819" cy="2222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19050" cmpd="sng">
            <a:solidFill>
              <a:schemeClr val="tx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18">
              <a:buNone/>
            </a:pPr>
            <a:r>
              <a:rPr sz="800" b="1">
                <a:solidFill>
                  <a:schemeClr val="bg2">
                    <a:lumMod val="25000"/>
                  </a:schemeClr>
                </a:solidFill>
                <a:latin typeface="Arial"/>
                <a:ea typeface="Arial"/>
                <a:cs typeface="Arial"/>
              </a:rPr>
              <a:t>RR</a:t>
            </a:r>
          </a:p>
        </p:txBody>
      </p:sp>
      <p:cxnSp>
        <p:nvCxnSpPr>
          <p:cNvPr id="98" name="直接箭头连接符 575"/>
          <p:cNvCxnSpPr>
            <a:stCxn xmlns:a="http://schemas.openxmlformats.org/drawingml/2006/main" id="49" idx="0"/>
            <a:endCxn xmlns:a="http://schemas.openxmlformats.org/drawingml/2006/main" id="20" idx="2"/>
          </p:cNvCxnSpPr>
          <p:nvPr/>
        </p:nvCxnSpPr>
        <p:spPr>
          <a:xfrm xmlns:a="http://schemas.openxmlformats.org/drawingml/2006/main" rot="0" flipH="1" flipV="1">
            <a:off x="3964698" y="4153212"/>
            <a:ext cx="5706" cy="248073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tx1"/>
            </a:solidFill>
            <a:prstDash val="solid"/>
            <a:miter/>
            <a:tailEnd type="triangle"/>
          </a:ln>
        </p:spPr>
      </p:cxnSp>
      <p:sp>
        <p:nvSpPr>
          <p:cNvPr id="51" name="矩形 576">
            <a:extLst xmlns:a="http://schemas.openxmlformats.org/drawingml/2006/main">
              <a:ext uri="{FF2B5EF4-FFF2-40B4-BE49-F238E27FC236}">
                <a16:creationId xmlns:a16="http://schemas.microsoft.com/office/drawing/2014/main" id="{55314992-69FF-436F-8182-2AF81BF3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7174" y="2039902"/>
            <a:ext cx="6533831" cy="386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00206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18">
              <a:buNone/>
            </a:pPr>
            <a:endParaRPr sz="900" b="1" kern="0">
              <a:latin typeface="Arial"/>
              <a:ea typeface="Arial"/>
              <a:cs typeface="Arial"/>
            </a:endParaRPr>
          </a:p>
        </p:txBody>
      </p:sp>
      <p:sp>
        <p:nvSpPr>
          <p:cNvPr id="52" name="文本框 687">
            <a:extLst xmlns:a="http://schemas.openxmlformats.org/drawingml/2006/main">
              <a:ext uri="{FF2B5EF4-FFF2-40B4-BE49-F238E27FC236}">
                <a16:creationId xmlns:a16="http://schemas.microsoft.com/office/drawing/2014/main" id="{98BA39DF-CD61-4B34-8CE2-7F889DB9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7173" y="1991028"/>
            <a:ext cx="2248962" cy="35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latin typeface="Arial"/>
                <a:ea typeface="Arial"/>
                <a:cs typeface="Arial"/>
              </a:rPr>
              <a:t>Cross Station</a:t>
            </a:r>
            <a:endParaRPr sz="160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57118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arch-text-19">
            <a:extLst xmlns:a="http://schemas.openxmlformats.org/drawingml/2006/main">
              <a:ext uri="{FF2B5EF4-FFF2-40B4-BE49-F238E27FC236}">
                <a16:creationId xmlns:a16="http://schemas.microsoft.com/office/drawing/2014/main" id="{E6BC18F8-D586-45A2-838F-EEECEE1A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槽位池：环上容量如何申请与归还</a:t>
            </a:r>
          </a:p>
        </p:txBody>
      </p:sp>
      <p:sp>
        <p:nvSpPr>
          <p:cNvPr id="2" name="arch-text-20">
            <a:extLst xmlns:a="http://schemas.openxmlformats.org/drawingml/2006/main">
              <a:ext uri="{FF2B5EF4-FFF2-40B4-BE49-F238E27FC236}">
                <a16:creationId xmlns:a16="http://schemas.microsoft.com/office/drawing/2014/main" id="{08997C42-7D7D-4DCE-8F36-91C24AB0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槽位池（Slot Pool）按REQ、RSP、DAT子网及CW、CCW方向分别计数，不另存一份数据。</a:t>
            </a:r>
          </a:p>
        </p:txBody>
      </p:sp>
      <p:sp>
        <p:nvSpPr>
          <p:cNvPr id="3" name="arch-text-21">
            <a:extLst xmlns:a="http://schemas.openxmlformats.org/drawingml/2006/main">
              <a:ext uri="{FF2B5EF4-FFF2-40B4-BE49-F238E27FC236}">
                <a16:creationId xmlns:a16="http://schemas.microsoft.com/office/drawing/2014/main" id="{8FC7AD92-E2E7-4ADD-9F74-A709B21C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arch-text-22">
            <a:extLst xmlns:a="http://schemas.openxmlformats.org/drawingml/2006/main">
              <a:ext uri="{FF2B5EF4-FFF2-40B4-BE49-F238E27FC236}">
                <a16:creationId xmlns:a16="http://schemas.microsoft.com/office/drawing/2014/main" id="{2375179D-2709-4FA6-B670-65B7BDAE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90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普通注入与退出</a:t>
            </a:r>
          </a:p>
        </p:txBody>
      </p:sp>
      <p:sp>
        <p:nvSpPr>
          <p:cNvPr id="5" name="arch-diagram-23">
            <a:extLst xmlns:a="http://schemas.openxmlformats.org/drawingml/2006/main">
              <a:ext uri="{FF2B5EF4-FFF2-40B4-BE49-F238E27FC236}">
                <a16:creationId xmlns:a16="http://schemas.microsoft.com/office/drawing/2014/main" id="{4A53BB7E-2A9E-47C1-AC4B-A16C9065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86025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本地队首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等待注入</a:t>
            </a:r>
          </a:p>
        </p:txBody>
      </p:sp>
      <p:sp>
        <p:nvSpPr>
          <p:cNvPr id="6" name="arch-diagram-24">
            <a:extLst xmlns:a="http://schemas.openxmlformats.org/drawingml/2006/main">
              <a:ext uri="{FF2B5EF4-FFF2-40B4-BE49-F238E27FC236}">
                <a16:creationId xmlns:a16="http://schemas.microsoft.com/office/drawing/2014/main" id="{C7CA85D1-043A-43A6-8B07-A4190549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86025"/>
            <a:ext cx="1952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申请一个槽位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占用数加1</a:t>
            </a:r>
          </a:p>
        </p:txBody>
      </p:sp>
      <p:sp>
        <p:nvSpPr>
          <p:cNvPr id="7" name="arch-diagram-25">
            <a:extLst xmlns:a="http://schemas.openxmlformats.org/drawingml/2006/main">
              <a:ext uri="{FF2B5EF4-FFF2-40B4-BE49-F238E27FC236}">
                <a16:creationId xmlns:a16="http://schemas.microsoft.com/office/drawing/2014/main" id="{38F94645-649F-40CC-9532-381B3ECB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486025"/>
            <a:ext cx="1952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环上转发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占用保持</a:t>
            </a:r>
          </a:p>
        </p:txBody>
      </p: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95500" y="291941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10125" y="2919413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sp>
        <p:nvSpPr>
          <p:cNvPr id="10" name="arch-diagram-26">
            <a:extLst xmlns:a="http://schemas.openxmlformats.org/drawingml/2006/main">
              <a:ext uri="{FF2B5EF4-FFF2-40B4-BE49-F238E27FC236}">
                <a16:creationId xmlns:a16="http://schemas.microsoft.com/office/drawing/2014/main" id="{A23D7248-FC23-42E5-B64F-24D84D65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362450"/>
            <a:ext cx="1952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退出环网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无替换或保留</a:t>
            </a:r>
          </a:p>
        </p:txBody>
      </p:sp>
      <p:sp>
        <p:nvSpPr>
          <p:cNvPr id="11" name="arch-diagram-27">
            <a:extLst xmlns:a="http://schemas.openxmlformats.org/drawingml/2006/main">
              <a:ext uri="{FF2B5EF4-FFF2-40B4-BE49-F238E27FC236}">
                <a16:creationId xmlns:a16="http://schemas.microsoft.com/office/drawing/2014/main" id="{AE5F10DF-37B9-42F1-8CDF-0ED39E56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62450"/>
            <a:ext cx="1952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归还槽位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占用数减1</a:t>
            </a:r>
          </a:p>
        </p:txBody>
      </p:sp>
      <p:cxnSp>
        <p:nvCxnSpPr>
          <p:cNvPr id="45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567488" y="3352800"/>
            <a:ext cx="0" cy="1009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4810125" y="48482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8235"/>
            </a:solidFill>
            <a:tailEnd type="triangle" w="sm" len="sm"/>
          </a:ln>
        </p:spPr>
      </p:cxnSp>
      <p:sp>
        <p:nvSpPr>
          <p:cNvPr id="14" name="arch-text-28">
            <a:extLst xmlns:a="http://schemas.openxmlformats.org/drawingml/2006/main">
              <a:ext uri="{FF2B5EF4-FFF2-40B4-BE49-F238E27FC236}">
                <a16:creationId xmlns:a16="http://schemas.microsoft.com/office/drawing/2014/main" id="{01647A75-32CB-4955-B076-ED5F35EE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57600"/>
            <a:ext cx="7172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向链路提交失败：撤销申请，队首保留</a:t>
            </a:r>
          </a:p>
        </p:txBody>
      </p:sp>
      <p:sp>
        <p:nvSpPr>
          <p:cNvPr id="15" name="arch-text-29">
            <a:extLst xmlns:a="http://schemas.openxmlformats.org/drawingml/2006/main">
              <a:ext uri="{FF2B5EF4-FFF2-40B4-BE49-F238E27FC236}">
                <a16:creationId xmlns:a16="http://schemas.microsoft.com/office/drawing/2014/main" id="{9927F4FF-8A51-49F7-847F-596A1D55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769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原位替换：旧包退出、新包接替，占用数不变</a:t>
            </a:r>
          </a:p>
        </p:txBody>
      </p:sp>
      <p:sp>
        <p:nvSpPr>
          <p:cNvPr id="16" name="arch-text-30">
            <a:extLst xmlns:a="http://schemas.openxmlformats.org/drawingml/2006/main">
              <a:ext uri="{FF2B5EF4-FFF2-40B4-BE49-F238E27FC236}">
                <a16:creationId xmlns:a16="http://schemas.microsoft.com/office/drawing/2014/main" id="{C17836AD-7949-4853-B56C-0209B87B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19275"/>
            <a:ext cx="3552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容量来自模型存储位置</a:t>
            </a:r>
          </a:p>
        </p:txBody>
      </p:sp>
      <p:sp>
        <p:nvSpPr>
          <p:cNvPr id="17" name="arch-text-31">
            <a:extLst xmlns:a="http://schemas.openxmlformats.org/drawingml/2006/main">
              <a:ext uri="{FF2B5EF4-FFF2-40B4-BE49-F238E27FC236}">
                <a16:creationId xmlns:a16="http://schemas.microsoft.com/office/drawing/2014/main" id="{AA8903D8-8B89-457E-8059-9A172EE4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35528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单方向容量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= 节点数 ×（链路流水深度 + 1）</a:t>
            </a:r>
          </a:p>
        </p:txBody>
      </p:sp>
      <p:sp>
        <p:nvSpPr>
          <p:cNvPr id="18" name="arch-text-32">
            <a:extLst xmlns:a="http://schemas.openxmlformats.org/drawingml/2006/main">
              <a:ext uri="{FF2B5EF4-FFF2-40B4-BE49-F238E27FC236}">
                <a16:creationId xmlns:a16="http://schemas.microsoft.com/office/drawing/2014/main" id="{980E1B3D-1E41-462D-8173-4BE10797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29025"/>
            <a:ext cx="3552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始终保留一个空槽</a:t>
            </a:r>
          </a:p>
        </p:txBody>
      </p:sp>
      <p:sp>
        <p:nvSpPr>
          <p:cNvPr id="19" name="arch-text-33">
            <a:extLst xmlns:a="http://schemas.openxmlformats.org/drawingml/2006/main">
              <a:ext uri="{FF2B5EF4-FFF2-40B4-BE49-F238E27FC236}">
                <a16:creationId xmlns:a16="http://schemas.microsoft.com/office/drawing/2014/main" id="{F035C73C-115C-4D27-B019-BCCC62BB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5528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L为单跳传播延迟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流水深度 = max(1, L + 1)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5节点、L=1：容量15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普通申请最多占用14个</a:t>
            </a:r>
          </a:p>
        </p:txBody>
      </p:sp>
      <p:sp>
        <p:nvSpPr>
          <p:cNvPr id="20" name="arch-text-34">
            <a:extLst xmlns:a="http://schemas.openxmlformats.org/drawingml/2006/main">
              <a:ext uri="{FF2B5EF4-FFF2-40B4-BE49-F238E27FC236}">
                <a16:creationId xmlns:a16="http://schemas.microsoft.com/office/drawing/2014/main" id="{C0EA3523-826D-4FA8-8963-BBB55A83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81750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预留空槽为闭环反压传播保留空间。I/E-tag进一步处理注入机会和目的弹出容量。</a:t>
            </a:r>
          </a:p>
        </p:txBody>
      </p:sp>
    </p:spTree>
    <p:extLst>
      <p:ext uri="{BB962C8B-B14F-4D97-AF65-F5344CB8AC3E}">
        <p14:creationId xmlns:p14="http://schemas.microsoft.com/office/powerpoint/2010/main" val="9580304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50">
            <a:extLst xmlns:a="http://schemas.openxmlformats.org/drawingml/2006/main">
              <a:ext uri="{FF2B5EF4-FFF2-40B4-BE49-F238E27FC236}">
                <a16:creationId xmlns:a16="http://schemas.microsoft.com/office/drawing/2014/main" id="{C1CDF696-C0DA-432C-93EE-F51D7F8E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活性保护：注入与弹出分别保留机会</a:t>
            </a:r>
          </a:p>
        </p:txBody>
      </p:sp>
      <p:sp>
        <p:nvSpPr>
          <p:cNvPr id="3" name="share-51">
            <a:extLst xmlns:a="http://schemas.openxmlformats.org/drawingml/2006/main">
              <a:ext uri="{FF2B5EF4-FFF2-40B4-BE49-F238E27FC236}">
                <a16:creationId xmlns:a16="http://schemas.microsoft.com/office/drawing/2014/main" id="{7B0C9810-4957-4183-809B-D0208B84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有限槽位和有限队列下，局部等待可能持续影响环上的其他事务。</a:t>
            </a:r>
          </a:p>
        </p:txBody>
      </p:sp>
      <p:sp>
        <p:nvSpPr>
          <p:cNvPr id="4" name="share-52">
            <a:extLst xmlns:a="http://schemas.openxmlformats.org/drawingml/2006/main">
              <a:ext uri="{FF2B5EF4-FFF2-40B4-BE49-F238E27FC236}">
                <a16:creationId xmlns:a16="http://schemas.microsoft.com/office/drawing/2014/main" id="{2D9C740E-D395-4E84-B646-A6259A7A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3832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I-tag保护注入</a:t>
            </a:r>
          </a:p>
        </p:txBody>
      </p:sp>
      <p:sp>
        <p:nvSpPr>
          <p:cNvPr id="5" name="share-53">
            <a:extLst xmlns:a="http://schemas.openxmlformats.org/drawingml/2006/main">
              <a:ext uri="{FF2B5EF4-FFF2-40B4-BE49-F238E27FC236}">
                <a16:creationId xmlns:a16="http://schemas.microsoft.com/office/drawing/2014/main" id="{B9F5CB9F-CFA2-4470-BB7B-E59ED0D1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3952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槽位池（Slot Pool）分配失败时，为本地队首保留后续注入机会。</a:t>
            </a:r>
          </a:p>
        </p:txBody>
      </p:sp>
      <p:sp>
        <p:nvSpPr>
          <p:cNvPr id="6" name="share-54">
            <a:extLst xmlns:a="http://schemas.openxmlformats.org/drawingml/2006/main">
              <a:ext uri="{FF2B5EF4-FFF2-40B4-BE49-F238E27FC236}">
                <a16:creationId xmlns:a16="http://schemas.microsoft.com/office/drawing/2014/main" id="{E8F3F7DD-D952-4E50-8021-12AA85BF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3377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E-tag保护弹出</a:t>
            </a:r>
          </a:p>
        </p:txBody>
      </p:sp>
      <p:sp>
        <p:nvSpPr>
          <p:cNvPr id="7" name="share-55">
            <a:extLst xmlns:a="http://schemas.openxmlformats.org/drawingml/2006/main">
              <a:ext uri="{FF2B5EF4-FFF2-40B4-BE49-F238E27FC236}">
                <a16:creationId xmlns:a16="http://schemas.microsoft.com/office/drawing/2014/main" id="{D8C6D505-AC98-4FC8-BC83-8A0BB140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0"/>
            <a:ext cx="3952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目的队列满时，目标包继续绕行，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并保护返回时需要的弹出空间。</a:t>
            </a:r>
          </a:p>
        </p:txBody>
      </p:sp>
      <p:sp>
        <p:nvSpPr>
          <p:cNvPr id="8" name="share-56">
            <a:extLst xmlns:a="http://schemas.openxmlformats.org/drawingml/2006/main">
              <a:ext uri="{FF2B5EF4-FFF2-40B4-BE49-F238E27FC236}">
                <a16:creationId xmlns:a16="http://schemas.microsoft.com/office/drawing/2014/main" id="{3CDAC2C7-839A-4405-B3B6-4F3388E8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48250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图中的恢复过程</a:t>
            </a:r>
          </a:p>
        </p:txBody>
      </p:sp>
      <p:sp>
        <p:nvSpPr>
          <p:cNvPr id="9" name="share-57">
            <a:extLst xmlns:a="http://schemas.openxmlformats.org/drawingml/2006/main">
              <a:ext uri="{FF2B5EF4-FFF2-40B4-BE49-F238E27FC236}">
                <a16:creationId xmlns:a16="http://schemas.microsoft.com/office/drawing/2014/main" id="{CCE5853A-B532-4299-9B16-D21C8258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14975"/>
            <a:ext cx="3952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消费B1后释放弹出空间。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B6返回并弹出，A1接替槽位注入。</a:t>
            </a:r>
          </a:p>
        </p:txBody>
      </p:sp>
      <p:sp>
        <p:nvSpPr>
          <p:cNvPr id="10" name="share-58">
            <a:extLst xmlns:a="http://schemas.openxmlformats.org/drawingml/2006/main">
              <a:ext uri="{FF2B5EF4-FFF2-40B4-BE49-F238E27FC236}">
                <a16:creationId xmlns:a16="http://schemas.microsoft.com/office/drawing/2014/main" id="{BE8D5280-ACD1-4E19-8DAC-7F3B5B31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12" name="矩形 684">
            <a:extLst xmlns:a="http://schemas.openxmlformats.org/drawingml/2006/main">
              <a:ext uri="{FF2B5EF4-FFF2-40B4-BE49-F238E27FC236}">
                <a16:creationId xmlns:a16="http://schemas.microsoft.com/office/drawing/2014/main" id="{A88F28BB-5C43-4745-A34F-81A95325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085" y="2530657"/>
            <a:ext cx="6609047" cy="29951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9050" cmpd="sng">
            <a:solidFill>
              <a:srgbClr val="00206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18">
              <a:buNone/>
            </a:pPr>
            <a:endParaRPr sz="900" b="1" kern="0">
              <a:latin typeface="Arial"/>
              <a:ea typeface="Arial"/>
              <a:cs typeface="Arial"/>
            </a:endParaRPr>
          </a:p>
        </p:txBody>
      </p:sp>
      <p:sp>
        <p:nvSpPr>
          <p:cNvPr id="13" name="矩形 578">
            <a:extLst xmlns:a="http://schemas.openxmlformats.org/drawingml/2006/main">
              <a:ext uri="{FF2B5EF4-FFF2-40B4-BE49-F238E27FC236}">
                <a16:creationId xmlns:a16="http://schemas.microsoft.com/office/drawing/2014/main" id="{E148359F-FF01-4CBD-9CE9-7264D0CA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2986" y="4049229"/>
            <a:ext cx="1996995" cy="6274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D"/>
          </a:solidFill>
          <a:ln xmlns:a="http://schemas.openxmlformats.org/drawingml/2006/main" w="19050" cmpd="sng">
            <a:solidFill>
              <a:schemeClr val="tx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18">
              <a:buNone/>
            </a:pPr>
            <a:endParaRPr sz="900" b="1" kern="0">
              <a:latin typeface="Arial"/>
              <a:ea typeface="Arial"/>
              <a:cs typeface="Arial"/>
            </a:endParaRPr>
          </a:p>
        </p:txBody>
      </p:sp>
      <p:sp>
        <p:nvSpPr>
          <p:cNvPr id="14" name="矩形 579">
            <a:extLst xmlns:a="http://schemas.openxmlformats.org/drawingml/2006/main">
              <a:ext uri="{FF2B5EF4-FFF2-40B4-BE49-F238E27FC236}">
                <a16:creationId xmlns:a16="http://schemas.microsoft.com/office/drawing/2014/main" id="{360968C1-FF12-45D1-A606-35EB382D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6885" y="3319684"/>
            <a:ext cx="1996995" cy="6487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D"/>
          </a:solidFill>
          <a:ln xmlns:a="http://schemas.openxmlformats.org/drawingml/2006/main" w="19050" cmpd="sng">
            <a:solidFill>
              <a:schemeClr val="tx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18">
              <a:buNone/>
            </a:pPr>
            <a:endParaRPr sz="900" b="1" kern="0">
              <a:latin typeface="Arial"/>
              <a:ea typeface="Arial"/>
              <a:cs typeface="Arial"/>
            </a:endParaRPr>
          </a:p>
        </p:txBody>
      </p:sp>
      <p:sp>
        <p:nvSpPr>
          <p:cNvPr id="15" name="slide5-station-blocked">
            <a:extLst xmlns:a="http://schemas.openxmlformats.org/drawingml/2006/main">
              <a:ext uri="{FF2B5EF4-FFF2-40B4-BE49-F238E27FC236}">
                <a16:creationId xmlns:a16="http://schemas.microsoft.com/office/drawing/2014/main" id="{D0EE7D0C-680C-4AB1-85F1-52EBEE9C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1762" y="2665505"/>
            <a:ext cx="2827091" cy="2628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020"/>
            </a:solidFill>
            <a:prstDash val="dash"/>
          </a:ln>
        </p:spPr>
      </p:sp>
      <p:sp>
        <p:nvSpPr>
          <p:cNvPr id="16" name="slide5-anchor-e-tag-deflect-start">
            <a:extLst xmlns:a="http://schemas.openxmlformats.org/drawingml/2006/main">
              <a:ext uri="{FF2B5EF4-FFF2-40B4-BE49-F238E27FC236}">
                <a16:creationId xmlns:a16="http://schemas.microsoft.com/office/drawing/2014/main" id="{B46F10C5-7FAE-4060-B51E-7D14EBDB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5648" y="4284722"/>
            <a:ext cx="10298" cy="1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slide5-anchor-e-tag-deflect-output">
            <a:extLst xmlns:a="http://schemas.openxmlformats.org/drawingml/2006/main">
              <a:ext uri="{FF2B5EF4-FFF2-40B4-BE49-F238E27FC236}">
                <a16:creationId xmlns:a16="http://schemas.microsoft.com/office/drawing/2014/main" id="{968411E7-7D9F-4480-96A0-4E500B0D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1509" y="4060176"/>
            <a:ext cx="10298" cy="1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slide5-anchor-e-tag-blocked-3">
            <a:extLst xmlns:a="http://schemas.openxmlformats.org/drawingml/2006/main">
              <a:ext uri="{FF2B5EF4-FFF2-40B4-BE49-F238E27FC236}">
                <a16:creationId xmlns:a16="http://schemas.microsoft.com/office/drawing/2014/main" id="{95670100-E013-49F4-9167-DBFFDDBF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53003" y="5543382"/>
            <a:ext cx="10298" cy="1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slide5-anchor-e-tag-blocked-4">
            <a:extLst xmlns:a="http://schemas.openxmlformats.org/drawingml/2006/main">
              <a:ext uri="{FF2B5EF4-FFF2-40B4-BE49-F238E27FC236}">
                <a16:creationId xmlns:a16="http://schemas.microsoft.com/office/drawing/2014/main" id="{1B8FC857-F041-45DB-97FB-0EDB605A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5212" y="4684659"/>
            <a:ext cx="10298" cy="1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slide5-anchor-e-tag-blocked-5">
            <a:extLst xmlns:a="http://schemas.openxmlformats.org/drawingml/2006/main">
              <a:ext uri="{FF2B5EF4-FFF2-40B4-BE49-F238E27FC236}">
                <a16:creationId xmlns:a16="http://schemas.microsoft.com/office/drawing/2014/main" id="{A8477F04-28D7-4C0D-83CF-D2E03B3B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3993" y="4511619"/>
            <a:ext cx="10298" cy="1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5" name="slide5-e-tag-route-return-final"/>
          <p:cNvCxnSpPr>
            <a:stCxn xmlns:a="http://schemas.openxmlformats.org/drawingml/2006/main" id="27" idx="1"/>
            <a:endCxn xmlns:a="http://schemas.openxmlformats.org/drawingml/2006/main" id="55" idx="7"/>
          </p:cNvCxnSpPr>
          <p:nvPr/>
        </p:nvCxnSpPr>
        <p:spPr>
          <a:xfrm xmlns:a="http://schemas.openxmlformats.org/drawingml/2006/main" rot="0" flipH="1" flipV="0">
            <a:off x="1037765" y="3706135"/>
            <a:ext cx="498798" cy="21288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339AD"/>
            </a:solidFill>
            <a:prstDash val="dash"/>
            <a:tailEnd type="triangle" w="sm" len="sm"/>
          </a:ln>
        </p:spPr>
      </p:cxnSp>
      <p:sp>
        <p:nvSpPr>
          <p:cNvPr id="22" name="slide5-queue-label-blocked-inject">
            <a:extLst xmlns:a="http://schemas.openxmlformats.org/drawingml/2006/main">
              <a:ext uri="{FF2B5EF4-FFF2-40B4-BE49-F238E27FC236}">
                <a16:creationId xmlns:a16="http://schemas.microsoft.com/office/drawing/2014/main" id="{9D7A55C4-6DEC-4281-BEEF-7668EC62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0379" y="3294608"/>
            <a:ext cx="2934942" cy="175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303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latin typeface="Arial"/>
                <a:ea typeface="Arial"/>
                <a:cs typeface="Arial"/>
              </a:rPr>
              <a:t>Inject </a:t>
            </a:r>
            <a:r>
              <a:rPr sz="1200" b="1">
                <a:latin typeface="Arial"/>
                <a:ea typeface="Arial"/>
                <a:cs typeface="Arial"/>
              </a:rPr>
              <a:t>Queue</a:t>
            </a:r>
            <a:r>
              <a:rPr sz="1200" b="1">
                <a:latin typeface="Arial"/>
                <a:ea typeface="Arial"/>
                <a:cs typeface="Arial"/>
              </a:rPr>
              <a:t> · local</a:t>
            </a:r>
          </a:p>
        </p:txBody>
      </p:sp>
      <p:sp>
        <p:nvSpPr>
          <p:cNvPr id="23" name="slide5-queue-label-blocked-eject">
            <a:extLst xmlns:a="http://schemas.openxmlformats.org/drawingml/2006/main">
              <a:ext uri="{FF2B5EF4-FFF2-40B4-BE49-F238E27FC236}">
                <a16:creationId xmlns:a16="http://schemas.microsoft.com/office/drawing/2014/main" id="{2DBD2D6E-CA1A-4E6A-AADA-A1451CCA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3719" y="4418805"/>
            <a:ext cx="1794960" cy="175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03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latin typeface="Arial"/>
                <a:ea typeface="Arial"/>
                <a:cs typeface="Arial"/>
              </a:rPr>
              <a:t>Eject Queue · full</a:t>
            </a:r>
          </a:p>
        </p:txBody>
      </p:sp>
      <p:sp>
        <p:nvSpPr>
          <p:cNvPr id="24" name="slide5-blocked-marker">
            <a:extLst xmlns:a="http://schemas.openxmlformats.org/drawingml/2006/main">
              <a:ext uri="{FF2B5EF4-FFF2-40B4-BE49-F238E27FC236}">
                <a16:creationId xmlns:a16="http://schemas.microsoft.com/office/drawing/2014/main" id="{BEA14F5A-FBDE-456E-9846-7D48D14B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185" y="3634972"/>
            <a:ext cx="307411" cy="26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3261E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0000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5" name="slide5-queue-frame-blocked-inject">
            <a:extLst xmlns:a="http://schemas.openxmlformats.org/drawingml/2006/main">
              <a:ext uri="{FF2B5EF4-FFF2-40B4-BE49-F238E27FC236}">
                <a16:creationId xmlns:a16="http://schemas.microsoft.com/office/drawing/2014/main" id="{B812A1A3-28FB-4063-99DC-1BCAB386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1724" y="3534244"/>
            <a:ext cx="353998" cy="3506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26" name="slide5-flit-blocked-inject-0">
            <a:extLst xmlns:a="http://schemas.openxmlformats.org/drawingml/2006/main">
              <a:ext uri="{FF2B5EF4-FFF2-40B4-BE49-F238E27FC236}">
                <a16:creationId xmlns:a16="http://schemas.microsoft.com/office/drawing/2014/main" id="{EFCEA250-7D63-4DAE-A726-793B6D1A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0347" y="3572057"/>
            <a:ext cx="272452" cy="27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EA"/>
          </a:solidFill>
          <a:ln xmlns:a="http://schemas.openxmlformats.org/drawingml/2006/main" w="19050">
            <a:solidFill>
              <a:srgbClr val="4E87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600"/>
          </a:p>
        </p:txBody>
      </p:sp>
      <p:sp>
        <p:nvSpPr>
          <p:cNvPr id="27" name="slide5-label-flit-blocked-inject-1">
            <a:extLst xmlns:a="http://schemas.openxmlformats.org/drawingml/2006/main">
              <a:ext uri="{FF2B5EF4-FFF2-40B4-BE49-F238E27FC236}">
                <a16:creationId xmlns:a16="http://schemas.microsoft.com/office/drawing/2014/main" id="{874C3B3E-D620-43FF-A964-EEAFAC8C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36563" y="3623627"/>
            <a:ext cx="374591" cy="165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4E8735"/>
                </a:solidFill>
                <a:latin typeface="Arial"/>
                <a:ea typeface="Arial"/>
                <a:cs typeface="Arial"/>
              </a:rPr>
              <a:t>A</a:t>
            </a:r>
            <a:r>
              <a:rPr sz="1000" b="1">
                <a:solidFill>
                  <a:srgbClr val="4E8735"/>
                </a:solidFill>
                <a:latin typeface="Arial"/>
                <a:ea typeface="Arial"/>
                <a:cs typeface="Arial"/>
              </a:rPr>
              <a:t>1</a:t>
            </a:r>
            <a:endParaRPr sz="1000" b="1">
              <a:solidFill>
                <a:srgbClr val="4E873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lide5-queue-frame-blocked-inject">
            <a:extLst xmlns:a="http://schemas.openxmlformats.org/drawingml/2006/main">
              <a:ext uri="{FF2B5EF4-FFF2-40B4-BE49-F238E27FC236}">
                <a16:creationId xmlns:a16="http://schemas.microsoft.com/office/drawing/2014/main" id="{40E732EF-EB00-4B67-B301-98DB19A8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1421" y="3534244"/>
            <a:ext cx="353998" cy="3506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29" name="slide5-flit-blocked-inject-0">
            <a:extLst xmlns:a="http://schemas.openxmlformats.org/drawingml/2006/main">
              <a:ext uri="{FF2B5EF4-FFF2-40B4-BE49-F238E27FC236}">
                <a16:creationId xmlns:a16="http://schemas.microsoft.com/office/drawing/2014/main" id="{B83C493F-6E06-45D1-9000-2DC46837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30043" y="3572057"/>
            <a:ext cx="272452" cy="27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EA"/>
          </a:solidFill>
          <a:ln xmlns:a="http://schemas.openxmlformats.org/drawingml/2006/main" w="19050">
            <a:solidFill>
              <a:srgbClr val="4E87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600"/>
          </a:p>
        </p:txBody>
      </p:sp>
      <p:sp>
        <p:nvSpPr>
          <p:cNvPr id="30" name="slide5-label-flit-blocked-inject-1">
            <a:extLst xmlns:a="http://schemas.openxmlformats.org/drawingml/2006/main">
              <a:ext uri="{FF2B5EF4-FFF2-40B4-BE49-F238E27FC236}">
                <a16:creationId xmlns:a16="http://schemas.microsoft.com/office/drawing/2014/main" id="{59ACE1AF-B4E2-4DF4-9044-58340B25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86260" y="3623627"/>
            <a:ext cx="374591" cy="165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4E8735"/>
                </a:solidFill>
                <a:latin typeface="Arial"/>
                <a:ea typeface="Arial"/>
                <a:cs typeface="Arial"/>
              </a:rPr>
              <a:t>A</a:t>
            </a:r>
            <a:r>
              <a:rPr sz="1000" b="1">
                <a:solidFill>
                  <a:srgbClr val="4E8735"/>
                </a:solidFill>
                <a:latin typeface="Arial"/>
                <a:ea typeface="Arial"/>
                <a:cs typeface="Arial"/>
              </a:rPr>
              <a:t>2</a:t>
            </a:r>
            <a:endParaRPr sz="1000" b="1">
              <a:solidFill>
                <a:srgbClr val="4E873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lide5-queue-frame-blocked-inject">
            <a:extLst xmlns:a="http://schemas.openxmlformats.org/drawingml/2006/main">
              <a:ext uri="{FF2B5EF4-FFF2-40B4-BE49-F238E27FC236}">
                <a16:creationId xmlns:a16="http://schemas.microsoft.com/office/drawing/2014/main" id="{1D27E493-C32B-462C-AE54-12BD68C5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47156" y="3534244"/>
            <a:ext cx="353998" cy="3506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32" name="slide5-flit-blocked-inject-0">
            <a:extLst xmlns:a="http://schemas.openxmlformats.org/drawingml/2006/main">
              <a:ext uri="{FF2B5EF4-FFF2-40B4-BE49-F238E27FC236}">
                <a16:creationId xmlns:a16="http://schemas.microsoft.com/office/drawing/2014/main" id="{62320932-4676-4CC9-81CA-C3B173F6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85778" y="3572057"/>
            <a:ext cx="272452" cy="27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EA"/>
          </a:solidFill>
          <a:ln xmlns:a="http://schemas.openxmlformats.org/drawingml/2006/main" w="19050">
            <a:solidFill>
              <a:srgbClr val="4E87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600"/>
          </a:p>
        </p:txBody>
      </p:sp>
      <p:sp>
        <p:nvSpPr>
          <p:cNvPr id="33" name="slide5-label-flit-blocked-inject-1">
            <a:extLst xmlns:a="http://schemas.openxmlformats.org/drawingml/2006/main">
              <a:ext uri="{FF2B5EF4-FFF2-40B4-BE49-F238E27FC236}">
                <a16:creationId xmlns:a16="http://schemas.microsoft.com/office/drawing/2014/main" id="{76929ACA-1FD5-4DBF-98F4-8D58DBF3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41995" y="3623627"/>
            <a:ext cx="374591" cy="165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4E8735"/>
                </a:solidFill>
                <a:latin typeface="Arial"/>
                <a:ea typeface="Arial"/>
                <a:cs typeface="Arial"/>
              </a:rPr>
              <a:t>A</a:t>
            </a:r>
            <a:r>
              <a:rPr sz="1000" b="1">
                <a:solidFill>
                  <a:srgbClr val="4E8735"/>
                </a:solidFill>
                <a:latin typeface="Arial"/>
                <a:ea typeface="Arial"/>
                <a:cs typeface="Arial"/>
              </a:rPr>
              <a:t>3</a:t>
            </a:r>
            <a:endParaRPr sz="1000" b="1">
              <a:solidFill>
                <a:srgbClr val="4E873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slide5-queue-frame-blocked-inject">
            <a:extLst xmlns:a="http://schemas.openxmlformats.org/drawingml/2006/main">
              <a:ext uri="{FF2B5EF4-FFF2-40B4-BE49-F238E27FC236}">
                <a16:creationId xmlns:a16="http://schemas.microsoft.com/office/drawing/2014/main" id="{35FF41A8-CBF3-49CF-803F-24A6C88B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96853" y="3534244"/>
            <a:ext cx="353998" cy="3506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35" name="slide5-flit-blocked-inject-0">
            <a:extLst xmlns:a="http://schemas.openxmlformats.org/drawingml/2006/main">
              <a:ext uri="{FF2B5EF4-FFF2-40B4-BE49-F238E27FC236}">
                <a16:creationId xmlns:a16="http://schemas.microsoft.com/office/drawing/2014/main" id="{AE547027-8CD9-4CF8-8DF3-7A4904D1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35475" y="3572057"/>
            <a:ext cx="272452" cy="27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EA"/>
          </a:solidFill>
          <a:ln xmlns:a="http://schemas.openxmlformats.org/drawingml/2006/main" w="19050">
            <a:solidFill>
              <a:srgbClr val="4E87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600"/>
          </a:p>
        </p:txBody>
      </p:sp>
      <p:sp>
        <p:nvSpPr>
          <p:cNvPr id="36" name="slide5-label-flit-blocked-inject-1">
            <a:extLst xmlns:a="http://schemas.openxmlformats.org/drawingml/2006/main">
              <a:ext uri="{FF2B5EF4-FFF2-40B4-BE49-F238E27FC236}">
                <a16:creationId xmlns:a16="http://schemas.microsoft.com/office/drawing/2014/main" id="{46A3CB33-CF30-4195-899F-FEBC73CC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91691" y="3623627"/>
            <a:ext cx="374591" cy="165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4E8735"/>
                </a:solidFill>
                <a:latin typeface="Arial"/>
                <a:ea typeface="Arial"/>
                <a:cs typeface="Arial"/>
              </a:rPr>
              <a:t>A</a:t>
            </a:r>
            <a:r>
              <a:rPr sz="1000" b="1">
                <a:solidFill>
                  <a:srgbClr val="4E8735"/>
                </a:solidFill>
                <a:latin typeface="Arial"/>
                <a:ea typeface="Arial"/>
                <a:cs typeface="Arial"/>
              </a:rPr>
              <a:t>4</a:t>
            </a:r>
            <a:endParaRPr sz="1000" b="1">
              <a:solidFill>
                <a:srgbClr val="4E873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lide5-queue-frame-blocked-inject">
            <a:extLst xmlns:a="http://schemas.openxmlformats.org/drawingml/2006/main">
              <a:ext uri="{FF2B5EF4-FFF2-40B4-BE49-F238E27FC236}">
                <a16:creationId xmlns:a16="http://schemas.microsoft.com/office/drawing/2014/main" id="{4BACD5AF-0478-4938-8A7C-38D7D056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50861" y="3534244"/>
            <a:ext cx="353998" cy="3506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38" name="slide5-flit-blocked-inject-0">
            <a:extLst xmlns:a="http://schemas.openxmlformats.org/drawingml/2006/main">
              <a:ext uri="{FF2B5EF4-FFF2-40B4-BE49-F238E27FC236}">
                <a16:creationId xmlns:a16="http://schemas.microsoft.com/office/drawing/2014/main" id="{6D134BDA-9A7E-4864-8FED-A5CFE2B0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89483" y="3572057"/>
            <a:ext cx="272452" cy="27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EA"/>
          </a:solidFill>
          <a:ln xmlns:a="http://schemas.openxmlformats.org/drawingml/2006/main" w="19050">
            <a:solidFill>
              <a:srgbClr val="4E87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600"/>
          </a:p>
        </p:txBody>
      </p:sp>
      <p:sp>
        <p:nvSpPr>
          <p:cNvPr id="39" name="slide5-label-flit-blocked-inject-1">
            <a:extLst xmlns:a="http://schemas.openxmlformats.org/drawingml/2006/main">
              <a:ext uri="{FF2B5EF4-FFF2-40B4-BE49-F238E27FC236}">
                <a16:creationId xmlns:a16="http://schemas.microsoft.com/office/drawing/2014/main" id="{AB60A485-B6DF-4823-8353-8FBCC635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45700" y="3623627"/>
            <a:ext cx="374591" cy="165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4E8735"/>
                </a:solidFill>
                <a:latin typeface="Arial"/>
                <a:ea typeface="Arial"/>
                <a:cs typeface="Arial"/>
              </a:rPr>
              <a:t>A</a:t>
            </a:r>
            <a:r>
              <a:rPr sz="1000" b="1">
                <a:solidFill>
                  <a:srgbClr val="4E8735"/>
                </a:solidFill>
                <a:latin typeface="Arial"/>
                <a:ea typeface="Arial"/>
                <a:cs typeface="Arial"/>
              </a:rPr>
              <a:t>5</a:t>
            </a:r>
            <a:endParaRPr sz="1000" b="1">
              <a:solidFill>
                <a:srgbClr val="4E873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lide5-queue-frame-blocked-inject">
            <a:extLst xmlns:a="http://schemas.openxmlformats.org/drawingml/2006/main">
              <a:ext uri="{FF2B5EF4-FFF2-40B4-BE49-F238E27FC236}">
                <a16:creationId xmlns:a16="http://schemas.microsoft.com/office/drawing/2014/main" id="{BF24886F-B298-4B11-93F1-B08C2946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8800" y="4131737"/>
            <a:ext cx="353998" cy="3506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41" name="slide5-flit-blocked-inject-0">
            <a:extLst xmlns:a="http://schemas.openxmlformats.org/drawingml/2006/main">
              <a:ext uri="{FF2B5EF4-FFF2-40B4-BE49-F238E27FC236}">
                <a16:creationId xmlns:a16="http://schemas.microsoft.com/office/drawing/2014/main" id="{1669FB8B-D5F8-471C-B4D6-855C7D28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37423" y="4169550"/>
            <a:ext cx="272452" cy="27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A"/>
          </a:solidFill>
          <a:ln xmlns:a="http://schemas.openxmlformats.org/drawingml/2006/main" w="19050">
            <a:solidFill>
              <a:schemeClr val="accent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600"/>
          </a:p>
        </p:txBody>
      </p:sp>
      <p:sp>
        <p:nvSpPr>
          <p:cNvPr id="42" name="slide5-label-flit-blocked-inject-1">
            <a:extLst xmlns:a="http://schemas.openxmlformats.org/drawingml/2006/main">
              <a:ext uri="{FF2B5EF4-FFF2-40B4-BE49-F238E27FC236}">
                <a16:creationId xmlns:a16="http://schemas.microsoft.com/office/drawing/2014/main" id="{85EBCA94-8DED-4EDE-ABA6-6168645F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3639" y="4221119"/>
            <a:ext cx="374591" cy="165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D86A25"/>
                </a:solidFill>
                <a:latin typeface="Arial"/>
                <a:ea typeface="Arial"/>
                <a:cs typeface="Arial"/>
              </a:rPr>
              <a:t>B5</a:t>
            </a:r>
            <a:endParaRPr sz="1000" b="1">
              <a:solidFill>
                <a:srgbClr val="D86A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lide5-queue-frame-blocked-inject">
            <a:extLst xmlns:a="http://schemas.openxmlformats.org/drawingml/2006/main">
              <a:ext uri="{FF2B5EF4-FFF2-40B4-BE49-F238E27FC236}">
                <a16:creationId xmlns:a16="http://schemas.microsoft.com/office/drawing/2014/main" id="{CAB78D7B-E6F3-4E55-B9ED-AB3DA42C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48497" y="4131737"/>
            <a:ext cx="353998" cy="3506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44" name="slide5-flit-blocked-inject-0">
            <a:extLst xmlns:a="http://schemas.openxmlformats.org/drawingml/2006/main">
              <a:ext uri="{FF2B5EF4-FFF2-40B4-BE49-F238E27FC236}">
                <a16:creationId xmlns:a16="http://schemas.microsoft.com/office/drawing/2014/main" id="{FB748746-2E96-4912-AFB1-95A816AD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87119" y="4169550"/>
            <a:ext cx="272452" cy="27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A"/>
          </a:solidFill>
          <a:ln xmlns:a="http://schemas.openxmlformats.org/drawingml/2006/main" w="19050">
            <a:solidFill>
              <a:schemeClr val="accent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600"/>
          </a:p>
        </p:txBody>
      </p:sp>
      <p:sp>
        <p:nvSpPr>
          <p:cNvPr id="45" name="slide5-label-flit-blocked-inject-1">
            <a:extLst xmlns:a="http://schemas.openxmlformats.org/drawingml/2006/main">
              <a:ext uri="{FF2B5EF4-FFF2-40B4-BE49-F238E27FC236}">
                <a16:creationId xmlns:a16="http://schemas.microsoft.com/office/drawing/2014/main" id="{F14BBC23-EC3D-4085-B737-BB6CE725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43336" y="4221119"/>
            <a:ext cx="374591" cy="165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D86A25"/>
                </a:solidFill>
                <a:latin typeface="Arial"/>
                <a:ea typeface="Arial"/>
                <a:cs typeface="Arial"/>
              </a:rPr>
              <a:t>B4</a:t>
            </a:r>
            <a:endParaRPr sz="1000" b="1">
              <a:solidFill>
                <a:srgbClr val="D86A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slide5-queue-frame-blocked-inject">
            <a:extLst xmlns:a="http://schemas.openxmlformats.org/drawingml/2006/main">
              <a:ext uri="{FF2B5EF4-FFF2-40B4-BE49-F238E27FC236}">
                <a16:creationId xmlns:a16="http://schemas.microsoft.com/office/drawing/2014/main" id="{54312FB8-E497-4FBA-84A6-7F91A517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04232" y="4131737"/>
            <a:ext cx="353998" cy="3506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47" name="slide5-flit-blocked-inject-0">
            <a:extLst xmlns:a="http://schemas.openxmlformats.org/drawingml/2006/main">
              <a:ext uri="{FF2B5EF4-FFF2-40B4-BE49-F238E27FC236}">
                <a16:creationId xmlns:a16="http://schemas.microsoft.com/office/drawing/2014/main" id="{AE67E855-29B7-4CBB-BC40-B1094B73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42854" y="4169550"/>
            <a:ext cx="272452" cy="27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A"/>
          </a:solidFill>
          <a:ln xmlns:a="http://schemas.openxmlformats.org/drawingml/2006/main" w="19050">
            <a:solidFill>
              <a:schemeClr val="accent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600"/>
          </a:p>
        </p:txBody>
      </p:sp>
      <p:sp>
        <p:nvSpPr>
          <p:cNvPr id="48" name="slide5-label-flit-blocked-inject-1">
            <a:extLst xmlns:a="http://schemas.openxmlformats.org/drawingml/2006/main">
              <a:ext uri="{FF2B5EF4-FFF2-40B4-BE49-F238E27FC236}">
                <a16:creationId xmlns:a16="http://schemas.microsoft.com/office/drawing/2014/main" id="{9808B2EB-5A73-49C2-A437-C8173586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99070" y="4221119"/>
            <a:ext cx="374591" cy="165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D86A25"/>
                </a:solidFill>
                <a:latin typeface="Arial"/>
                <a:ea typeface="Arial"/>
                <a:cs typeface="Arial"/>
              </a:rPr>
              <a:t>B3</a:t>
            </a:r>
            <a:endParaRPr sz="1000" b="1">
              <a:solidFill>
                <a:srgbClr val="D86A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lide5-queue-frame-blocked-inject">
            <a:extLst xmlns:a="http://schemas.openxmlformats.org/drawingml/2006/main">
              <a:ext uri="{FF2B5EF4-FFF2-40B4-BE49-F238E27FC236}">
                <a16:creationId xmlns:a16="http://schemas.microsoft.com/office/drawing/2014/main" id="{B4AE5649-59B5-47B5-8C8B-35075283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53929" y="4131737"/>
            <a:ext cx="353998" cy="3506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50" name="slide5-flit-blocked-inject-0">
            <a:extLst xmlns:a="http://schemas.openxmlformats.org/drawingml/2006/main">
              <a:ext uri="{FF2B5EF4-FFF2-40B4-BE49-F238E27FC236}">
                <a16:creationId xmlns:a16="http://schemas.microsoft.com/office/drawing/2014/main" id="{E2B21476-153F-4398-9D52-1C915957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92551" y="4169550"/>
            <a:ext cx="272452" cy="27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A"/>
          </a:solidFill>
          <a:ln xmlns:a="http://schemas.openxmlformats.org/drawingml/2006/main" w="19050">
            <a:solidFill>
              <a:schemeClr val="accent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600"/>
          </a:p>
        </p:txBody>
      </p:sp>
      <p:sp>
        <p:nvSpPr>
          <p:cNvPr id="51" name="slide5-label-flit-blocked-inject-1">
            <a:extLst xmlns:a="http://schemas.openxmlformats.org/drawingml/2006/main">
              <a:ext uri="{FF2B5EF4-FFF2-40B4-BE49-F238E27FC236}">
                <a16:creationId xmlns:a16="http://schemas.microsoft.com/office/drawing/2014/main" id="{125DF7FD-570D-4238-B2AF-D8EABDBA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48767" y="4221119"/>
            <a:ext cx="374591" cy="165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D86A25"/>
                </a:solidFill>
                <a:latin typeface="Arial"/>
                <a:ea typeface="Arial"/>
                <a:cs typeface="Arial"/>
              </a:rPr>
              <a:t>B2</a:t>
            </a:r>
            <a:endParaRPr sz="1000" b="1">
              <a:solidFill>
                <a:srgbClr val="D86A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lide5-queue-frame-blocked-inject">
            <a:extLst xmlns:a="http://schemas.openxmlformats.org/drawingml/2006/main">
              <a:ext uri="{FF2B5EF4-FFF2-40B4-BE49-F238E27FC236}">
                <a16:creationId xmlns:a16="http://schemas.microsoft.com/office/drawing/2014/main" id="{07F15048-30BE-4151-A659-14DAC441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07937" y="4131737"/>
            <a:ext cx="353998" cy="3506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53" name="slide5-flit-blocked-inject-0">
            <a:extLst xmlns:a="http://schemas.openxmlformats.org/drawingml/2006/main">
              <a:ext uri="{FF2B5EF4-FFF2-40B4-BE49-F238E27FC236}">
                <a16:creationId xmlns:a16="http://schemas.microsoft.com/office/drawing/2014/main" id="{96213142-C8DD-48FE-A02A-4F55C578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46559" y="4169550"/>
            <a:ext cx="272452" cy="27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A"/>
          </a:solidFill>
          <a:ln xmlns:a="http://schemas.openxmlformats.org/drawingml/2006/main" w="19050">
            <a:solidFill>
              <a:schemeClr val="accent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600"/>
          </a:p>
        </p:txBody>
      </p:sp>
      <p:sp>
        <p:nvSpPr>
          <p:cNvPr id="54" name="slide5-label-flit-blocked-inject-1">
            <a:extLst xmlns:a="http://schemas.openxmlformats.org/drawingml/2006/main">
              <a:ext uri="{FF2B5EF4-FFF2-40B4-BE49-F238E27FC236}">
                <a16:creationId xmlns:a16="http://schemas.microsoft.com/office/drawing/2014/main" id="{834DF9B5-34BF-487A-9DC5-BB7B3478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02776" y="4221119"/>
            <a:ext cx="374591" cy="165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D86A25"/>
                </a:solidFill>
                <a:latin typeface="Arial"/>
                <a:ea typeface="Arial"/>
                <a:cs typeface="Arial"/>
              </a:rPr>
              <a:t>B1</a:t>
            </a:r>
            <a:endParaRPr sz="1000" b="1">
              <a:solidFill>
                <a:srgbClr val="D86A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slide5-flit-blocked-inject-0">
            <a:extLst xmlns:a="http://schemas.openxmlformats.org/drawingml/2006/main">
              <a:ext uri="{FF2B5EF4-FFF2-40B4-BE49-F238E27FC236}">
                <a16:creationId xmlns:a16="http://schemas.microsoft.com/office/drawing/2014/main" id="{DE250A7C-F9C1-4610-9BD2-4A634AF8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5213" y="3879055"/>
            <a:ext cx="272452" cy="27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1905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600"/>
          </a:p>
        </p:txBody>
      </p:sp>
      <p:sp>
        <p:nvSpPr>
          <p:cNvPr id="56" name="slide5-label-flit-blocked-inject-1">
            <a:extLst xmlns:a="http://schemas.openxmlformats.org/drawingml/2006/main">
              <a:ext uri="{FF2B5EF4-FFF2-40B4-BE49-F238E27FC236}">
                <a16:creationId xmlns:a16="http://schemas.microsoft.com/office/drawing/2014/main" id="{C86D2013-D66E-4AFF-9AE7-FF0D176C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143" y="3932977"/>
            <a:ext cx="374591" cy="165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B6</a:t>
            </a:r>
            <a:endParaRPr sz="10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71" name="slide5-e-tag-route-return-final"/>
          <p:cNvCxnSpPr>
            <a:stCxn xmlns:a="http://schemas.openxmlformats.org/drawingml/2006/main" id="55" idx="5"/>
            <a:endCxn xmlns:a="http://schemas.openxmlformats.org/drawingml/2006/main" id="41" idx="2"/>
          </p:cNvCxnSpPr>
          <p:nvPr/>
        </p:nvCxnSpPr>
        <p:spPr>
          <a:xfrm xmlns:a="http://schemas.openxmlformats.org/drawingml/2006/main" rot="0" flipH="0" flipV="0">
            <a:off x="1037765" y="4111956"/>
            <a:ext cx="499657" cy="19402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339AD"/>
            </a:solidFill>
            <a:prstDash val="dash"/>
            <a:tailEnd type="triangle" w="sm" len="sm"/>
          </a:ln>
        </p:spPr>
      </p:cxnSp>
      <p:sp>
        <p:nvSpPr>
          <p:cNvPr id="58" name="slide5-blocked-marker">
            <a:extLst xmlns:a="http://schemas.openxmlformats.org/drawingml/2006/main">
              <a:ext uri="{FF2B5EF4-FFF2-40B4-BE49-F238E27FC236}">
                <a16:creationId xmlns:a16="http://schemas.microsoft.com/office/drawing/2014/main" id="{586F3A0D-6726-47C8-9179-B0D56888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6006" y="3992282"/>
            <a:ext cx="307411" cy="26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3261E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0000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cxnSp>
        <p:nvCxnSpPr>
          <p:cNvPr id="173" name="直接箭头连接符 624"/>
          <p:cNvCxnSpPr>
            <a:stCxn xmlns:a="http://schemas.openxmlformats.org/drawingml/2006/main" id="62" idx="4"/>
            <a:endCxn xmlns:a="http://schemas.openxmlformats.org/drawingml/2006/main" id="55" idx="0"/>
          </p:cNvCxnSpPr>
          <p:nvPr/>
        </p:nvCxnSpPr>
        <p:spPr>
          <a:xfrm xmlns:a="http://schemas.openxmlformats.org/drawingml/2006/main" rot="0" flipH="1" flipV="0">
            <a:off x="941439" y="3111527"/>
            <a:ext cx="6642" cy="767527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6">
                <a:lumMod val="50000"/>
              </a:schemeClr>
            </a:solidFill>
            <a:prstDash val="solid"/>
            <a:miter/>
            <a:tailEnd type="triangle"/>
          </a:ln>
        </p:spPr>
      </p:cxnSp>
      <p:sp>
        <p:nvSpPr>
          <p:cNvPr id="60" name="slide4-node-interface">
            <a:extLst xmlns:a="http://schemas.openxmlformats.org/drawingml/2006/main">
              <a:ext uri="{FF2B5EF4-FFF2-40B4-BE49-F238E27FC236}">
                <a16:creationId xmlns:a16="http://schemas.microsoft.com/office/drawing/2014/main" id="{2EB7C66A-5609-4ADC-B773-04EDF7F8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0786" y="2796563"/>
            <a:ext cx="2676387" cy="369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0565E"/>
            </a:solidFill>
            <a:prstDash val="dash"/>
          </a:ln>
        </p:spPr>
      </p:sp>
      <p:sp>
        <p:nvSpPr>
          <p:cNvPr id="61" name="文本框 626">
            <a:extLst xmlns:a="http://schemas.openxmlformats.org/drawingml/2006/main">
              <a:ext uri="{FF2B5EF4-FFF2-40B4-BE49-F238E27FC236}">
                <a16:creationId xmlns:a16="http://schemas.microsoft.com/office/drawing/2014/main" id="{CDE7530D-5D3E-4CBD-8A5C-A04177B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58193" y="2837584"/>
            <a:ext cx="1012964" cy="2999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latin typeface="Arial"/>
                <a:ea typeface="Arial"/>
                <a:cs typeface="Arial"/>
              </a:rPr>
              <a:t>CS N-1</a:t>
            </a:r>
            <a:endParaRPr sz="1600">
              <a:latin typeface="Arial"/>
              <a:ea typeface="Arial"/>
              <a:cs typeface="Arial"/>
            </a:endParaRPr>
          </a:p>
        </p:txBody>
      </p:sp>
      <p:sp>
        <p:nvSpPr>
          <p:cNvPr id="62" name="slide5-flit-blocked-inject-0">
            <a:extLst xmlns:a="http://schemas.openxmlformats.org/drawingml/2006/main">
              <a:ext uri="{FF2B5EF4-FFF2-40B4-BE49-F238E27FC236}">
                <a16:creationId xmlns:a16="http://schemas.microsoft.com/office/drawing/2014/main" id="{B4C25D35-9650-4097-B0AB-15120BAB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855" y="2838666"/>
            <a:ext cx="272452" cy="27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1905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600"/>
          </a:p>
        </p:txBody>
      </p:sp>
      <p:sp>
        <p:nvSpPr>
          <p:cNvPr id="63" name="slide5-label-flit-blocked-inject-1">
            <a:extLst xmlns:a="http://schemas.openxmlformats.org/drawingml/2006/main">
              <a:ext uri="{FF2B5EF4-FFF2-40B4-BE49-F238E27FC236}">
                <a16:creationId xmlns:a16="http://schemas.microsoft.com/office/drawing/2014/main" id="{20BA3DB6-24F7-4EE2-BB8A-CFF5868D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0786" y="2892589"/>
            <a:ext cx="374591" cy="165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C </a:t>
            </a:r>
            <a:endParaRPr sz="10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slide4-node-interface">
            <a:extLst xmlns:a="http://schemas.openxmlformats.org/drawingml/2006/main">
              <a:ext uri="{FF2B5EF4-FFF2-40B4-BE49-F238E27FC236}">
                <a16:creationId xmlns:a16="http://schemas.microsoft.com/office/drawing/2014/main" id="{7DD8BB59-9240-4405-AFBE-D92E674C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143" y="4852542"/>
            <a:ext cx="2676387" cy="369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0565E"/>
            </a:solidFill>
            <a:prstDash val="dash"/>
          </a:ln>
        </p:spPr>
      </p:sp>
      <p:sp>
        <p:nvSpPr>
          <p:cNvPr id="65" name="文本框 630">
            <a:extLst xmlns:a="http://schemas.openxmlformats.org/drawingml/2006/main">
              <a:ext uri="{FF2B5EF4-FFF2-40B4-BE49-F238E27FC236}">
                <a16:creationId xmlns:a16="http://schemas.microsoft.com/office/drawing/2014/main" id="{85319E0C-0022-475D-BF28-4951FE2A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51551" y="4893563"/>
            <a:ext cx="1012964" cy="2999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latin typeface="Arial"/>
                <a:ea typeface="Arial"/>
                <a:cs typeface="Arial"/>
              </a:rPr>
              <a:t>CS N+1</a:t>
            </a:r>
            <a:endParaRPr sz="1600">
              <a:latin typeface="Arial"/>
              <a:ea typeface="Arial"/>
              <a:cs typeface="Arial"/>
            </a:endParaRPr>
          </a:p>
        </p:txBody>
      </p:sp>
      <p:sp>
        <p:nvSpPr>
          <p:cNvPr id="66" name="slide5-flit-blocked-inject-0">
            <a:extLst xmlns:a="http://schemas.openxmlformats.org/drawingml/2006/main">
              <a:ext uri="{FF2B5EF4-FFF2-40B4-BE49-F238E27FC236}">
                <a16:creationId xmlns:a16="http://schemas.microsoft.com/office/drawing/2014/main" id="{255FB70B-14EE-4605-8DF3-4653498E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5213" y="4894645"/>
            <a:ext cx="272452" cy="27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1905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600"/>
          </a:p>
        </p:txBody>
      </p:sp>
      <p:sp>
        <p:nvSpPr>
          <p:cNvPr id="67" name="slide5-label-flit-blocked-inject-1">
            <a:extLst xmlns:a="http://schemas.openxmlformats.org/drawingml/2006/main">
              <a:ext uri="{FF2B5EF4-FFF2-40B4-BE49-F238E27FC236}">
                <a16:creationId xmlns:a16="http://schemas.microsoft.com/office/drawing/2014/main" id="{2A6E132B-D683-42B8-B8A7-42436C0B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0786" y="4956526"/>
            <a:ext cx="374591" cy="165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D </a:t>
            </a:r>
            <a:endParaRPr sz="10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82" name="直接箭头连接符 633"/>
          <p:cNvCxnSpPr>
            <a:stCxn xmlns:a="http://schemas.openxmlformats.org/drawingml/2006/main" id="55" idx="4"/>
            <a:endCxn xmlns:a="http://schemas.openxmlformats.org/drawingml/2006/main" id="66" idx="0"/>
          </p:cNvCxnSpPr>
          <p:nvPr/>
        </p:nvCxnSpPr>
        <p:spPr>
          <a:xfrm xmlns:a="http://schemas.openxmlformats.org/drawingml/2006/main" rot="0" flipH="0" flipV="0">
            <a:off x="941439" y="4151916"/>
            <a:ext cx="0" cy="742729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6">
                <a:lumMod val="50000"/>
              </a:schemeClr>
            </a:solidFill>
            <a:prstDash val="solid"/>
            <a:miter/>
            <a:tailEnd type="triangle"/>
          </a:ln>
        </p:spPr>
      </p:cxnSp>
      <p:sp>
        <p:nvSpPr>
          <p:cNvPr id="69" name="B5 tag mark">
            <a:extLst xmlns:a="http://schemas.openxmlformats.org/drawingml/2006/main">
              <a:ext uri="{FF2B5EF4-FFF2-40B4-BE49-F238E27FC236}">
                <a16:creationId xmlns:a16="http://schemas.microsoft.com/office/drawing/2014/main" id="{BAD901DB-50B4-4449-BA94-89E85812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4184" y="4910190"/>
            <a:ext cx="576690" cy="211861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rPr>
              <a:t>E-tag</a:t>
            </a:r>
          </a:p>
        </p:txBody>
      </p:sp>
      <p:cxnSp>
        <p:nvCxnSpPr>
          <p:cNvPr id="184" name="slide5-e-tag-route-return-final"/>
          <p:cNvCxnSpPr>
            <a:stCxn xmlns:a="http://schemas.openxmlformats.org/drawingml/2006/main" id="41" idx="4"/>
            <a:endCxn xmlns:a="http://schemas.openxmlformats.org/drawingml/2006/main" id="69" idx="0"/>
          </p:cNvCxnSpPr>
          <p:nvPr/>
        </p:nvCxnSpPr>
        <p:spPr>
          <a:xfrm xmlns:a="http://schemas.openxmlformats.org/drawingml/2006/main" rot="0" flipH="1" flipV="0">
            <a:off x="1612530" y="4442411"/>
            <a:ext cx="61119" cy="46777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339AD"/>
            </a:solidFill>
            <a:prstDash val="solid"/>
            <a:tailEnd type="triangle" w="sm" len="sm"/>
          </a:ln>
        </p:spPr>
      </p:cxnSp>
      <p:sp>
        <p:nvSpPr>
          <p:cNvPr id="71" name="B5 tag mark">
            <a:extLst xmlns:a="http://schemas.openxmlformats.org/drawingml/2006/main">
              <a:ext uri="{FF2B5EF4-FFF2-40B4-BE49-F238E27FC236}">
                <a16:creationId xmlns:a16="http://schemas.microsoft.com/office/drawing/2014/main" id="{42AB07DC-7820-4DA8-AD9E-8F9A067A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6885" y="2915397"/>
            <a:ext cx="576690" cy="211861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I-tag</a:t>
            </a:r>
            <a:endParaRPr sz="900" b="1">
              <a:solidFill>
                <a:srgbClr val="7030A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86" name="slide5-e-tag-route-return-final"/>
          <p:cNvCxnSpPr>
            <a:stCxn xmlns:a="http://schemas.openxmlformats.org/drawingml/2006/main" id="26" idx="0"/>
            <a:endCxn xmlns:a="http://schemas.openxmlformats.org/drawingml/2006/main" id="71" idx="2"/>
          </p:cNvCxnSpPr>
          <p:nvPr/>
        </p:nvCxnSpPr>
        <p:spPr>
          <a:xfrm xmlns:a="http://schemas.openxmlformats.org/drawingml/2006/main" rot="0" flipH="1" flipV="1">
            <a:off x="1705230" y="3127258"/>
            <a:ext cx="11342" cy="444799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339AD"/>
            </a:solidFill>
            <a:prstDash val="solid"/>
            <a:tailEnd type="triangle" w="sm" len="sm"/>
          </a:ln>
        </p:spPr>
      </p:cxnSp>
      <p:sp>
        <p:nvSpPr>
          <p:cNvPr id="73" name="矩形 638">
            <a:extLst xmlns:a="http://schemas.openxmlformats.org/drawingml/2006/main">
              <a:ext uri="{FF2B5EF4-FFF2-40B4-BE49-F238E27FC236}">
                <a16:creationId xmlns:a16="http://schemas.microsoft.com/office/drawing/2014/main" id="{89A2E884-81F2-416C-A3AC-A6B57838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34435" y="3845272"/>
            <a:ext cx="1996995" cy="6274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D"/>
          </a:solidFill>
          <a:ln xmlns:a="http://schemas.openxmlformats.org/drawingml/2006/main" w="19050" cmpd="sng">
            <a:solidFill>
              <a:schemeClr val="tx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18">
              <a:buNone/>
            </a:pPr>
            <a:endParaRPr sz="900" b="1" kern="0">
              <a:latin typeface="Arial"/>
              <a:ea typeface="Arial"/>
              <a:cs typeface="Arial"/>
            </a:endParaRPr>
          </a:p>
        </p:txBody>
      </p:sp>
      <p:sp>
        <p:nvSpPr>
          <p:cNvPr id="74" name="矩形 639">
            <a:extLst xmlns:a="http://schemas.openxmlformats.org/drawingml/2006/main">
              <a:ext uri="{FF2B5EF4-FFF2-40B4-BE49-F238E27FC236}">
                <a16:creationId xmlns:a16="http://schemas.microsoft.com/office/drawing/2014/main" id="{62948DEB-4442-4127-AFD8-E3C67AF5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38333" y="3115727"/>
            <a:ext cx="1996995" cy="6487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D"/>
          </a:solidFill>
          <a:ln xmlns:a="http://schemas.openxmlformats.org/drawingml/2006/main" w="19050" cmpd="sng">
            <a:solidFill>
              <a:schemeClr val="tx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18">
              <a:buNone/>
            </a:pPr>
            <a:endParaRPr sz="900" b="1" kern="0">
              <a:latin typeface="Arial"/>
              <a:ea typeface="Arial"/>
              <a:cs typeface="Arial"/>
            </a:endParaRPr>
          </a:p>
        </p:txBody>
      </p:sp>
      <p:sp>
        <p:nvSpPr>
          <p:cNvPr id="75" name="slide5-station-blocked">
            <a:extLst xmlns:a="http://schemas.openxmlformats.org/drawingml/2006/main">
              <a:ext uri="{FF2B5EF4-FFF2-40B4-BE49-F238E27FC236}">
                <a16:creationId xmlns:a16="http://schemas.microsoft.com/office/drawing/2014/main" id="{DBDAC3DC-7ABD-40C2-9441-98EF1C26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8098" y="2740435"/>
            <a:ext cx="2688671" cy="2435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020"/>
            </a:solidFill>
            <a:prstDash val="dash"/>
          </a:ln>
        </p:spPr>
      </p:sp>
      <p:sp>
        <p:nvSpPr>
          <p:cNvPr id="76" name="slide5-anchor-e-tag-deflect-start">
            <a:extLst xmlns:a="http://schemas.openxmlformats.org/drawingml/2006/main">
              <a:ext uri="{FF2B5EF4-FFF2-40B4-BE49-F238E27FC236}">
                <a16:creationId xmlns:a16="http://schemas.microsoft.com/office/drawing/2014/main" id="{186DAF24-1E89-4727-B7A5-2562BCA0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37096" y="4080765"/>
            <a:ext cx="10298" cy="1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7" name="slide5-anchor-e-tag-blocked-4">
            <a:extLst xmlns:a="http://schemas.openxmlformats.org/drawingml/2006/main">
              <a:ext uri="{FF2B5EF4-FFF2-40B4-BE49-F238E27FC236}">
                <a16:creationId xmlns:a16="http://schemas.microsoft.com/office/drawing/2014/main" id="{2AF8CD26-2100-4B05-B5D8-C915E116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06660" y="4480702"/>
            <a:ext cx="10298" cy="1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slide5-anchor-e-tag-blocked-5">
            <a:extLst xmlns:a="http://schemas.openxmlformats.org/drawingml/2006/main">
              <a:ext uri="{FF2B5EF4-FFF2-40B4-BE49-F238E27FC236}">
                <a16:creationId xmlns:a16="http://schemas.microsoft.com/office/drawing/2014/main" id="{B3A74241-13B2-4D72-A563-E8DE07B3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5442" y="4307662"/>
            <a:ext cx="10298" cy="1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9" name="slide5-queue-label-blocked-inject">
            <a:extLst xmlns:a="http://schemas.openxmlformats.org/drawingml/2006/main">
              <a:ext uri="{FF2B5EF4-FFF2-40B4-BE49-F238E27FC236}">
                <a16:creationId xmlns:a16="http://schemas.microsoft.com/office/drawing/2014/main" id="{8060ABBE-CB2D-4E9A-A26B-EC026902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1828" y="3090651"/>
            <a:ext cx="2934942" cy="175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303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latin typeface="Arial"/>
                <a:ea typeface="Arial"/>
                <a:cs typeface="Arial"/>
              </a:rPr>
              <a:t>Inject </a:t>
            </a:r>
            <a:r>
              <a:rPr sz="1200" b="1">
                <a:latin typeface="Arial"/>
                <a:ea typeface="Arial"/>
                <a:cs typeface="Arial"/>
              </a:rPr>
              <a:t>Queue</a:t>
            </a:r>
            <a:r>
              <a:rPr sz="1200" b="1">
                <a:latin typeface="Arial"/>
                <a:ea typeface="Arial"/>
                <a:cs typeface="Arial"/>
              </a:rPr>
              <a:t> · local</a:t>
            </a:r>
          </a:p>
        </p:txBody>
      </p:sp>
      <p:sp>
        <p:nvSpPr>
          <p:cNvPr id="80" name="slide5-queue-label-blocked-eject">
            <a:extLst xmlns:a="http://schemas.openxmlformats.org/drawingml/2006/main">
              <a:ext uri="{FF2B5EF4-FFF2-40B4-BE49-F238E27FC236}">
                <a16:creationId xmlns:a16="http://schemas.microsoft.com/office/drawing/2014/main" id="{52D49185-4778-4FB0-84D5-CA1C34A5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35167" y="4214848"/>
            <a:ext cx="1794960" cy="175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03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latin typeface="Arial"/>
                <a:ea typeface="Arial"/>
                <a:cs typeface="Arial"/>
              </a:rPr>
              <a:t>Eject Queue · full</a:t>
            </a:r>
          </a:p>
        </p:txBody>
      </p:sp>
      <p:sp>
        <p:nvSpPr>
          <p:cNvPr id="81" name="slide5-queue-frame-blocked-inject">
            <a:extLst xmlns:a="http://schemas.openxmlformats.org/drawingml/2006/main">
              <a:ext uri="{FF2B5EF4-FFF2-40B4-BE49-F238E27FC236}">
                <a16:creationId xmlns:a16="http://schemas.microsoft.com/office/drawing/2014/main" id="{19D01822-A40D-4FEE-88BE-DDC2B4BF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3173" y="3330287"/>
            <a:ext cx="353998" cy="3506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82" name="slide5-queue-frame-blocked-inject">
            <a:extLst xmlns:a="http://schemas.openxmlformats.org/drawingml/2006/main">
              <a:ext uri="{FF2B5EF4-FFF2-40B4-BE49-F238E27FC236}">
                <a16:creationId xmlns:a16="http://schemas.microsoft.com/office/drawing/2014/main" id="{5893B33C-B44F-4940-99DF-05E30FD2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2869" y="3330287"/>
            <a:ext cx="353998" cy="3506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83" name="slide5-flit-blocked-inject-0">
            <a:extLst xmlns:a="http://schemas.openxmlformats.org/drawingml/2006/main">
              <a:ext uri="{FF2B5EF4-FFF2-40B4-BE49-F238E27FC236}">
                <a16:creationId xmlns:a16="http://schemas.microsoft.com/office/drawing/2014/main" id="{80E8C432-DBAA-4FED-8E86-54FA5137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51492" y="3368100"/>
            <a:ext cx="272452" cy="27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EA"/>
          </a:solidFill>
          <a:ln xmlns:a="http://schemas.openxmlformats.org/drawingml/2006/main" w="19050">
            <a:solidFill>
              <a:srgbClr val="4E87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600"/>
          </a:p>
        </p:txBody>
      </p:sp>
      <p:sp>
        <p:nvSpPr>
          <p:cNvPr id="84" name="slide5-label-flit-blocked-inject-1">
            <a:extLst xmlns:a="http://schemas.openxmlformats.org/drawingml/2006/main">
              <a:ext uri="{FF2B5EF4-FFF2-40B4-BE49-F238E27FC236}">
                <a16:creationId xmlns:a16="http://schemas.microsoft.com/office/drawing/2014/main" id="{F351566F-08BE-44B6-A009-55DE5D9A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708" y="3419670"/>
            <a:ext cx="374591" cy="165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4E8735"/>
                </a:solidFill>
                <a:latin typeface="Arial"/>
                <a:ea typeface="Arial"/>
                <a:cs typeface="Arial"/>
              </a:rPr>
              <a:t>A</a:t>
            </a:r>
            <a:r>
              <a:rPr sz="1000" b="1">
                <a:solidFill>
                  <a:srgbClr val="4E8735"/>
                </a:solidFill>
                <a:latin typeface="Arial"/>
                <a:ea typeface="Arial"/>
                <a:cs typeface="Arial"/>
              </a:rPr>
              <a:t>2</a:t>
            </a:r>
            <a:endParaRPr sz="1000" b="1">
              <a:solidFill>
                <a:srgbClr val="4E873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slide5-queue-frame-blocked-inject">
            <a:extLst xmlns:a="http://schemas.openxmlformats.org/drawingml/2006/main">
              <a:ext uri="{FF2B5EF4-FFF2-40B4-BE49-F238E27FC236}">
                <a16:creationId xmlns:a16="http://schemas.microsoft.com/office/drawing/2014/main" id="{4139F446-83A4-457B-81A7-544F4C4F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68604" y="3330287"/>
            <a:ext cx="353998" cy="3506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86" name="slide5-flit-blocked-inject-0">
            <a:extLst xmlns:a="http://schemas.openxmlformats.org/drawingml/2006/main">
              <a:ext uri="{FF2B5EF4-FFF2-40B4-BE49-F238E27FC236}">
                <a16:creationId xmlns:a16="http://schemas.microsoft.com/office/drawing/2014/main" id="{BC6732BF-67A2-461F-A0AE-C99FA500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07227" y="3368100"/>
            <a:ext cx="272452" cy="27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EA"/>
          </a:solidFill>
          <a:ln xmlns:a="http://schemas.openxmlformats.org/drawingml/2006/main" w="19050">
            <a:solidFill>
              <a:srgbClr val="4E87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600"/>
          </a:p>
        </p:txBody>
      </p:sp>
      <p:sp>
        <p:nvSpPr>
          <p:cNvPr id="87" name="slide5-label-flit-blocked-inject-1">
            <a:extLst xmlns:a="http://schemas.openxmlformats.org/drawingml/2006/main">
              <a:ext uri="{FF2B5EF4-FFF2-40B4-BE49-F238E27FC236}">
                <a16:creationId xmlns:a16="http://schemas.microsoft.com/office/drawing/2014/main" id="{817E1EF3-D35D-4B02-8CC6-23A8FA44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63443" y="3419670"/>
            <a:ext cx="374591" cy="165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4E8735"/>
                </a:solidFill>
                <a:latin typeface="Arial"/>
                <a:ea typeface="Arial"/>
                <a:cs typeface="Arial"/>
              </a:rPr>
              <a:t>A</a:t>
            </a:r>
            <a:r>
              <a:rPr sz="1000" b="1">
                <a:solidFill>
                  <a:srgbClr val="4E8735"/>
                </a:solidFill>
                <a:latin typeface="Arial"/>
                <a:ea typeface="Arial"/>
                <a:cs typeface="Arial"/>
              </a:rPr>
              <a:t>3</a:t>
            </a:r>
            <a:endParaRPr sz="1000" b="1">
              <a:solidFill>
                <a:srgbClr val="4E873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slide5-queue-frame-blocked-inject">
            <a:extLst xmlns:a="http://schemas.openxmlformats.org/drawingml/2006/main">
              <a:ext uri="{FF2B5EF4-FFF2-40B4-BE49-F238E27FC236}">
                <a16:creationId xmlns:a16="http://schemas.microsoft.com/office/drawing/2014/main" id="{A07B4D42-65AB-4622-B8FF-0BC55855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8301" y="3330287"/>
            <a:ext cx="353998" cy="3506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89" name="slide5-flit-blocked-inject-0">
            <a:extLst xmlns:a="http://schemas.openxmlformats.org/drawingml/2006/main">
              <a:ext uri="{FF2B5EF4-FFF2-40B4-BE49-F238E27FC236}">
                <a16:creationId xmlns:a16="http://schemas.microsoft.com/office/drawing/2014/main" id="{8D88D100-DA3B-4ABF-BD3A-33BF2F4E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56923" y="3368100"/>
            <a:ext cx="272452" cy="27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EA"/>
          </a:solidFill>
          <a:ln xmlns:a="http://schemas.openxmlformats.org/drawingml/2006/main" w="19050">
            <a:solidFill>
              <a:srgbClr val="4E87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600"/>
          </a:p>
        </p:txBody>
      </p:sp>
      <p:sp>
        <p:nvSpPr>
          <p:cNvPr id="90" name="slide5-label-flit-blocked-inject-1">
            <a:extLst xmlns:a="http://schemas.openxmlformats.org/drawingml/2006/main">
              <a:ext uri="{FF2B5EF4-FFF2-40B4-BE49-F238E27FC236}">
                <a16:creationId xmlns:a16="http://schemas.microsoft.com/office/drawing/2014/main" id="{E64374F1-22DE-4BA8-841E-04FD7A38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3140" y="3419670"/>
            <a:ext cx="374591" cy="165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4E8735"/>
                </a:solidFill>
                <a:latin typeface="Arial"/>
                <a:ea typeface="Arial"/>
                <a:cs typeface="Arial"/>
              </a:rPr>
              <a:t>A</a:t>
            </a:r>
            <a:r>
              <a:rPr sz="1000" b="1">
                <a:solidFill>
                  <a:srgbClr val="4E8735"/>
                </a:solidFill>
                <a:latin typeface="Arial"/>
                <a:ea typeface="Arial"/>
                <a:cs typeface="Arial"/>
              </a:rPr>
              <a:t>4</a:t>
            </a:r>
            <a:endParaRPr sz="1000" b="1">
              <a:solidFill>
                <a:srgbClr val="4E873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slide5-queue-frame-blocked-inject">
            <a:extLst xmlns:a="http://schemas.openxmlformats.org/drawingml/2006/main">
              <a:ext uri="{FF2B5EF4-FFF2-40B4-BE49-F238E27FC236}">
                <a16:creationId xmlns:a16="http://schemas.microsoft.com/office/drawing/2014/main" id="{D305AA98-81D9-49C4-8E5E-6B3A1E8C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72309" y="3330287"/>
            <a:ext cx="353998" cy="3506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92" name="slide5-flit-blocked-inject-0">
            <a:extLst xmlns:a="http://schemas.openxmlformats.org/drawingml/2006/main">
              <a:ext uri="{FF2B5EF4-FFF2-40B4-BE49-F238E27FC236}">
                <a16:creationId xmlns:a16="http://schemas.microsoft.com/office/drawing/2014/main" id="{09C02B31-4F73-4D51-8A76-EC997863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10932" y="3368100"/>
            <a:ext cx="272452" cy="27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EA"/>
          </a:solidFill>
          <a:ln xmlns:a="http://schemas.openxmlformats.org/drawingml/2006/main" w="19050">
            <a:solidFill>
              <a:srgbClr val="4E87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600"/>
          </a:p>
        </p:txBody>
      </p:sp>
      <p:sp>
        <p:nvSpPr>
          <p:cNvPr id="93" name="slide5-label-flit-blocked-inject-1">
            <a:extLst xmlns:a="http://schemas.openxmlformats.org/drawingml/2006/main">
              <a:ext uri="{FF2B5EF4-FFF2-40B4-BE49-F238E27FC236}">
                <a16:creationId xmlns:a16="http://schemas.microsoft.com/office/drawing/2014/main" id="{F7392B5F-81B8-45A8-ACBA-3C45C873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7148" y="3419670"/>
            <a:ext cx="374591" cy="165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4E8735"/>
                </a:solidFill>
                <a:latin typeface="Arial"/>
                <a:ea typeface="Arial"/>
                <a:cs typeface="Arial"/>
              </a:rPr>
              <a:t>A</a:t>
            </a:r>
            <a:r>
              <a:rPr sz="1000" b="1">
                <a:solidFill>
                  <a:srgbClr val="4E8735"/>
                </a:solidFill>
                <a:latin typeface="Arial"/>
                <a:ea typeface="Arial"/>
                <a:cs typeface="Arial"/>
              </a:rPr>
              <a:t>5</a:t>
            </a:r>
            <a:endParaRPr sz="1000" b="1">
              <a:solidFill>
                <a:srgbClr val="4E873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slide5-queue-frame-blocked-inject">
            <a:extLst xmlns:a="http://schemas.openxmlformats.org/drawingml/2006/main">
              <a:ext uri="{FF2B5EF4-FFF2-40B4-BE49-F238E27FC236}">
                <a16:creationId xmlns:a16="http://schemas.microsoft.com/office/drawing/2014/main" id="{4B895617-6FAE-482A-8585-B5C8F044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0249" y="3927780"/>
            <a:ext cx="353998" cy="3506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95" name="slide5-queue-frame-blocked-inject">
            <a:extLst xmlns:a="http://schemas.openxmlformats.org/drawingml/2006/main">
              <a:ext uri="{FF2B5EF4-FFF2-40B4-BE49-F238E27FC236}">
                <a16:creationId xmlns:a16="http://schemas.microsoft.com/office/drawing/2014/main" id="{8D0C3144-912A-417B-9750-18475C01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9945" y="3927780"/>
            <a:ext cx="353998" cy="3506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96" name="slide5-flit-blocked-inject-0">
            <a:extLst xmlns:a="http://schemas.openxmlformats.org/drawingml/2006/main">
              <a:ext uri="{FF2B5EF4-FFF2-40B4-BE49-F238E27FC236}">
                <a16:creationId xmlns:a16="http://schemas.microsoft.com/office/drawing/2014/main" id="{6F29916D-8C8D-4EA4-BCC8-26D14D04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8567" y="3965593"/>
            <a:ext cx="272452" cy="27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A"/>
          </a:solidFill>
          <a:ln xmlns:a="http://schemas.openxmlformats.org/drawingml/2006/main" w="19050">
            <a:solidFill>
              <a:schemeClr val="accent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600"/>
          </a:p>
        </p:txBody>
      </p:sp>
      <p:sp>
        <p:nvSpPr>
          <p:cNvPr id="97" name="slide5-label-flit-blocked-inject-1">
            <a:extLst xmlns:a="http://schemas.openxmlformats.org/drawingml/2006/main">
              <a:ext uri="{FF2B5EF4-FFF2-40B4-BE49-F238E27FC236}">
                <a16:creationId xmlns:a16="http://schemas.microsoft.com/office/drawing/2014/main" id="{2A916172-65EE-4F4E-9795-369F1F65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4784" y="4017162"/>
            <a:ext cx="374591" cy="165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D86A25"/>
                </a:solidFill>
                <a:latin typeface="Arial"/>
                <a:ea typeface="Arial"/>
                <a:cs typeface="Arial"/>
              </a:rPr>
              <a:t>B5</a:t>
            </a:r>
            <a:endParaRPr sz="1000" b="1">
              <a:solidFill>
                <a:srgbClr val="D86A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slide5-queue-frame-blocked-inject">
            <a:extLst xmlns:a="http://schemas.openxmlformats.org/drawingml/2006/main">
              <a:ext uri="{FF2B5EF4-FFF2-40B4-BE49-F238E27FC236}">
                <a16:creationId xmlns:a16="http://schemas.microsoft.com/office/drawing/2014/main" id="{861188C5-D6C6-46A4-94C2-61CADF4C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5680" y="3927780"/>
            <a:ext cx="353998" cy="3506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99" name="slide5-flit-blocked-inject-0">
            <a:extLst xmlns:a="http://schemas.openxmlformats.org/drawingml/2006/main">
              <a:ext uri="{FF2B5EF4-FFF2-40B4-BE49-F238E27FC236}">
                <a16:creationId xmlns:a16="http://schemas.microsoft.com/office/drawing/2014/main" id="{552909A4-B93A-43E3-8C6A-08225CAF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64302" y="3965593"/>
            <a:ext cx="272452" cy="27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A"/>
          </a:solidFill>
          <a:ln xmlns:a="http://schemas.openxmlformats.org/drawingml/2006/main" w="19050">
            <a:solidFill>
              <a:schemeClr val="accent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600"/>
          </a:p>
        </p:txBody>
      </p:sp>
      <p:sp>
        <p:nvSpPr>
          <p:cNvPr id="100" name="slide5-label-flit-blocked-inject-1">
            <a:extLst xmlns:a="http://schemas.openxmlformats.org/drawingml/2006/main">
              <a:ext uri="{FF2B5EF4-FFF2-40B4-BE49-F238E27FC236}">
                <a16:creationId xmlns:a16="http://schemas.microsoft.com/office/drawing/2014/main" id="{CB078BAC-78D5-4A5E-9A3A-88102F60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0519" y="4017162"/>
            <a:ext cx="374591" cy="165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D86A25"/>
                </a:solidFill>
                <a:latin typeface="Arial"/>
                <a:ea typeface="Arial"/>
                <a:cs typeface="Arial"/>
              </a:rPr>
              <a:t>B4</a:t>
            </a:r>
            <a:endParaRPr sz="1000" b="1">
              <a:solidFill>
                <a:srgbClr val="D86A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slide5-queue-frame-blocked-inject">
            <a:extLst xmlns:a="http://schemas.openxmlformats.org/drawingml/2006/main">
              <a:ext uri="{FF2B5EF4-FFF2-40B4-BE49-F238E27FC236}">
                <a16:creationId xmlns:a16="http://schemas.microsoft.com/office/drawing/2014/main" id="{3430DF3E-E564-41FE-919A-CD98F781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5377" y="3927780"/>
            <a:ext cx="353998" cy="3506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102" name="slide5-flit-blocked-inject-0">
            <a:extLst xmlns:a="http://schemas.openxmlformats.org/drawingml/2006/main">
              <a:ext uri="{FF2B5EF4-FFF2-40B4-BE49-F238E27FC236}">
                <a16:creationId xmlns:a16="http://schemas.microsoft.com/office/drawing/2014/main" id="{F7E66B3B-D940-4C9C-86CE-E3EDE9B3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3999" y="3965593"/>
            <a:ext cx="272452" cy="27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A"/>
          </a:solidFill>
          <a:ln xmlns:a="http://schemas.openxmlformats.org/drawingml/2006/main" w="19050">
            <a:solidFill>
              <a:schemeClr val="accent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600"/>
          </a:p>
        </p:txBody>
      </p:sp>
      <p:sp>
        <p:nvSpPr>
          <p:cNvPr id="103" name="slide5-label-flit-blocked-inject-1">
            <a:extLst xmlns:a="http://schemas.openxmlformats.org/drawingml/2006/main">
              <a:ext uri="{FF2B5EF4-FFF2-40B4-BE49-F238E27FC236}">
                <a16:creationId xmlns:a16="http://schemas.microsoft.com/office/drawing/2014/main" id="{1E18EEAB-7913-4B7A-8804-27BBAD3E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0215" y="4017162"/>
            <a:ext cx="374591" cy="165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D86A25"/>
                </a:solidFill>
                <a:latin typeface="Arial"/>
                <a:ea typeface="Arial"/>
                <a:cs typeface="Arial"/>
              </a:rPr>
              <a:t>B3</a:t>
            </a:r>
            <a:endParaRPr sz="1000" b="1">
              <a:solidFill>
                <a:srgbClr val="D86A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slide5-queue-frame-blocked-inject">
            <a:extLst xmlns:a="http://schemas.openxmlformats.org/drawingml/2006/main">
              <a:ext uri="{FF2B5EF4-FFF2-40B4-BE49-F238E27FC236}">
                <a16:creationId xmlns:a16="http://schemas.microsoft.com/office/drawing/2014/main" id="{AEC78860-E987-406B-99CD-486FC7C5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29385" y="3927780"/>
            <a:ext cx="353998" cy="3506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105" name="slide5-flit-blocked-inject-0">
            <a:extLst xmlns:a="http://schemas.openxmlformats.org/drawingml/2006/main">
              <a:ext uri="{FF2B5EF4-FFF2-40B4-BE49-F238E27FC236}">
                <a16:creationId xmlns:a16="http://schemas.microsoft.com/office/drawing/2014/main" id="{5839F619-3D1A-464A-8E09-80D61F83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8007" y="3965593"/>
            <a:ext cx="272452" cy="27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A"/>
          </a:solidFill>
          <a:ln xmlns:a="http://schemas.openxmlformats.org/drawingml/2006/main" w="19050">
            <a:solidFill>
              <a:schemeClr val="accent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600"/>
          </a:p>
        </p:txBody>
      </p:sp>
      <p:sp>
        <p:nvSpPr>
          <p:cNvPr id="106" name="slide5-label-flit-blocked-inject-1">
            <a:extLst xmlns:a="http://schemas.openxmlformats.org/drawingml/2006/main">
              <a:ext uri="{FF2B5EF4-FFF2-40B4-BE49-F238E27FC236}">
                <a16:creationId xmlns:a16="http://schemas.microsoft.com/office/drawing/2014/main" id="{5E17B4D6-DC33-4CF2-89C0-EF3DF161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24224" y="4017162"/>
            <a:ext cx="374591" cy="165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D86A25"/>
                </a:solidFill>
                <a:latin typeface="Arial"/>
                <a:ea typeface="Arial"/>
                <a:cs typeface="Arial"/>
              </a:rPr>
              <a:t>B2</a:t>
            </a:r>
            <a:endParaRPr sz="1000" b="1">
              <a:solidFill>
                <a:srgbClr val="D86A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slide5-flit-blocked-inject-0">
            <a:extLst xmlns:a="http://schemas.openxmlformats.org/drawingml/2006/main">
              <a:ext uri="{FF2B5EF4-FFF2-40B4-BE49-F238E27FC236}">
                <a16:creationId xmlns:a16="http://schemas.microsoft.com/office/drawing/2014/main" id="{BB8A507A-B9DE-4E4D-AB02-B65EC996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47365" y="3966804"/>
            <a:ext cx="272452" cy="27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1905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600"/>
          </a:p>
        </p:txBody>
      </p:sp>
      <p:sp>
        <p:nvSpPr>
          <p:cNvPr id="108" name="slide5-label-flit-blocked-inject-1">
            <a:extLst xmlns:a="http://schemas.openxmlformats.org/drawingml/2006/main">
              <a:ext uri="{FF2B5EF4-FFF2-40B4-BE49-F238E27FC236}">
                <a16:creationId xmlns:a16="http://schemas.microsoft.com/office/drawing/2014/main" id="{EFD0AC84-499D-4F4B-9068-4DA9FCDE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6295" y="4020727"/>
            <a:ext cx="374591" cy="165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B6</a:t>
            </a:r>
            <a:endParaRPr sz="10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slide5-flit-blocked-inject-0">
            <a:extLst xmlns:a="http://schemas.openxmlformats.org/drawingml/2006/main">
              <a:ext uri="{FF2B5EF4-FFF2-40B4-BE49-F238E27FC236}">
                <a16:creationId xmlns:a16="http://schemas.microsoft.com/office/drawing/2014/main" id="{B71F0802-116A-4E4D-9749-8CEC2B84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15601" y="3636218"/>
            <a:ext cx="272452" cy="27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EA"/>
          </a:solidFill>
          <a:ln xmlns:a="http://schemas.openxmlformats.org/drawingml/2006/main" w="19050">
            <a:solidFill>
              <a:srgbClr val="4E87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600"/>
          </a:p>
        </p:txBody>
      </p:sp>
      <p:sp>
        <p:nvSpPr>
          <p:cNvPr id="110" name="slide5-label-flit-blocked-inject-1">
            <a:extLst xmlns:a="http://schemas.openxmlformats.org/drawingml/2006/main">
              <a:ext uri="{FF2B5EF4-FFF2-40B4-BE49-F238E27FC236}">
                <a16:creationId xmlns:a16="http://schemas.microsoft.com/office/drawing/2014/main" id="{0B280C07-A63A-4FCC-BC35-CD791E07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71818" y="3687788"/>
            <a:ext cx="374591" cy="165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4E8735"/>
                </a:solidFill>
                <a:latin typeface="Arial"/>
                <a:ea typeface="Arial"/>
                <a:cs typeface="Arial"/>
              </a:rPr>
              <a:t>A</a:t>
            </a:r>
            <a:r>
              <a:rPr sz="1000" b="1">
                <a:solidFill>
                  <a:srgbClr val="4E8735"/>
                </a:solidFill>
                <a:latin typeface="Arial"/>
                <a:ea typeface="Arial"/>
                <a:cs typeface="Arial"/>
              </a:rPr>
              <a:t>1</a:t>
            </a:r>
            <a:endParaRPr sz="1000" b="1">
              <a:solidFill>
                <a:srgbClr val="4E8735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25" name="连接符: 肘形 676"/>
          <p:cNvCxnSpPr>
            <a:endCxn xmlns:a="http://schemas.openxmlformats.org/drawingml/2006/main" id="109" idx="0"/>
          </p:cNvCxnSpPr>
          <p:nvPr/>
        </p:nvCxnSpPr>
        <p:spPr>
          <a:xfrm xmlns:a="http://schemas.openxmlformats.org/drawingml/2006/main" rot="10800000" flipH="0" flipV="1">
            <a:off x="4351828" y="3505615"/>
            <a:ext cx="666586" cy="130602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7030A0"/>
            </a:solidFill>
            <a:miter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26" name="连接符: 肘形 677"/>
          <p:cNvCxnSpPr>
            <a:stCxn xmlns:a="http://schemas.openxmlformats.org/drawingml/2006/main" id="109" idx="4"/>
            <a:endCxn xmlns:a="http://schemas.openxmlformats.org/drawingml/2006/main" id="107" idx="2"/>
          </p:cNvCxnSpPr>
          <p:nvPr/>
        </p:nvCxnSpPr>
        <p:spPr>
          <a:xfrm xmlns:a="http://schemas.openxmlformats.org/drawingml/2006/main" rot="16200000" flipH="1" flipV="0">
            <a:off x="4502663" y="3758016"/>
            <a:ext cx="193864" cy="49628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7030A0"/>
            </a:solidFill>
            <a:miter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13" name="箭头: 下 678">
            <a:extLst xmlns:a="http://schemas.openxmlformats.org/drawingml/2006/main">
              <a:ext uri="{FF2B5EF4-FFF2-40B4-BE49-F238E27FC236}">
                <a16:creationId xmlns:a16="http://schemas.microsoft.com/office/drawing/2014/main" id="{15E3FBB9-BBD3-4B18-8747-740090D6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3762438" y="3716517"/>
            <a:ext cx="196063" cy="453158"/>
          </a:xfrm>
          <a:prstGeom xmlns:a="http://schemas.openxmlformats.org/drawingml/2006/main" prst="downArrow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 w="15875">
            <a:solidFill>
              <a:schemeClr val="accent6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4" name="文本框 679">
            <a:extLst xmlns:a="http://schemas.openxmlformats.org/drawingml/2006/main">
              <a:ext uri="{FF2B5EF4-FFF2-40B4-BE49-F238E27FC236}">
                <a16:creationId xmlns:a16="http://schemas.microsoft.com/office/drawing/2014/main" id="{ED1175A4-1A61-43F1-A299-113CDC7B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97398" y="2802264"/>
            <a:ext cx="622530" cy="2999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latin typeface="Arial"/>
                <a:ea typeface="Arial"/>
                <a:cs typeface="Arial"/>
              </a:rPr>
              <a:t>CS N</a:t>
            </a:r>
            <a:endParaRPr sz="1600">
              <a:latin typeface="Arial"/>
              <a:ea typeface="Arial"/>
              <a:cs typeface="Arial"/>
            </a:endParaRPr>
          </a:p>
        </p:txBody>
      </p:sp>
      <p:sp>
        <p:nvSpPr>
          <p:cNvPr id="115" name="e tag claim label">
            <a:extLst xmlns:a="http://schemas.openxmlformats.org/drawingml/2006/main">
              <a:ext uri="{FF2B5EF4-FFF2-40B4-BE49-F238E27FC236}">
                <a16:creationId xmlns:a16="http://schemas.microsoft.com/office/drawing/2014/main" id="{725F068A-A911-4416-9935-069C39E5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45747" y="4559825"/>
            <a:ext cx="2471530" cy="247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rPr>
              <a:t>E-tag：B6使用预留弹出空间</a:t>
            </a:r>
          </a:p>
        </p:txBody>
      </p:sp>
      <p:sp>
        <p:nvSpPr>
          <p:cNvPr id="116" name="i tag replacement label">
            <a:extLst xmlns:a="http://schemas.openxmlformats.org/drawingml/2006/main">
              <a:ext uri="{FF2B5EF4-FFF2-40B4-BE49-F238E27FC236}">
                <a16:creationId xmlns:a16="http://schemas.microsoft.com/office/drawing/2014/main" id="{8467EA4E-EB8E-4D09-8DC5-90E00FD1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45747" y="4817663"/>
            <a:ext cx="2471530" cy="247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I-tag：A1接替释放的环槽位</a:t>
            </a:r>
          </a:p>
        </p:txBody>
      </p:sp>
    </p:spTree>
    <p:extLst>
      <p:ext uri="{BB962C8B-B14F-4D97-AF65-F5344CB8AC3E}">
        <p14:creationId xmlns:p14="http://schemas.microsoft.com/office/powerpoint/2010/main" val="19398175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7406C44F-01A2-4140-8BEA-D453B6BC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RBRG跨环路径与方向资源</a:t>
            </a:r>
          </a:p>
        </p:txBody>
      </p:sp>
      <p:sp>
        <p:nvSpPr>
          <p:cNvPr id="3" name="diagram-2">
            <a:extLst xmlns:a="http://schemas.openxmlformats.org/drawingml/2006/main">
              <a:ext uri="{FF2B5EF4-FFF2-40B4-BE49-F238E27FC236}">
                <a16:creationId xmlns:a16="http://schemas.microsoft.com/office/drawing/2014/main" id="{93E13DB3-CC80-4AE7-B313-795D5FED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47775"/>
            <a:ext cx="7048500" cy="460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0286B"/>
            </a:solidFill>
            <a:prstDash val="solid"/>
          </a:ln>
        </p:spPr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B7134902-D985-43AC-A84D-ED32F131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41922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V-Ring端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645B3A48-EF64-4959-89B5-6D06A30B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41922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</a:t>
            </a: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Ring端</a:t>
            </a:r>
            <a:endParaRPr sz="1575" b="1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diagram-5">
            <a:extLst xmlns:a="http://schemas.openxmlformats.org/drawingml/2006/main">
              <a:ext uri="{FF2B5EF4-FFF2-40B4-BE49-F238E27FC236}">
                <a16:creationId xmlns:a16="http://schemas.microsoft.com/office/drawing/2014/main" id="{9EEFE1C3-5A2B-45E2-9C77-69A00401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924050"/>
            <a:ext cx="7429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V端</a:t>
            </a:r>
            <a:endParaRPr sz="1425" b="1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  <a:endParaRPr sz="1425" b="1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diagram-6">
            <a:extLst xmlns:a="http://schemas.openxmlformats.org/drawingml/2006/main">
              <a:ext uri="{FF2B5EF4-FFF2-40B4-BE49-F238E27FC236}">
                <a16:creationId xmlns:a16="http://schemas.microsoft.com/office/drawing/2014/main" id="{E2344FA3-3E3B-4AF5-826E-11A0C671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924050"/>
            <a:ext cx="7334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H端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8" name="diagram-7">
            <a:extLst xmlns:a="http://schemas.openxmlformats.org/drawingml/2006/main">
              <a:ext uri="{FF2B5EF4-FFF2-40B4-BE49-F238E27FC236}">
                <a16:creationId xmlns:a16="http://schemas.microsoft.com/office/drawing/2014/main" id="{5A2B9588-1A36-4BCE-AF0D-F0E8C1CD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914525"/>
            <a:ext cx="18859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V_TO_H_REQ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REQ</a:t>
            </a:r>
            <a:endParaRPr sz="1350" b="1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diagram-8">
            <a:extLst xmlns:a="http://schemas.openxmlformats.org/drawingml/2006/main">
              <a:ext uri="{FF2B5EF4-FFF2-40B4-BE49-F238E27FC236}">
                <a16:creationId xmlns:a16="http://schemas.microsoft.com/office/drawing/2014/main" id="{A652ABF8-8BA9-409B-816F-8622D7B7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8764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CW Queue</a:t>
            </a:r>
            <a:endParaRPr sz="1275" b="1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diagram-9">
            <a:extLst xmlns:a="http://schemas.openxmlformats.org/drawingml/2006/main">
              <a:ext uri="{FF2B5EF4-FFF2-40B4-BE49-F238E27FC236}">
                <a16:creationId xmlns:a16="http://schemas.microsoft.com/office/drawing/2014/main" id="{1A10F845-AF65-4B6C-B6CC-3AD74168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2574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CCW Queue</a:t>
            </a:r>
            <a:endParaRPr sz="1275" b="1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63" name="直接箭头连接符 60"/>
          <p:cNvCxnSpPr/>
          <p:nvPr/>
        </p:nvCxnSpPr>
        <p:spPr>
          <a:xfrm xmlns:a="http://schemas.openxmlformats.org/drawingml/2006/main">
            <a:off x="1323975" y="2205038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64" name="连接符: 肘形 61"/>
          <p:cNvCxnSpPr/>
          <p:nvPr/>
        </p:nvCxnSpPr>
        <p:spPr>
          <a:xfrm xmlns:a="http://schemas.openxmlformats.org/drawingml/2006/main" flipV="1">
            <a:off x="3571875" y="2019300"/>
            <a:ext cx="457200" cy="1857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65" name="连接符: 肘形 62"/>
          <p:cNvCxnSpPr/>
          <p:nvPr/>
        </p:nvCxnSpPr>
        <p:spPr>
          <a:xfrm xmlns:a="http://schemas.openxmlformats.org/drawingml/2006/main">
            <a:off x="6124575" y="2019300"/>
            <a:ext cx="381000" cy="1857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66" name="连接符: 肘形 63"/>
          <p:cNvCxnSpPr/>
          <p:nvPr/>
        </p:nvCxnSpPr>
        <p:spPr>
          <a:xfrm xmlns:a="http://schemas.openxmlformats.org/drawingml/2006/main">
            <a:off x="3571875" y="2205038"/>
            <a:ext cx="457200" cy="1952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67" name="连接符: 肘形 64"/>
          <p:cNvCxnSpPr/>
          <p:nvPr/>
        </p:nvCxnSpPr>
        <p:spPr>
          <a:xfrm xmlns:a="http://schemas.openxmlformats.org/drawingml/2006/main" flipV="1">
            <a:off x="6124575" y="2205038"/>
            <a:ext cx="381000" cy="1952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DF5B0B"/>
            </a:solidFill>
            <a:prstDash val="solid"/>
            <a:tailEnd type="triangle" w="med" len="med"/>
          </a:ln>
        </p:spPr>
      </p:cxnSp>
      <p:sp>
        <p:nvSpPr>
          <p:cNvPr id="16" name="diagram-10">
            <a:extLst xmlns:a="http://schemas.openxmlformats.org/drawingml/2006/main">
              <a:ext uri="{FF2B5EF4-FFF2-40B4-BE49-F238E27FC236}">
                <a16:creationId xmlns:a16="http://schemas.microsoft.com/office/drawing/2014/main" id="{ADC96EB2-DCA0-41A8-B70E-3E8038FF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76550"/>
            <a:ext cx="7429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V端</a:t>
            </a:r>
            <a:endParaRPr sz="1425" b="1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  <a:endParaRPr sz="1425" b="1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diagram-11">
            <a:extLst xmlns:a="http://schemas.openxmlformats.org/drawingml/2006/main">
              <a:ext uri="{FF2B5EF4-FFF2-40B4-BE49-F238E27FC236}">
                <a16:creationId xmlns:a16="http://schemas.microsoft.com/office/drawing/2014/main" id="{D94E7A71-FD2D-4BEA-81E3-95834D97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876550"/>
            <a:ext cx="7334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H端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18" name="diagram-12">
            <a:extLst xmlns:a="http://schemas.openxmlformats.org/drawingml/2006/main">
              <a:ext uri="{FF2B5EF4-FFF2-40B4-BE49-F238E27FC236}">
                <a16:creationId xmlns:a16="http://schemas.microsoft.com/office/drawing/2014/main" id="{23CD2078-4E8F-4CBB-A1BE-028989E9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67025"/>
            <a:ext cx="18859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V_TO_H_DAT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WR DAT</a:t>
            </a:r>
            <a:endParaRPr sz="1350" b="1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diagram-13">
            <a:extLst xmlns:a="http://schemas.openxmlformats.org/drawingml/2006/main">
              <a:ext uri="{FF2B5EF4-FFF2-40B4-BE49-F238E27FC236}">
                <a16:creationId xmlns:a16="http://schemas.microsoft.com/office/drawing/2014/main" id="{8519A240-2982-44BB-B06B-9F1139EB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8289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CW Queue</a:t>
            </a:r>
            <a:endParaRPr sz="1275" b="1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diagram-14">
            <a:extLst xmlns:a="http://schemas.openxmlformats.org/drawingml/2006/main">
              <a:ext uri="{FF2B5EF4-FFF2-40B4-BE49-F238E27FC236}">
                <a16:creationId xmlns:a16="http://schemas.microsoft.com/office/drawing/2014/main" id="{3DDA3D1D-9575-4B8A-8DA6-6812631B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2099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CCW Queue</a:t>
            </a:r>
            <a:endParaRPr sz="1275" b="1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73" name="直接箭头连接符 70"/>
          <p:cNvCxnSpPr/>
          <p:nvPr/>
        </p:nvCxnSpPr>
        <p:spPr>
          <a:xfrm xmlns:a="http://schemas.openxmlformats.org/drawingml/2006/main">
            <a:off x="1323975" y="3157538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74" name="连接符: 肘形 71"/>
          <p:cNvCxnSpPr/>
          <p:nvPr/>
        </p:nvCxnSpPr>
        <p:spPr>
          <a:xfrm xmlns:a="http://schemas.openxmlformats.org/drawingml/2006/main" flipV="1">
            <a:off x="3571875" y="2971800"/>
            <a:ext cx="457200" cy="1857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75" name="连接符: 肘形 72"/>
          <p:cNvCxnSpPr/>
          <p:nvPr/>
        </p:nvCxnSpPr>
        <p:spPr>
          <a:xfrm xmlns:a="http://schemas.openxmlformats.org/drawingml/2006/main">
            <a:off x="6124575" y="2971800"/>
            <a:ext cx="381000" cy="1857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76" name="连接符: 肘形 73"/>
          <p:cNvCxnSpPr/>
          <p:nvPr/>
        </p:nvCxnSpPr>
        <p:spPr>
          <a:xfrm xmlns:a="http://schemas.openxmlformats.org/drawingml/2006/main">
            <a:off x="3571875" y="3157538"/>
            <a:ext cx="457200" cy="1952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77" name="连接符: 肘形 74"/>
          <p:cNvCxnSpPr/>
          <p:nvPr/>
        </p:nvCxnSpPr>
        <p:spPr>
          <a:xfrm xmlns:a="http://schemas.openxmlformats.org/drawingml/2006/main" flipV="1">
            <a:off x="6124575" y="3157538"/>
            <a:ext cx="381000" cy="1952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DF5B0B"/>
            </a:solidFill>
            <a:prstDash val="solid"/>
            <a:tailEnd type="triangle" w="med" len="med"/>
          </a:ln>
        </p:spPr>
      </p:cxnSp>
      <p:sp>
        <p:nvSpPr>
          <p:cNvPr id="26" name="diagram-15">
            <a:extLst xmlns:a="http://schemas.openxmlformats.org/drawingml/2006/main">
              <a:ext uri="{FF2B5EF4-FFF2-40B4-BE49-F238E27FC236}">
                <a16:creationId xmlns:a16="http://schemas.microsoft.com/office/drawing/2014/main" id="{8B889D32-CA20-4943-824B-775943D8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829050"/>
            <a:ext cx="7429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V端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27" name="diagram-16">
            <a:extLst xmlns:a="http://schemas.openxmlformats.org/drawingml/2006/main">
              <a:ext uri="{FF2B5EF4-FFF2-40B4-BE49-F238E27FC236}">
                <a16:creationId xmlns:a16="http://schemas.microsoft.com/office/drawing/2014/main" id="{DDEFEE02-CD56-4C24-B433-C4A953E8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829050"/>
            <a:ext cx="7334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H端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28" name="diagram-17">
            <a:extLst xmlns:a="http://schemas.openxmlformats.org/drawingml/2006/main">
              <a:ext uri="{FF2B5EF4-FFF2-40B4-BE49-F238E27FC236}">
                <a16:creationId xmlns:a16="http://schemas.microsoft.com/office/drawing/2014/main" id="{4F54596D-0C04-43A1-88CA-355CCAC7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819525"/>
            <a:ext cx="18859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H_TO_V_RSP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RSP</a:t>
            </a:r>
            <a:endParaRPr sz="1350" b="1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diagram-18">
            <a:extLst xmlns:a="http://schemas.openxmlformats.org/drawingml/2006/main">
              <a:ext uri="{FF2B5EF4-FFF2-40B4-BE49-F238E27FC236}">
                <a16:creationId xmlns:a16="http://schemas.microsoft.com/office/drawing/2014/main" id="{56A4AEB2-7407-49A0-A179-1606AE5C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814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CW Queue</a:t>
            </a:r>
            <a:endParaRPr sz="1400" b="1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diagram-19">
            <a:extLst xmlns:a="http://schemas.openxmlformats.org/drawingml/2006/main">
              <a:ext uri="{FF2B5EF4-FFF2-40B4-BE49-F238E27FC236}">
                <a16:creationId xmlns:a16="http://schemas.microsoft.com/office/drawing/2014/main" id="{E7CF7BAB-E278-44F7-92FB-D42BF25B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624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CCW Queue</a:t>
            </a:r>
            <a:endParaRPr sz="1400" b="1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83" name="直接箭头连接符 80"/>
          <p:cNvCxnSpPr/>
          <p:nvPr/>
        </p:nvCxnSpPr>
        <p:spPr>
          <a:xfrm xmlns:a="http://schemas.openxmlformats.org/drawingml/2006/main" flipH="1">
            <a:off x="6105525" y="4110038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84" name="连接符: 肘形 81"/>
          <p:cNvCxnSpPr/>
          <p:nvPr/>
        </p:nvCxnSpPr>
        <p:spPr>
          <a:xfrm xmlns:a="http://schemas.openxmlformats.org/drawingml/2006/main" flipH="1" flipV="1">
            <a:off x="3762375" y="3924300"/>
            <a:ext cx="457200" cy="1857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85" name="连接符: 肘形 82"/>
          <p:cNvCxnSpPr/>
          <p:nvPr/>
        </p:nvCxnSpPr>
        <p:spPr>
          <a:xfrm xmlns:a="http://schemas.openxmlformats.org/drawingml/2006/main" flipH="1">
            <a:off x="1323975" y="3924300"/>
            <a:ext cx="342900" cy="1857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86" name="连接符: 肘形 83"/>
          <p:cNvCxnSpPr/>
          <p:nvPr/>
        </p:nvCxnSpPr>
        <p:spPr>
          <a:xfrm xmlns:a="http://schemas.openxmlformats.org/drawingml/2006/main" flipH="1">
            <a:off x="3762375" y="4110038"/>
            <a:ext cx="457200" cy="1952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87" name="连接符: 肘形 84"/>
          <p:cNvCxnSpPr/>
          <p:nvPr/>
        </p:nvCxnSpPr>
        <p:spPr>
          <a:xfrm xmlns:a="http://schemas.openxmlformats.org/drawingml/2006/main" flipH="1" flipV="1">
            <a:off x="1323975" y="4110038"/>
            <a:ext cx="342900" cy="1952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7030A0"/>
            </a:solidFill>
            <a:prstDash val="solid"/>
            <a:tailEnd type="triangle" w="med" len="med"/>
          </a:ln>
        </p:spPr>
      </p:cxnSp>
      <p:sp>
        <p:nvSpPr>
          <p:cNvPr id="36" name="diagram-20">
            <a:extLst xmlns:a="http://schemas.openxmlformats.org/drawingml/2006/main">
              <a:ext uri="{FF2B5EF4-FFF2-40B4-BE49-F238E27FC236}">
                <a16:creationId xmlns:a16="http://schemas.microsoft.com/office/drawing/2014/main" id="{4978BDCD-46C0-4C6E-82A4-9839641C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781550"/>
            <a:ext cx="7429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V端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37" name="diagram-21">
            <a:extLst xmlns:a="http://schemas.openxmlformats.org/drawingml/2006/main">
              <a:ext uri="{FF2B5EF4-FFF2-40B4-BE49-F238E27FC236}">
                <a16:creationId xmlns:a16="http://schemas.microsoft.com/office/drawing/2014/main" id="{128D888D-D808-4B4F-973B-31A785CD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781550"/>
            <a:ext cx="7334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H端</a:t>
            </a:r>
            <a:endParaRPr sz="1425" b="1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  <a:endParaRPr sz="1425" b="1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diagram-22">
            <a:extLst xmlns:a="http://schemas.openxmlformats.org/drawingml/2006/main">
              <a:ext uri="{FF2B5EF4-FFF2-40B4-BE49-F238E27FC236}">
                <a16:creationId xmlns:a16="http://schemas.microsoft.com/office/drawing/2014/main" id="{AAAD83ED-00BC-497F-A853-2A53A14B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772025"/>
            <a:ext cx="18859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H_TO_V_DAT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RD DAT</a:t>
            </a:r>
            <a:endParaRPr sz="1350" b="1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diagram-23">
            <a:extLst xmlns:a="http://schemas.openxmlformats.org/drawingml/2006/main">
              <a:ext uri="{FF2B5EF4-FFF2-40B4-BE49-F238E27FC236}">
                <a16:creationId xmlns:a16="http://schemas.microsoft.com/office/drawing/2014/main" id="{58A8D477-F9F1-4468-A6BA-C15626A0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339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CW Queue</a:t>
            </a:r>
            <a:endParaRPr sz="1400" b="1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" name="diagram-24">
            <a:extLst xmlns:a="http://schemas.openxmlformats.org/drawingml/2006/main">
              <a:ext uri="{FF2B5EF4-FFF2-40B4-BE49-F238E27FC236}">
                <a16:creationId xmlns:a16="http://schemas.microsoft.com/office/drawing/2014/main" id="{C82615DC-AAAA-4736-93F6-5C9CFCC3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149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CCW Queue</a:t>
            </a:r>
            <a:endParaRPr sz="1400" b="1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3" name="直接箭头连接符 90"/>
          <p:cNvCxnSpPr/>
          <p:nvPr/>
        </p:nvCxnSpPr>
        <p:spPr>
          <a:xfrm xmlns:a="http://schemas.openxmlformats.org/drawingml/2006/main" flipH="1">
            <a:off x="6105525" y="5062538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94" name="连接符: 肘形 91"/>
          <p:cNvCxnSpPr/>
          <p:nvPr/>
        </p:nvCxnSpPr>
        <p:spPr>
          <a:xfrm xmlns:a="http://schemas.openxmlformats.org/drawingml/2006/main" flipH="1" flipV="1">
            <a:off x="3762375" y="4876800"/>
            <a:ext cx="457200" cy="1857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95" name="连接符: 肘形 92"/>
          <p:cNvCxnSpPr/>
          <p:nvPr/>
        </p:nvCxnSpPr>
        <p:spPr>
          <a:xfrm xmlns:a="http://schemas.openxmlformats.org/drawingml/2006/main" flipH="1">
            <a:off x="1323975" y="4876800"/>
            <a:ext cx="342900" cy="1857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96" name="连接符: 肘形 93"/>
          <p:cNvCxnSpPr/>
          <p:nvPr/>
        </p:nvCxnSpPr>
        <p:spPr>
          <a:xfrm xmlns:a="http://schemas.openxmlformats.org/drawingml/2006/main" flipH="1">
            <a:off x="3762375" y="5062538"/>
            <a:ext cx="457200" cy="1952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97" name="连接符: 肘形 94"/>
          <p:cNvCxnSpPr/>
          <p:nvPr/>
        </p:nvCxnSpPr>
        <p:spPr>
          <a:xfrm xmlns:a="http://schemas.openxmlformats.org/drawingml/2006/main" flipH="1" flipV="1">
            <a:off x="1323975" y="5062538"/>
            <a:ext cx="342900" cy="1952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46" name="txt-25">
            <a:extLst xmlns:a="http://schemas.openxmlformats.org/drawingml/2006/main">
              <a:ext uri="{FF2B5EF4-FFF2-40B4-BE49-F238E27FC236}">
                <a16:creationId xmlns:a16="http://schemas.microsoft.com/office/drawing/2014/main" id="{7CD3728F-26F9-4FD3-97AC-6610331B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362075"/>
            <a:ext cx="3981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四条协议路径</a:t>
            </a:r>
          </a:p>
        </p:txBody>
      </p:sp>
      <p:sp>
        <p:nvSpPr>
          <p:cNvPr id="47" name="bullet-list-27">
            <a:extLst xmlns:a="http://schemas.openxmlformats.org/drawingml/2006/main">
              <a:ext uri="{FF2B5EF4-FFF2-40B4-BE49-F238E27FC236}">
                <a16:creationId xmlns:a16="http://schemas.microsoft.com/office/drawing/2014/main" id="{98EA8C94-1DC1-40AE-A765-39112D47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800225"/>
            <a:ext cx="3981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V-Ring向H-Ring传递请求和写数据。</a:t>
            </a:r>
          </a:p>
          <a:p xmlns:a="http://schemas.openxmlformats.org/drawingml/2006/main"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H-Ring向V-Ring返回完成响应和读数据。</a:t>
            </a:r>
          </a:p>
        </p:txBody>
      </p:sp>
      <p:sp>
        <p:nvSpPr>
          <p:cNvPr id="48" name="txt-28">
            <a:extLst xmlns:a="http://schemas.openxmlformats.org/drawingml/2006/main">
              <a:ext uri="{FF2B5EF4-FFF2-40B4-BE49-F238E27FC236}">
                <a16:creationId xmlns:a16="http://schemas.microsoft.com/office/drawing/2014/main" id="{466259E7-6AB0-4EF9-90EB-7B77F299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209925"/>
            <a:ext cx="3981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按方向配置资源</a:t>
            </a:r>
          </a:p>
        </p:txBody>
      </p:sp>
      <p:sp>
        <p:nvSpPr>
          <p:cNvPr id="49" name="bullet-list-30">
            <a:extLst xmlns:a="http://schemas.openxmlformats.org/drawingml/2006/main">
              <a:ext uri="{FF2B5EF4-FFF2-40B4-BE49-F238E27FC236}">
                <a16:creationId xmlns:a16="http://schemas.microsoft.com/office/drawing/2014/main" id="{E6A25D17-53E8-4675-B00A-F0E63EC8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638550"/>
            <a:ext cx="39814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各路径分别设置CW和CCW</a:t>
            </a: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Queue</a:t>
            </a: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及串行化资源</a:t>
            </a: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 xmlns:a="http://schemas.openxmlformats.org/drawingml/2006/main"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目标注入队列可接收，且串行化资源空闲时，才允许换环</a:t>
            </a: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0" name="txt-31">
            <a:extLst xmlns:a="http://schemas.openxmlformats.org/drawingml/2006/main">
              <a:ext uri="{FF2B5EF4-FFF2-40B4-BE49-F238E27FC236}">
                <a16:creationId xmlns:a16="http://schemas.microsoft.com/office/drawing/2014/main" id="{23D33755-EE18-43E5-870F-8C5C2317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238750"/>
            <a:ext cx="3981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启动后的数据归属</a:t>
            </a:r>
          </a:p>
        </p:txBody>
      </p:sp>
      <p:sp>
        <p:nvSpPr>
          <p:cNvPr id="51" name="txt-32">
            <a:extLst xmlns:a="http://schemas.openxmlformats.org/drawingml/2006/main">
              <a:ext uri="{FF2B5EF4-FFF2-40B4-BE49-F238E27FC236}">
                <a16:creationId xmlns:a16="http://schemas.microsoft.com/office/drawing/2014/main" id="{9F1062C7-C041-482B-893B-C9DFFBA9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638800"/>
            <a:ext cx="3981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启动成功后来源出队，由串行化器持有包，随后交给目标注入队列</a:t>
            </a: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2" name="txt-33">
            <a:extLst xmlns:a="http://schemas.openxmlformats.org/drawingml/2006/main">
              <a:ext uri="{FF2B5EF4-FFF2-40B4-BE49-F238E27FC236}">
                <a16:creationId xmlns:a16="http://schemas.microsoft.com/office/drawing/2014/main" id="{E5EB8613-39B6-4328-971B-D63667BA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29350"/>
            <a:ext cx="11391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方向说明：CW为顺时针，CCW为逆时针。队列和串行化资源按协议路径与方向组织</a:t>
            </a: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3" name="share-155">
            <a:extLst xmlns:a="http://schemas.openxmlformats.org/drawingml/2006/main">
              <a:ext uri="{FF2B5EF4-FFF2-40B4-BE49-F238E27FC236}">
                <a16:creationId xmlns:a16="http://schemas.microsoft.com/office/drawing/2014/main" id="{79B90344-085D-471E-8D9C-D2ECADE3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195418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rch-text-35">
            <a:extLst xmlns:a="http://schemas.openxmlformats.org/drawingml/2006/main">
              <a:ext uri="{FF2B5EF4-FFF2-40B4-BE49-F238E27FC236}">
                <a16:creationId xmlns:a16="http://schemas.microsoft.com/office/drawing/2014/main" id="{F97DE25D-7CCE-4BE2-AA23-58F32552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跨环交接：来源队列与串行化器的责任边界</a:t>
            </a:r>
          </a:p>
        </p:txBody>
      </p:sp>
      <p:sp>
        <p:nvSpPr>
          <p:cNvPr id="2" name="arch-text-36">
            <a:extLst xmlns:a="http://schemas.openxmlformats.org/drawingml/2006/main">
              <a:ext uri="{FF2B5EF4-FFF2-40B4-BE49-F238E27FC236}">
                <a16:creationId xmlns:a16="http://schemas.microsoft.com/office/drawing/2014/main" id="{18AAE34B-C4A3-4689-86EF-AC4EE8B7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一次换环包含启动检查、串行化暂存和目标注入，三个时刻对应不同的状态变化。</a:t>
            </a:r>
          </a:p>
        </p:txBody>
      </p:sp>
      <p:sp>
        <p:nvSpPr>
          <p:cNvPr id="3" name="arch-text-37">
            <a:extLst xmlns:a="http://schemas.openxmlformats.org/drawingml/2006/main">
              <a:ext uri="{FF2B5EF4-FFF2-40B4-BE49-F238E27FC236}">
                <a16:creationId xmlns:a16="http://schemas.microsoft.com/office/drawing/2014/main" id="{14E74434-FA68-447F-A95E-89D59B9D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arch-diagram-38">
            <a:extLst xmlns:a="http://schemas.openxmlformats.org/drawingml/2006/main">
              <a:ext uri="{FF2B5EF4-FFF2-40B4-BE49-F238E27FC236}">
                <a16:creationId xmlns:a16="http://schemas.microsoft.com/office/drawing/2014/main" id="{01B0EF3A-857D-47FD-A5F9-9B40CA39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71700"/>
            <a:ext cx="24003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来源弹出队列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保留队首包</a:t>
            </a:r>
          </a:p>
        </p:txBody>
      </p:sp>
      <p:sp>
        <p:nvSpPr>
          <p:cNvPr id="5" name="arch-diagram-39">
            <a:extLst xmlns:a="http://schemas.openxmlformats.org/drawingml/2006/main">
              <a:ext uri="{FF2B5EF4-FFF2-40B4-BE49-F238E27FC236}">
                <a16:creationId xmlns:a16="http://schemas.microsoft.com/office/drawing/2014/main" id="{757AE926-BE1C-48EF-B7B4-BFE71E3F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71700"/>
            <a:ext cx="29527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RBRG串行化器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接管包并占用带宽</a:t>
            </a:r>
          </a:p>
        </p:txBody>
      </p:sp>
      <p:sp>
        <p:nvSpPr>
          <p:cNvPr id="6" name="arch-diagram-40">
            <a:extLst xmlns:a="http://schemas.openxmlformats.org/drawingml/2006/main">
              <a:ext uri="{FF2B5EF4-FFF2-40B4-BE49-F238E27FC236}">
                <a16:creationId xmlns:a16="http://schemas.microsoft.com/office/drawing/2014/main" id="{D8650602-9B5E-473A-A1BF-A203CC00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71700"/>
            <a:ext cx="27146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目标注入队列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进入新的Ring段</a:t>
            </a:r>
          </a:p>
        </p:txBody>
      </p:sp>
      <p:cxnSp>
        <p:nvCxnSpPr>
          <p:cNvPr id="3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28925" y="2643188"/>
            <a:ext cx="1590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372350" y="2643188"/>
            <a:ext cx="1552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8235"/>
            </a:solidFill>
            <a:tailEnd type="triangle" w="sm" len="sm"/>
          </a:ln>
        </p:spPr>
      </p:cxnSp>
      <p:sp>
        <p:nvSpPr>
          <p:cNvPr id="9" name="arch-text-41">
            <a:extLst xmlns:a="http://schemas.openxmlformats.org/drawingml/2006/main">
              <a:ext uri="{FF2B5EF4-FFF2-40B4-BE49-F238E27FC236}">
                <a16:creationId xmlns:a16="http://schemas.microsoft.com/office/drawing/2014/main" id="{805C4634-D508-454B-9F59-E13A886C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29025"/>
            <a:ext cx="309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启动条件</a:t>
            </a:r>
          </a:p>
        </p:txBody>
      </p:sp>
      <p:sp>
        <p:nvSpPr>
          <p:cNvPr id="10" name="arch-text-42">
            <a:extLst xmlns:a="http://schemas.openxmlformats.org/drawingml/2006/main">
              <a:ext uri="{FF2B5EF4-FFF2-40B4-BE49-F238E27FC236}">
                <a16:creationId xmlns:a16="http://schemas.microsoft.com/office/drawing/2014/main" id="{9CF46D4A-72C7-4E1E-916C-67C79A9A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181475"/>
            <a:ext cx="31146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目标方向有注入空间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对应串行化器空闲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条件不满足则来源不出队</a:t>
            </a:r>
          </a:p>
        </p:txBody>
      </p:sp>
      <p:sp>
        <p:nvSpPr>
          <p:cNvPr id="11" name="arch-text-43">
            <a:extLst xmlns:a="http://schemas.openxmlformats.org/drawingml/2006/main">
              <a:ext uri="{FF2B5EF4-FFF2-40B4-BE49-F238E27FC236}">
                <a16:creationId xmlns:a16="http://schemas.microsoft.com/office/drawing/2014/main" id="{A2A4895E-149F-4026-BA3E-31A8AA09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290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启动时刻 t</a:t>
            </a:r>
          </a:p>
        </p:txBody>
      </p:sp>
      <p:sp>
        <p:nvSpPr>
          <p:cNvPr id="12" name="arch-text-44">
            <a:extLst xmlns:a="http://schemas.openxmlformats.org/drawingml/2006/main">
              <a:ext uri="{FF2B5EF4-FFF2-40B4-BE49-F238E27FC236}">
                <a16:creationId xmlns:a16="http://schemas.microsoft.com/office/drawing/2014/main" id="{4D11EB49-D9BA-47E7-A34D-0E5ABE69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81475"/>
            <a:ext cx="33337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来源队首出队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包由串行化器持有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当前方向带宽进入忙状态</a:t>
            </a:r>
          </a:p>
        </p:txBody>
      </p:sp>
      <p:sp>
        <p:nvSpPr>
          <p:cNvPr id="13" name="arch-text-45">
            <a:extLst xmlns:a="http://schemas.openxmlformats.org/drawingml/2006/main">
              <a:ext uri="{FF2B5EF4-FFF2-40B4-BE49-F238E27FC236}">
                <a16:creationId xmlns:a16="http://schemas.microsoft.com/office/drawing/2014/main" id="{1A7D9A37-FED3-4A24-9F63-33031E9B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2902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交接与带宽恢复</a:t>
            </a:r>
          </a:p>
        </p:txBody>
      </p:sp>
      <p:sp>
        <p:nvSpPr>
          <p:cNvPr id="14" name="arch-text-46">
            <a:extLst xmlns:a="http://schemas.openxmlformats.org/drawingml/2006/main">
              <a:ext uri="{FF2B5EF4-FFF2-40B4-BE49-F238E27FC236}">
                <a16:creationId xmlns:a16="http://schemas.microsoft.com/office/drawing/2014/main" id="{16CC4E6F-4D1E-4E69-B3A6-D046B885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81475"/>
            <a:ext cx="31527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 + Sᵦ − 1：进入目标队列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 + Sᵦ：换环带宽恢复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目标环首跳重新计序列化</a:t>
            </a:r>
          </a:p>
        </p:txBody>
      </p:sp>
      <p:sp>
        <p:nvSpPr>
          <p:cNvPr id="15" name="arch-line-47">
            <a:extLst xmlns:a="http://schemas.openxmlformats.org/drawingml/2006/main">
              <a:ext uri="{FF2B5EF4-FFF2-40B4-BE49-F238E27FC236}">
                <a16:creationId xmlns:a16="http://schemas.microsoft.com/office/drawing/2014/main" id="{0CD347E4-2774-429D-BCA1-48D8D231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150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16" name="arch-text-48">
            <a:extLst xmlns:a="http://schemas.openxmlformats.org/drawingml/2006/main">
              <a:ext uri="{FF2B5EF4-FFF2-40B4-BE49-F238E27FC236}">
                <a16:creationId xmlns:a16="http://schemas.microsoft.com/office/drawing/2014/main" id="{A7EC52FA-5588-480D-817C-9CBBFE03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00750"/>
            <a:ext cx="5514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Sᵦ = max(1, ceil(P / Wᵦ))</a:t>
            </a:r>
          </a:p>
        </p:txBody>
      </p:sp>
      <p:sp>
        <p:nvSpPr>
          <p:cNvPr id="17" name="arch-text-49">
            <a:extLst xmlns:a="http://schemas.openxmlformats.org/drawingml/2006/main">
              <a:ext uri="{FF2B5EF4-FFF2-40B4-BE49-F238E27FC236}">
                <a16:creationId xmlns:a16="http://schemas.microsoft.com/office/drawing/2014/main" id="{F2AD403F-961B-401C-A8A6-FE7DC849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67425"/>
            <a:ext cx="55530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P为包字节数，Wᵦ为RBRG每周期传输字节数。</a:t>
            </a:r>
          </a:p>
        </p:txBody>
      </p:sp>
    </p:spTree>
    <p:extLst>
      <p:ext uri="{BB962C8B-B14F-4D97-AF65-F5344CB8AC3E}">
        <p14:creationId xmlns:p14="http://schemas.microsoft.com/office/powerpoint/2010/main" val="6932877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xt-34">
            <a:extLst xmlns:a="http://schemas.openxmlformats.org/drawingml/2006/main">
              <a:ext uri="{FF2B5EF4-FFF2-40B4-BE49-F238E27FC236}">
                <a16:creationId xmlns:a16="http://schemas.microsoft.com/office/drawing/2014/main" id="{F05D9B5B-F422-4E9D-A3DA-BE99D8F5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包级时序：延迟与带宽分别建模</a:t>
            </a:r>
          </a:p>
        </p:txBody>
      </p:sp>
      <p:sp>
        <p:nvSpPr>
          <p:cNvPr id="3" name="txt-35">
            <a:extLst xmlns:a="http://schemas.openxmlformats.org/drawingml/2006/main">
              <a:ext uri="{FF2B5EF4-FFF2-40B4-BE49-F238E27FC236}">
                <a16:creationId xmlns:a16="http://schemas.microsoft.com/office/drawing/2014/main" id="{82AD0238-F06F-4B0F-954A-140B01E6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667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以包为调度单位。下列段延迟公式适用于无额外排队与仲裁等待的情况。</a:t>
            </a:r>
          </a:p>
        </p:txBody>
      </p:sp>
      <p:sp>
        <p:nvSpPr>
          <p:cNvPr id="4" name="diagram-36">
            <a:extLst xmlns:a="http://schemas.openxmlformats.org/drawingml/2006/main">
              <a:ext uri="{FF2B5EF4-FFF2-40B4-BE49-F238E27FC236}">
                <a16:creationId xmlns:a16="http://schemas.microsoft.com/office/drawing/2014/main" id="{2EEE62C7-4483-4B99-9B2D-5914A982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90650"/>
            <a:ext cx="70485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0286B"/>
            </a:solidFill>
            <a:prstDash val="solid"/>
          </a:ln>
        </p:spPr>
      </p:sp>
      <p:sp>
        <p:nvSpPr>
          <p:cNvPr id="5" name="txt-37">
            <a:extLst xmlns:a="http://schemas.openxmlformats.org/drawingml/2006/main">
              <a:ext uri="{FF2B5EF4-FFF2-40B4-BE49-F238E27FC236}">
                <a16:creationId xmlns:a16="http://schemas.microsoft.com/office/drawing/2014/main" id="{294F3497-1C1B-4584-8275-1E4B30D4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33525"/>
            <a:ext cx="647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Ring段内的传输流水</a:t>
            </a:r>
          </a:p>
        </p:txBody>
      </p:sp>
      <p:sp>
        <p:nvSpPr>
          <p:cNvPr id="6" name="txt-38">
            <a:extLst xmlns:a="http://schemas.openxmlformats.org/drawingml/2006/main">
              <a:ext uri="{FF2B5EF4-FFF2-40B4-BE49-F238E27FC236}">
                <a16:creationId xmlns:a16="http://schemas.microsoft.com/office/drawing/2014/main" id="{04D67B91-3472-4BDE-8B50-AD11EAE1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057400"/>
            <a:ext cx="1114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首跳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(S − 1) + L</a:t>
            </a:r>
          </a:p>
        </p:txBody>
      </p:sp>
      <p:sp>
        <p:nvSpPr>
          <p:cNvPr id="7" name="txt-39">
            <a:extLst xmlns:a="http://schemas.openxmlformats.org/drawingml/2006/main">
              <a:ext uri="{FF2B5EF4-FFF2-40B4-BE49-F238E27FC236}">
                <a16:creationId xmlns:a16="http://schemas.microsoft.com/office/drawing/2014/main" id="{75E7D002-590F-4DC8-9D38-88705C79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057400"/>
            <a:ext cx="1114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后续每跳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</a:t>
            </a:r>
          </a:p>
        </p:txBody>
      </p:sp>
      <p:sp>
        <p:nvSpPr>
          <p:cNvPr id="8" name="diagram-40">
            <a:extLst xmlns:a="http://schemas.openxmlformats.org/drawingml/2006/main">
              <a:ext uri="{FF2B5EF4-FFF2-40B4-BE49-F238E27FC236}">
                <a16:creationId xmlns:a16="http://schemas.microsoft.com/office/drawing/2014/main" id="{91016AC8-ADD4-4E24-8782-05D37C30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11049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注入队列</a:t>
            </a:r>
          </a:p>
        </p:txBody>
      </p:sp>
      <p:sp>
        <p:nvSpPr>
          <p:cNvPr id="9" name="diagram-41">
            <a:extLst xmlns:a="http://schemas.openxmlformats.org/drawingml/2006/main">
              <a:ext uri="{FF2B5EF4-FFF2-40B4-BE49-F238E27FC236}">
                <a16:creationId xmlns:a16="http://schemas.microsoft.com/office/drawing/2014/main" id="{431CAA23-3297-44E9-B88F-20263C15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800350"/>
            <a:ext cx="11049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Conn 0</a:t>
            </a:r>
          </a:p>
        </p:txBody>
      </p:sp>
      <p:sp>
        <p:nvSpPr>
          <p:cNvPr id="10" name="diagram-42">
            <a:extLst xmlns:a="http://schemas.openxmlformats.org/drawingml/2006/main">
              <a:ext uri="{FF2B5EF4-FFF2-40B4-BE49-F238E27FC236}">
                <a16:creationId xmlns:a16="http://schemas.microsoft.com/office/drawing/2014/main" id="{6B9514ED-1BFA-48E1-B46D-C044B77F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00350"/>
            <a:ext cx="11049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交叉节点</a:t>
            </a:r>
          </a:p>
        </p:txBody>
      </p:sp>
      <p:sp>
        <p:nvSpPr>
          <p:cNvPr id="11" name="diagram-43">
            <a:extLst xmlns:a="http://schemas.openxmlformats.org/drawingml/2006/main">
              <a:ext uri="{FF2B5EF4-FFF2-40B4-BE49-F238E27FC236}">
                <a16:creationId xmlns:a16="http://schemas.microsoft.com/office/drawing/2014/main" id="{22C5EAD2-456F-47AA-A53C-4746E8D3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00350"/>
            <a:ext cx="11049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Conn 1</a:t>
            </a:r>
          </a:p>
        </p:txBody>
      </p:sp>
      <p:sp>
        <p:nvSpPr>
          <p:cNvPr id="12" name="diagram-44">
            <a:extLst xmlns:a="http://schemas.openxmlformats.org/drawingml/2006/main">
              <a:ext uri="{FF2B5EF4-FFF2-40B4-BE49-F238E27FC236}">
                <a16:creationId xmlns:a16="http://schemas.microsoft.com/office/drawing/2014/main" id="{02A667F3-B69B-40D1-9DBE-67883F2F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00350"/>
            <a:ext cx="11049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弹出队列</a:t>
            </a:r>
          </a:p>
        </p:txBody>
      </p:sp>
      <p:cxnSp>
        <p:nvCxnSpPr>
          <p:cNvPr id="44" name="直接箭头连接符 41"/>
          <p:cNvCxnSpPr/>
          <p:nvPr/>
        </p:nvCxnSpPr>
        <p:spPr>
          <a:xfrm xmlns:a="http://schemas.openxmlformats.org/drawingml/2006/main">
            <a:off x="1676400" y="3081338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45" name="直接箭头连接符 42"/>
          <p:cNvCxnSpPr/>
          <p:nvPr/>
        </p:nvCxnSpPr>
        <p:spPr>
          <a:xfrm xmlns:a="http://schemas.openxmlformats.org/drawingml/2006/main">
            <a:off x="3019425" y="3081338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46" name="直接箭头连接符 43"/>
          <p:cNvCxnSpPr/>
          <p:nvPr/>
        </p:nvCxnSpPr>
        <p:spPr>
          <a:xfrm xmlns:a="http://schemas.openxmlformats.org/drawingml/2006/main">
            <a:off x="4362450" y="3081338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47" name="直接箭头连接符 44"/>
          <p:cNvCxnSpPr/>
          <p:nvPr/>
        </p:nvCxnSpPr>
        <p:spPr>
          <a:xfrm xmlns:a="http://schemas.openxmlformats.org/drawingml/2006/main">
            <a:off x="5705475" y="3081338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17" name="txt-45">
            <a:extLst xmlns:a="http://schemas.openxmlformats.org/drawingml/2006/main">
              <a:ext uri="{FF2B5EF4-FFF2-40B4-BE49-F238E27FC236}">
                <a16:creationId xmlns:a16="http://schemas.microsoft.com/office/drawing/2014/main" id="{4EC595AA-A1F8-4DA4-9B94-E268579B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进入新段</a:t>
            </a:r>
          </a:p>
        </p:txBody>
      </p:sp>
      <p:sp>
        <p:nvSpPr>
          <p:cNvPr id="18" name="txt-46">
            <a:extLst xmlns:a="http://schemas.openxmlformats.org/drawingml/2006/main">
              <a:ext uri="{FF2B5EF4-FFF2-40B4-BE49-F238E27FC236}">
                <a16:creationId xmlns:a16="http://schemas.microsoft.com/office/drawing/2014/main" id="{DFC64EF5-2191-4971-93F0-7C870D64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5052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首跳计入序列化</a:t>
            </a:r>
          </a:p>
        </p:txBody>
      </p:sp>
      <p:sp>
        <p:nvSpPr>
          <p:cNvPr id="19" name="txt-47">
            <a:extLst xmlns:a="http://schemas.openxmlformats.org/drawingml/2006/main">
              <a:ext uri="{FF2B5EF4-FFF2-40B4-BE49-F238E27FC236}">
                <a16:creationId xmlns:a16="http://schemas.microsoft.com/office/drawing/2014/main" id="{D95E8450-E3F7-4DB6-BACC-F680A276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0520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本段后续跳仅累加传播延迟</a:t>
            </a:r>
            <a:endParaRPr sz="1350" b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txt-48">
            <a:extLst xmlns:a="http://schemas.openxmlformats.org/drawingml/2006/main">
              <a:ext uri="{FF2B5EF4-FFF2-40B4-BE49-F238E27FC236}">
                <a16:creationId xmlns:a16="http://schemas.microsoft.com/office/drawing/2014/main" id="{88D8FDCF-14A9-41ED-86E3-4C6AEDEA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862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两跳算例</a:t>
            </a:r>
          </a:p>
        </p:txBody>
      </p:sp>
      <p:sp>
        <p:nvSpPr>
          <p:cNvPr id="21" name="txt-49">
            <a:extLst xmlns:a="http://schemas.openxmlformats.org/drawingml/2006/main">
              <a:ext uri="{FF2B5EF4-FFF2-40B4-BE49-F238E27FC236}">
                <a16:creationId xmlns:a16="http://schemas.microsoft.com/office/drawing/2014/main" id="{49F2C07D-9BC6-44A1-A27D-89CC0B29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647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包大小512字节，链路宽度128字节/</a:t>
            </a: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周期</a:t>
            </a:r>
            <a:endParaRPr sz="1575" b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txt-50">
            <a:extLst xmlns:a="http://schemas.openxmlformats.org/drawingml/2006/main">
              <a:ext uri="{FF2B5EF4-FFF2-40B4-BE49-F238E27FC236}">
                <a16:creationId xmlns:a16="http://schemas.microsoft.com/office/drawing/2014/main" id="{1AC49BA6-EE1F-4170-8495-ADB1E83C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647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 = 4，H = 2，L = 1</a:t>
            </a:r>
          </a:p>
        </p:txBody>
      </p:sp>
      <p:sp>
        <p:nvSpPr>
          <p:cNvPr id="23" name="txt-51">
            <a:extLst xmlns:a="http://schemas.openxmlformats.org/drawingml/2006/main">
              <a:ext uri="{FF2B5EF4-FFF2-40B4-BE49-F238E27FC236}">
                <a16:creationId xmlns:a16="http://schemas.microsoft.com/office/drawing/2014/main" id="{07AFFB5D-462D-474E-87BD-8A53178C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段延迟 = (4 − 1) + 2 × 1 = 5周期</a:t>
            </a:r>
          </a:p>
        </p:txBody>
      </p:sp>
      <p:sp>
        <p:nvSpPr>
          <p:cNvPr id="24" name="txt-52">
            <a:extLst xmlns:a="http://schemas.openxmlformats.org/drawingml/2006/main">
              <a:ext uri="{FF2B5EF4-FFF2-40B4-BE49-F238E27FC236}">
                <a16:creationId xmlns:a16="http://schemas.microsoft.com/office/drawing/2014/main" id="{D58203EF-4508-4941-AB93-CC40CA6A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476375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传播与序列化延迟</a:t>
            </a:r>
          </a:p>
        </p:txBody>
      </p:sp>
      <p:sp>
        <p:nvSpPr>
          <p:cNvPr id="25" name="txt-53">
            <a:extLst xmlns:a="http://schemas.openxmlformats.org/drawingml/2006/main">
              <a:ext uri="{FF2B5EF4-FFF2-40B4-BE49-F238E27FC236}">
                <a16:creationId xmlns:a16="http://schemas.microsoft.com/office/drawing/2014/main" id="{E2F15427-200D-481C-A054-265BD8D9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885950"/>
            <a:ext cx="3981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 = max(1, ceil(P / W))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T段 = (S − 1) + H × L</a:t>
            </a:r>
          </a:p>
        </p:txBody>
      </p:sp>
      <p:sp>
        <p:nvSpPr>
          <p:cNvPr id="26" name="txt-54">
            <a:extLst xmlns:a="http://schemas.openxmlformats.org/drawingml/2006/main">
              <a:ext uri="{FF2B5EF4-FFF2-40B4-BE49-F238E27FC236}">
                <a16:creationId xmlns:a16="http://schemas.microsoft.com/office/drawing/2014/main" id="{5F8346FE-A9F0-4878-9388-D18AA671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667000"/>
            <a:ext cx="3981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ceil表示向上取整。P为包大小，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W为链路宽度。H为跳数，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L为单跳传播延迟。</a:t>
            </a:r>
          </a:p>
        </p:txBody>
      </p:sp>
      <p:sp>
        <p:nvSpPr>
          <p:cNvPr id="27" name="txt-55">
            <a:extLst xmlns:a="http://schemas.openxmlformats.org/drawingml/2006/main">
              <a:ext uri="{FF2B5EF4-FFF2-40B4-BE49-F238E27FC236}">
                <a16:creationId xmlns:a16="http://schemas.microsoft.com/office/drawing/2014/main" id="{80B12A90-A89C-4D02-9F68-D044379C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514725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带宽占用</a:t>
            </a:r>
          </a:p>
        </p:txBody>
      </p:sp>
      <p:sp>
        <p:nvSpPr>
          <p:cNvPr id="28" name="txt-56">
            <a:extLst xmlns:a="http://schemas.openxmlformats.org/drawingml/2006/main">
              <a:ext uri="{FF2B5EF4-FFF2-40B4-BE49-F238E27FC236}">
                <a16:creationId xmlns:a16="http://schemas.microsoft.com/office/drawing/2014/main" id="{34BBB7BD-09FC-46E0-A470-D9A620B6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933825"/>
            <a:ext cx="398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每条Conn仍独立占用S个周期。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序列化结束后，才能接收下一包。</a:t>
            </a:r>
          </a:p>
        </p:txBody>
      </p:sp>
      <p:sp>
        <p:nvSpPr>
          <p:cNvPr id="29" name="txt-57">
            <a:extLst xmlns:a="http://schemas.openxmlformats.org/drawingml/2006/main">
              <a:ext uri="{FF2B5EF4-FFF2-40B4-BE49-F238E27FC236}">
                <a16:creationId xmlns:a16="http://schemas.microsoft.com/office/drawing/2014/main" id="{9C552248-B74A-42ED-A947-7200FC59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857750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跨环与端点处理</a:t>
            </a:r>
          </a:p>
        </p:txBody>
      </p:sp>
      <p:sp>
        <p:nvSpPr>
          <p:cNvPr id="30" name="txt-58">
            <a:extLst xmlns:a="http://schemas.openxmlformats.org/drawingml/2006/main">
              <a:ext uri="{FF2B5EF4-FFF2-40B4-BE49-F238E27FC236}">
                <a16:creationId xmlns:a16="http://schemas.microsoft.com/office/drawing/2014/main" id="{55CA22D0-5A9B-4586-BFFA-B5B67B47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276850"/>
            <a:ext cx="39814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换环序列化、端点处理及排队等待另计。经RBRG进入新Ring后，重新计入该段序列化。</a:t>
            </a:r>
          </a:p>
        </p:txBody>
      </p:sp>
      <p:sp>
        <p:nvSpPr>
          <p:cNvPr id="31" name="txt-59">
            <a:extLst xmlns:a="http://schemas.openxmlformats.org/drawingml/2006/main">
              <a:ext uri="{FF2B5EF4-FFF2-40B4-BE49-F238E27FC236}">
                <a16:creationId xmlns:a16="http://schemas.microsoft.com/office/drawing/2014/main" id="{7E740AF4-E719-4E99-8FC9-00A90D9A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00775"/>
            <a:ext cx="11382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两跳算例：第二跳Reg_In在第5周期收到包。若端点另需1周期处理，则在第6周期交付。</a:t>
            </a:r>
          </a:p>
        </p:txBody>
      </p:sp>
      <p:sp>
        <p:nvSpPr>
          <p:cNvPr id="32" name="share-59">
            <a:extLst xmlns:a="http://schemas.openxmlformats.org/drawingml/2006/main">
              <a:ext uri="{FF2B5EF4-FFF2-40B4-BE49-F238E27FC236}">
                <a16:creationId xmlns:a16="http://schemas.microsoft.com/office/drawing/2014/main" id="{A34E8F0F-736B-477F-9974-5C8401E7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99862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arch-text-50">
            <a:extLst xmlns:a="http://schemas.openxmlformats.org/drawingml/2006/main">
              <a:ext uri="{FF2B5EF4-FFF2-40B4-BE49-F238E27FC236}">
                <a16:creationId xmlns:a16="http://schemas.microsoft.com/office/drawing/2014/main" id="{E6E231AD-83F3-4BA9-8216-0D2FA4CB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两包连续发送：交接时刻与带宽占用</a:t>
            </a:r>
          </a:p>
        </p:txBody>
      </p:sp>
      <p:sp>
        <p:nvSpPr>
          <p:cNvPr id="2" name="arch-text-51">
            <a:extLst xmlns:a="http://schemas.openxmlformats.org/drawingml/2006/main">
              <a:ext uri="{FF2B5EF4-FFF2-40B4-BE49-F238E27FC236}">
                <a16:creationId xmlns:a16="http://schemas.microsoft.com/office/drawing/2014/main" id="{AE7EA5E8-7764-4967-B9EC-C64C5390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理想算例：每包512字节，链路128字节/周期，单跳传播1周期，无额外排队或仲裁等待。</a:t>
            </a:r>
          </a:p>
        </p:txBody>
      </p:sp>
      <p:sp>
        <p:nvSpPr>
          <p:cNvPr id="3" name="arch-text-52">
            <a:extLst xmlns:a="http://schemas.openxmlformats.org/drawingml/2006/main">
              <a:ext uri="{FF2B5EF4-FFF2-40B4-BE49-F238E27FC236}">
                <a16:creationId xmlns:a16="http://schemas.microsoft.com/office/drawing/2014/main" id="{5CD26187-56C5-4C65-859E-D3679501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arch-text-53">
            <a:extLst xmlns:a="http://schemas.openxmlformats.org/drawingml/2006/main">
              <a:ext uri="{FF2B5EF4-FFF2-40B4-BE49-F238E27FC236}">
                <a16:creationId xmlns:a16="http://schemas.microsoft.com/office/drawing/2014/main" id="{50D5C70D-8AA9-41D1-ADE2-7D7C427F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0225"/>
            <a:ext cx="128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相对周期</a:t>
            </a:r>
          </a:p>
        </p:txBody>
      </p:sp>
      <p:sp>
        <p:nvSpPr>
          <p:cNvPr id="5" name="arch-text-54">
            <a:extLst xmlns:a="http://schemas.openxmlformats.org/drawingml/2006/main">
              <a:ext uri="{FF2B5EF4-FFF2-40B4-BE49-F238E27FC236}">
                <a16:creationId xmlns:a16="http://schemas.microsoft.com/office/drawing/2014/main" id="{0536852F-8287-4B0B-9CD3-5FE6CA63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" name="arch-text-55">
            <a:extLst xmlns:a="http://schemas.openxmlformats.org/drawingml/2006/main">
              <a:ext uri="{FF2B5EF4-FFF2-40B4-BE49-F238E27FC236}">
                <a16:creationId xmlns:a16="http://schemas.microsoft.com/office/drawing/2014/main" id="{2F760C0F-584F-41CE-BA87-BAAB4D1E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arch-text-56">
            <a:extLst xmlns:a="http://schemas.openxmlformats.org/drawingml/2006/main">
              <a:ext uri="{FF2B5EF4-FFF2-40B4-BE49-F238E27FC236}">
                <a16:creationId xmlns:a16="http://schemas.microsoft.com/office/drawing/2014/main" id="{DB5B1591-CDC1-487B-9714-A60EE376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arch-text-57">
            <a:extLst xmlns:a="http://schemas.openxmlformats.org/drawingml/2006/main">
              <a:ext uri="{FF2B5EF4-FFF2-40B4-BE49-F238E27FC236}">
                <a16:creationId xmlns:a16="http://schemas.microsoft.com/office/drawing/2014/main" id="{A0E0BB56-BA30-4E12-9F4B-3C879D41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9" name="arch-text-58">
            <a:extLst xmlns:a="http://schemas.openxmlformats.org/drawingml/2006/main">
              <a:ext uri="{FF2B5EF4-FFF2-40B4-BE49-F238E27FC236}">
                <a16:creationId xmlns:a16="http://schemas.microsoft.com/office/drawing/2014/main" id="{933184F3-EAB7-46D2-8F66-E80B8A80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arch-text-59">
            <a:extLst xmlns:a="http://schemas.openxmlformats.org/drawingml/2006/main">
              <a:ext uri="{FF2B5EF4-FFF2-40B4-BE49-F238E27FC236}">
                <a16:creationId xmlns:a16="http://schemas.microsoft.com/office/drawing/2014/main" id="{10FBADBD-20C6-416E-9C4E-9F1CFE59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1" name="arch-text-60">
            <a:extLst xmlns:a="http://schemas.openxmlformats.org/drawingml/2006/main">
              <a:ext uri="{FF2B5EF4-FFF2-40B4-BE49-F238E27FC236}">
                <a16:creationId xmlns:a16="http://schemas.microsoft.com/office/drawing/2014/main" id="{CCA5A461-8DC4-487F-ABC2-D021A1D8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2" name="arch-text-61">
            <a:extLst xmlns:a="http://schemas.openxmlformats.org/drawingml/2006/main">
              <a:ext uri="{FF2B5EF4-FFF2-40B4-BE49-F238E27FC236}">
                <a16:creationId xmlns:a16="http://schemas.microsoft.com/office/drawing/2014/main" id="{668035E1-8E81-4AE7-BCF9-E0616E0D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13" name="arch-text-62">
            <a:extLst xmlns:a="http://schemas.openxmlformats.org/drawingml/2006/main">
              <a:ext uri="{FF2B5EF4-FFF2-40B4-BE49-F238E27FC236}">
                <a16:creationId xmlns:a16="http://schemas.microsoft.com/office/drawing/2014/main" id="{3F88FF8D-CFEE-4C3A-A4EC-AADD3EB3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4" name="arch-text-63">
            <a:extLst xmlns:a="http://schemas.openxmlformats.org/drawingml/2006/main">
              <a:ext uri="{FF2B5EF4-FFF2-40B4-BE49-F238E27FC236}">
                <a16:creationId xmlns:a16="http://schemas.microsoft.com/office/drawing/2014/main" id="{5CDBB801-64FE-45FC-BE85-A0914DED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5" name="arch-text-64">
            <a:extLst xmlns:a="http://schemas.openxmlformats.org/drawingml/2006/main">
              <a:ext uri="{FF2B5EF4-FFF2-40B4-BE49-F238E27FC236}">
                <a16:creationId xmlns:a16="http://schemas.microsoft.com/office/drawing/2014/main" id="{20298BDF-8865-413E-A885-ECCE20FA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6" name="arch-text-65">
            <a:extLst xmlns:a="http://schemas.openxmlformats.org/drawingml/2006/main">
              <a:ext uri="{FF2B5EF4-FFF2-40B4-BE49-F238E27FC236}">
                <a16:creationId xmlns:a16="http://schemas.microsoft.com/office/drawing/2014/main" id="{29D72786-B047-415D-8CBB-F057838E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7" name="arch-text-66">
            <a:extLst xmlns:a="http://schemas.openxmlformats.org/drawingml/2006/main">
              <a:ext uri="{FF2B5EF4-FFF2-40B4-BE49-F238E27FC236}">
                <a16:creationId xmlns:a16="http://schemas.microsoft.com/office/drawing/2014/main" id="{2120D145-B0D8-4F94-8F9E-7EE50811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18" name="arch-line-67">
            <a:extLst xmlns:a="http://schemas.openxmlformats.org/drawingml/2006/main">
              <a:ext uri="{FF2B5EF4-FFF2-40B4-BE49-F238E27FC236}">
                <a16:creationId xmlns:a16="http://schemas.microsoft.com/office/drawing/2014/main" id="{1C452747-9435-4946-A4BE-3901FE3E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00275"/>
            <a:ext cx="845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19" name="arch-text-68">
            <a:extLst xmlns:a="http://schemas.openxmlformats.org/drawingml/2006/main">
              <a:ext uri="{FF2B5EF4-FFF2-40B4-BE49-F238E27FC236}">
                <a16:creationId xmlns:a16="http://schemas.microsoft.com/office/drawing/2014/main" id="{3EDD5689-D292-4DB1-975E-70C0EBD8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71750"/>
            <a:ext cx="123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Conn 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带宽占用</a:t>
            </a:r>
          </a:p>
        </p:txBody>
      </p:sp>
      <p:sp>
        <p:nvSpPr>
          <p:cNvPr id="20" name="arch-diagram-69">
            <a:extLst xmlns:a="http://schemas.openxmlformats.org/drawingml/2006/main">
              <a:ext uri="{FF2B5EF4-FFF2-40B4-BE49-F238E27FC236}">
                <a16:creationId xmlns:a16="http://schemas.microsoft.com/office/drawing/2014/main" id="{C790F7CD-A8AF-4F27-92C6-6FE75269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62225"/>
            <a:ext cx="2819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包A：占用4周期</a:t>
            </a:r>
          </a:p>
        </p:txBody>
      </p:sp>
      <p:sp>
        <p:nvSpPr>
          <p:cNvPr id="21" name="arch-diagram-70">
            <a:extLst xmlns:a="http://schemas.openxmlformats.org/drawingml/2006/main">
              <a:ext uri="{FF2B5EF4-FFF2-40B4-BE49-F238E27FC236}">
                <a16:creationId xmlns:a16="http://schemas.microsoft.com/office/drawing/2014/main" id="{E0C54B31-3893-44F9-9051-EC1323A1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62225"/>
            <a:ext cx="2819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包B：占用4周期</a:t>
            </a:r>
          </a:p>
        </p:txBody>
      </p:sp>
      <p:sp>
        <p:nvSpPr>
          <p:cNvPr id="22" name="arch-text-71">
            <a:extLst xmlns:a="http://schemas.openxmlformats.org/drawingml/2006/main">
              <a:ext uri="{FF2B5EF4-FFF2-40B4-BE49-F238E27FC236}">
                <a16:creationId xmlns:a16="http://schemas.microsoft.com/office/drawing/2014/main" id="{C53E48EE-2428-49CE-819C-D5D67C6D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0"/>
            <a:ext cx="123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Conn 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带宽占用</a:t>
            </a:r>
          </a:p>
        </p:txBody>
      </p:sp>
      <p:sp>
        <p:nvSpPr>
          <p:cNvPr id="23" name="arch-diagram-72">
            <a:extLst xmlns:a="http://schemas.openxmlformats.org/drawingml/2006/main">
              <a:ext uri="{FF2B5EF4-FFF2-40B4-BE49-F238E27FC236}">
                <a16:creationId xmlns:a16="http://schemas.microsoft.com/office/drawing/2014/main" id="{BD4FD0DC-E68A-48B2-AD8A-C2D7EA20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00475"/>
            <a:ext cx="2819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包A：占用4周期</a:t>
            </a:r>
          </a:p>
        </p:txBody>
      </p:sp>
      <p:sp>
        <p:nvSpPr>
          <p:cNvPr id="24" name="arch-diagram-73">
            <a:extLst xmlns:a="http://schemas.openxmlformats.org/drawingml/2006/main">
              <a:ext uri="{FF2B5EF4-FFF2-40B4-BE49-F238E27FC236}">
                <a16:creationId xmlns:a16="http://schemas.microsoft.com/office/drawing/2014/main" id="{AD86CA60-4CB9-4AC2-84C7-8CEA7CB6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00475"/>
            <a:ext cx="2819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包B：占用4周期</a:t>
            </a:r>
          </a:p>
        </p:txBody>
      </p:sp>
      <p:sp>
        <p:nvSpPr>
          <p:cNvPr id="25" name="arch-text-74">
            <a:extLst xmlns:a="http://schemas.openxmlformats.org/drawingml/2006/main">
              <a:ext uri="{FF2B5EF4-FFF2-40B4-BE49-F238E27FC236}">
                <a16:creationId xmlns:a16="http://schemas.microsoft.com/office/drawing/2014/main" id="{3A4C632F-3CDD-405A-98D0-01FBB790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57750"/>
            <a:ext cx="18383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第二跳输入可见</a:t>
            </a:r>
          </a:p>
        </p:txBody>
      </p:sp>
      <p:sp>
        <p:nvSpPr>
          <p:cNvPr id="26" name="arch-text-75">
            <a:extLst xmlns:a="http://schemas.openxmlformats.org/drawingml/2006/main">
              <a:ext uri="{FF2B5EF4-FFF2-40B4-BE49-F238E27FC236}">
                <a16:creationId xmlns:a16="http://schemas.microsoft.com/office/drawing/2014/main" id="{8DC254E1-04C6-4664-9514-3C1FB2E7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95850"/>
            <a:ext cx="1314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A：t=5</a:t>
            </a:r>
          </a:p>
        </p:txBody>
      </p:sp>
      <p:sp>
        <p:nvSpPr>
          <p:cNvPr id="27" name="arch-text-76">
            <a:extLst xmlns:a="http://schemas.openxmlformats.org/drawingml/2006/main">
              <a:ext uri="{FF2B5EF4-FFF2-40B4-BE49-F238E27FC236}">
                <a16:creationId xmlns:a16="http://schemas.microsoft.com/office/drawing/2014/main" id="{4EFE6654-0F01-4CE0-A2E1-C022BEC7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95850"/>
            <a:ext cx="1381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B：t=9</a:t>
            </a:r>
          </a:p>
        </p:txBody>
      </p:sp>
      <p:sp>
        <p:nvSpPr>
          <p:cNvPr id="28" name="arch-line-77">
            <a:extLst xmlns:a="http://schemas.openxmlformats.org/drawingml/2006/main">
              <a:ext uri="{FF2B5EF4-FFF2-40B4-BE49-F238E27FC236}">
                <a16:creationId xmlns:a16="http://schemas.microsoft.com/office/drawing/2014/main" id="{5E5EB1D4-45D2-4336-93D8-B7EEA8A6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4355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29" name="arch-text-78">
            <a:extLst xmlns:a="http://schemas.openxmlformats.org/drawingml/2006/main">
              <a:ext uri="{FF2B5EF4-FFF2-40B4-BE49-F238E27FC236}">
                <a16:creationId xmlns:a16="http://schemas.microsoft.com/office/drawing/2014/main" id="{AD8ADB2E-B4F9-4995-9250-F472701E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38825"/>
            <a:ext cx="1131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包A在第5周期到达第二跳输入，但Conn 1仍忙到第8周期。</a:t>
            </a:r>
          </a:p>
        </p:txBody>
      </p:sp>
      <p:sp>
        <p:nvSpPr>
          <p:cNvPr id="30" name="arch-text-79">
            <a:extLst xmlns:a="http://schemas.openxmlformats.org/drawingml/2006/main">
              <a:ext uri="{FF2B5EF4-FFF2-40B4-BE49-F238E27FC236}">
                <a16:creationId xmlns:a16="http://schemas.microsoft.com/office/drawing/2014/main" id="{17FFB85F-57E4-482B-846D-41398EA6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53175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模型分别记录包交接延迟和链路带宽占用。端点消费及实际排队等待需另外计入。</a:t>
            </a:r>
          </a:p>
        </p:txBody>
      </p:sp>
    </p:spTree>
    <p:extLst>
      <p:ext uri="{BB962C8B-B14F-4D97-AF65-F5344CB8AC3E}">
        <p14:creationId xmlns:p14="http://schemas.microsoft.com/office/powerpoint/2010/main" val="7561552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xt-34">
            <a:extLst xmlns:a="http://schemas.openxmlformats.org/drawingml/2006/main">
              <a:ext uri="{FF2B5EF4-FFF2-40B4-BE49-F238E27FC236}">
                <a16:creationId xmlns:a16="http://schemas.microsoft.com/office/drawing/2014/main" id="{443CAE52-439A-4E08-BCB0-6C1BB3F3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存储侧建模：事务、返回与后端约束</a:t>
            </a:r>
          </a:p>
        </p:txBody>
      </p:sp>
      <p:sp>
        <p:nvSpPr>
          <p:cNvPr id="3" name="diagram-35">
            <a:extLst xmlns:a="http://schemas.openxmlformats.org/drawingml/2006/main">
              <a:ext uri="{FF2B5EF4-FFF2-40B4-BE49-F238E27FC236}">
                <a16:creationId xmlns:a16="http://schemas.microsoft.com/office/drawing/2014/main" id="{0DA3E488-CB85-4FA4-954F-5E3FDC2A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57300"/>
            <a:ext cx="7048500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0286B"/>
            </a:solidFill>
            <a:prstDash val="solid"/>
          </a:ln>
        </p:spPr>
      </p:sp>
      <p:sp>
        <p:nvSpPr>
          <p:cNvPr id="4" name="txt-36">
            <a:extLst xmlns:a="http://schemas.openxmlformats.org/drawingml/2006/main">
              <a:ext uri="{FF2B5EF4-FFF2-40B4-BE49-F238E27FC236}">
                <a16:creationId xmlns:a16="http://schemas.microsoft.com/office/drawing/2014/main" id="{DE7C0494-4534-4A8F-8CB2-3259415A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6534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目标存储访问层次</a:t>
            </a:r>
          </a:p>
        </p:txBody>
      </p:sp>
      <p:sp>
        <p:nvSpPr>
          <p:cNvPr id="5" name="diagram-37">
            <a:extLst xmlns:a="http://schemas.openxmlformats.org/drawingml/2006/main">
              <a:ext uri="{FF2B5EF4-FFF2-40B4-BE49-F238E27FC236}">
                <a16:creationId xmlns:a16="http://schemas.microsoft.com/office/drawing/2014/main" id="{F61B261B-A069-4C13-B70E-6CE9F1D3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85975"/>
            <a:ext cx="86677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REQ／DAT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RSP</a:t>
            </a:r>
          </a:p>
        </p:txBody>
      </p:sp>
      <p:sp>
        <p:nvSpPr>
          <p:cNvPr id="6" name="diagram-38">
            <a:extLst xmlns:a="http://schemas.openxmlformats.org/drawingml/2006/main">
              <a:ext uri="{FF2B5EF4-FFF2-40B4-BE49-F238E27FC236}">
                <a16:creationId xmlns:a16="http://schemas.microsoft.com/office/drawing/2014/main" id="{C35195BF-50A5-4B07-B7DF-04DFB7D7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085975"/>
            <a:ext cx="10001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请求合并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冲突保护</a:t>
            </a:r>
          </a:p>
        </p:txBody>
      </p:sp>
      <p:sp>
        <p:nvSpPr>
          <p:cNvPr id="7" name="diagram-39">
            <a:extLst xmlns:a="http://schemas.openxmlformats.org/drawingml/2006/main">
              <a:ext uri="{FF2B5EF4-FFF2-40B4-BE49-F238E27FC236}">
                <a16:creationId xmlns:a16="http://schemas.microsoft.com/office/drawing/2014/main" id="{EF500E8E-CCAE-44EA-B2CF-8CD45104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85975"/>
            <a:ext cx="11906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9AF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目标L2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标记／数据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替换／回填</a:t>
            </a:r>
          </a:p>
        </p:txBody>
      </p:sp>
      <p:sp>
        <p:nvSpPr>
          <p:cNvPr id="8" name="diagram-40">
            <a:extLst xmlns:a="http://schemas.openxmlformats.org/drawingml/2006/main">
              <a:ext uri="{FF2B5EF4-FFF2-40B4-BE49-F238E27FC236}">
                <a16:creationId xmlns:a16="http://schemas.microsoft.com/office/drawing/2014/main" id="{8B4EE3C9-67FF-46D3-828F-B5CF6EE0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85975"/>
            <a:ext cx="12573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HBM控制器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调度／带宽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在途额度</a:t>
            </a:r>
          </a:p>
        </p:txBody>
      </p:sp>
      <p:sp>
        <p:nvSpPr>
          <p:cNvPr id="9" name="diagram-41">
            <a:extLst xmlns:a="http://schemas.openxmlformats.org/drawingml/2006/main">
              <a:ext uri="{FF2B5EF4-FFF2-40B4-BE49-F238E27FC236}">
                <a16:creationId xmlns:a16="http://schemas.microsoft.com/office/drawing/2014/main" id="{812A909A-36B8-4801-8717-AAECA411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085975"/>
            <a:ext cx="120967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HBM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存储阵列</a:t>
            </a:r>
          </a:p>
        </p:txBody>
      </p:sp>
      <p:cxnSp>
        <p:nvCxnSpPr>
          <p:cNvPr id="40" name="直接箭头连接符 37"/>
          <p:cNvCxnSpPr/>
          <p:nvPr/>
        </p:nvCxnSpPr>
        <p:spPr>
          <a:xfrm xmlns:a="http://schemas.openxmlformats.org/drawingml/2006/main">
            <a:off x="1438275" y="25669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41" name="直接箭头连接符 38"/>
          <p:cNvCxnSpPr/>
          <p:nvPr/>
        </p:nvCxnSpPr>
        <p:spPr>
          <a:xfrm xmlns:a="http://schemas.openxmlformats.org/drawingml/2006/main">
            <a:off x="2724150" y="25669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42" name="直接箭头连接符 39"/>
          <p:cNvCxnSpPr/>
          <p:nvPr/>
        </p:nvCxnSpPr>
        <p:spPr>
          <a:xfrm xmlns:a="http://schemas.openxmlformats.org/drawingml/2006/main">
            <a:off x="4200525" y="2566988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43" name="直接箭头连接符 40"/>
          <p:cNvCxnSpPr/>
          <p:nvPr/>
        </p:nvCxnSpPr>
        <p:spPr>
          <a:xfrm xmlns:a="http://schemas.openxmlformats.org/drawingml/2006/main">
            <a:off x="5734050" y="2566988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DF5B0B"/>
            </a:solidFill>
            <a:prstDash val="solid"/>
            <a:tailEnd type="triangle" w="med" len="med"/>
          </a:ln>
        </p:spPr>
      </p:cxnSp>
      <p:sp>
        <p:nvSpPr>
          <p:cNvPr id="14" name="txt-42">
            <a:extLst xmlns:a="http://schemas.openxmlformats.org/drawingml/2006/main">
              <a:ext uri="{FF2B5EF4-FFF2-40B4-BE49-F238E27FC236}">
                <a16:creationId xmlns:a16="http://schemas.microsoft.com/office/drawing/2014/main" id="{E2E64EB8-302C-4BB0-9487-36044051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002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请求／未命中访问</a:t>
            </a:r>
          </a:p>
        </p:txBody>
      </p:sp>
      <p:sp>
        <p:nvSpPr>
          <p:cNvPr id="15" name="txt-43">
            <a:extLst xmlns:a="http://schemas.openxmlformats.org/drawingml/2006/main">
              <a:ext uri="{FF2B5EF4-FFF2-40B4-BE49-F238E27FC236}">
                <a16:creationId xmlns:a16="http://schemas.microsoft.com/office/drawing/2014/main" id="{213F876B-ED7D-4AA7-94D7-21D0B00E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90875"/>
            <a:ext cx="5372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数据返回并回填L2，命中时无需访问HBM</a:t>
            </a:r>
          </a:p>
        </p:txBody>
      </p:sp>
      <p:sp>
        <p:nvSpPr>
          <p:cNvPr id="16" name="diagram-44">
            <a:extLst xmlns:a="http://schemas.openxmlformats.org/drawingml/2006/main">
              <a:ext uri="{FF2B5EF4-FFF2-40B4-BE49-F238E27FC236}">
                <a16:creationId xmlns:a16="http://schemas.microsoft.com/office/drawing/2014/main" id="{81F4E932-1583-41A9-8E9D-EF663620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781425"/>
            <a:ext cx="70485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0286B"/>
            </a:solidFill>
            <a:prstDash val="solid"/>
          </a:ln>
        </p:spPr>
      </p:sp>
      <p:sp>
        <p:nvSpPr>
          <p:cNvPr id="17" name="txt-45">
            <a:extLst xmlns:a="http://schemas.openxmlformats.org/drawingml/2006/main">
              <a:ext uri="{FF2B5EF4-FFF2-40B4-BE49-F238E27FC236}">
                <a16:creationId xmlns:a16="http://schemas.microsoft.com/office/drawing/2014/main" id="{D2AFB695-D104-4DBA-96A7-934D4FC9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33825"/>
            <a:ext cx="6534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当前ESL模型的功能划分</a:t>
            </a:r>
          </a:p>
        </p:txBody>
      </p:sp>
      <p:sp>
        <p:nvSpPr>
          <p:cNvPr id="18" name="diagram-46">
            <a:extLst xmlns:a="http://schemas.openxmlformats.org/drawingml/2006/main">
              <a:ext uri="{FF2B5EF4-FFF2-40B4-BE49-F238E27FC236}">
                <a16:creationId xmlns:a16="http://schemas.microsoft.com/office/drawing/2014/main" id="{A0B12DF7-4AC3-4D56-BCAC-B8712589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HA事务管理</a:t>
            </a:r>
          </a:p>
        </p:txBody>
      </p:sp>
      <p:sp>
        <p:nvSpPr>
          <p:cNvPr id="19" name="diagram-47">
            <a:extLst xmlns:a="http://schemas.openxmlformats.org/drawingml/2006/main">
              <a:ext uri="{FF2B5EF4-FFF2-40B4-BE49-F238E27FC236}">
                <a16:creationId xmlns:a16="http://schemas.microsoft.com/office/drawing/2014/main" id="{44FCE687-571A-4299-B34D-14F3AB09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438650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9AF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 Buffer</a:t>
            </a:r>
          </a:p>
        </p:txBody>
      </p:sp>
      <p:sp>
        <p:nvSpPr>
          <p:cNvPr id="20" name="diagram-48">
            <a:extLst xmlns:a="http://schemas.openxmlformats.org/drawingml/2006/main">
              <a:ext uri="{FF2B5EF4-FFF2-40B4-BE49-F238E27FC236}">
                <a16:creationId xmlns:a16="http://schemas.microsoft.com/office/drawing/2014/main" id="{1FCFC761-3203-45B7-8857-26A5AE1D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38650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TmMem后端</a:t>
            </a:r>
          </a:p>
        </p:txBody>
      </p:sp>
      <p:sp>
        <p:nvSpPr>
          <p:cNvPr id="21" name="txt-49">
            <a:extLst xmlns:a="http://schemas.openxmlformats.org/drawingml/2006/main">
              <a:ext uri="{FF2B5EF4-FFF2-40B4-BE49-F238E27FC236}">
                <a16:creationId xmlns:a16="http://schemas.microsoft.com/office/drawing/2014/main" id="{D221D84E-B9A2-4A61-BB5F-42CA1E57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0150"/>
            <a:ext cx="19907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合并同缓存行请求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维护等待与在途状态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保护同地址写冲突</a:t>
            </a:r>
          </a:p>
        </p:txBody>
      </p:sp>
      <p:sp>
        <p:nvSpPr>
          <p:cNvPr id="22" name="txt-50">
            <a:extLst xmlns:a="http://schemas.openxmlformats.org/drawingml/2006/main">
              <a:ext uri="{FF2B5EF4-FFF2-40B4-BE49-F238E27FC236}">
                <a16:creationId xmlns:a16="http://schemas.microsoft.com/office/drawing/2014/main" id="{AACBC914-2918-49F4-B7AB-E57FB00C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010150"/>
            <a:ext cx="19907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暂存完成数据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控制返回延迟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单播、多播与分段返回</a:t>
            </a:r>
          </a:p>
        </p:txBody>
      </p:sp>
      <p:sp>
        <p:nvSpPr>
          <p:cNvPr id="23" name="txt-51">
            <a:extLst xmlns:a="http://schemas.openxmlformats.org/drawingml/2006/main">
              <a:ext uri="{FF2B5EF4-FFF2-40B4-BE49-F238E27FC236}">
                <a16:creationId xmlns:a16="http://schemas.microsoft.com/office/drawing/2014/main" id="{5449B677-5A75-400E-A175-CB7FC0EA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010150"/>
            <a:ext cx="19907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执行功能数据存取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模拟读写延迟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约束带宽和在途额度</a:t>
            </a:r>
          </a:p>
        </p:txBody>
      </p:sp>
      <p:sp>
        <p:nvSpPr>
          <p:cNvPr id="24" name="txt-52">
            <a:extLst xmlns:a="http://schemas.openxmlformats.org/drawingml/2006/main">
              <a:ext uri="{FF2B5EF4-FFF2-40B4-BE49-F238E27FC236}">
                <a16:creationId xmlns:a16="http://schemas.microsoft.com/office/drawing/2014/main" id="{F8BD88DA-DC76-4F4B-A62E-D5D5A6A2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371600"/>
            <a:ext cx="3981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HA：请求合并与冲突保护</a:t>
            </a:r>
          </a:p>
        </p:txBody>
      </p:sp>
      <p:sp>
        <p:nvSpPr>
          <p:cNvPr id="25" name="bullet-list-54">
            <a:extLst xmlns:a="http://schemas.openxmlformats.org/drawingml/2006/main">
              <a:ext uri="{FF2B5EF4-FFF2-40B4-BE49-F238E27FC236}">
                <a16:creationId xmlns:a16="http://schemas.microsoft.com/office/drawing/2014/main" id="{1970EFCE-5E7B-4842-A570-AFF350DE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809750"/>
            <a:ext cx="39814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HA合并兼容的同缓存行读请求，共享后端读取结果。</a:t>
            </a:r>
          </a:p>
          <a:p xmlns:a="http://schemas.openxmlformats.org/drawingml/2006/main"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同缓存行存在未完成写事务时，后续读等待冲突解除。</a:t>
            </a:r>
          </a:p>
        </p:txBody>
      </p:sp>
      <p:sp>
        <p:nvSpPr>
          <p:cNvPr id="26" name="txt-55">
            <a:extLst xmlns:a="http://schemas.openxmlformats.org/drawingml/2006/main">
              <a:ext uri="{FF2B5EF4-FFF2-40B4-BE49-F238E27FC236}">
                <a16:creationId xmlns:a16="http://schemas.microsoft.com/office/drawing/2014/main" id="{7FCCA666-7C9A-414D-A806-B43683FD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181350"/>
            <a:ext cx="3981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L2：命中与返回组织</a:t>
            </a:r>
          </a:p>
        </p:txBody>
      </p:sp>
      <p:sp>
        <p:nvSpPr>
          <p:cNvPr id="27" name="bullet-list-57">
            <a:extLst xmlns:a="http://schemas.openxmlformats.org/drawingml/2006/main">
              <a:ext uri="{FF2B5EF4-FFF2-40B4-BE49-F238E27FC236}">
                <a16:creationId xmlns:a16="http://schemas.microsoft.com/office/drawing/2014/main" id="{D2763EFA-F3D0-45E7-88CF-33C01F51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600450"/>
            <a:ext cx="39814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目标架构命中直接返回，未命中访问后端并回填。</a:t>
            </a:r>
          </a:p>
          <a:p xmlns:a="http://schemas.openxmlformats.org/drawingml/2006/main"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当前命中采用配置模拟，L2 Buffer负责数据暂存和分发。</a:t>
            </a:r>
          </a:p>
        </p:txBody>
      </p:sp>
      <p:sp>
        <p:nvSpPr>
          <p:cNvPr id="28" name="txt-58">
            <a:extLst xmlns:a="http://schemas.openxmlformats.org/drawingml/2006/main">
              <a:ext uri="{FF2B5EF4-FFF2-40B4-BE49-F238E27FC236}">
                <a16:creationId xmlns:a16="http://schemas.microsoft.com/office/drawing/2014/main" id="{64A353A2-A933-4949-B4C0-3158AAA0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238750"/>
            <a:ext cx="3981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TmMem：后端约束</a:t>
            </a:r>
          </a:p>
        </p:txBody>
      </p:sp>
      <p:sp>
        <p:nvSpPr>
          <p:cNvPr id="29" name="txt-59">
            <a:extLst xmlns:a="http://schemas.openxmlformats.org/drawingml/2006/main">
              <a:ext uri="{FF2B5EF4-FFF2-40B4-BE49-F238E27FC236}">
                <a16:creationId xmlns:a16="http://schemas.microsoft.com/office/drawing/2014/main" id="{FB57479F-5A19-485B-A2F1-07C0A055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629275"/>
            <a:ext cx="3981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统一模拟HBM／DRAM后端，提供可配置的队列、带宽、读写延迟和在途请求额度。</a:t>
            </a:r>
          </a:p>
        </p:txBody>
      </p:sp>
      <p:sp>
        <p:nvSpPr>
          <p:cNvPr id="30" name="txt-60">
            <a:extLst xmlns:a="http://schemas.openxmlformats.org/drawingml/2006/main">
              <a:ext uri="{FF2B5EF4-FFF2-40B4-BE49-F238E27FC236}">
                <a16:creationId xmlns:a16="http://schemas.microsoft.com/office/drawing/2014/main" id="{37676622-5D0D-44BC-A4DD-D21A4414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48400"/>
            <a:ext cx="704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建模边界：保留事务与性能约束，缓存命中和存储后端采用参数化近似。</a:t>
            </a:r>
          </a:p>
        </p:txBody>
      </p:sp>
      <p:sp>
        <p:nvSpPr>
          <p:cNvPr id="31" name="share-60">
            <a:extLst xmlns:a="http://schemas.openxmlformats.org/drawingml/2006/main">
              <a:ext uri="{FF2B5EF4-FFF2-40B4-BE49-F238E27FC236}">
                <a16:creationId xmlns:a16="http://schemas.microsoft.com/office/drawing/2014/main" id="{E2064112-C711-45F2-9F95-CC4F4081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0598350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arch-text-80">
            <a:extLst xmlns:a="http://schemas.openxmlformats.org/drawingml/2006/main">
              <a:ext uri="{FF2B5EF4-FFF2-40B4-BE49-F238E27FC236}">
                <a16:creationId xmlns:a16="http://schemas.microsoft.com/office/drawing/2014/main" id="{9F94D30A-D27B-487F-B2D5-49F47BD7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HA读合并：查找表与等待请求的生命周期</a:t>
            </a:r>
          </a:p>
        </p:txBody>
      </p:sp>
      <p:sp>
        <p:nvSpPr>
          <p:cNvPr id="2" name="arch-text-81">
            <a:extLst xmlns:a="http://schemas.openxmlformats.org/drawingml/2006/main">
              <a:ext uri="{FF2B5EF4-FFF2-40B4-BE49-F238E27FC236}">
                <a16:creationId xmlns:a16="http://schemas.microsoft.com/office/drawing/2014/main" id="{074ECDCC-41E2-4205-B4F5-B8E80805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当前实现按缓存行基地址匹配活跃读事务，每个等待请求保留自己的地址偏移和返回信息。</a:t>
            </a:r>
          </a:p>
        </p:txBody>
      </p:sp>
      <p:sp>
        <p:nvSpPr>
          <p:cNvPr id="3" name="arch-text-82">
            <a:extLst xmlns:a="http://schemas.openxmlformats.org/drawingml/2006/main">
              <a:ext uri="{FF2B5EF4-FFF2-40B4-BE49-F238E27FC236}">
                <a16:creationId xmlns:a16="http://schemas.microsoft.com/office/drawing/2014/main" id="{E61ECFCF-D538-44A7-9139-7FD94814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arch-text-83">
            <a:extLst xmlns:a="http://schemas.openxmlformats.org/drawingml/2006/main">
              <a:ext uri="{FF2B5EF4-FFF2-40B4-BE49-F238E27FC236}">
                <a16:creationId xmlns:a16="http://schemas.microsoft.com/office/drawing/2014/main" id="{37A50B8B-49D9-4782-93B6-FFB44F19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24025"/>
            <a:ext cx="762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同一缓存行A的请求时间线</a:t>
            </a:r>
          </a:p>
        </p:txBody>
      </p:sp>
      <p:sp>
        <p:nvSpPr>
          <p:cNvPr id="5" name="arch-text-84">
            <a:extLst xmlns:a="http://schemas.openxmlformats.org/drawingml/2006/main">
              <a:ext uri="{FF2B5EF4-FFF2-40B4-BE49-F238E27FC236}">
                <a16:creationId xmlns:a16="http://schemas.microsoft.com/office/drawing/2014/main" id="{632EA8C5-708E-4448-A543-845E04E7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0030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建立事务</a:t>
            </a:r>
          </a:p>
        </p:txBody>
      </p:sp>
      <p:sp>
        <p:nvSpPr>
          <p:cNvPr id="6" name="arch-diagram-85">
            <a:extLst xmlns:a="http://schemas.openxmlformats.org/drawingml/2006/main">
              <a:ext uri="{FF2B5EF4-FFF2-40B4-BE49-F238E27FC236}">
                <a16:creationId xmlns:a16="http://schemas.microsoft.com/office/drawing/2014/main" id="{EAF875A1-FC21-4B79-9271-5EEE11CD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81325"/>
            <a:ext cx="2390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M0读A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等待列表：[M0]</a:t>
            </a:r>
          </a:p>
        </p:txBody>
      </p:sp>
      <p:sp>
        <p:nvSpPr>
          <p:cNvPr id="7" name="arch-text-86">
            <a:extLst xmlns:a="http://schemas.openxmlformats.org/drawingml/2006/main">
              <a:ext uri="{FF2B5EF4-FFF2-40B4-BE49-F238E27FC236}">
                <a16:creationId xmlns:a16="http://schemas.microsoft.com/office/drawing/2014/main" id="{55C21DFA-445C-4ED9-B3AB-37C88A05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0030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等待后端</a:t>
            </a:r>
          </a:p>
        </p:txBody>
      </p:sp>
      <p:sp>
        <p:nvSpPr>
          <p:cNvPr id="8" name="arch-diagram-87">
            <a:extLst xmlns:a="http://schemas.openxmlformats.org/drawingml/2006/main">
              <a:ext uri="{FF2B5EF4-FFF2-40B4-BE49-F238E27FC236}">
                <a16:creationId xmlns:a16="http://schemas.microsoft.com/office/drawing/2014/main" id="{0FD544D7-ABD1-4111-96E0-2BC53CC3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81325"/>
            <a:ext cx="2390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M1读A加入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列表：[M0, M1]</a:t>
            </a:r>
          </a:p>
        </p:txBody>
      </p:sp>
      <p:sp>
        <p:nvSpPr>
          <p:cNvPr id="9" name="arch-text-88">
            <a:extLst xmlns:a="http://schemas.openxmlformats.org/drawingml/2006/main">
              <a:ext uri="{FF2B5EF4-FFF2-40B4-BE49-F238E27FC236}">
                <a16:creationId xmlns:a16="http://schemas.microsoft.com/office/drawing/2014/main" id="{ACB1F7BC-FFAB-4051-930D-A7BA447F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后端在途</a:t>
            </a:r>
          </a:p>
        </p:txBody>
      </p:sp>
      <p:sp>
        <p:nvSpPr>
          <p:cNvPr id="10" name="arch-diagram-89">
            <a:extLst xmlns:a="http://schemas.openxmlformats.org/drawingml/2006/main">
              <a:ext uri="{FF2B5EF4-FFF2-40B4-BE49-F238E27FC236}">
                <a16:creationId xmlns:a16="http://schemas.microsoft.com/office/drawing/2014/main" id="{2585720A-9AA5-4D20-B7E0-B58D5F2F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81325"/>
            <a:ext cx="2390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M2读A加入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共享本次读取</a:t>
            </a:r>
          </a:p>
        </p:txBody>
      </p:sp>
      <p:sp>
        <p:nvSpPr>
          <p:cNvPr id="11" name="arch-text-90">
            <a:extLst xmlns:a="http://schemas.openxmlformats.org/drawingml/2006/main">
              <a:ext uri="{FF2B5EF4-FFF2-40B4-BE49-F238E27FC236}">
                <a16:creationId xmlns:a16="http://schemas.microsoft.com/office/drawing/2014/main" id="{13A21DE5-19BF-466F-AEBF-A927B2D7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组织响应</a:t>
            </a:r>
          </a:p>
        </p:txBody>
      </p:sp>
      <p:sp>
        <p:nvSpPr>
          <p:cNvPr id="12" name="arch-diagram-91">
            <a:extLst xmlns:a="http://schemas.openxmlformats.org/drawingml/2006/main">
              <a:ext uri="{FF2B5EF4-FFF2-40B4-BE49-F238E27FC236}">
                <a16:creationId xmlns:a16="http://schemas.microsoft.com/office/drawing/2014/main" id="{4630DF50-1CFD-4B42-8003-5794813B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81325"/>
            <a:ext cx="2390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共享返回数据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向L2提交接收端</a:t>
            </a:r>
          </a:p>
        </p:txBody>
      </p:sp>
      <p:cxnSp>
        <p:nvCxnSpPr>
          <p:cNvPr id="48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771775" y="3433763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629275" y="3433763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486775" y="3433763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sp>
        <p:nvSpPr>
          <p:cNvPr id="16" name="arch-text-92">
            <a:extLst xmlns:a="http://schemas.openxmlformats.org/drawingml/2006/main">
              <a:ext uri="{FF2B5EF4-FFF2-40B4-BE49-F238E27FC236}">
                <a16:creationId xmlns:a16="http://schemas.microsoft.com/office/drawing/2014/main" id="{14930810-D4CF-4D51-9022-F3EF02A6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71975"/>
            <a:ext cx="5334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首笔请求可立即参与后端调度</a:t>
            </a:r>
          </a:p>
        </p:txBody>
      </p:sp>
      <p:sp>
        <p:nvSpPr>
          <p:cNvPr id="17" name="arch-text-93">
            <a:extLst xmlns:a="http://schemas.openxmlformats.org/drawingml/2006/main">
              <a:ext uri="{FF2B5EF4-FFF2-40B4-BE49-F238E27FC236}">
                <a16:creationId xmlns:a16="http://schemas.microsoft.com/office/drawing/2014/main" id="{50CB6E1B-D980-4BD2-AF94-2A031D37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76800"/>
            <a:ext cx="54387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合并发生在事务尚可接纳请求期间。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后端提交成功后进入在途状态，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返回的数据供多个等待请求共享。</a:t>
            </a:r>
          </a:p>
        </p:txBody>
      </p:sp>
      <p:sp>
        <p:nvSpPr>
          <p:cNvPr id="18" name="arch-text-94">
            <a:extLst xmlns:a="http://schemas.openxmlformats.org/drawingml/2006/main">
              <a:ext uri="{FF2B5EF4-FFF2-40B4-BE49-F238E27FC236}">
                <a16:creationId xmlns:a16="http://schemas.microsoft.com/office/drawing/2014/main" id="{8718D30A-D6BD-401D-9B9F-B2588CFF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371975"/>
            <a:ext cx="5505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响应开始后也需要明确关闭边界</a:t>
            </a:r>
          </a:p>
        </p:txBody>
      </p:sp>
      <p:sp>
        <p:nvSpPr>
          <p:cNvPr id="19" name="arch-text-95">
            <a:extLst xmlns:a="http://schemas.openxmlformats.org/drawingml/2006/main">
              <a:ext uri="{FF2B5EF4-FFF2-40B4-BE49-F238E27FC236}">
                <a16:creationId xmlns:a16="http://schemas.microsoft.com/office/drawing/2014/main" id="{1F4ABB91-AAB7-43B5-8CDF-5BDD2D39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876800"/>
            <a:ext cx="55054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L2确定接收端集合并反馈后，HA关闭合并。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表项满、等待列表满或合并已关闭时，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入口保留请求并在后续重试。</a:t>
            </a:r>
          </a:p>
        </p:txBody>
      </p:sp>
      <p:sp>
        <p:nvSpPr>
          <p:cNvPr id="20" name="arch-text-96">
            <a:extLst xmlns:a="http://schemas.openxmlformats.org/drawingml/2006/main">
              <a:ext uri="{FF2B5EF4-FFF2-40B4-BE49-F238E27FC236}">
                <a16:creationId xmlns:a16="http://schemas.microsoft.com/office/drawing/2014/main" id="{B71BF3FC-308C-44B4-9423-FE6EA66A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9850"/>
            <a:ext cx="1133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合并期间仍检查同缓存行写冲突。跨缓存行请求不进入这条完整行合并路径。</a:t>
            </a:r>
          </a:p>
        </p:txBody>
      </p:sp>
    </p:spTree>
    <p:extLst>
      <p:ext uri="{BB962C8B-B14F-4D97-AF65-F5344CB8AC3E}">
        <p14:creationId xmlns:p14="http://schemas.microsoft.com/office/powerpoint/2010/main" val="14786976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arch-text-97">
            <a:extLst xmlns:a="http://schemas.openxmlformats.org/drawingml/2006/main">
              <a:ext uri="{FF2B5EF4-FFF2-40B4-BE49-F238E27FC236}">
                <a16:creationId xmlns:a16="http://schemas.microsoft.com/office/drawing/2014/main" id="{0AFAEB37-D171-461F-ACC1-1102E22F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同缓存行写冲突：读写顺序如何保护</a:t>
            </a:r>
          </a:p>
        </p:txBody>
      </p:sp>
      <p:sp>
        <p:nvSpPr>
          <p:cNvPr id="2" name="arch-text-98">
            <a:extLst xmlns:a="http://schemas.openxmlformats.org/drawingml/2006/main">
              <a:ext uri="{FF2B5EF4-FFF2-40B4-BE49-F238E27FC236}">
                <a16:creationId xmlns:a16="http://schemas.microsoft.com/office/drawing/2014/main" id="{01F79E40-090F-4FED-8350-88FCC40C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以已有读R0、随后写W、再到达读R1为例。写地址与写数据通过事务标识配对。</a:t>
            </a:r>
          </a:p>
        </p:txBody>
      </p:sp>
      <p:sp>
        <p:nvSpPr>
          <p:cNvPr id="3" name="arch-text-99">
            <a:extLst xmlns:a="http://schemas.openxmlformats.org/drawingml/2006/main">
              <a:ext uri="{FF2B5EF4-FFF2-40B4-BE49-F238E27FC236}">
                <a16:creationId xmlns:a16="http://schemas.microsoft.com/office/drawing/2014/main" id="{F175001E-5C09-468E-B14B-1C92D0B6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arch-diagram-100">
            <a:extLst xmlns:a="http://schemas.openxmlformats.org/drawingml/2006/main">
              <a:ext uri="{FF2B5EF4-FFF2-40B4-BE49-F238E27FC236}">
                <a16:creationId xmlns:a16="http://schemas.microsoft.com/office/drawing/2014/main" id="{D365F2AD-B2C7-443A-B18C-EC4C4DB9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52625"/>
            <a:ext cx="23812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R0尚未取得数据</a:t>
            </a:r>
          </a:p>
        </p:txBody>
      </p:sp>
      <p:sp>
        <p:nvSpPr>
          <p:cNvPr id="5" name="arch-diagram-101">
            <a:extLst xmlns:a="http://schemas.openxmlformats.org/drawingml/2006/main">
              <a:ext uri="{FF2B5EF4-FFF2-40B4-BE49-F238E27FC236}">
                <a16:creationId xmlns:a16="http://schemas.microsoft.com/office/drawing/2014/main" id="{75185CA6-7BD6-47A6-889A-F0189320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52625"/>
            <a:ext cx="23812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W登记写保护</a:t>
            </a:r>
          </a:p>
        </p:txBody>
      </p:sp>
      <p:sp>
        <p:nvSpPr>
          <p:cNvPr id="6" name="arch-diagram-102">
            <a:extLst xmlns:a="http://schemas.openxmlformats.org/drawingml/2006/main">
              <a:ext uri="{FF2B5EF4-FFF2-40B4-BE49-F238E27FC236}">
                <a16:creationId xmlns:a16="http://schemas.microsoft.com/office/drawing/2014/main" id="{442CDA53-6305-4ACE-A7CF-EBA6C98E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3812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R0数据已保存</a:t>
            </a:r>
          </a:p>
        </p:txBody>
      </p:sp>
      <p:sp>
        <p:nvSpPr>
          <p:cNvPr id="7" name="arch-diagram-103">
            <a:extLst xmlns:a="http://schemas.openxmlformats.org/drawingml/2006/main">
              <a:ext uri="{FF2B5EF4-FFF2-40B4-BE49-F238E27FC236}">
                <a16:creationId xmlns:a16="http://schemas.microsoft.com/office/drawing/2014/main" id="{E26492B1-D143-447F-BA7C-5793802D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52625"/>
            <a:ext cx="2667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W响应进入环网</a:t>
            </a:r>
          </a:p>
        </p:txBody>
      </p:sp>
      <p:cxnSp>
        <p:nvCxnSpPr>
          <p:cNvPr id="3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62250" y="230028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667375" y="230028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572500" y="230028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sp>
        <p:nvSpPr>
          <p:cNvPr id="11" name="arch-text-104">
            <a:extLst xmlns:a="http://schemas.openxmlformats.org/drawingml/2006/main">
              <a:ext uri="{FF2B5EF4-FFF2-40B4-BE49-F238E27FC236}">
                <a16:creationId xmlns:a16="http://schemas.microsoft.com/office/drawing/2014/main" id="{C50B83D0-C80D-4010-9725-6DCC377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0"/>
            <a:ext cx="23812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已有读处于等待或在途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写先等待旧读数据</a:t>
            </a:r>
          </a:p>
        </p:txBody>
      </p:sp>
      <p:sp>
        <p:nvSpPr>
          <p:cNvPr id="12" name="arch-text-105">
            <a:extLst xmlns:a="http://schemas.openxmlformats.org/drawingml/2006/main">
              <a:ext uri="{FF2B5EF4-FFF2-40B4-BE49-F238E27FC236}">
                <a16:creationId xmlns:a16="http://schemas.microsoft.com/office/drawing/2014/main" id="{2EAA2785-88DD-481C-95A2-E567BD8B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48000"/>
            <a:ext cx="23812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同缓存行后续读R1阻塞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防止跨越这笔写事务</a:t>
            </a:r>
          </a:p>
        </p:txBody>
      </p:sp>
      <p:sp>
        <p:nvSpPr>
          <p:cNvPr id="13" name="arch-text-106">
            <a:extLst xmlns:a="http://schemas.openxmlformats.org/drawingml/2006/main">
              <a:ext uri="{FF2B5EF4-FFF2-40B4-BE49-F238E27FC236}">
                <a16:creationId xmlns:a16="http://schemas.microsoft.com/office/drawing/2014/main" id="{63BE61E1-CCD3-4636-805D-7D36592B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23812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旧读使用已捕获的数据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写可继续配对并提交</a:t>
            </a:r>
          </a:p>
        </p:txBody>
      </p:sp>
      <p:sp>
        <p:nvSpPr>
          <p:cNvPr id="14" name="arch-text-107">
            <a:extLst xmlns:a="http://schemas.openxmlformats.org/drawingml/2006/main">
              <a:ext uri="{FF2B5EF4-FFF2-40B4-BE49-F238E27FC236}">
                <a16:creationId xmlns:a16="http://schemas.microsoft.com/office/drawing/2014/main" id="{31669DAD-DE6F-4ACF-B355-78EFDE50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48000"/>
            <a:ext cx="2667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释放该写事务的保护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后续读R1重新尝试</a:t>
            </a:r>
          </a:p>
        </p:txBody>
      </p:sp>
      <p:sp>
        <p:nvSpPr>
          <p:cNvPr id="15" name="arch-line-108">
            <a:extLst xmlns:a="http://schemas.openxmlformats.org/drawingml/2006/main">
              <a:ext uri="{FF2B5EF4-FFF2-40B4-BE49-F238E27FC236}">
                <a16:creationId xmlns:a16="http://schemas.microsoft.com/office/drawing/2014/main" id="{D4D1FEE5-5755-4858-B99A-D1D235B9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05325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16" name="arch-text-109">
            <a:extLst xmlns:a="http://schemas.openxmlformats.org/drawingml/2006/main">
              <a:ext uri="{FF2B5EF4-FFF2-40B4-BE49-F238E27FC236}">
                <a16:creationId xmlns:a16="http://schemas.microsoft.com/office/drawing/2014/main" id="{F5CD0B9F-052B-4D47-BB59-DB00DD8F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05375"/>
            <a:ext cx="708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反压发生时，保护状态继续保留</a:t>
            </a:r>
          </a:p>
        </p:txBody>
      </p:sp>
      <p:sp>
        <p:nvSpPr>
          <p:cNvPr id="17" name="arch-text-110">
            <a:extLst xmlns:a="http://schemas.openxmlformats.org/drawingml/2006/main">
              <a:ext uri="{FF2B5EF4-FFF2-40B4-BE49-F238E27FC236}">
                <a16:creationId xmlns:a16="http://schemas.microsoft.com/office/drawing/2014/main" id="{31B4C92F-C016-4790-93CE-1BADA5CA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05450"/>
            <a:ext cx="714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后端WR_DAT响应尚未成功进入RSP注入队列时，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HA不解除同缓存行的写保护。</a:t>
            </a:r>
          </a:p>
        </p:txBody>
      </p:sp>
      <p:sp>
        <p:nvSpPr>
          <p:cNvPr id="18" name="arch-text-111">
            <a:extLst xmlns:a="http://schemas.openxmlformats.org/drawingml/2006/main">
              <a:ext uri="{FF2B5EF4-FFF2-40B4-BE49-F238E27FC236}">
                <a16:creationId xmlns:a16="http://schemas.microsoft.com/office/drawing/2014/main" id="{FDEACD98-75A8-4E25-8B58-3CD9D657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053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当前边界</a:t>
            </a:r>
          </a:p>
        </p:txBody>
      </p:sp>
      <p:sp>
        <p:nvSpPr>
          <p:cNvPr id="19" name="arch-text-112">
            <a:extLst xmlns:a="http://schemas.openxmlformats.org/drawingml/2006/main">
              <a:ext uri="{FF2B5EF4-FFF2-40B4-BE49-F238E27FC236}">
                <a16:creationId xmlns:a16="http://schemas.microsoft.com/office/drawing/2014/main" id="{547DCAB9-326F-4FF5-8937-318DD720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505450"/>
            <a:ext cx="3333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这里描述读写顺序保护。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完整一致性与原子操作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（Atomic）语义尚未展开。</a:t>
            </a:r>
          </a:p>
        </p:txBody>
      </p:sp>
    </p:spTree>
    <p:extLst>
      <p:ext uri="{BB962C8B-B14F-4D97-AF65-F5344CB8AC3E}">
        <p14:creationId xmlns:p14="http://schemas.microsoft.com/office/powerpoint/2010/main" val="2317370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rch-text-113">
            <a:extLst xmlns:a="http://schemas.openxmlformats.org/drawingml/2006/main">
              <a:ext uri="{FF2B5EF4-FFF2-40B4-BE49-F238E27FC236}">
                <a16:creationId xmlns:a16="http://schemas.microsoft.com/office/drawing/2014/main" id="{472695E4-C4A2-4FDD-AB35-2F68F89E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L2返回组织：先按目标环分组，再确定数据范围</a:t>
            </a:r>
          </a:p>
        </p:txBody>
      </p:sp>
      <p:sp>
        <p:nvSpPr>
          <p:cNvPr id="2" name="arch-text-114">
            <a:extLst xmlns:a="http://schemas.openxmlformats.org/drawingml/2006/main">
              <a:ext uri="{FF2B5EF4-FFF2-40B4-BE49-F238E27FC236}">
                <a16:creationId xmlns:a16="http://schemas.microsoft.com/office/drawing/2014/main" id="{82849937-497C-4936-BDD9-4E9DADB0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示例：一份完整缓存行数据，服务4个接收端。接收端信息包含目标环、目标核、偏移与长度。</a:t>
            </a:r>
          </a:p>
        </p:txBody>
      </p:sp>
      <p:sp>
        <p:nvSpPr>
          <p:cNvPr id="3" name="arch-text-115">
            <a:extLst xmlns:a="http://schemas.openxmlformats.org/drawingml/2006/main">
              <a:ext uri="{FF2B5EF4-FFF2-40B4-BE49-F238E27FC236}">
                <a16:creationId xmlns:a16="http://schemas.microsoft.com/office/drawing/2014/main" id="{48C2B427-96EA-48B2-B407-C24D158F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arch-diagram-116">
            <a:extLst xmlns:a="http://schemas.openxmlformats.org/drawingml/2006/main">
              <a:ext uri="{FF2B5EF4-FFF2-40B4-BE49-F238E27FC236}">
                <a16:creationId xmlns:a16="http://schemas.microsoft.com/office/drawing/2014/main" id="{0A98D683-7B66-4819-B642-66C2C87B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86075"/>
            <a:ext cx="2057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HA共享返回数据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缓存行A</a:t>
            </a:r>
          </a:p>
        </p:txBody>
      </p:sp>
      <p:sp>
        <p:nvSpPr>
          <p:cNvPr id="5" name="arch-diagram-117">
            <a:extLst xmlns:a="http://schemas.openxmlformats.org/drawingml/2006/main">
              <a:ext uri="{FF2B5EF4-FFF2-40B4-BE49-F238E27FC236}">
                <a16:creationId xmlns:a16="http://schemas.microsoft.com/office/drawing/2014/main" id="{25AEFDA6-EA88-4098-A8D5-2644CB22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86075"/>
            <a:ext cx="27908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L2接收端集合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M0、M1、M4、M5</a:t>
            </a:r>
          </a:p>
        </p:txBody>
      </p:sp>
      <p:cxnSp>
        <p:nvCxnSpPr>
          <p:cNvPr id="3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438400" y="33623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sp>
        <p:nvSpPr>
          <p:cNvPr id="7" name="arch-diagram-118">
            <a:extLst xmlns:a="http://schemas.openxmlformats.org/drawingml/2006/main">
              <a:ext uri="{FF2B5EF4-FFF2-40B4-BE49-F238E27FC236}">
                <a16:creationId xmlns:a16="http://schemas.microsoft.com/office/drawing/2014/main" id="{AF3427DC-7073-459C-B72D-EF3D4B91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71675"/>
            <a:ext cx="47529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 0组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M0、M1：相同128字节</a:t>
            </a:r>
          </a:p>
        </p:txBody>
      </p:sp>
      <p:sp>
        <p:nvSpPr>
          <p:cNvPr id="8" name="arch-diagram-119">
            <a:extLst xmlns:a="http://schemas.openxmlformats.org/drawingml/2006/main">
              <a:ext uri="{FF2B5EF4-FFF2-40B4-BE49-F238E27FC236}">
                <a16:creationId xmlns:a16="http://schemas.microsoft.com/office/drawing/2014/main" id="{A963F7CD-D8A6-4497-90C4-94C120D1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29100"/>
            <a:ext cx="47529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 1组：M4、M5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各128字节，偏移0与128</a:t>
            </a:r>
          </a:p>
        </p:txBody>
      </p:sp>
      <p:cxnSp>
        <p:nvCxnSpPr>
          <p:cNvPr id="33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5876925" y="2405063"/>
            <a:ext cx="838200" cy="9572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48235"/>
            </a:solidFill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876925" y="3362325"/>
            <a:ext cx="838200" cy="13001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55A11"/>
            </a:solidFill>
            <a:tailEnd type="triangle" w="sm" len="sm"/>
          </a:ln>
        </p:spPr>
      </p:cxnSp>
      <p:sp>
        <p:nvSpPr>
          <p:cNvPr id="11" name="arch-text-120">
            <a:extLst xmlns:a="http://schemas.openxmlformats.org/drawingml/2006/main">
              <a:ext uri="{FF2B5EF4-FFF2-40B4-BE49-F238E27FC236}">
                <a16:creationId xmlns:a16="http://schemas.microsoft.com/office/drawing/2014/main" id="{A0CEF1A3-E9D7-402F-9ADE-0A7FF3DF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67050"/>
            <a:ext cx="45815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生成1个H-Ring数据包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进入目标V-Ring后多播相同数据</a:t>
            </a:r>
          </a:p>
        </p:txBody>
      </p:sp>
      <p:sp>
        <p:nvSpPr>
          <p:cNvPr id="12" name="arch-text-121">
            <a:extLst xmlns:a="http://schemas.openxmlformats.org/drawingml/2006/main">
              <a:ext uri="{FF2B5EF4-FFF2-40B4-BE49-F238E27FC236}">
                <a16:creationId xmlns:a16="http://schemas.microsoft.com/office/drawing/2014/main" id="{C6B0B0D5-96CF-4860-AC7C-9C1EE117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314950"/>
            <a:ext cx="45815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生成1个H-Ring数据包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目标节点按各自范围取出数据</a:t>
            </a:r>
          </a:p>
        </p:txBody>
      </p:sp>
      <p:sp>
        <p:nvSpPr>
          <p:cNvPr id="13" name="arch-text-122">
            <a:extLst xmlns:a="http://schemas.openxmlformats.org/drawingml/2006/main">
              <a:ext uri="{FF2B5EF4-FFF2-40B4-BE49-F238E27FC236}">
                <a16:creationId xmlns:a16="http://schemas.microsoft.com/office/drawing/2014/main" id="{D8114221-C24F-4306-A9B4-9C90FC51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95850"/>
            <a:ext cx="5638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4个逻辑响应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组织成2个目标环数据包</a:t>
            </a:r>
          </a:p>
        </p:txBody>
      </p:sp>
      <p:sp>
        <p:nvSpPr>
          <p:cNvPr id="14" name="arch-text-123">
            <a:extLst xmlns:a="http://schemas.openxmlformats.org/drawingml/2006/main">
              <a:ext uri="{FF2B5EF4-FFF2-40B4-BE49-F238E27FC236}">
                <a16:creationId xmlns:a16="http://schemas.microsoft.com/office/drawing/2014/main" id="{0251716A-5AC6-4DA3-9082-B7352D4C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38900"/>
            <a:ext cx="1133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单接收端对应单播。多接收端地址与长度相同则多播，不同范围则分段分发。</a:t>
            </a:r>
          </a:p>
        </p:txBody>
      </p:sp>
    </p:spTree>
    <p:extLst>
      <p:ext uri="{BB962C8B-B14F-4D97-AF65-F5344CB8AC3E}">
        <p14:creationId xmlns:p14="http://schemas.microsoft.com/office/powerpoint/2010/main" val="756304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rch-text-124">
            <a:extLst xmlns:a="http://schemas.openxmlformats.org/drawingml/2006/main">
              <a:ext uri="{FF2B5EF4-FFF2-40B4-BE49-F238E27FC236}">
                <a16:creationId xmlns:a16="http://schemas.microsoft.com/office/drawing/2014/main" id="{0A6FFC0D-1557-475D-99F6-D5591C98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L2分组关闭与返回资源的释放</a:t>
            </a:r>
          </a:p>
        </p:txBody>
      </p:sp>
      <p:sp>
        <p:nvSpPr>
          <p:cNvPr id="2" name="arch-text-125">
            <a:extLst xmlns:a="http://schemas.openxmlformats.org/drawingml/2006/main">
              <a:ext uri="{FF2B5EF4-FFF2-40B4-BE49-F238E27FC236}">
                <a16:creationId xmlns:a16="http://schemas.microsoft.com/office/drawing/2014/main" id="{4276C4B8-03F4-4D29-8040-B0ED9E7A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接收端列表确定、L2发包完成和环网槽位释放，是三个不同的边界。</a:t>
            </a:r>
          </a:p>
        </p:txBody>
      </p:sp>
      <p:sp>
        <p:nvSpPr>
          <p:cNvPr id="3" name="arch-text-126">
            <a:extLst xmlns:a="http://schemas.openxmlformats.org/drawingml/2006/main">
              <a:ext uri="{FF2B5EF4-FFF2-40B4-BE49-F238E27FC236}">
                <a16:creationId xmlns:a16="http://schemas.microsoft.com/office/drawing/2014/main" id="{66A2F6B7-D7A5-48B8-AEBC-AD287976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arch-diagram-127">
            <a:extLst xmlns:a="http://schemas.openxmlformats.org/drawingml/2006/main">
              <a:ext uri="{FF2B5EF4-FFF2-40B4-BE49-F238E27FC236}">
                <a16:creationId xmlns:a16="http://schemas.microsoft.com/office/drawing/2014/main" id="{0F6A98E8-E8B5-4412-8D2A-70F2D76D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38375"/>
            <a:ext cx="26384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收集响应信息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允许兼容接收端加入</a:t>
            </a:r>
          </a:p>
        </p:txBody>
      </p:sp>
      <p:sp>
        <p:nvSpPr>
          <p:cNvPr id="5" name="arch-diagram-128">
            <a:extLst xmlns:a="http://schemas.openxmlformats.org/drawingml/2006/main">
              <a:ext uri="{FF2B5EF4-FFF2-40B4-BE49-F238E27FC236}">
                <a16:creationId xmlns:a16="http://schemas.microsoft.com/office/drawing/2014/main" id="{4F82A438-0EF4-435D-9914-806E9764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38375"/>
            <a:ext cx="28575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确定接收端集合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停止追加并反馈HA</a:t>
            </a:r>
          </a:p>
        </p:txBody>
      </p:sp>
      <p:sp>
        <p:nvSpPr>
          <p:cNvPr id="6" name="arch-diagram-129">
            <a:extLst xmlns:a="http://schemas.openxmlformats.org/drawingml/2006/main">
              <a:ext uri="{FF2B5EF4-FFF2-40B4-BE49-F238E27FC236}">
                <a16:creationId xmlns:a16="http://schemas.microsoft.com/office/drawing/2014/main" id="{7F548763-940E-4455-BBC0-C1449201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238375"/>
            <a:ext cx="30861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按目标环逐个发包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成功后移除该环接收端</a:t>
            </a:r>
          </a:p>
        </p:txBody>
      </p:sp>
      <p:cxnSp>
        <p:nvCxnSpPr>
          <p:cNvPr id="3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19425" y="2709863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258050" y="2709863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8235"/>
            </a:solidFill>
            <a:tailEnd type="triangle" w="sm" len="sm"/>
          </a:ln>
        </p:spPr>
      </p:cxnSp>
      <p:sp>
        <p:nvSpPr>
          <p:cNvPr id="9" name="arch-text-130">
            <a:extLst xmlns:a="http://schemas.openxmlformats.org/drawingml/2006/main">
              <a:ext uri="{FF2B5EF4-FFF2-40B4-BE49-F238E27FC236}">
                <a16:creationId xmlns:a16="http://schemas.microsoft.com/office/drawing/2014/main" id="{932F818D-65E6-4456-8E28-D1A13278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76650"/>
            <a:ext cx="6791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队首响应就绪时确定集合</a:t>
            </a:r>
          </a:p>
        </p:txBody>
      </p:sp>
      <p:sp>
        <p:nvSpPr>
          <p:cNvPr id="10" name="arch-text-131">
            <a:extLst xmlns:a="http://schemas.openxmlformats.org/drawingml/2006/main">
              <a:ext uri="{FF2B5EF4-FFF2-40B4-BE49-F238E27FC236}">
                <a16:creationId xmlns:a16="http://schemas.microsoft.com/office/drawing/2014/main" id="{B0AA80DA-23EF-450D-B2B8-8BB6299B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10050"/>
            <a:ext cx="1133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准备好的包若遇到注入反压，L2保留包与接收端信息。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成功进入注入队列后，才推进这一目标环的发送状态。</a:t>
            </a:r>
          </a:p>
        </p:txBody>
      </p:sp>
      <p:sp>
        <p:nvSpPr>
          <p:cNvPr id="11" name="arch-line-132">
            <a:extLst xmlns:a="http://schemas.openxmlformats.org/drawingml/2006/main">
              <a:ext uri="{FF2B5EF4-FFF2-40B4-BE49-F238E27FC236}">
                <a16:creationId xmlns:a16="http://schemas.microsoft.com/office/drawing/2014/main" id="{56DF4390-0B04-4E6E-9688-82DB6929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48275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12" name="arch-text-133">
            <a:extLst xmlns:a="http://schemas.openxmlformats.org/drawingml/2006/main">
              <a:ext uri="{FF2B5EF4-FFF2-40B4-BE49-F238E27FC236}">
                <a16:creationId xmlns:a16="http://schemas.microsoft.com/office/drawing/2014/main" id="{C5AF8354-F47C-4F1A-A17C-EE46A51D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91175"/>
            <a:ext cx="1562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L2侧</a:t>
            </a:r>
          </a:p>
        </p:txBody>
      </p:sp>
      <p:sp>
        <p:nvSpPr>
          <p:cNvPr id="13" name="arch-text-134">
            <a:extLst xmlns:a="http://schemas.openxmlformats.org/drawingml/2006/main">
              <a:ext uri="{FF2B5EF4-FFF2-40B4-BE49-F238E27FC236}">
                <a16:creationId xmlns:a16="http://schemas.microsoft.com/office/drawing/2014/main" id="{AD78C4AE-27D4-47BF-A1EE-2D796EE8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591175"/>
            <a:ext cx="9515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全部目标环的数据包均已提交，释放该响应队列项。</a:t>
            </a:r>
          </a:p>
        </p:txBody>
      </p:sp>
      <p:sp>
        <p:nvSpPr>
          <p:cNvPr id="14" name="arch-text-135">
            <a:extLst xmlns:a="http://schemas.openxmlformats.org/drawingml/2006/main">
              <a:ext uri="{FF2B5EF4-FFF2-40B4-BE49-F238E27FC236}">
                <a16:creationId xmlns:a16="http://schemas.microsoft.com/office/drawing/2014/main" id="{D4C2AF07-F687-467B-9EA7-18299536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81725"/>
            <a:ext cx="1562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Ring侧</a:t>
            </a:r>
          </a:p>
        </p:txBody>
      </p:sp>
      <p:sp>
        <p:nvSpPr>
          <p:cNvPr id="15" name="arch-text-136">
            <a:extLst xmlns:a="http://schemas.openxmlformats.org/drawingml/2006/main">
              <a:ext uri="{FF2B5EF4-FFF2-40B4-BE49-F238E27FC236}">
                <a16:creationId xmlns:a16="http://schemas.microsoft.com/office/drawing/2014/main" id="{D2A5433E-456E-4D69-965A-EAA89F3A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181725"/>
            <a:ext cx="9515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最后一名接收端弹出后，槽位才可释放或由本地包接替。</a:t>
            </a:r>
          </a:p>
        </p:txBody>
      </p:sp>
    </p:spTree>
    <p:extLst>
      <p:ext uri="{BB962C8B-B14F-4D97-AF65-F5344CB8AC3E}">
        <p14:creationId xmlns:p14="http://schemas.microsoft.com/office/powerpoint/2010/main" val="9504971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65">
            <a:extLst xmlns:a="http://schemas.openxmlformats.org/drawingml/2006/main">
              <a:ext uri="{FF2B5EF4-FFF2-40B4-BE49-F238E27FC236}">
                <a16:creationId xmlns:a16="http://schemas.microsoft.com/office/drawing/2014/main" id="{08590356-D63E-49B2-B838-FEAF87D3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实验问题：现有数据能够回答什么</a:t>
            </a:r>
          </a:p>
        </p:txBody>
      </p:sp>
      <p:sp>
        <p:nvSpPr>
          <p:cNvPr id="3" name="share-66">
            <a:extLst xmlns:a="http://schemas.openxmlformats.org/drawingml/2006/main">
              <a:ext uri="{FF2B5EF4-FFF2-40B4-BE49-F238E27FC236}">
                <a16:creationId xmlns:a16="http://schemas.microsoft.com/office/drawing/2014/main" id="{2B49A84E-7408-4AE4-937D-77580096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现有37个测试点覆盖并发深度、请求粒度、地址模式和命中率；同地址冲突专题正在补充。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381000" y="1685925"/>
          <a:ext xmlns:a="http://schemas.openxmlformats.org/drawingml/2006/main" cx="11430000" cy="3571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47875"/>
                <a:gridCol w="4333875"/>
                <a:gridCol w="5048250"/>
              </a:tblGrid>
              <a:tr h="4857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研究问题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固定条件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已有扫描与结论边界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</a:tr>
              <a:tr h="10287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并发深度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NoMerge，256字节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配置命中率0%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16～512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寻找吞吐与P99拐点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请求粒度与地址关系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每核并发128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配置命中率0%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128～512字节，四种地址模式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观察包数、读取放大与数据复用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命中率与后端压力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请求256字节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比较四种地址模式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0%～100%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观察HBM流量与吞吐平台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re-67">
            <a:extLst xmlns:a="http://schemas.openxmlformats.org/drawingml/2006/main">
              <a:ext uri="{FF2B5EF4-FFF2-40B4-BE49-F238E27FC236}">
                <a16:creationId xmlns:a16="http://schemas.microsoft.com/office/drawing/2014/main" id="{C28E3ADC-B82A-4A56-902A-74C0B6A8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81650"/>
            <a:ext cx="11334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固定拓扑：8核、2条V-Ring、1条共享H-Ring、4个存储目标端。</a:t>
            </a:r>
          </a:p>
        </p:txBody>
      </p:sp>
      <p:sp>
        <p:nvSpPr>
          <p:cNvPr id="6" name="share-68">
            <a:extLst xmlns:a="http://schemas.openxmlformats.org/drawingml/2006/main">
              <a:ext uri="{FF2B5EF4-FFF2-40B4-BE49-F238E27FC236}">
                <a16:creationId xmlns:a16="http://schemas.microsoft.com/office/drawing/2014/main" id="{37E62626-5E5C-4416-BF15-585E09C9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6742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全部37个历史测试点记录PASS；不同扫描的固定条件不同，不做跨组因果比较。</a:t>
            </a:r>
          </a:p>
        </p:txBody>
      </p:sp>
      <p:sp>
        <p:nvSpPr>
          <p:cNvPr id="7" name="share-69">
            <a:extLst xmlns:a="http://schemas.openxmlformats.org/drawingml/2006/main">
              <a:ext uri="{FF2B5EF4-FFF2-40B4-BE49-F238E27FC236}">
                <a16:creationId xmlns:a16="http://schemas.microsoft.com/office/drawing/2014/main" id="{9F88F0AD-CC03-4B41-94E6-F5FB64B4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4984276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visual-18">
            <a:extLst xmlns:a="http://schemas.openxmlformats.org/drawingml/2006/main">
              <a:ext uri="{FF2B5EF4-FFF2-40B4-BE49-F238E27FC236}">
                <a16:creationId xmlns:a16="http://schemas.microsoft.com/office/drawing/2014/main" id="{506E05C9-0C48-41C9-AB20-53F4CD8D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统计口径：逻辑完成量与物理流量</a:t>
            </a:r>
          </a:p>
        </p:txBody>
      </p:sp>
      <p:sp>
        <p:nvSpPr>
          <p:cNvPr id="2" name="visual-19">
            <a:extLst xmlns:a="http://schemas.openxmlformats.org/drawingml/2006/main">
              <a:ext uri="{FF2B5EF4-FFF2-40B4-BE49-F238E27FC236}">
                <a16:creationId xmlns:a16="http://schemas.microsoft.com/office/drawing/2014/main" id="{3A092CD5-6456-40AF-B17D-FB54F903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同一份物理数据可以服务多个逻辑请求，需分别统计端到端完成量、DAT流量和HBM读取量。</a:t>
            </a:r>
          </a:p>
        </p:txBody>
      </p:sp>
      <p:sp>
        <p:nvSpPr>
          <p:cNvPr id="3" name="visual-20">
            <a:extLst xmlns:a="http://schemas.openxmlformats.org/drawingml/2006/main">
              <a:ext uri="{FF2B5EF4-FFF2-40B4-BE49-F238E27FC236}">
                <a16:creationId xmlns:a16="http://schemas.microsoft.com/office/drawing/2014/main" id="{F4922485-2C63-492D-8B3E-DB17F31D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diagram-21">
            <a:extLst xmlns:a="http://schemas.openxmlformats.org/drawingml/2006/main">
              <a:ext uri="{FF2B5EF4-FFF2-40B4-BE49-F238E27FC236}">
                <a16:creationId xmlns:a16="http://schemas.microsoft.com/office/drawing/2014/main" id="{E2125534-E083-4F92-B00C-867EA2AA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HBM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后端读取</a:t>
            </a:r>
          </a:p>
        </p:txBody>
      </p:sp>
      <p:sp>
        <p:nvSpPr>
          <p:cNvPr id="5" name="diagram-22">
            <a:extLst xmlns:a="http://schemas.openxmlformats.org/drawingml/2006/main">
              <a:ext uri="{FF2B5EF4-FFF2-40B4-BE49-F238E27FC236}">
                <a16:creationId xmlns:a16="http://schemas.microsoft.com/office/drawing/2014/main" id="{92BEDC71-834A-4092-BADA-D24513C5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857500"/>
            <a:ext cx="2114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 / L2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合并并组织返回</a:t>
            </a:r>
          </a:p>
        </p:txBody>
      </p:sp>
      <p:sp>
        <p:nvSpPr>
          <p:cNvPr id="6" name="diagram-23">
            <a:extLst xmlns:a="http://schemas.openxmlformats.org/drawingml/2006/main">
              <a:ext uri="{FF2B5EF4-FFF2-40B4-BE49-F238E27FC236}">
                <a16:creationId xmlns:a16="http://schemas.microsoft.com/office/drawing/2014/main" id="{950C149A-1FB5-4E5A-83C1-1B105E7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857500"/>
            <a:ext cx="2133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目标V-Ring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多播分发</a:t>
            </a:r>
          </a:p>
        </p:txBody>
      </p:sp>
      <p:cxnSp>
        <p:nvCxnSpPr>
          <p:cNvPr id="4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047875" y="3295650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5A11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10125" y="3295650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9" name="diagram-24">
            <a:extLst xmlns:a="http://schemas.openxmlformats.org/drawingml/2006/main">
              <a:ext uri="{FF2B5EF4-FFF2-40B4-BE49-F238E27FC236}">
                <a16:creationId xmlns:a16="http://schemas.microsoft.com/office/drawing/2014/main" id="{B361D056-61C1-496D-9E62-1ED7674F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724025"/>
            <a:ext cx="20383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计算核0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512字节</a:t>
            </a:r>
          </a:p>
        </p:txBody>
      </p:sp>
      <p:cxnSp>
        <p:nvCxnSpPr>
          <p:cNvPr id="48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591425" y="2081213"/>
            <a:ext cx="1390650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11" name="diagram-25">
            <a:extLst xmlns:a="http://schemas.openxmlformats.org/drawingml/2006/main">
              <a:ext uri="{FF2B5EF4-FFF2-40B4-BE49-F238E27FC236}">
                <a16:creationId xmlns:a16="http://schemas.microsoft.com/office/drawing/2014/main" id="{247B2305-5DE2-4E8A-A091-E23D4452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781300"/>
            <a:ext cx="20383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计算核1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512字节</a:t>
            </a:r>
          </a:p>
        </p:txBody>
      </p:sp>
      <p:cxnSp>
        <p:nvCxnSpPr>
          <p:cNvPr id="50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7591425" y="3138488"/>
            <a:ext cx="1390650" cy="1571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13" name="diagram-26">
            <a:extLst xmlns:a="http://schemas.openxmlformats.org/drawingml/2006/main">
              <a:ext uri="{FF2B5EF4-FFF2-40B4-BE49-F238E27FC236}">
                <a16:creationId xmlns:a16="http://schemas.microsoft.com/office/drawing/2014/main" id="{CB129658-7D32-403E-A9CC-BBEBE25D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38575"/>
            <a:ext cx="20383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计算核2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512字节</a:t>
            </a:r>
          </a:p>
        </p:txBody>
      </p:sp>
      <p:cxnSp>
        <p:nvCxnSpPr>
          <p:cNvPr id="52" name=""/>
          <p:cNvCxnSpPr>
            <a:stCxn xmlns:a="http://schemas.openxmlformats.org/drawingml/2006/main" id="6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591425" y="3295650"/>
            <a:ext cx="1390650" cy="9001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15" name="diagram-27">
            <a:extLst xmlns:a="http://schemas.openxmlformats.org/drawingml/2006/main">
              <a:ext uri="{FF2B5EF4-FFF2-40B4-BE49-F238E27FC236}">
                <a16:creationId xmlns:a16="http://schemas.microsoft.com/office/drawing/2014/main" id="{09CBFA00-679A-4141-9FD6-71C1DC7F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95850"/>
            <a:ext cx="20383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计算核3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512字节</a:t>
            </a:r>
          </a:p>
        </p:txBody>
      </p:sp>
      <p:cxnSp>
        <p:nvCxnSpPr>
          <p:cNvPr id="54" name=""/>
          <p:cNvCxnSpPr>
            <a:stCxn xmlns:a="http://schemas.openxmlformats.org/drawingml/2006/main" id="6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591425" y="3295650"/>
            <a:ext cx="1390650" cy="19573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17" name="visual-28">
            <a:extLst xmlns:a="http://schemas.openxmlformats.org/drawingml/2006/main">
              <a:ext uri="{FF2B5EF4-FFF2-40B4-BE49-F238E27FC236}">
                <a16:creationId xmlns:a16="http://schemas.microsoft.com/office/drawing/2014/main" id="{72FA60CB-8DBC-45D3-BBD9-4BD495B5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17716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物理读取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512字节</a:t>
            </a:r>
          </a:p>
        </p:txBody>
      </p:sp>
      <p:sp>
        <p:nvSpPr>
          <p:cNvPr id="18" name="visual-29">
            <a:extLst xmlns:a="http://schemas.openxmlformats.org/drawingml/2006/main">
              <a:ext uri="{FF2B5EF4-FFF2-40B4-BE49-F238E27FC236}">
                <a16:creationId xmlns:a16="http://schemas.microsoft.com/office/drawing/2014/main" id="{F2EFEA9F-0A42-4249-93EF-EFE4A985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95750"/>
            <a:ext cx="21526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L2注入DAT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512字节</a:t>
            </a:r>
          </a:p>
        </p:txBody>
      </p:sp>
      <p:sp>
        <p:nvSpPr>
          <p:cNvPr id="19" name="visual-30">
            <a:extLst xmlns:a="http://schemas.openxmlformats.org/drawingml/2006/main">
              <a:ext uri="{FF2B5EF4-FFF2-40B4-BE49-F238E27FC236}">
                <a16:creationId xmlns:a16="http://schemas.microsoft.com/office/drawing/2014/main" id="{86BE1BD1-B94F-4F58-BE60-57958B57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6029325"/>
            <a:ext cx="4238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有效完成量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4 × 512 = 2048字节</a:t>
            </a:r>
          </a:p>
        </p:txBody>
      </p:sp>
      <p:sp>
        <p:nvSpPr>
          <p:cNvPr id="20" name="line-31">
            <a:extLst xmlns:a="http://schemas.openxmlformats.org/drawingml/2006/main">
              <a:ext uri="{FF2B5EF4-FFF2-40B4-BE49-F238E27FC236}">
                <a16:creationId xmlns:a16="http://schemas.microsoft.com/office/drawing/2014/main" id="{0D5F51C6-2991-430F-9008-2514A408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5785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21" name="visual-32">
            <a:extLst xmlns:a="http://schemas.openxmlformats.org/drawingml/2006/main">
              <a:ext uri="{FF2B5EF4-FFF2-40B4-BE49-F238E27FC236}">
                <a16:creationId xmlns:a16="http://schemas.microsoft.com/office/drawing/2014/main" id="{08C3F1AC-92D9-4165-A65B-7BDE0C7F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00750"/>
            <a:ext cx="7019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带宽 = 对应边界的字节数 ÷ 统一统计窗口</a:t>
            </a:r>
          </a:p>
        </p:txBody>
      </p:sp>
      <p:sp>
        <p:nvSpPr>
          <p:cNvPr id="22" name="visual-33">
            <a:extLst xmlns:a="http://schemas.openxmlformats.org/drawingml/2006/main">
              <a:ext uri="{FF2B5EF4-FFF2-40B4-BE49-F238E27FC236}">
                <a16:creationId xmlns:a16="http://schemas.microsoft.com/office/drawing/2014/main" id="{572B77DA-A45A-4D5A-B0AC-322E5D4E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96050"/>
            <a:ext cx="1109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REQ / DAT包数按逐链路传输累计，另看P99延迟衡量尾部等待。</a:t>
            </a:r>
          </a:p>
        </p:txBody>
      </p:sp>
    </p:spTree>
    <p:extLst>
      <p:ext uri="{BB962C8B-B14F-4D97-AF65-F5344CB8AC3E}">
        <p14:creationId xmlns:p14="http://schemas.microsoft.com/office/powerpoint/2010/main" val="192299543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visual-34">
            <a:extLst xmlns:a="http://schemas.openxmlformats.org/drawingml/2006/main">
              <a:ext uri="{FF2B5EF4-FFF2-40B4-BE49-F238E27FC236}">
                <a16:creationId xmlns:a16="http://schemas.microsoft.com/office/drawing/2014/main" id="{35C0F0AE-8ABD-4683-A8FD-8057EB45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实验一：Outstanding的吞吐与尾延迟拐点</a:t>
            </a:r>
          </a:p>
        </p:txBody>
      </p:sp>
      <p:sp>
        <p:nvSpPr>
          <p:cNvPr id="2" name="visual-35">
            <a:extLst xmlns:a="http://schemas.openxmlformats.org/drawingml/2006/main">
              <a:ext uri="{FF2B5EF4-FFF2-40B4-BE49-F238E27FC236}">
                <a16:creationId xmlns:a16="http://schemas.microsoft.com/office/drawing/2014/main" id="{7DF2A555-F666-4F92-AD52-E915335D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NoMerge，256字节请求，配置命中率0%。以每核并发256为1，比较吞吐和P99。</a:t>
            </a:r>
          </a:p>
        </p:txBody>
      </p:sp>
      <p:sp>
        <p:nvSpPr>
          <p:cNvPr id="3" name="visual-36">
            <a:extLst xmlns:a="http://schemas.openxmlformats.org/drawingml/2006/main">
              <a:ext uri="{FF2B5EF4-FFF2-40B4-BE49-F238E27FC236}">
                <a16:creationId xmlns:a16="http://schemas.microsoft.com/office/drawing/2014/main" id="{1E171C58-E178-4257-AF29-C2DB8609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5" name="visual-37">
            <a:extLst xmlns:a="http://schemas.openxmlformats.org/drawingml/2006/main">
              <a:ext uri="{FF2B5EF4-FFF2-40B4-BE49-F238E27FC236}">
                <a16:creationId xmlns:a16="http://schemas.microsoft.com/office/drawing/2014/main" id="{11F8B0A3-E34C-4F77-9DC8-910B7284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764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每核并发256增至512</a:t>
            </a:r>
          </a:p>
        </p:txBody>
      </p:sp>
      <p:sp>
        <p:nvSpPr>
          <p:cNvPr id="6" name="visual-38">
            <a:extLst xmlns:a="http://schemas.openxmlformats.org/drawingml/2006/main">
              <a:ext uri="{FF2B5EF4-FFF2-40B4-BE49-F238E27FC236}">
                <a16:creationId xmlns:a16="http://schemas.microsoft.com/office/drawing/2014/main" id="{D834FE7D-2828-40A0-88B5-B2B29FEA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05075"/>
            <a:ext cx="3686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吞吐下降2.1%</a:t>
            </a:r>
          </a:p>
        </p:txBody>
      </p:sp>
      <p:sp>
        <p:nvSpPr>
          <p:cNvPr id="7" name="visual-39">
            <a:extLst xmlns:a="http://schemas.openxmlformats.org/drawingml/2006/main">
              <a:ext uri="{FF2B5EF4-FFF2-40B4-BE49-F238E27FC236}">
                <a16:creationId xmlns:a16="http://schemas.microsoft.com/office/drawing/2014/main" id="{377C83BD-FB36-4F29-B2BB-A4A9C7DF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09925"/>
            <a:ext cx="3686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P99增至2.55倍</a:t>
            </a:r>
          </a:p>
        </p:txBody>
      </p:sp>
      <p:sp>
        <p:nvSpPr>
          <p:cNvPr id="8" name="visual-40">
            <a:extLst xmlns:a="http://schemas.openxmlformats.org/drawingml/2006/main">
              <a:ext uri="{FF2B5EF4-FFF2-40B4-BE49-F238E27FC236}">
                <a16:creationId xmlns:a16="http://schemas.microsoft.com/office/drawing/2014/main" id="{8129104B-CBBB-410E-A6C8-D4F24E88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29100"/>
            <a:ext cx="36861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候选范围先比较128与256，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再结合延迟目标和资源代价取舍。</a:t>
            </a:r>
          </a:p>
        </p:txBody>
      </p:sp>
      <p:sp>
        <p:nvSpPr>
          <p:cNvPr id="9" name="line-41">
            <a:extLst xmlns:a="http://schemas.openxmlformats.org/drawingml/2006/main">
              <a:ext uri="{FF2B5EF4-FFF2-40B4-BE49-F238E27FC236}">
                <a16:creationId xmlns:a16="http://schemas.microsoft.com/office/drawing/2014/main" id="{3D26EA0B-5706-47E0-9B4F-CCDA05E7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19775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10" name="visual-42">
            <a:extLst xmlns:a="http://schemas.openxmlformats.org/drawingml/2006/main">
              <a:ext uri="{FF2B5EF4-FFF2-40B4-BE49-F238E27FC236}">
                <a16:creationId xmlns:a16="http://schemas.microsoft.com/office/drawing/2014/main" id="{4558A328-3B28-41B7-95F0-68964483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76950"/>
            <a:ext cx="1409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适用范围</a:t>
            </a:r>
          </a:p>
        </p:txBody>
      </p:sp>
      <p:sp>
        <p:nvSpPr>
          <p:cNvPr id="11" name="visual-43">
            <a:extLst xmlns:a="http://schemas.openxmlformats.org/drawingml/2006/main">
              <a:ext uri="{FF2B5EF4-FFF2-40B4-BE49-F238E27FC236}">
                <a16:creationId xmlns:a16="http://schemas.microsoft.com/office/drawing/2014/main" id="{A5E54F62-4AA3-4308-A833-44E35BF6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0769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结论仅适用于当前拓扑、NoMerge、256字节和0%命中配置。</a:t>
            </a:r>
          </a:p>
        </p:txBody>
      </p:sp>
      <p:sp>
        <p:nvSpPr>
          <p:cNvPr id="12" name="visual-44">
            <a:extLst xmlns:a="http://schemas.openxmlformats.org/drawingml/2006/main">
              <a:ext uri="{FF2B5EF4-FFF2-40B4-BE49-F238E27FC236}">
                <a16:creationId xmlns:a16="http://schemas.microsoft.com/office/drawing/2014/main" id="{775E62A6-AAD0-4D35-9162-7246BD3F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0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后续定位</a:t>
            </a:r>
          </a:p>
        </p:txBody>
      </p:sp>
      <p:sp>
        <p:nvSpPr>
          <p:cNvPr id="13" name="visual-45">
            <a:extLst xmlns:a="http://schemas.openxmlformats.org/drawingml/2006/main">
              <a:ext uri="{FF2B5EF4-FFF2-40B4-BE49-F238E27FC236}">
                <a16:creationId xmlns:a16="http://schemas.microsoft.com/office/drawing/2014/main" id="{2E6C062B-50F8-4198-B4C7-00ECC663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47700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结合额度阻塞、队列占用和后端在途峰值寻找首个饱和资源。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381000" y="1752600"/>
          <a:ext xmlns:a="http://schemas.openxmlformats.org/drawingml/2006/main" cx="7048500" cy="3838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2bc0734a9547e1"/>
          </a:graphicData>
        </a:graphic>
      </p:graphicFrame>
    </p:spTree>
    <p:extLst>
      <p:ext uri="{BB962C8B-B14F-4D97-AF65-F5344CB8AC3E}">
        <p14:creationId xmlns:p14="http://schemas.microsoft.com/office/powerpoint/2010/main" val="35284707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图片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722165fdf4d88"/>
          <a:stretch xmlns:a="http://schemas.openxmlformats.org/drawingml/2006/main"/>
        </p:blipFill>
        <p:spPr>
          <a:xfrm xmlns:a="http://schemas.openxmlformats.org/drawingml/2006/main">
            <a:off x="542925" y="1400175"/>
            <a:ext cx="6696075" cy="5095875"/>
          </a:xfrm>
          <a:prstGeom xmlns:a="http://schemas.openxmlformats.org/drawingml/2006/main" prst="rect">
            <a:avLst/>
          </a:prstGeom>
        </p:spPr>
      </p:pic>
      <p:sp>
        <p:nvSpPr>
          <p:cNvPr id="3" name="exp-text-34">
            <a:extLst xmlns:a="http://schemas.openxmlformats.org/drawingml/2006/main">
              <a:ext uri="{FF2B5EF4-FFF2-40B4-BE49-F238E27FC236}">
                <a16:creationId xmlns:a16="http://schemas.microsoft.com/office/drawing/2014/main" id="{7933FECD-8915-4FEE-9D13-4A19C0EA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实验二：地址关系改变物理流量与数据复用</a:t>
            </a:r>
          </a:p>
        </p:txBody>
      </p:sp>
      <p:sp>
        <p:nvSpPr>
          <p:cNvPr id="4" name="exp-text-35">
            <a:extLst xmlns:a="http://schemas.openxmlformats.org/drawingml/2006/main">
              <a:ext uri="{FF2B5EF4-FFF2-40B4-BE49-F238E27FC236}">
                <a16:creationId xmlns:a16="http://schemas.microsoft.com/office/drawing/2014/main" id="{FB48528A-9CF7-443B-9B8F-45B359C6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66775"/>
            <a:ext cx="1143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配置命中率0%、每核并发128。比较请求大小和地址关系对逐链路包数与返回数据复用的影响。</a:t>
            </a:r>
          </a:p>
        </p:txBody>
      </p:sp>
      <p:sp>
        <p:nvSpPr>
          <p:cNvPr id="5" name="exp-frame-36">
            <a:extLst xmlns:a="http://schemas.openxmlformats.org/drawingml/2006/main">
              <a:ext uri="{FF2B5EF4-FFF2-40B4-BE49-F238E27FC236}">
                <a16:creationId xmlns:a16="http://schemas.microsoft.com/office/drawing/2014/main" id="{C657AB71-65B7-4086-A8B0-E05B656D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33500"/>
            <a:ext cx="7048500" cy="526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0286B"/>
            </a:solidFill>
            <a:prstDash val="solid"/>
          </a:ln>
        </p:spPr>
      </p:sp>
      <p:sp>
        <p:nvSpPr>
          <p:cNvPr id="6" name="exp-text-37">
            <a:extLst xmlns:a="http://schemas.openxmlformats.org/drawingml/2006/main">
              <a:ext uri="{FF2B5EF4-FFF2-40B4-BE49-F238E27FC236}">
                <a16:creationId xmlns:a16="http://schemas.microsoft.com/office/drawing/2014/main" id="{2D94118C-298C-45A1-9768-0460ADBE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06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128</a:t>
            </a:r>
          </a:p>
        </p:txBody>
      </p:sp>
      <p:sp>
        <p:nvSpPr>
          <p:cNvPr id="7" name="exp-text-38">
            <a:extLst xmlns:a="http://schemas.openxmlformats.org/drawingml/2006/main">
              <a:ext uri="{FF2B5EF4-FFF2-40B4-BE49-F238E27FC236}">
                <a16:creationId xmlns:a16="http://schemas.microsoft.com/office/drawing/2014/main" id="{005547C9-6FE3-4962-9DB4-AA9460EE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3518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256</a:t>
            </a:r>
          </a:p>
        </p:txBody>
      </p:sp>
      <p:sp>
        <p:nvSpPr>
          <p:cNvPr id="8" name="exp-text-39">
            <a:extLst xmlns:a="http://schemas.openxmlformats.org/drawingml/2006/main">
              <a:ext uri="{FF2B5EF4-FFF2-40B4-BE49-F238E27FC236}">
                <a16:creationId xmlns:a16="http://schemas.microsoft.com/office/drawing/2014/main" id="{62A0D7E6-58D7-4447-B53E-462BCDED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492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512</a:t>
            </a:r>
          </a:p>
        </p:txBody>
      </p:sp>
      <p:sp>
        <p:nvSpPr>
          <p:cNvPr id="9" name="exp-text-40">
            <a:extLst xmlns:a="http://schemas.openxmlformats.org/drawingml/2006/main">
              <a:ext uri="{FF2B5EF4-FFF2-40B4-BE49-F238E27FC236}">
                <a16:creationId xmlns:a16="http://schemas.microsoft.com/office/drawing/2014/main" id="{4CE8EABD-08D6-4437-BD46-1F927FA0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381125"/>
            <a:ext cx="3981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请求增大后，REQ累计传输次数下降</a:t>
            </a:r>
          </a:p>
        </p:txBody>
      </p:sp>
      <p:sp>
        <p:nvSpPr>
          <p:cNvPr id="10" name="exp-text-41">
            <a:extLst xmlns:a="http://schemas.openxmlformats.org/drawingml/2006/main">
              <a:ext uri="{FF2B5EF4-FFF2-40B4-BE49-F238E27FC236}">
                <a16:creationId xmlns:a16="http://schemas.microsoft.com/office/drawing/2014/main" id="{2719A7DD-B80B-440C-B0EE-FB94C88D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809750"/>
            <a:ext cx="3981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NoMerge的REQ累计传输次数由46.59万降至15.56万，体现请求粒度与网络路径的共同影响。</a:t>
            </a:r>
          </a:p>
        </p:txBody>
      </p:sp>
      <p:sp>
        <p:nvSpPr>
          <p:cNvPr id="11" name="exp-text-42">
            <a:extLst xmlns:a="http://schemas.openxmlformats.org/drawingml/2006/main">
              <a:ext uri="{FF2B5EF4-FFF2-40B4-BE49-F238E27FC236}">
                <a16:creationId xmlns:a16="http://schemas.microsoft.com/office/drawing/2014/main" id="{1736E157-8100-4A21-97A6-5028B99D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38450"/>
            <a:ext cx="3981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分段返回降低DAT累计传输次数</a:t>
            </a:r>
          </a:p>
        </p:txBody>
      </p:sp>
      <p:sp>
        <p:nvSpPr>
          <p:cNvPr id="12" name="exp-text-43">
            <a:extLst xmlns:a="http://schemas.openxmlformats.org/drawingml/2006/main">
              <a:ext uri="{FF2B5EF4-FFF2-40B4-BE49-F238E27FC236}">
                <a16:creationId xmlns:a16="http://schemas.microsoft.com/office/drawing/2014/main" id="{C57B689B-C903-47EF-B385-865D80C4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248025"/>
            <a:ext cx="39814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128字节请求下，Scatter为10.65万次，NoMerge为29.11万次。比较口径均为逐链路累计。</a:t>
            </a:r>
          </a:p>
        </p:txBody>
      </p:sp>
      <p:sp>
        <p:nvSpPr>
          <p:cNvPr id="13" name="exp-text-44">
            <a:extLst xmlns:a="http://schemas.openxmlformats.org/drawingml/2006/main">
              <a:ext uri="{FF2B5EF4-FFF2-40B4-BE49-F238E27FC236}">
                <a16:creationId xmlns:a16="http://schemas.microsoft.com/office/drawing/2014/main" id="{1697B7BE-2BD1-4F49-B483-69D75F22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238625"/>
            <a:ext cx="3981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多播提高每份数据的有效利用</a:t>
            </a:r>
          </a:p>
        </p:txBody>
      </p:sp>
      <p:sp>
        <p:nvSpPr>
          <p:cNvPr id="14" name="exp-text-45">
            <a:extLst xmlns:a="http://schemas.openxmlformats.org/drawingml/2006/main">
              <a:ext uri="{FF2B5EF4-FFF2-40B4-BE49-F238E27FC236}">
                <a16:creationId xmlns:a16="http://schemas.microsoft.com/office/drawing/2014/main" id="{210945E4-BF60-4C1E-858B-0E47CA3A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648200"/>
            <a:ext cx="3981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Shared在512字节请求下：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有效带宽890.04字节/周期，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物理DAT带宽222.51字节/周期。</a:t>
            </a:r>
          </a:p>
        </p:txBody>
      </p:sp>
      <p:sp>
        <p:nvSpPr>
          <p:cNvPr id="15" name="exp-frame-46">
            <a:extLst xmlns:a="http://schemas.openxmlformats.org/drawingml/2006/main">
              <a:ext uri="{FF2B5EF4-FFF2-40B4-BE49-F238E27FC236}">
                <a16:creationId xmlns:a16="http://schemas.microsoft.com/office/drawing/2014/main" id="{99AA4C1A-1022-41E0-A9EA-2C64C4CC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619750"/>
            <a:ext cx="3981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10286B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890.04 ÷ 222.51 = 4.0倍</a:t>
            </a:r>
          </a:p>
        </p:txBody>
      </p:sp>
      <p:sp>
        <p:nvSpPr>
          <p:cNvPr id="16" name="exp-text-47">
            <a:extLst xmlns:a="http://schemas.openxmlformats.org/drawingml/2006/main">
              <a:ext uri="{FF2B5EF4-FFF2-40B4-BE49-F238E27FC236}">
                <a16:creationId xmlns:a16="http://schemas.microsoft.com/office/drawing/2014/main" id="{40AEB207-5CCA-42B4-BEBC-9A32AAFF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6286500"/>
            <a:ext cx="3981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4倍表示逻辑数据复用，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不表示链路物理带宽增加4倍。</a:t>
            </a:r>
          </a:p>
        </p:txBody>
      </p:sp>
      <p:sp>
        <p:nvSpPr>
          <p:cNvPr id="17" name="share-87">
            <a:extLst xmlns:a="http://schemas.openxmlformats.org/drawingml/2006/main">
              <a:ext uri="{FF2B5EF4-FFF2-40B4-BE49-F238E27FC236}">
                <a16:creationId xmlns:a16="http://schemas.microsoft.com/office/drawing/2014/main" id="{BA5957AF-AD1A-4EA0-B0F8-23024EE6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69643216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rch-text-137">
            <a:extLst xmlns:a="http://schemas.openxmlformats.org/drawingml/2006/main">
              <a:ext uri="{FF2B5EF4-FFF2-40B4-BE49-F238E27FC236}">
                <a16:creationId xmlns:a16="http://schemas.microsoft.com/office/drawing/2014/main" id="{36DF08EB-BF2A-45D1-9C12-FB522EA9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同地址访问专题：从问题量化到方案比较</a:t>
            </a:r>
          </a:p>
        </p:txBody>
      </p:sp>
      <p:sp>
        <p:nvSpPr>
          <p:cNvPr id="2" name="arch-text-138">
            <a:extLst xmlns:a="http://schemas.openxmlformats.org/drawingml/2006/main">
              <a:ext uri="{FF2B5EF4-FFF2-40B4-BE49-F238E27FC236}">
                <a16:creationId xmlns:a16="http://schemas.microsoft.com/office/drawing/2014/main" id="{3DDD1FB7-4520-4EAB-8D39-6BD8CE91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实验正在补充。本页先明确测试场景、观察指标和结论边界。</a:t>
            </a:r>
          </a:p>
        </p:txBody>
      </p:sp>
      <p:sp>
        <p:nvSpPr>
          <p:cNvPr id="3" name="arch-text-139">
            <a:extLst xmlns:a="http://schemas.openxmlformats.org/drawingml/2006/main">
              <a:ext uri="{FF2B5EF4-FFF2-40B4-BE49-F238E27FC236}">
                <a16:creationId xmlns:a16="http://schemas.microsoft.com/office/drawing/2014/main" id="{CA5ABCE9-E914-4845-9A7C-9B8F7567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4" name="arch-diagram-140">
            <a:extLst xmlns:a="http://schemas.openxmlformats.org/drawingml/2006/main">
              <a:ext uri="{FF2B5EF4-FFF2-40B4-BE49-F238E27FC236}">
                <a16:creationId xmlns:a16="http://schemas.microsoft.com/office/drawing/2014/main" id="{A0E0A6C4-A24C-4206-B722-2633CCBE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62175"/>
            <a:ext cx="30384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同一事务输入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本模型与SoC ESL</a:t>
            </a:r>
          </a:p>
        </p:txBody>
      </p:sp>
      <p:sp>
        <p:nvSpPr>
          <p:cNvPr id="5" name="arch-diagram-141">
            <a:extLst xmlns:a="http://schemas.openxmlformats.org/drawingml/2006/main">
              <a:ext uri="{FF2B5EF4-FFF2-40B4-BE49-F238E27FC236}">
                <a16:creationId xmlns:a16="http://schemas.microsoft.com/office/drawing/2014/main" id="{2B7FEDCA-D40F-4832-9289-5E47E8B8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62175"/>
            <a:ext cx="30384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校准基础约束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延迟、带宽、队列</a:t>
            </a:r>
          </a:p>
        </p:txBody>
      </p:sp>
      <p:sp>
        <p:nvSpPr>
          <p:cNvPr id="6" name="arch-diagram-142">
            <a:extLst xmlns:a="http://schemas.openxmlformats.org/drawingml/2006/main">
              <a:ext uri="{FF2B5EF4-FFF2-40B4-BE49-F238E27FC236}">
                <a16:creationId xmlns:a16="http://schemas.microsoft.com/office/drawing/2014/main" id="{C75CB43D-F9E6-4CA3-93D3-FB1A2DBC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62175"/>
            <a:ext cx="30384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同地址冲突专题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热点读写与Atomic</a:t>
            </a:r>
          </a:p>
        </p:txBody>
      </p:sp>
      <p:cxnSp>
        <p:nvCxnSpPr>
          <p:cNvPr id="3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419475" y="26670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81900" y="26670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sp>
        <p:nvSpPr>
          <p:cNvPr id="9" name="arch-text-143">
            <a:extLst xmlns:a="http://schemas.openxmlformats.org/drawingml/2006/main">
              <a:ext uri="{FF2B5EF4-FFF2-40B4-BE49-F238E27FC236}">
                <a16:creationId xmlns:a16="http://schemas.microsoft.com/office/drawing/2014/main" id="{3692EE88-73D5-49D1-915B-46DBED39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67150"/>
            <a:ext cx="3038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场景范围</a:t>
            </a:r>
          </a:p>
        </p:txBody>
      </p:sp>
      <p:sp>
        <p:nvSpPr>
          <p:cNvPr id="10" name="arch-text-144">
            <a:extLst xmlns:a="http://schemas.openxmlformats.org/drawingml/2006/main">
              <a:ext uri="{FF2B5EF4-FFF2-40B4-BE49-F238E27FC236}">
                <a16:creationId xmlns:a16="http://schemas.microsoft.com/office/drawing/2014/main" id="{9E143DD3-621A-44AC-9984-ABC6E765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38650"/>
            <a:ext cx="30384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请求含义与完成边界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输入流量与配置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统计位置和时间窗口</a:t>
            </a:r>
          </a:p>
        </p:txBody>
      </p:sp>
      <p:sp>
        <p:nvSpPr>
          <p:cNvPr id="11" name="arch-text-145">
            <a:extLst xmlns:a="http://schemas.openxmlformats.org/drawingml/2006/main">
              <a:ext uri="{FF2B5EF4-FFF2-40B4-BE49-F238E27FC236}">
                <a16:creationId xmlns:a16="http://schemas.microsoft.com/office/drawing/2014/main" id="{2ED749E7-B835-42C7-AD95-7B76CEB9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867150"/>
            <a:ext cx="3038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观察指标</a:t>
            </a:r>
          </a:p>
        </p:txBody>
      </p:sp>
      <p:sp>
        <p:nvSpPr>
          <p:cNvPr id="12" name="arch-text-146">
            <a:extLst xmlns:a="http://schemas.openxmlformats.org/drawingml/2006/main">
              <a:ext uri="{FF2B5EF4-FFF2-40B4-BE49-F238E27FC236}">
                <a16:creationId xmlns:a16="http://schemas.microsoft.com/office/drawing/2014/main" id="{A3DB9FA8-6633-4C13-9F3C-E74F67CA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438650"/>
            <a:ext cx="30384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低负载基础延迟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并发下的吞吐拐点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各模块等待与尾延迟</a:t>
            </a:r>
          </a:p>
        </p:txBody>
      </p:sp>
      <p:sp>
        <p:nvSpPr>
          <p:cNvPr id="13" name="arch-text-147">
            <a:extLst xmlns:a="http://schemas.openxmlformats.org/drawingml/2006/main">
              <a:ext uri="{FF2B5EF4-FFF2-40B4-BE49-F238E27FC236}">
                <a16:creationId xmlns:a16="http://schemas.microsoft.com/office/drawing/2014/main" id="{6FD550D9-8D82-4533-A641-728CCCED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67150"/>
            <a:ext cx="3038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结论边界</a:t>
            </a:r>
          </a:p>
        </p:txBody>
      </p:sp>
      <p:sp>
        <p:nvSpPr>
          <p:cNvPr id="14" name="arch-text-148">
            <a:extLst xmlns:a="http://schemas.openxmlformats.org/drawingml/2006/main">
              <a:ext uri="{FF2B5EF4-FFF2-40B4-BE49-F238E27FC236}">
                <a16:creationId xmlns:a16="http://schemas.microsoft.com/office/drawing/2014/main" id="{5125E614-D3D7-4A67-B675-33C77326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38650"/>
            <a:ext cx="30384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量化冲突与非热点干扰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参考公开竞品机制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评估收益、状态与资源代价</a:t>
            </a:r>
          </a:p>
        </p:txBody>
      </p:sp>
      <p:sp>
        <p:nvSpPr>
          <p:cNvPr id="15" name="arch-text-149">
            <a:extLst xmlns:a="http://schemas.openxmlformats.org/drawingml/2006/main">
              <a:ext uri="{FF2B5EF4-FFF2-40B4-BE49-F238E27FC236}">
                <a16:creationId xmlns:a16="http://schemas.microsoft.com/office/drawing/2014/main" id="{6532ED7D-7611-4D3A-B329-9608C32D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91275"/>
            <a:ext cx="11334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当前页只定义实验问题，不包含尚未生成的数据；Atomic待补充原子性、返回值和顺序语义后再验证。</a:t>
            </a:r>
          </a:p>
        </p:txBody>
      </p:sp>
    </p:spTree>
    <p:extLst>
      <p:ext uri="{BB962C8B-B14F-4D97-AF65-F5344CB8AC3E}">
        <p14:creationId xmlns:p14="http://schemas.microsoft.com/office/powerpoint/2010/main" val="139924681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rch-text-150">
            <a:extLst xmlns:a="http://schemas.openxmlformats.org/drawingml/2006/main">
              <a:ext uri="{FF2B5EF4-FFF2-40B4-BE49-F238E27FC236}">
                <a16:creationId xmlns:a16="http://schemas.microsoft.com/office/drawing/2014/main" id="{5AAF8EA3-6794-48FE-9B66-1C5C2421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工作总结：模型平台与实验问题</a:t>
            </a:r>
          </a:p>
        </p:txBody>
      </p:sp>
      <p:sp>
        <p:nvSpPr>
          <p:cNvPr id="2" name="arch-text-151">
            <a:extLst xmlns:a="http://schemas.openxmlformats.org/drawingml/2006/main">
              <a:ext uri="{FF2B5EF4-FFF2-40B4-BE49-F238E27FC236}">
                <a16:creationId xmlns:a16="http://schemas.microsoft.com/office/drawing/2014/main" id="{76DC66BA-69E5-424C-BD43-3543FF57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完成近SoC互连与存储性能模型，并形成可追溯的参数扫描和同地址访问专题入口。</a:t>
            </a:r>
          </a:p>
        </p:txBody>
      </p:sp>
      <p:sp>
        <p:nvSpPr>
          <p:cNvPr id="3" name="arch-text-152">
            <a:extLst xmlns:a="http://schemas.openxmlformats.org/drawingml/2006/main">
              <a:ext uri="{FF2B5EF4-FFF2-40B4-BE49-F238E27FC236}">
                <a16:creationId xmlns:a16="http://schemas.microsoft.com/office/drawing/2014/main" id="{CA191A63-63A6-497F-9ECC-6CAF255B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4" name="arch-diagram-153">
            <a:extLst xmlns:a="http://schemas.openxmlformats.org/drawingml/2006/main">
              <a:ext uri="{FF2B5EF4-FFF2-40B4-BE49-F238E27FC236}">
                <a16:creationId xmlns:a16="http://schemas.microsoft.com/office/drawing/2014/main" id="{B71A0235-5C4E-4D65-8CF4-B410BE7C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526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互连设计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H/V拓扑与跨环转发</a:t>
            </a:r>
          </a:p>
        </p:txBody>
      </p:sp>
      <p:sp>
        <p:nvSpPr>
          <p:cNvPr id="5" name="arch-diagram-154">
            <a:extLst xmlns:a="http://schemas.openxmlformats.org/drawingml/2006/main">
              <a:ext uri="{FF2B5EF4-FFF2-40B4-BE49-F238E27FC236}">
                <a16:creationId xmlns:a16="http://schemas.microsoft.com/office/drawing/2014/main" id="{4036E67A-B1D6-457D-8359-9BDCCEB3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526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资源与时序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反压、槽位和串行化</a:t>
            </a:r>
          </a:p>
        </p:txBody>
      </p:sp>
      <p:sp>
        <p:nvSpPr>
          <p:cNvPr id="6" name="arch-diagram-155">
            <a:extLst xmlns:a="http://schemas.openxmlformats.org/drawingml/2006/main">
              <a:ext uri="{FF2B5EF4-FFF2-40B4-BE49-F238E27FC236}">
                <a16:creationId xmlns:a16="http://schemas.microsoft.com/office/drawing/2014/main" id="{6F67A62B-057E-40B1-B0D8-3FD2A38D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526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存储侧组织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HA合并与L2分发</a:t>
            </a:r>
          </a:p>
        </p:txBody>
      </p: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429000" y="2628900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91425" y="2628900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sp>
        <p:nvSpPr>
          <p:cNvPr id="9" name="arch-text-156">
            <a:extLst xmlns:a="http://schemas.openxmlformats.org/drawingml/2006/main">
              <a:ext uri="{FF2B5EF4-FFF2-40B4-BE49-F238E27FC236}">
                <a16:creationId xmlns:a16="http://schemas.microsoft.com/office/drawing/2014/main" id="{5BC4D486-1BDD-4D70-BE4B-E7C90746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743325"/>
            <a:ext cx="3476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我的主要产出</a:t>
            </a:r>
          </a:p>
        </p:txBody>
      </p:sp>
      <p:sp>
        <p:nvSpPr>
          <p:cNvPr id="10" name="arch-text-157">
            <a:extLst xmlns:a="http://schemas.openxmlformats.org/drawingml/2006/main">
              <a:ext uri="{FF2B5EF4-FFF2-40B4-BE49-F238E27FC236}">
                <a16:creationId xmlns:a16="http://schemas.microsoft.com/office/drawing/2014/main" id="{2BB8A4A9-1FA7-4038-864B-BDBCBA12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24350"/>
            <a:ext cx="1133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完成模型实现、功能测试、性能统计和参数扫描，并交付架构、接口、配置及实验文档。</a:t>
            </a:r>
          </a:p>
        </p:txBody>
      </p:sp>
      <p:sp>
        <p:nvSpPr>
          <p:cNvPr id="11" name="arch-line-158">
            <a:extLst xmlns:a="http://schemas.openxmlformats.org/drawingml/2006/main">
              <a:ext uri="{FF2B5EF4-FFF2-40B4-BE49-F238E27FC236}">
                <a16:creationId xmlns:a16="http://schemas.microsoft.com/office/drawing/2014/main" id="{06C08D61-D419-469C-B1C5-1D6191CE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435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12" name="arch-text-159">
            <a:extLst xmlns:a="http://schemas.openxmlformats.org/drawingml/2006/main">
              <a:ext uri="{FF2B5EF4-FFF2-40B4-BE49-F238E27FC236}">
                <a16:creationId xmlns:a16="http://schemas.microsoft.com/office/drawing/2014/main" id="{2D7E87BB-8D02-401E-A2A3-E7FC81F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95925"/>
            <a:ext cx="5524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当前结论的适用范围</a:t>
            </a:r>
          </a:p>
        </p:txBody>
      </p:sp>
      <p:sp>
        <p:nvSpPr>
          <p:cNvPr id="13" name="arch-text-160">
            <a:extLst xmlns:a="http://schemas.openxmlformats.org/drawingml/2006/main">
              <a:ext uri="{FF2B5EF4-FFF2-40B4-BE49-F238E27FC236}">
                <a16:creationId xmlns:a16="http://schemas.microsoft.com/office/drawing/2014/main" id="{3DD7CC75-736A-4E72-B69C-ADBADF56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19800"/>
            <a:ext cx="1133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结论适用于本模型和已测配置；绝对性能与SoC架构判断仍需通过SoC ESL校准。</a:t>
            </a:r>
          </a:p>
        </p:txBody>
      </p:sp>
      <p:sp>
        <p:nvSpPr>
          <p:cNvPr id="14" name="arch-text-161">
            <a:extLst xmlns:a="http://schemas.openxmlformats.org/drawingml/2006/main">
              <a:ext uri="{FF2B5EF4-FFF2-40B4-BE49-F238E27FC236}">
                <a16:creationId xmlns:a16="http://schemas.microsoft.com/office/drawing/2014/main" id="{272F07BC-7FD3-41D6-9D06-5B6DE913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24625"/>
            <a:ext cx="1133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感谢嘉南哥、晨哥、昊哥的指导与帮助，也感谢大家参与交流。</a:t>
            </a:r>
          </a:p>
        </p:txBody>
      </p:sp>
    </p:spTree>
    <p:extLst>
      <p:ext uri="{BB962C8B-B14F-4D97-AF65-F5344CB8AC3E}">
        <p14:creationId xmlns:p14="http://schemas.microsoft.com/office/powerpoint/2010/main" val="135439499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xt-61">
            <a:extLst xmlns:a="http://schemas.openxmlformats.org/drawingml/2006/main">
              <a:ext uri="{FF2B5EF4-FFF2-40B4-BE49-F238E27FC236}">
                <a16:creationId xmlns:a16="http://schemas.microsoft.com/office/drawing/2014/main" id="{1EC1C73C-422A-4E64-85FB-458EF989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附录A：四种地址模式与共享关系</a:t>
            </a:r>
          </a:p>
        </p:txBody>
      </p:sp>
      <p:sp>
        <p:nvSpPr>
          <p:cNvPr id="3" name="txt-62">
            <a:extLst xmlns:a="http://schemas.openxmlformats.org/drawingml/2006/main">
              <a:ext uri="{FF2B5EF4-FFF2-40B4-BE49-F238E27FC236}">
                <a16:creationId xmlns:a16="http://schemas.microsoft.com/office/drawing/2014/main" id="{B89C6F29-03A9-4EDB-AABD-8BE4CE19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76300"/>
            <a:ext cx="1143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示意：缓存行512字节，S0～S3代表不同数据范围。图中以128字节分段请求说明共享关系。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" name="diagram-63">
            <a:extLst xmlns:a="http://schemas.openxmlformats.org/drawingml/2006/main">
              <a:ext uri="{FF2B5EF4-FFF2-40B4-BE49-F238E27FC236}">
                <a16:creationId xmlns:a16="http://schemas.microsoft.com/office/drawing/2014/main" id="{5BC70951-89CC-41FC-8E4F-24F71029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62100"/>
            <a:ext cx="70485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0286B"/>
            </a:solidFill>
            <a:prstDash val="solid"/>
          </a:ln>
        </p:spPr>
      </p:sp>
      <p:sp>
        <p:nvSpPr>
          <p:cNvPr id="5" name="diagram-64">
            <a:extLst xmlns:a="http://schemas.openxmlformats.org/drawingml/2006/main">
              <a:ext uri="{FF2B5EF4-FFF2-40B4-BE49-F238E27FC236}">
                <a16:creationId xmlns:a16="http://schemas.microsoft.com/office/drawing/2014/main" id="{F3C1ACA9-4701-4089-884F-3430167A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669607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4763">
            <a:solidFill>
              <a:srgbClr val="C8CDD4"/>
            </a:solidFill>
            <a:prstDash val="solid"/>
          </a:ln>
        </p:spPr>
      </p:sp>
      <p:sp>
        <p:nvSpPr>
          <p:cNvPr id="6" name="diagram-65">
            <a:extLst xmlns:a="http://schemas.openxmlformats.org/drawingml/2006/main">
              <a:ext uri="{FF2B5EF4-FFF2-40B4-BE49-F238E27FC236}">
                <a16:creationId xmlns:a16="http://schemas.microsoft.com/office/drawing/2014/main" id="{070625C9-46E4-41D1-A116-53B98074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669607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4763">
            <a:solidFill>
              <a:srgbClr val="C8CDD4"/>
            </a:solidFill>
            <a:prstDash val="solid"/>
          </a:ln>
        </p:spPr>
      </p:sp>
      <p:sp>
        <p:nvSpPr>
          <p:cNvPr id="7" name="diagram-66">
            <a:extLst xmlns:a="http://schemas.openxmlformats.org/drawingml/2006/main">
              <a:ext uri="{FF2B5EF4-FFF2-40B4-BE49-F238E27FC236}">
                <a16:creationId xmlns:a16="http://schemas.microsoft.com/office/drawing/2014/main" id="{C1C9A0FA-2E11-4A76-A983-5B7D38D1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669607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4763">
            <a:solidFill>
              <a:srgbClr val="C8CDD4"/>
            </a:solidFill>
            <a:prstDash val="solid"/>
          </a:ln>
        </p:spPr>
      </p:sp>
      <p:sp>
        <p:nvSpPr>
          <p:cNvPr id="8" name="txt-67">
            <a:extLst xmlns:a="http://schemas.openxmlformats.org/drawingml/2006/main">
              <a:ext uri="{FF2B5EF4-FFF2-40B4-BE49-F238E27FC236}">
                <a16:creationId xmlns:a16="http://schemas.microsoft.com/office/drawing/2014/main" id="{07151A78-2D2C-4507-A465-F2BCD6BC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781175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独立缓存行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</a:t>
            </a:r>
          </a:p>
        </p:txBody>
      </p:sp>
      <p:sp>
        <p:nvSpPr>
          <p:cNvPr id="10" name="diagram-69">
            <a:extLst xmlns:a="http://schemas.openxmlformats.org/drawingml/2006/main">
              <a:ext uri="{FF2B5EF4-FFF2-40B4-BE49-F238E27FC236}">
                <a16:creationId xmlns:a16="http://schemas.microsoft.com/office/drawing/2014/main" id="{C51F8063-8634-4ED6-A01B-C82E0C21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57400"/>
            <a:ext cx="10763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M0：行0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1" name="diagram-70">
            <a:extLst xmlns:a="http://schemas.openxmlformats.org/drawingml/2006/main">
              <a:ext uri="{FF2B5EF4-FFF2-40B4-BE49-F238E27FC236}">
                <a16:creationId xmlns:a16="http://schemas.microsoft.com/office/drawing/2014/main" id="{903609BB-0069-404F-89F5-564ED99D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10763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M1：行1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2" name="diagram-71">
            <a:extLst xmlns:a="http://schemas.openxmlformats.org/drawingml/2006/main">
              <a:ext uri="{FF2B5EF4-FFF2-40B4-BE49-F238E27FC236}">
                <a16:creationId xmlns:a16="http://schemas.microsoft.com/office/drawing/2014/main" id="{CF9BFE7E-6B8A-450A-BD00-6372CC8D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57400"/>
            <a:ext cx="10763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M2：行2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" name="diagram-72">
            <a:extLst xmlns:a="http://schemas.openxmlformats.org/drawingml/2006/main">
              <a:ext uri="{FF2B5EF4-FFF2-40B4-BE49-F238E27FC236}">
                <a16:creationId xmlns:a16="http://schemas.microsoft.com/office/drawing/2014/main" id="{EF6A854C-D929-4CC3-88B8-617B4D98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57400"/>
            <a:ext cx="10763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M3：行3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4" name="txt-73">
            <a:extLst xmlns:a="http://schemas.openxmlformats.org/drawingml/2006/main">
              <a:ext uri="{FF2B5EF4-FFF2-40B4-BE49-F238E27FC236}">
                <a16:creationId xmlns:a16="http://schemas.microsoft.com/office/drawing/2014/main" id="{71B5CEE4-0811-4B76-BC16-A9CA72E9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867025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独立地址窗口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Private</a:t>
            </a:r>
          </a:p>
        </p:txBody>
      </p:sp>
      <p:sp>
        <p:nvSpPr>
          <p:cNvPr id="16" name="diagram-75">
            <a:extLst xmlns:a="http://schemas.openxmlformats.org/drawingml/2006/main">
              <a:ext uri="{FF2B5EF4-FFF2-40B4-BE49-F238E27FC236}">
                <a16:creationId xmlns:a16="http://schemas.microsoft.com/office/drawing/2014/main" id="{65B2EF0A-3F5F-4328-A405-61DF24D7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52775"/>
            <a:ext cx="10763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M0窗口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S0、S1…</a:t>
            </a:r>
          </a:p>
        </p:txBody>
      </p:sp>
      <p:sp>
        <p:nvSpPr>
          <p:cNvPr id="17" name="diagram-76">
            <a:extLst xmlns:a="http://schemas.openxmlformats.org/drawingml/2006/main">
              <a:ext uri="{FF2B5EF4-FFF2-40B4-BE49-F238E27FC236}">
                <a16:creationId xmlns:a16="http://schemas.microsoft.com/office/drawing/2014/main" id="{58503F86-619F-4AF8-80D4-5988C117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52775"/>
            <a:ext cx="10763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M1窗口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S0、S1…</a:t>
            </a:r>
          </a:p>
        </p:txBody>
      </p:sp>
      <p:sp>
        <p:nvSpPr>
          <p:cNvPr id="18" name="diagram-77">
            <a:extLst xmlns:a="http://schemas.openxmlformats.org/drawingml/2006/main">
              <a:ext uri="{FF2B5EF4-FFF2-40B4-BE49-F238E27FC236}">
                <a16:creationId xmlns:a16="http://schemas.microsoft.com/office/drawing/2014/main" id="{374FB6BA-1161-408D-A8B6-B1F20F6B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52775"/>
            <a:ext cx="10763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M2窗口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S0、S1…</a:t>
            </a:r>
          </a:p>
        </p:txBody>
      </p:sp>
      <p:sp>
        <p:nvSpPr>
          <p:cNvPr id="19" name="diagram-78">
            <a:extLst xmlns:a="http://schemas.openxmlformats.org/drawingml/2006/main">
              <a:ext uri="{FF2B5EF4-FFF2-40B4-BE49-F238E27FC236}">
                <a16:creationId xmlns:a16="http://schemas.microsoft.com/office/drawing/2014/main" id="{861A0B86-CEE6-45DA-B772-898C9B83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52775"/>
            <a:ext cx="10763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M3窗口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S0、S1…</a:t>
            </a:r>
          </a:p>
        </p:txBody>
      </p:sp>
      <p:sp>
        <p:nvSpPr>
          <p:cNvPr id="20" name="txt-79">
            <a:extLst xmlns:a="http://schemas.openxmlformats.org/drawingml/2006/main">
              <a:ext uri="{FF2B5EF4-FFF2-40B4-BE49-F238E27FC236}">
                <a16:creationId xmlns:a16="http://schemas.microsoft.com/office/drawing/2014/main" id="{9ABCABD6-4589-4E1E-99F9-9DAAD816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624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同行不同范围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Scatter</a:t>
            </a:r>
          </a:p>
        </p:txBody>
      </p:sp>
      <p:sp>
        <p:nvSpPr>
          <p:cNvPr id="22" name="diagram-81">
            <a:extLst xmlns:a="http://schemas.openxmlformats.org/drawingml/2006/main">
              <a:ext uri="{FF2B5EF4-FFF2-40B4-BE49-F238E27FC236}">
                <a16:creationId xmlns:a16="http://schemas.microsoft.com/office/drawing/2014/main" id="{C47FE2DF-17A6-4F63-805D-FA647C3C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81475"/>
            <a:ext cx="23145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行A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M0@S0、M1@S1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M2@S2、M3@S3</a:t>
            </a:r>
          </a:p>
        </p:txBody>
      </p:sp>
      <p:sp>
        <p:nvSpPr>
          <p:cNvPr id="23" name="diagram-82">
            <a:extLst xmlns:a="http://schemas.openxmlformats.org/drawingml/2006/main">
              <a:ext uri="{FF2B5EF4-FFF2-40B4-BE49-F238E27FC236}">
                <a16:creationId xmlns:a16="http://schemas.microsoft.com/office/drawing/2014/main" id="{A44CF236-28B6-4FFC-8BC3-17892512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81475"/>
            <a:ext cx="23145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行B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M4@S0、M5@S1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M6@S2、M7@S3</a:t>
            </a:r>
          </a:p>
        </p:txBody>
      </p:sp>
      <p:sp>
        <p:nvSpPr>
          <p:cNvPr id="24" name="txt-83">
            <a:extLst xmlns:a="http://schemas.openxmlformats.org/drawingml/2006/main">
              <a:ext uri="{FF2B5EF4-FFF2-40B4-BE49-F238E27FC236}">
                <a16:creationId xmlns:a16="http://schemas.microsoft.com/office/drawing/2014/main" id="{4F01EFFD-E5E1-4A07-8301-E75AEDEB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2445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同行相同范围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Shared</a:t>
            </a:r>
          </a:p>
        </p:txBody>
      </p:sp>
      <p:sp>
        <p:nvSpPr>
          <p:cNvPr id="26" name="diagram-85">
            <a:extLst xmlns:a="http://schemas.openxmlformats.org/drawingml/2006/main">
              <a:ext uri="{FF2B5EF4-FFF2-40B4-BE49-F238E27FC236}">
                <a16:creationId xmlns:a16="http://schemas.microsoft.com/office/drawing/2014/main" id="{B4A364DB-670A-40D3-A1DC-84D92991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19725"/>
            <a:ext cx="2076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M0、M1…M7</a:t>
            </a:r>
          </a:p>
        </p:txBody>
      </p:sp>
      <p:sp>
        <p:nvSpPr>
          <p:cNvPr id="27" name="diagram-86">
            <a:extLst xmlns:a="http://schemas.openxmlformats.org/drawingml/2006/main">
              <a:ext uri="{FF2B5EF4-FFF2-40B4-BE49-F238E27FC236}">
                <a16:creationId xmlns:a16="http://schemas.microsoft.com/office/drawing/2014/main" id="{658F8E1B-AFEB-4655-BE01-43242C80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419725"/>
            <a:ext cx="2324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共同访问行A的S0</a:t>
            </a:r>
          </a:p>
        </p:txBody>
      </p:sp>
      <p:cxnSp>
        <p:nvCxnSpPr>
          <p:cNvPr id="61" name="直接箭头连接符 62"/>
          <p:cNvCxnSpPr/>
          <p:nvPr/>
        </p:nvCxnSpPr>
        <p:spPr>
          <a:xfrm xmlns:a="http://schemas.openxmlformats.org/drawingml/2006/main">
            <a:off x="4362450" y="5624513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29" name="txt-87">
            <a:extLst xmlns:a="http://schemas.openxmlformats.org/drawingml/2006/main">
              <a:ext uri="{FF2B5EF4-FFF2-40B4-BE49-F238E27FC236}">
                <a16:creationId xmlns:a16="http://schemas.microsoft.com/office/drawing/2014/main" id="{D98C15FB-ABE5-4122-85E3-BB88A9B1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647825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无合并基线</a:t>
            </a:r>
          </a:p>
        </p:txBody>
      </p:sp>
      <p:sp>
        <p:nvSpPr>
          <p:cNvPr id="30" name="txt-88">
            <a:extLst xmlns:a="http://schemas.openxmlformats.org/drawingml/2006/main">
              <a:ext uri="{FF2B5EF4-FFF2-40B4-BE49-F238E27FC236}">
                <a16:creationId xmlns:a16="http://schemas.microsoft.com/office/drawing/2014/main" id="{2EA80D5C-34DE-4A23-A37C-E6ABACFE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047875"/>
            <a:ext cx="3981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未命中时，128／256／512字节请求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对应4倍／2倍／1倍后端读取量。</a:t>
            </a:r>
          </a:p>
        </p:txBody>
      </p:sp>
      <p:sp>
        <p:nvSpPr>
          <p:cNvPr id="31" name="txt-89">
            <a:extLst xmlns:a="http://schemas.openxmlformats.org/drawingml/2006/main">
              <a:ext uri="{FF2B5EF4-FFF2-40B4-BE49-F238E27FC236}">
                <a16:creationId xmlns:a16="http://schemas.microsoft.com/office/drawing/2014/main" id="{704C6CC2-454C-4683-A04D-023DE34F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781300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仅在请求端内部复用</a:t>
            </a:r>
          </a:p>
        </p:txBody>
      </p:sp>
      <p:sp>
        <p:nvSpPr>
          <p:cNvPr id="32" name="txt-90">
            <a:extLst xmlns:a="http://schemas.openxmlformats.org/drawingml/2006/main">
              <a:ext uri="{FF2B5EF4-FFF2-40B4-BE49-F238E27FC236}">
                <a16:creationId xmlns:a16="http://schemas.microsoft.com/office/drawing/2014/main" id="{A1E8F0EB-CE9F-4BB3-92CF-2215A039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171825"/>
            <a:ext cx="3981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不同请求端使用独立窗口。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同一端的相邻请求可复用同一缓存行。</a:t>
            </a:r>
          </a:p>
        </p:txBody>
      </p:sp>
      <p:sp>
        <p:nvSpPr>
          <p:cNvPr id="33" name="txt-91">
            <a:extLst xmlns:a="http://schemas.openxmlformats.org/drawingml/2006/main">
              <a:ext uri="{FF2B5EF4-FFF2-40B4-BE49-F238E27FC236}">
                <a16:creationId xmlns:a16="http://schemas.microsoft.com/office/drawing/2014/main" id="{08ACD4D1-8A6A-43CA-B140-D7D86F51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924300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一次读取，分段返回</a:t>
            </a:r>
          </a:p>
        </p:txBody>
      </p:sp>
      <p:sp>
        <p:nvSpPr>
          <p:cNvPr id="34" name="txt-92">
            <a:extLst xmlns:a="http://schemas.openxmlformats.org/drawingml/2006/main">
              <a:ext uri="{FF2B5EF4-FFF2-40B4-BE49-F238E27FC236}">
                <a16:creationId xmlns:a16="http://schemas.microsoft.com/office/drawing/2014/main" id="{70D93B1B-00C0-4FB3-AFCC-5B43D4BF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314825"/>
            <a:ext cx="3981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一行数据服务不同范围的请求。请求覆盖整行时，不再有分段空间。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5" name="txt-93">
            <a:extLst xmlns:a="http://schemas.openxmlformats.org/drawingml/2006/main">
              <a:ext uri="{FF2B5EF4-FFF2-40B4-BE49-F238E27FC236}">
                <a16:creationId xmlns:a16="http://schemas.microsoft.com/office/drawing/2014/main" id="{D5ED300D-4911-4063-BADA-F420519F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067300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相同数据，多播共享</a:t>
            </a:r>
          </a:p>
        </p:txBody>
      </p:sp>
      <p:sp>
        <p:nvSpPr>
          <p:cNvPr id="36" name="txt-94">
            <a:extLst xmlns:a="http://schemas.openxmlformats.org/drawingml/2006/main">
              <a:ext uri="{FF2B5EF4-FFF2-40B4-BE49-F238E27FC236}">
                <a16:creationId xmlns:a16="http://schemas.microsoft.com/office/drawing/2014/main" id="{88E8C7D8-BA61-40A5-96CB-55D08611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457825"/>
            <a:ext cx="3981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HA合并同址等待请求，一份物理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DAT数据通过多播服务多个请求端。</a:t>
            </a:r>
          </a:p>
        </p:txBody>
      </p:sp>
      <p:sp>
        <p:nvSpPr>
          <p:cNvPr id="37" name="txt-95">
            <a:extLst xmlns:a="http://schemas.openxmlformats.org/drawingml/2006/main">
              <a:ext uri="{FF2B5EF4-FFF2-40B4-BE49-F238E27FC236}">
                <a16:creationId xmlns:a16="http://schemas.microsoft.com/office/drawing/2014/main" id="{2897E338-818D-48C5-AFC4-859AE1B5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67450"/>
            <a:ext cx="1143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地址关系决定能否共享后端读取，以及采用分段返回还是多播分发。</a:t>
            </a:r>
          </a:p>
        </p:txBody>
      </p:sp>
      <p:sp>
        <p:nvSpPr>
          <p:cNvPr id="38" name="share-157">
            <a:extLst xmlns:a="http://schemas.openxmlformats.org/drawingml/2006/main">
              <a:ext uri="{FF2B5EF4-FFF2-40B4-BE49-F238E27FC236}">
                <a16:creationId xmlns:a16="http://schemas.microsoft.com/office/drawing/2014/main" id="{BF4B58F7-18DD-4BAD-9282-CE49827E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A1</a:t>
            </a:r>
          </a:p>
        </p:txBody>
      </p:sp>
    </p:spTree>
    <p:extLst>
      <p:ext uri="{BB962C8B-B14F-4D97-AF65-F5344CB8AC3E}">
        <p14:creationId xmlns:p14="http://schemas.microsoft.com/office/powerpoint/2010/main" val="169643216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da0ee65cb42ab"/>
          <a:stretch xmlns:a="http://schemas.openxmlformats.org/drawingml/2006/main"/>
        </p:blipFill>
        <p:spPr>
          <a:xfrm xmlns:a="http://schemas.openxmlformats.org/drawingml/2006/main">
            <a:off x="447675" y="1657350"/>
            <a:ext cx="5438775" cy="3327251"/>
          </a:xfrm>
          <a:prstGeom xmlns:a="http://schemas.openxmlformats.org/drawingml/2006/main" prst="rect">
            <a:avLst/>
          </a:prstGeom>
        </p:spPr>
      </p:pic>
      <p:pic>
        <p:nvPicPr>
          <p:cNvPr id="19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b4e1fd458488e"/>
          <a:stretch xmlns:a="http://schemas.openxmlformats.org/drawingml/2006/main"/>
        </p:blipFill>
        <p:spPr>
          <a:xfrm xmlns:a="http://schemas.openxmlformats.org/drawingml/2006/main">
            <a:off x="6305550" y="1657350"/>
            <a:ext cx="5438775" cy="3327250"/>
          </a:xfrm>
          <a:prstGeom xmlns:a="http://schemas.openxmlformats.org/drawingml/2006/main" prst="rect">
            <a:avLst/>
          </a:prstGeom>
        </p:spPr>
      </p:pic>
      <p:sp>
        <p:nvSpPr>
          <p:cNvPr id="4" name="exp-text-1">
            <a:extLst xmlns:a="http://schemas.openxmlformats.org/drawingml/2006/main">
              <a:ext uri="{FF2B5EF4-FFF2-40B4-BE49-F238E27FC236}">
                <a16:creationId xmlns:a16="http://schemas.microsoft.com/office/drawing/2014/main" id="{5FDECE33-D20C-4AA1-ADD5-D7444329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附录B：命中率与后端压力</a:t>
            </a:r>
          </a:p>
        </p:txBody>
      </p:sp>
      <p:sp>
        <p:nvSpPr>
          <p:cNvPr id="5" name="exp-text-2">
            <a:extLst xmlns:a="http://schemas.openxmlformats.org/drawingml/2006/main">
              <a:ext uri="{FF2B5EF4-FFF2-40B4-BE49-F238E27FC236}">
                <a16:creationId xmlns:a16="http://schemas.microsoft.com/office/drawing/2014/main" id="{0C8C95FE-AB0B-49C1-8FA2-A41FDD8D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66775"/>
            <a:ext cx="1143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实验条件：请求大小256字节，比较四种地址模式。</a:t>
            </a:r>
          </a:p>
        </p:txBody>
      </p:sp>
      <p:sp>
        <p:nvSpPr>
          <p:cNvPr id="6" name="exp-text-3">
            <a:extLst xmlns:a="http://schemas.openxmlformats.org/drawingml/2006/main">
              <a:ext uri="{FF2B5EF4-FFF2-40B4-BE49-F238E27FC236}">
                <a16:creationId xmlns:a16="http://schemas.microsoft.com/office/drawing/2014/main" id="{4F32480E-A24B-483E-B071-F56C1F0B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76350"/>
            <a:ext cx="5572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端到端有效带宽</a:t>
            </a:r>
          </a:p>
        </p:txBody>
      </p:sp>
      <p:sp>
        <p:nvSpPr>
          <p:cNvPr id="7" name="exp-text-4">
            <a:extLst xmlns:a="http://schemas.openxmlformats.org/drawingml/2006/main">
              <a:ext uri="{FF2B5EF4-FFF2-40B4-BE49-F238E27FC236}">
                <a16:creationId xmlns:a16="http://schemas.microsoft.com/office/drawing/2014/main" id="{3EA51185-5143-47CE-A331-736AAE53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276350"/>
            <a:ext cx="5572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HBM物理带宽</a:t>
            </a:r>
          </a:p>
        </p:txBody>
      </p:sp>
      <p:sp>
        <p:nvSpPr>
          <p:cNvPr id="8" name="exp-frame-5">
            <a:extLst xmlns:a="http://schemas.openxmlformats.org/drawingml/2006/main">
              <a:ext uri="{FF2B5EF4-FFF2-40B4-BE49-F238E27FC236}">
                <a16:creationId xmlns:a16="http://schemas.microsoft.com/office/drawing/2014/main" id="{5A5FB09E-F2E2-4F68-A4BD-F8E2FE5B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5572125" cy="334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0286B"/>
            </a:solidFill>
            <a:prstDash val="solid"/>
          </a:ln>
        </p:spPr>
      </p:sp>
      <p:sp>
        <p:nvSpPr>
          <p:cNvPr id="9" name="exp-frame-6">
            <a:extLst xmlns:a="http://schemas.openxmlformats.org/drawingml/2006/main">
              <a:ext uri="{FF2B5EF4-FFF2-40B4-BE49-F238E27FC236}">
                <a16:creationId xmlns:a16="http://schemas.microsoft.com/office/drawing/2014/main" id="{0554A1C8-AEED-49EC-9315-26BE8508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47825"/>
            <a:ext cx="5572125" cy="334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0286B"/>
            </a:solidFill>
            <a:prstDash val="solid"/>
          </a:ln>
        </p:spPr>
      </p:sp>
      <p:sp>
        <p:nvSpPr>
          <p:cNvPr id="10" name="exp-text-7">
            <a:extLst xmlns:a="http://schemas.openxmlformats.org/drawingml/2006/main">
              <a:ext uri="{FF2B5EF4-FFF2-40B4-BE49-F238E27FC236}">
                <a16:creationId xmlns:a16="http://schemas.microsoft.com/office/drawing/2014/main" id="{140EACCD-617F-4E8D-AF1D-3FDCF131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19700"/>
            <a:ext cx="5572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NoMerge在约50%后接近平台区间</a:t>
            </a:r>
          </a:p>
        </p:txBody>
      </p:sp>
      <p:sp>
        <p:nvSpPr>
          <p:cNvPr id="11" name="exp-text-8">
            <a:extLst xmlns:a="http://schemas.openxmlformats.org/drawingml/2006/main">
              <a:ext uri="{FF2B5EF4-FFF2-40B4-BE49-F238E27FC236}">
                <a16:creationId xmlns:a16="http://schemas.microsoft.com/office/drawing/2014/main" id="{366B95E1-0371-4F5F-97F3-55889B7E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19750"/>
            <a:ext cx="5572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NoMerge由307提升至约500</a:t>
            </a:r>
            <a:r>
              <a:rPr sz="153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</a:t>
            </a: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周期</a:t>
            </a: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50%之后继续提高命中率，吞吐收益明显收窄。</a:t>
            </a:r>
          </a:p>
        </p:txBody>
      </p:sp>
      <p:sp>
        <p:nvSpPr>
          <p:cNvPr id="12" name="exp-text-9">
            <a:extLst xmlns:a="http://schemas.openxmlformats.org/drawingml/2006/main">
              <a:ext uri="{FF2B5EF4-FFF2-40B4-BE49-F238E27FC236}">
                <a16:creationId xmlns:a16="http://schemas.microsoft.com/office/drawing/2014/main" id="{F53AAABD-6654-47C8-B883-1D6558C1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219700"/>
            <a:ext cx="5572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全命中消除后端读取流量</a:t>
            </a:r>
          </a:p>
        </p:txBody>
      </p:sp>
      <p:sp>
        <p:nvSpPr>
          <p:cNvPr id="13" name="exp-text-10">
            <a:extLst xmlns:a="http://schemas.openxmlformats.org/drawingml/2006/main">
              <a:ext uri="{FF2B5EF4-FFF2-40B4-BE49-F238E27FC236}">
                <a16:creationId xmlns:a16="http://schemas.microsoft.com/office/drawing/2014/main" id="{AF944B52-F86B-4301-857B-C71C97CC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619750"/>
            <a:ext cx="5572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100%命中时，各模式的HBM带宽均降为零。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中低命中区间不完全单调，不能仅按命中率线性估算。</a:t>
            </a:r>
          </a:p>
        </p:txBody>
      </p:sp>
      <p:sp>
        <p:nvSpPr>
          <p:cNvPr id="14" name="exp-text-11">
            <a:extLst xmlns:a="http://schemas.openxmlformats.org/drawingml/2006/main">
              <a:ext uri="{FF2B5EF4-FFF2-40B4-BE49-F238E27FC236}">
                <a16:creationId xmlns:a16="http://schemas.microsoft.com/office/drawing/2014/main" id="{AEE0E91B-9934-4AC8-BBED-0486570A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29375"/>
            <a:ext cx="1143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分析含义：吞吐进入平台区间后，应结合PMU检查返回路径，不能仅据曲线锁定瓶颈。</a:t>
            </a:r>
          </a:p>
        </p:txBody>
      </p:sp>
      <p:sp>
        <p:nvSpPr>
          <p:cNvPr id="15" name="share-76">
            <a:extLst xmlns:a="http://schemas.openxmlformats.org/drawingml/2006/main">
              <a:ext uri="{FF2B5EF4-FFF2-40B4-BE49-F238E27FC236}">
                <a16:creationId xmlns:a16="http://schemas.microsoft.com/office/drawing/2014/main" id="{8A17C651-7CDE-4157-AF4C-6DF89C7F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A2</a:t>
            </a:r>
          </a:p>
        </p:txBody>
      </p:sp>
    </p:spTree>
    <p:extLst>
      <p:ext uri="{BB962C8B-B14F-4D97-AF65-F5344CB8AC3E}">
        <p14:creationId xmlns:p14="http://schemas.microsoft.com/office/powerpoint/2010/main" val="169643216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a4adcf23e494b"/>
          <a:stretch xmlns:a="http://schemas.openxmlformats.org/drawingml/2006/main"/>
        </p:blipFill>
        <p:spPr>
          <a:xfrm xmlns:a="http://schemas.openxmlformats.org/drawingml/2006/main">
            <a:off x="447675" y="1657350"/>
            <a:ext cx="5438775" cy="3327251"/>
          </a:xfrm>
          <a:prstGeom xmlns:a="http://schemas.openxmlformats.org/drawingml/2006/main" prst="rect">
            <a:avLst/>
          </a:prstGeom>
        </p:spPr>
      </p:pic>
      <p:pic>
        <p:nvPicPr>
          <p:cNvPr id="19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b712bedfb4ef6"/>
          <a:stretch xmlns:a="http://schemas.openxmlformats.org/drawingml/2006/main"/>
        </p:blipFill>
        <p:spPr>
          <a:xfrm xmlns:a="http://schemas.openxmlformats.org/drawingml/2006/main">
            <a:off x="6305550" y="1657350"/>
            <a:ext cx="5438775" cy="3327250"/>
          </a:xfrm>
          <a:prstGeom xmlns:a="http://schemas.openxmlformats.org/drawingml/2006/main" prst="rect">
            <a:avLst/>
          </a:prstGeom>
        </p:spPr>
      </p:pic>
      <p:sp>
        <p:nvSpPr>
          <p:cNvPr id="4" name="exp-text-23">
            <a:extLst xmlns:a="http://schemas.openxmlformats.org/drawingml/2006/main">
              <a:ext uri="{FF2B5EF4-FFF2-40B4-BE49-F238E27FC236}">
                <a16:creationId xmlns:a16="http://schemas.microsoft.com/office/drawing/2014/main" id="{DB9C212E-918F-43BF-8119-A71023AA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附录C：请求粒度与读取放大</a:t>
            </a:r>
          </a:p>
        </p:txBody>
      </p:sp>
      <p:sp>
        <p:nvSpPr>
          <p:cNvPr id="5" name="exp-text-24">
            <a:extLst xmlns:a="http://schemas.openxmlformats.org/drawingml/2006/main">
              <a:ext uri="{FF2B5EF4-FFF2-40B4-BE49-F238E27FC236}">
                <a16:creationId xmlns:a16="http://schemas.microsoft.com/office/drawing/2014/main" id="{3DCF6EF3-3F32-496D-8933-6DB697BC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66775"/>
            <a:ext cx="1143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实验条件：L2命中率0%，并发深度128，请求大小为128／256／512字节。</a:t>
            </a:r>
          </a:p>
        </p:txBody>
      </p:sp>
      <p:sp>
        <p:nvSpPr>
          <p:cNvPr id="6" name="exp-text-25">
            <a:extLst xmlns:a="http://schemas.openxmlformats.org/drawingml/2006/main">
              <a:ext uri="{FF2B5EF4-FFF2-40B4-BE49-F238E27FC236}">
                <a16:creationId xmlns:a16="http://schemas.microsoft.com/office/drawing/2014/main" id="{525D3296-4493-49AB-88C7-E35B0D0A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76350"/>
            <a:ext cx="5572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端到端有效带宽</a:t>
            </a:r>
          </a:p>
        </p:txBody>
      </p:sp>
      <p:sp>
        <p:nvSpPr>
          <p:cNvPr id="7" name="exp-text-26">
            <a:extLst xmlns:a="http://schemas.openxmlformats.org/drawingml/2006/main">
              <a:ext uri="{FF2B5EF4-FFF2-40B4-BE49-F238E27FC236}">
                <a16:creationId xmlns:a16="http://schemas.microsoft.com/office/drawing/2014/main" id="{8B4AB444-DC1D-4A62-A52D-34D9FFE4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276350"/>
            <a:ext cx="5572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HBM物理带宽</a:t>
            </a:r>
          </a:p>
        </p:txBody>
      </p:sp>
      <p:sp>
        <p:nvSpPr>
          <p:cNvPr id="8" name="exp-frame-27">
            <a:extLst xmlns:a="http://schemas.openxmlformats.org/drawingml/2006/main">
              <a:ext uri="{FF2B5EF4-FFF2-40B4-BE49-F238E27FC236}">
                <a16:creationId xmlns:a16="http://schemas.microsoft.com/office/drawing/2014/main" id="{3D976F7D-B7B2-4824-A7C0-12D7B2BC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5572125" cy="334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0286B"/>
            </a:solidFill>
            <a:prstDash val="solid"/>
          </a:ln>
        </p:spPr>
      </p:sp>
      <p:sp>
        <p:nvSpPr>
          <p:cNvPr id="9" name="exp-frame-28">
            <a:extLst xmlns:a="http://schemas.openxmlformats.org/drawingml/2006/main">
              <a:ext uri="{FF2B5EF4-FFF2-40B4-BE49-F238E27FC236}">
                <a16:creationId xmlns:a16="http://schemas.microsoft.com/office/drawing/2014/main" id="{DCD92544-397B-45DA-A927-E887CECE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47825"/>
            <a:ext cx="5572125" cy="334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0286B"/>
            </a:solidFill>
            <a:prstDash val="solid"/>
          </a:ln>
        </p:spPr>
      </p:sp>
      <p:sp>
        <p:nvSpPr>
          <p:cNvPr id="10" name="exp-text-29">
            <a:extLst xmlns:a="http://schemas.openxmlformats.org/drawingml/2006/main">
              <a:ext uri="{FF2B5EF4-FFF2-40B4-BE49-F238E27FC236}">
                <a16:creationId xmlns:a16="http://schemas.microsoft.com/office/drawing/2014/main" id="{FD7516F3-E97F-43A4-BAF1-2FA95B24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19700"/>
            <a:ext cx="5572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本组连续访问受益于更大请求</a:t>
            </a:r>
          </a:p>
        </p:txBody>
      </p:sp>
      <p:sp>
        <p:nvSpPr>
          <p:cNvPr id="11" name="exp-text-30">
            <a:extLst xmlns:a="http://schemas.openxmlformats.org/drawingml/2006/main">
              <a:ext uri="{FF2B5EF4-FFF2-40B4-BE49-F238E27FC236}">
                <a16:creationId xmlns:a16="http://schemas.microsoft.com/office/drawing/2014/main" id="{C3E2FD3D-FA34-4035-A5E1-833C62AE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19750"/>
            <a:ext cx="5572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NoMerge随请求增大而提升，512字节时与Private重合。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Shared在512字节时达到890</a:t>
            </a:r>
            <a:r>
              <a:rPr sz="1538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</a:t>
            </a: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周期</a:t>
            </a: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2" name="exp-text-31">
            <a:extLst xmlns:a="http://schemas.openxmlformats.org/drawingml/2006/main">
              <a:ext uri="{FF2B5EF4-FFF2-40B4-BE49-F238E27FC236}">
                <a16:creationId xmlns:a16="http://schemas.microsoft.com/office/drawing/2014/main" id="{4073BCE5-4B5B-4A75-9C83-EB4753E1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219700"/>
            <a:ext cx="5572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整行读取放大逐步收敛</a:t>
            </a:r>
          </a:p>
        </p:txBody>
      </p:sp>
      <p:sp>
        <p:nvSpPr>
          <p:cNvPr id="13" name="exp-text-32">
            <a:extLst xmlns:a="http://schemas.openxmlformats.org/drawingml/2006/main">
              <a:ext uri="{FF2B5EF4-FFF2-40B4-BE49-F238E27FC236}">
                <a16:creationId xmlns:a16="http://schemas.microsoft.com/office/drawing/2014/main" id="{C229FC8D-AD4A-465B-947D-24401FD3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619750"/>
            <a:ext cx="5572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NoMerge的HBM／有效字节比由4倍降至2倍、1倍。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Shared同时维持较低HBM流量和较高有效带宽</a:t>
            </a: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exp-text-33">
            <a:extLst xmlns:a="http://schemas.openxmlformats.org/drawingml/2006/main">
              <a:ext uri="{FF2B5EF4-FFF2-40B4-BE49-F238E27FC236}">
                <a16:creationId xmlns:a16="http://schemas.microsoft.com/office/drawing/2014/main" id="{B574DE23-7E65-4387-A5C9-02E2F1D6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29375"/>
            <a:ext cx="1143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参数含义：结合有效数据范围选择请求大小，稀疏访问还需评估无效搬运与占用时间。</a:t>
            </a:r>
          </a:p>
        </p:txBody>
      </p:sp>
      <p:sp>
        <p:nvSpPr>
          <p:cNvPr id="15" name="share-86">
            <a:extLst xmlns:a="http://schemas.openxmlformats.org/drawingml/2006/main">
              <a:ext uri="{FF2B5EF4-FFF2-40B4-BE49-F238E27FC236}">
                <a16:creationId xmlns:a16="http://schemas.microsoft.com/office/drawing/2014/main" id="{42D5F90C-C2D1-4AA8-8EA7-03C58EA1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A3</a:t>
            </a:r>
          </a:p>
        </p:txBody>
      </p:sp>
    </p:spTree>
    <p:extLst>
      <p:ext uri="{BB962C8B-B14F-4D97-AF65-F5344CB8AC3E}">
        <p14:creationId xmlns:p14="http://schemas.microsoft.com/office/powerpoint/2010/main" val="169643216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图片 3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b23419be84f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9221" y="1066800"/>
            <a:ext cx="6512764" cy="4057650"/>
          </a:xfrm>
          <a:prstGeom xmlns:a="http://schemas.openxmlformats.org/drawingml/2006/main" prst="rect">
            <a:avLst/>
          </a:prstGeom>
        </p:spPr>
      </p:pic>
      <p:sp>
        <p:nvSpPr>
          <p:cNvPr id="3" name="delivery-add-1">
            <a:extLst xmlns:a="http://schemas.openxmlformats.org/drawingml/2006/main">
              <a:ext uri="{FF2B5EF4-FFF2-40B4-BE49-F238E27FC236}">
                <a16:creationId xmlns:a16="http://schemas.microsoft.com/office/drawing/2014/main" id="{0009F314-2752-46BE-947E-1114DA58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43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附录D：目标架构与当前模型边界</a:t>
            </a:r>
          </a:p>
        </p:txBody>
      </p:sp>
      <p:sp>
        <p:nvSpPr>
          <p:cNvPr id="4" name="delivery-add-2">
            <a:extLst xmlns:a="http://schemas.openxmlformats.org/drawingml/2006/main">
              <a:ext uri="{FF2B5EF4-FFF2-40B4-BE49-F238E27FC236}">
                <a16:creationId xmlns:a16="http://schemas.microsoft.com/office/drawing/2014/main" id="{B07EC428-96CA-4A69-9240-91CEA92E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19175"/>
            <a:ext cx="495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目标架构</a:t>
            </a:r>
          </a:p>
        </p:txBody>
      </p:sp>
      <p:sp>
        <p:nvSpPr>
          <p:cNvPr id="5" name="delivery-add-3">
            <a:extLst xmlns:a="http://schemas.openxmlformats.org/drawingml/2006/main">
              <a:ext uri="{FF2B5EF4-FFF2-40B4-BE49-F238E27FC236}">
                <a16:creationId xmlns:a16="http://schemas.microsoft.com/office/drawing/2014/main" id="{17A42560-72AC-4E9B-B5E3-16CC2DDC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垂直环连接计算核，水平环组织存储访问。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RBRG-L1负责环间连接与路径切换。</a:t>
            </a:r>
          </a:p>
        </p:txBody>
      </p:sp>
      <p:sp>
        <p:nvSpPr>
          <p:cNvPr id="6" name="delivery-add-4">
            <a:extLst xmlns:a="http://schemas.openxmlformats.org/drawingml/2006/main">
              <a:ext uri="{FF2B5EF4-FFF2-40B4-BE49-F238E27FC236}">
                <a16:creationId xmlns:a16="http://schemas.microsoft.com/office/drawing/2014/main" id="{09C09FC3-809D-4CE2-BEA9-1F373D20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05075"/>
            <a:ext cx="495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图示访问流程</a:t>
            </a:r>
          </a:p>
        </p:txBody>
      </p:sp>
      <p:sp>
        <p:nvSpPr>
          <p:cNvPr id="7" name="delivery-add-5">
            <a:extLst xmlns:a="http://schemas.openxmlformats.org/drawingml/2006/main">
              <a:ext uri="{FF2B5EF4-FFF2-40B4-BE49-F238E27FC236}">
                <a16:creationId xmlns:a16="http://schemas.microsoft.com/office/drawing/2014/main" id="{291CA85A-7CD8-4EAA-82D6-988258F6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14650"/>
            <a:ext cx="495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① 请求进入HA／目录。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② Hit &amp; Snp表示目录查询及侦听流程。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③ 命中数据经L2与垂直环返回。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④ 未命中时访问HBM并回填。</a:t>
            </a:r>
          </a:p>
        </p:txBody>
      </p:sp>
      <p:sp>
        <p:nvSpPr>
          <p:cNvPr id="8" name="delivery-add-6">
            <a:extLst xmlns:a="http://schemas.openxmlformats.org/drawingml/2006/main">
              <a:ext uri="{FF2B5EF4-FFF2-40B4-BE49-F238E27FC236}">
                <a16:creationId xmlns:a16="http://schemas.microsoft.com/office/drawing/2014/main" id="{0B8E7805-4F72-4118-847D-AE4FED57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43425"/>
            <a:ext cx="495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当前ESL建模范围</a:t>
            </a:r>
          </a:p>
        </p:txBody>
      </p:sp>
      <p:sp>
        <p:nvSpPr>
          <p:cNvPr id="9" name="delivery-add-7">
            <a:extLst xmlns:a="http://schemas.openxmlformats.org/drawingml/2006/main">
              <a:ext uri="{FF2B5EF4-FFF2-40B4-BE49-F238E27FC236}">
                <a16:creationId xmlns:a16="http://schemas.microsoft.com/office/drawing/2014/main" id="{B4CC9575-5529-442B-809C-137C36AF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530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实现H/V互连、读写事务与聚合返回。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L2命中由配置近似，HBM由TmMem抽象。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目录一致性和完整缓存微结构未展开。</a:t>
            </a:r>
          </a:p>
        </p:txBody>
      </p:sp>
      <p:sp>
        <p:nvSpPr>
          <p:cNvPr id="10" name="delivery-add-8">
            <a:extLst xmlns:a="http://schemas.openxmlformats.org/drawingml/2006/main">
              <a:ext uri="{FF2B5EF4-FFF2-40B4-BE49-F238E27FC236}">
                <a16:creationId xmlns:a16="http://schemas.microsoft.com/office/drawing/2014/main" id="{39BDF7E8-D298-41DD-9E08-1BEB562E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0"/>
            <a:ext cx="619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图示为多水平环目标方案。当前实验采用多条垂直环接入一条共享水平环，实际拓扑见正文第5页。</a:t>
            </a:r>
          </a:p>
        </p:txBody>
      </p:sp>
      <p:sp>
        <p:nvSpPr>
          <p:cNvPr id="11" name="share-156">
            <a:extLst xmlns:a="http://schemas.openxmlformats.org/drawingml/2006/main">
              <a:ext uri="{FF2B5EF4-FFF2-40B4-BE49-F238E27FC236}">
                <a16:creationId xmlns:a16="http://schemas.microsoft.com/office/drawing/2014/main" id="{40B9B021-C442-47AD-A2F7-8BF23F26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A4</a:t>
            </a:r>
          </a:p>
        </p:txBody>
      </p:sp>
    </p:spTree>
    <p:extLst>
      <p:ext uri="{BB962C8B-B14F-4D97-AF65-F5344CB8AC3E}">
        <p14:creationId xmlns:p14="http://schemas.microsoft.com/office/powerpoint/2010/main" val="366583216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2026-09-18T04:03:58.3490000Z</dcterms:created>
  <dcterms:modified xsi:type="dcterms:W3CDTF">2026-09-18T04:03:58.3490000Z</dcterms:modified>
</coreProperties>
</file>